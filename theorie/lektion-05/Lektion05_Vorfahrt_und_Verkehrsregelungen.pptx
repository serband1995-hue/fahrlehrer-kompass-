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Heute geht es um die Frage, die an jeder Kreuzung gestellt wird: Wer fährt zuerst?
Ablauf heute (90 Minuten): Vorfahrt, rechts vor links, Einfahren, Verkehrszeichen, abknickende Vorfahrt, Kreisverkehr, Ampel, Grünpfeil, Polizei. Dazu viele Szenen zum Mitraten und eine Gruppenarbeit.
🖱 Alles baut sich von selbst auf.
➜ Überleitung: Bevor wir anfangen, eine Zahl, die euch überraschen wird.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Ruhig anfangen, Licht etwas dunkler. Die Zahl wirken lassen.
▶ Rund 124-mal am Tag stellt die Polizei bei einem Unfall mit Verletzten oder Toten fest: Hier hat jemand die Vorfahrt oder den Vorrang missachtet.
Hintergrund: 2024 waren es 45.489 solcher Fehler (Destatis, Unfälle mit Personenschaden). 45.489 ÷ 366 Tage ≈ 124.
➜ Weiterklicken: Die Zahl wandert nach oben, zwei Fakten kommen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Klick 1: Platz 2. Missachtete Vorfahrt ist die zweithäufigste Ursache für Unfälle mit Personenschaden (13,4 % der Ursachen, 2024).
🖱 Klick 2: Drei von vier passieren innerorts (34.324 von 45.489). Also genau da, wo wir hier in Offenbach jeden Tag fahren.
❓ Frage: Warum gerade in der Stadt? ✅ Viele Kreuzungen, viele Regeln auf engem Raum, Ablenkung, Zeitdruck.
➜ Überleitung: Heute Abend lernt ihr, wer wann fährt, und zwar so, dass ihr es nie wieder vergesst.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Rätsel des Abends. Nur zeigen, NICHT auflösen. Die Auflösung kommt ganz am Ende.
▶ Blaues Auto A kommt von unten und will der Vorfahrtstraße nach links folgen. Rotes Auto B kommt von oben und will geradeaus. Grünes Auto C kommt von rechts und will geradeaus.
🖱 Klick 1: Abstimmen lassen, Ergebnis an die Tafel schreiben (z. B. „A–B–C: 7 Stimmen“).
➜ Sagen: Am Ende des Abends schauen wir, wer recht hatte.
(Lösung für dich: A, dann B, dann C. A ist auf der Vorfahrtstraße. B und C sind auf Nebenstraßen, untereinander gilt rechts vor links: B kommt für C von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halten, nur als Fundament.
🖱 Klick 1 · § 1 Abs. 1 StVO: ständige Vorsicht und gegenseitige Rücksicht.
🖱 Klick 2 · § 1 Abs. 2 StVO: niemand darf geschädigt, gefährdet oder mehr als unvermeidbar behindert oder belästigt werden.
🖱 Klick 3 · Vertrauensgrundsatz (aus der Rechtsprechung, nicht wörtlich im Gesetz): Du darfst darauf vertrauen, dass sich andere richtig verhalten. Aber nicht, wenn du siehst, dass jemand das nicht tut. Gegenüber Kindern, Hilfsbedürftigen und älteren Menschen musst du eine Gefährdung ausschließen (§ 3 Abs. 2a StVO).
➜ Das ist der Rahmen. Jetzt geht es um die konkreten Vorfahrtsregeln.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Langsam lesen.
🖱 1 Klick: Wer Vorrang hat, muss darauf verzichten, wenn die Verkehrslage es erfordert. Und: Auf einen Verzicht darf man nur vertrauen, wenn man sich verständigt hat, z. B. per Handzeichen oder Blickkontakt (§ 11 Abs. 3 StVO).
Beispiel: Ein Kind läuft los, ein Rettungswagen kommt, jemand hat dich übersehen. Recht haben nützt dir im Krankenhaus nichts.
➜ Überleitung: Zwei Wörter, die fast alle verwechseln: Vorfahrt und Vorrang.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Begriffe, die oft verwechselt werden.
🖱 Klick 1 · Vorfahrt: gibt es nur an Kreuzungen und Einmündungen (§ 8 StVO).
🖱 Klick 2 · Vorrang: überall sonst, wo jemand zuerst darf. Beispiele: Engstellen (Zeichen 208 und 308), Fußgänger am Zebrastreifen (§ 26), wer einfährt, muss alle anderen vorlassen (§ 10).
❓ Frage: Ein Auto parkt aus und ihr kommt angefahren. Vorfahrt oder Vorrang? ✅ Vorrang. Keine Kreuzung, sondern Einfahren (§ 10).
➜ Überleitung: Wer hat an einer Kreuzung eigentlich das Sagen? Wir bauen einen Turm.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Rangfolge-Turm. Immer dieselbe Kreuzung: Du (orange) kommst von unten und willst geradeaus. A (blau) kommt von rechts und will geradeaus.
Stufe 4: Keine Schilder, keine Ampel, kein Polizist. ❓ Wer fährt? ✅ A, denn A kommt von rechts.
🖱 Klick 1: A fährt. 🖱 Klick 2: Du fährst.
➜ Weiterklicken: Jetzt kommen Schilder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3: Du hast Zeichen 306 (Vorfahrtstraße), A hat Zeichen 205 (Vorfahrt gewähren). Die Schilder schlagen rechts vor links.
❓ Wer fährt jetzt? ✅ Du.
🖱 Klick 1: Du fährst. 🖱 Klick 2: A fährt.
➜ Überleitung: Und jetzt kommt eine Ampel dazu. Was passiert mit den Schildern?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2: Jetzt kommt eine Ampel dazu. Du hast Rot, A hat Grün. Die Ampel schlägt die Schilder (§ 37 Abs. 1 StVO).
Die Schilder bleiben hängen: Sie gelten, wenn die Ampel ausfällt oder abgeschaltet ist.
❓ Wer fährt? ✅ A, trotz deiner Vorfahrtstraße.
🖱 Klick 1: A fährt. 🖱 Klick 2: Ampel springt um, du fährst.
➜ Überleitung: Jetzt stellt sich ein Polizist auf die Kreuzung.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Stufe 1: Ein Polizist steht auf der Kreuzung. Seine Zeichen gehen allen anderen Anordnungen und Regeln vor, auch der Ampel (§ 36 Abs. 1 StVO).
Er zeigt dir seine Seite: Du darfst fahren. A sieht seine Brust: A muss halten. Obwohl deine Ampel Rot zeigt.
🖱 Klick 1: Du fährst. 🖱 Klick 2: Merksatz.
Merksatz: Polizei vor Ampel vor Schild vor rechts vor links.
➜ Überleitung: Wir fangen ganz unten im Turm an: bei der Grundregel.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Rechts vor links. Die Grundregel der Vorfahrt (§ 8 Abs. 1 StVO).
🖱 Baut sich von selbst auf.
▶ Wichtig: Sie gilt immer dann, wenn nichts anderes geregelt ist. Keine Ampel, kein Polizist, kein Vorfahrtsschild.
➜ Überleitung: Wo gilt diese Grundregel überhaupt?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Frage an die Klasse: Wo gilt rechts vor links? Erst sammeln, dann klicken.
✅ Überall, wo nichts anderes geregelt ist.
🖱 Klick 1: An Kreuzungen und Einmündungen ohne Regelung durch Schilder, Ampel oder Polizei. Auch an ganz kleinen Einmündungen.
🖱 Klick 2: In Tempo-30-Zonen gilt an Kreuzungen und Einmündungen grundsätzlich rechts vor links (§ 45 Abs. 1c StVO). Typisch für Wohngebiete, auch hier in Offenbach.
🖱 Klick 3: Das Warnzeichen 102 kündigt eine Kreuzung mit rechts vor links an. Es muss aber nicht stehen! Keine Schilder heißt: rechts vor links.
❓ Frage: Gilt rechts vor links auch für Radfahrer? ✅ Ja. Die Vorfahrtsregeln gelten für alle Fahrzeuge.
➜ Überleitung: Testen wir das an einer Einmündung. Da liegen die meisten falsch.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Einmündung (T-Kreuzung) ohne Schilder. Du fährst auf der durchgehenden Straße, A kommt aus der Seitenstraße von rechts und will nach links abbiegen.
❓ Frage: Wer fährt? Viele sagen: „Ich bin auf der großen Straße.“
🖱 Klick 1: ✅ A fährt zuerst, denn A kommt von rechts. Auch an Einmündungen gilt rechts vor links, egal wie klein die Straße aussieht.
🖱 Klick 2: Du fährst weiter.
Merke: Eine breitere oder besser ausgebaute Straße gibt dir keine Vorfahrt. Nur Schilder tun das.
➜ Überleitung: Jetzt seid ihr dran: das Kreuzungs-Duell.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Kreuzungs-Duell. Fünf Runden, die Klasse stimmt jedes Mal per Handzeichen ab.
Tipp: In zwei Teams aufteilen (Fensterseite gegen Türseite), Punkte an die Tafel. Wer mehr Runden richtig hat, gewinnt.
🖱 1 Klick: Die Spielregel.
➜ Überleitung: Runde 1, zum Warmwerden.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1, zum Warmwerden.
🖱 Klick 1: Abstimmen. 🖱 Klick 2: B fährt (Nummer 1). 🖱 Klick 3: A fährt. 🖱 Klick 4: Begründung.
✅ B, dann A. B kommt für A von rechts.
➜ Überleitung: Runde 2: Jetzt kommt ein drittes Auto dazu.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2: drei Autos, alle geradeaus.
✅ B, dann A, dann C. Denkweg: Jeder schaut nach rechts. B hat rechts niemanden. A hat B rechts. C hat A rechts.
🖱 Klick 1: Abstimmen. 🖱 Klicks 2–4: B, A, C fahren. 🖱 Klick 5: Begründung.
➜ Überleitung: Runde 3: Jetzt biegt einer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3: jetzt mit Linksabbieger.
✅ B, dann C, dann A.
Denkweg: B hat rechts niemanden (von B aus rechts ist links im Bild, da steht keiner). C hat B rechts. A hat C rechts und muss als Linksabbieger den Gegenverkehr B durchlassen (§ 9 Abs. 3 StVO).
🖱 Klick 1: Abstimmen. 🖱 Klicks 2–4: B, C, A. 🖱 Klick 5: Begründung.
➜ Überleitung: Runde 4, der Klassiker. Vier Autos.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4: der Klassiker. Vier Autos, alle geradeaus. Jeder hat jemanden von rechts, also dürfte keiner fahren.
❓ Frage: Was jetzt? ✅ Verständigen. Einer verzichtet deutlich, z. B. per Handzeichen, und lässt einen anderen fahren (§ 11 Abs. 3, § 1 StVO). Auf den Verzicht darf man sich nur verlassen, wenn man sich wirklich verständigt hat.
Danach gilt wieder rechts vor links: Ist A weg, hat D rechts niemanden mehr. Dann C, dann B.
🖱 Klick 1: Abstimmen. 🖱 Klick 2: A fährt nach Verständigung. 🖱 Klicks 3–5: D, C, B. 🖱 Klick 6: Begründung.
➜ Überleitung: Runde 5 kommt später. Erst: Was mache ich, wenn ich nichts sehe?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kommst aus einer Nebenstraße mit Zeichen 205 und willst links abbiegen. Hecken versperren die Sicht.
▶ Wer warten muss, zeigt das früh durch mäßige Geschwindigkeit (§ 8 Abs. 2 StVO).
🖱 Klick 1: Du rollst an die Einmündung. Der Blick reicht nicht (kurze Kegel).
🖱 Klick 2: Hineintasten: ganz langsam vorrollen, bis du die Straße überblickst. Jetzt siehst du weit.
🖱 Klick 3: Ein Auto von rechts kommt. Warten.
🖱 Klick 4: Frei. Du biegst links ab.
Merke: Du darfst erst fahren, wenn du sicher bist, dass du niemanden gefährdest oder wesentlich behinderst.
➜ Überleitung: Jetzt eine Falle, in die jedes Jahr viele tappen.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Einfahren. Die Falle, in die jedes Jahr viele tappen.
🖱 1 Klick: der zweite Satz.
➜ Überleitung: Schaut genau hin: zwei Autos, beide von rechts.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Autos kommen von rechts. Beide sehen ähnlich aus. Aber nur eines hat Vorfahrt.
🖱 Klick 1: Du fährst bis zur ersten Einmündung.
❓ Frage: A kommt aus einer Straße von rechts. Wer fährt? 🖱 Klick 2: ✅ A, rechts vor links. A biegt ab.
🖱 Klick 3: Du fährst weiter bis zur Hofeinfahrt.
❓ Frage: B kommt auch von rechts. Wer fährt jetzt? Abstimmen lassen!
🖱 Klick 4: ✅ Du! B kommt über einen abgesenkten Bordstein aus einem Grundstück. Wer einfährt, muss alle vorlassen und darf niemanden gefährden (§ 10 StVO). B muss auch blinken.
🖱 Klick 5: Du fährst, dann B.
Erkennungszeichen: Der Gehweg läuft durch, die Bordsteinkante ist nur abgesenkt.
➜ Überleitung: Woran erkenne ich den Unterschied? Wir holen die Lupe.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Lupe auf den Bordstein.
▶ Links: normaler Bordstein, hohe Kante. Endet der Gehweg und läuft die Fahrbahn weiter, ist das eine Einmündung: rechts vor links.
▶ Rechts: abgesenkter Bordstein. Der Gehweg läuft durch. Wer da rausfährt, ist Einfahrer und muss alle vorlassen.
🖱 1 Klick: der Merksatz.
➜ Überleitung: Wer muss beim Einfahren noch alles warten? Hier die komplette 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StVO: Wer von hier auf die Straße fährt, muss sich so verhalten, dass eine Gefährdung anderer ausgeschlossen ist. Wenn nötig: einweisen lassen. Und: rechtzeitig und deutlich blinken.
🖱 6 Klicks, je eine Kachel: Grundstück (Parkplatz, Tankstelle, Hof, Garage) · abgesenkter Bordstein · verkehrsberuhigter Bereich · Fußgängerbereich · andere Straßenteile (z. B. Parkstreifen, Seitenstreifen) · Anfahren vom Fahrbahnrand.
🖱 Klick 7: Dazu: Wer aus einem Feld- oder Waldweg kommt, hat ebenfalls keine Vorfahrt (§ 8 Abs. 1 Satz 2 StVO).
➜ Überleitung: Ein Fall aus der Liste in Bewegung: raus aus dem verkehrsberuhigten Bereich.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kommst aus einem verkehrsberuhigten Bereich (Zeichen 325.1/325.2, umgangssprachlich oft „Spielstraße“ genannt; rechtlich ist eine Spielstraße aber Zeichen 250 mit Zusatzzeichen) und willst links abbiegen.
❓ Frage: Wer fährt zuerst? ✅ Alle anderen. Rausfahren ist Einfahren nach § 10.
▶ Drinnen gilt: Schrittgeschwindigkeit, Fußgänger dürfen die ganze Straße nutzen, Kinder dürfen überall spielen (Zeichen 325.1).
▶ Rausfahren (Zeichen 325.2) ist Einfahren nach § 10: Du musst alle vorlassen. Auch den von links. Und blinken.
🖱 Klick 1: Du rollst vor bis zur Straße.
🖱 Klick 2: Auflösung, dann fahren A (von links) und B (von rechts), dann der Radfahrer.
🖱 Klick 3: Jetzt du.
➜ Überleitung: Zeit für ein kleines Spiel: Mythos oder Fakt?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Mythos oder Fakt? Jeweils erst abstimmen lassen, dann klicken.
1. Supermarkt-Parkplatz, rechts vor links? ✅ Meist NICHT. Der BGH hat 2022 entschieden: Auf Parkplätzen gilt rechts vor links nur, wenn die Fahrgassen eindeutig wie eine Straße wirken. Sonst gilt gegenseitige Rücksicht (§ 1 StVO). Bei Unfällen wird die Schuld dann oft geteilt. (BGH, Urteil vom 22.11.2022, VI ZR 344/21)
2. Feldweg ohne Vorfahrt? ✅ FAKT (§ 8 Abs. 1 Satz 2 StVO).
3. Tempo-30-Zone: rechts vor links? ✅ FAKT, grundsätzlich (§ 45 Abs. 1c StVO).
4. Aus der Hofeinfahrt ohne Blinker? ✅ MYTHOS. Beim Einfahren muss man blinken (§ 10 StVO).
🖱 Pro Aussage 2 Klicks: 1. Aussage gleitet herein, abstimmen lassen. 2. Stempel und Begründung.
➜ Überleitung: Kapitel 3: Jetzt regeln Schilder die Vorfahrt.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Vorfahrt durch Verkehrszeichen.
❓ Frage: Wie heißen die beiden Zeichen? 🖱 Klick 1: ✅ 205 „Vorfahrt gewähren“ und 206 „Halt. Vorfahrt gewähren“.
▶ Beide haben eine Form, die es kein zweites Mal gibt: das auf der Spitze stehende Dreieck und das Achteck.
❓ Frage: Warum? 🖱 Klick 2: ✅ Damit man sie auch von hinten, bei Dunkelheit oder mit Schnee darauf erkennt. Wer die Rückseite sieht, weiß: Hier muss jemand warten. Die eigenen Schilder trotzdem beachten.
➜ Überleitung: Welche Schilder gehören noch dazu? Hier alle auf einen Blick.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Zeichen im Überblick. Links: Du hast Vorfahrt. Rechts: Du musst warten.
Pro Schild 2 Klicks: 1. Schild erscheint, ❓ „Was bedeutet es?“ 2. Bedeutung gleitet herein.
✅ 301 Vorfahrt: nur an der nächsten Kreuzung oder Einmündung.
✅ 306 Vorfahrtstraße: gilt bis zum nächsten Zeichen 205, 206 oder 307. Außerorts ist auf der Fahrbahn einer Vorfahrtstraße Parken verboten.
✅ 307: Ende der Vorfahrtstraße.
✅ 205 Vorfahrt gewähren.
✅ 206 Halt. Vorfahrt gewähren: immer anhalten, an der Haltlinie. Gibt es keine, dort, wo man die Straße überblickt.
✅ 102: Warnung, Kreuzung oder Einmündung mit Vorfahrt von rechts.
Merke: 205 und 206 stehen fast immer als Paar mit 301 oder 306 der anderen Straße.
➜ Überleitung: Das strengste davon: das Stoppschild. Was heißt hier Anhalten?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Zeichen 206: Halt. Vorfahrt gewähren.
▶ Du musst anhalten, auch wenn die Straße frei ist. Die Räder müssen stillstehen. Langsames Rollen reicht nicht. In der Prüfung ist das ein erheblicher Fehler, die Prüfung ist dann nicht bestanden.
🖱 Klick 1: Du hältst an der Haltlinie. Stempel.
🖱 Klick 2: Ein Auto von links kommt. Warten.
🖱 Klick 3: Frei. Du biegst rechts ab.
Ohne Haltlinie hältst du dort, wo du die Straße überblicken kannst.
➜ Überleitung: Und was passiert, wenn einer das Schild übersieht?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 passiert, wenn einer das Schild übersieht? Du fährst auf der Vorfahrtstraße (306), A hat 205 und fährt einfach rein.
🖱 Klick 1: Knall. Kurz Stille aushalten.
🖱 Klick 2–4: Die Folgen (Bußgeldkatalog):
❓ Frage vor jedem Klick: Was glaubt ihr, was das kostet?
✅ Vorfahrt nicht beachtet (Vorfahrtberechtigten wesentlich behindert): 25 € · mit Gefährdung: 100 € und 1 Punkt · mit Sachbeschädigung: 120 € und 1 Punkt. Mit Verletzten wird es ein Strafverfahren.
✅ In der Probezeit sind die Verstöße mit Punkt A-Verstöße: Aufbauseminar und die Probezeit verlängert sich um 2 Jahre.
Dazu kommt der Schaden: Wer die Vorfahrt nimmt, haftet in der Regel ganz oder überwiegend.
Und: Mit Vorfahrt fährt man trotzdem bremsbereit. Du darfst dich auf andere verlassen, aber nicht blind.
➜ Überleitung: Kapitel 4: Wenn die Vorfahrtstraße einen Knick 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Abknickende Vorfahrt. Die Vorfahrtstraße macht an der Kreuzung einen Knick.
▶ Das Zusatzzeichen unter dem Schild zeigt den Verlauf von oben: Die dicke Linie ist die Vorfahrtstraße, die dünnen Linien sind die Nebenstraßen. Du kommst immer von unten.
🖱 Klick 1: Das Zusatzzeichen groß. ❓ Frage: Was bedeuten die dicke und die dünnen Linien?
🖱 Klick 2: ✅ Dick = Vorfahrtstraße, dünn = Nebenstraßen, du kommst von unten.
🖱 Klick 3: Die Vorfahrtstraße leuchtet in der Kreuzung auf.
Hinweis: Das Zusatzzeichen (Nr. 1002) ist hier nachgezeichnet.
➜ Überleitung: Drei Regeln, dann klappt jeder Knick.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Regeln. Nur drei, aber die sitzen. Vor jedem Klick fragen: ❓ Was glaubt ihr?
🖱 Klick 1 · Blinken: Wer dem Knick folgt, ändert die Richtung und muss blinken.
🖱 Klick 2 · Auf der Vorfahrtstraße untereinander gelten die Abbiegeregeln (§ 9 StVO): z. B. Gegenverkehr beachten.
🖱 Klick 3 · Auf den Nebenstraßen untereinander gilt rechts vor links.
🖱 Klick 4 · ❓ Und wer geradeaus fährt und damit die Vorfahrtstraße verlässt? ✅ Blinkt nicht, er lenkt ja nicht.
➜ Überleitung: Schauen wir uns das in Bewegung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Szene: Du folgst der Vorfahrtstraße nach links, also blinkst du links. Gleichzeitig folgt A von links kommend dem Knick nach rechts. Ihr seid beide auf der Vorfahrtstraße, eure Wege kreuzen sich nicht: Ihr fahrt gleichzeitig.
B kommt aus der Nebenstraße von rechts und muss warten.
❓ Frage: Wer fährt zuerst? ✅ Du und A gleichzeitig (beide auf der Vorfahrtstraße, Wege kreuzen sich nicht), dann B.
🖱 Klick 1: Du und A fahrt, Stempel „B wartet“. 🖱 Klick 2: B fährt.
➜ Überleitung: Und jetzt kommt Runde 5 im Kreuzungs-Duell.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Runde 5 im Kreuzungs-Duell, jetzt mit abknickender Vorfahrt. Die Vorfahrtstraße kommt von unten und knickt nach links ab.
C ist auf der Vorfahrtstraße (von links) und folgt dem Knick nach rechts. A (von oben) und B (von rechts) sind auf Nebenstraßen und wollen geradeaus.
✅ C zuerst (Vorfahrtstraße). Dann A vor B: Auf den Nebenstraßen gilt untereinander rechts vor links, und A kommt für B von rechts.
🖱 Klick 1: Abstimmen. 🖱 Klicks 2–4: C, A, B. 🖱 Klick 5: Begründung.
➜ Überleitung: Kapitel 5: der Kreisverkehr.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Kreisverkehr. Du kommst von unten und willst die zweite Ausfahrt nehmen (geradeaus nach oben).
❓ Frage: Wer fährt zuerst? Und wann blinkst du? Erst raten lassen.
✅ Steht Zeichen 215 (Kreisverkehr) unter Zeichen 205, hat der Verkehr im Kreis Vorfahrt (§ 8 Abs. 1a StVO). Fußgänger am Zebrastreifen haben Vorrang (§ 26).
🖱 Klick 1: Eine Fußgängerin geht über den Zebrastreifen, gleichzeitig fährt A im Kreis vorbei. Du wartest.
🖱 Klick 2: Du fährst ein, OHNE zu blinken (Blinken beim Einfahren ist unzulässig, § 8 Abs. 1a StVO), und fährst gegen den Uhrzeigersinn.
Nachdem du an der ersten Ausfahrt vorbei bist, blinkst du rechts und fährst raus.
❓ Frage: Wann blinke ich zum Rausfahren? ✅ Wenn du an der Ausfahrt vor deiner Ausfahrt vorbei bist. Rechts blinken.
➜ Überleitung: Die Regeln im Kreisverkehr als Frage und Antwort.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Kreisverkehr-Regeln als Frage und Antwort. Pro Karte 2 Klicks: 1. Frage erscheint, Klasse antwortet. 2. Antwort gleitet herein.
✅ Wer hat Vorfahrt? Wer im Kreis fährt, wenn 215 unter 205 steht (§ 8 Abs. 1a StVO).
✅ Reinfahren blinken? Nein, unzulässig (§ 8 Abs. 1a StVO).
✅ Rausfahren blinken? Ja, rechts. Und auf Fußgänger und Radfahrer achten (§ 9 StVO).
✅ Im Kreis halten? Nein, auf der Kreisfahrbahn verboten (Anlage 2 StVO zu Zeichen 215).
✅ Über die Mittelinsel? Nein. Nur große Fahrzeuge, wenn es anders nicht geht und niemand gefährdet wird (Anlage 2 StVO zu Zeichen 215).
✅ Profi-Frage: Nur Zeichen 215, aber kein 205? Dann gilt rechts vor links: Wer reinfährt, hat Vorfahrt.
🖱 Letzter Klick: Merksatz „Rein ohne, raus mit.“
➜ Überleitung: Kapitel 6: Jetzt regelt die Ampel.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Ampel (Wechsellichtzeichen, § 37 StVO). Ampeln gehen Vorfahrtregeln und Vorfahrtschildern vor.
Die Ampel schaltet per Klick. Immer zuerst fragen: ❓ Was bedeutet diese Farbe? Dann mit dem nächsten Klick auflösen.
Start: Grün leuchtet. 🖱 Klick 1: ✅ „Der Verkehr ist freigegeben.“ (§ 37 Abs. 2 StVO)
🖱 Klick 2: Gelb. 🖱 Klick 3: ✅ „Vor der Kreuzung auf das nächste Zeichen warten.“ Wer nicht mehr gefahrlos halten kann, fährt zügig weiter.
🖱 Klick 4: Rot. 🖱 Klick 5: ✅ „Halt vor der Kreuzung.“
🖱 Klick 6: Rot und Gelb. 🖱 Klick 7: ✅ Gleich kommt Grün, aber noch nicht losfahren. (Für Rot + Gelb gibt es in der StVO keine eigene Anordnung, es ist nur Teil der Farbfolge.)
🖱 Klick 8: Wieder Grün, dazu die Farbfolge. Einmal laut mit der Klasse aufsagen.
➜ Überleitung: Die schwierigste Farbe ist Gelb. Gas oder Bremse?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Gelb-Dilemma. Jeder kennt es: Gelb springt an. Gas oder Bremse?
❓ Klick 1 vorher fragen: Wie lange dauert Gelb bei Tempo 50? 🖱 Klick 1: ✅ Meist 3 Sekunden (Richtlinie für Ampeln, RiLSA).
❓ Wie weit fährst du in 3 Sekunden? 🖱 Klick 2: ✅ Rund 42 Meter (50 km/h ≈ 14 m pro Sekunde).
❓ Wie lang ist dein Anhalteweg bei 50? 🖱 Klick 3: ✅ Reaktionsweg 15 m + Bremsweg 25 m = rund 40 m (Faustformel, normale Bremsung).
❓ Gas oder Bremse? 🖱 Klick 4: ✅ Grüne Zone: Weiter weg als etwa 40 m, du schaffst es: anhalten.
🖱 Klick 5: ✅ Rote Zone: Schon näher dran, du kannst nicht mehr gefahrlos halten: zügig weiterfahren. Eine Gefahrbremsung musst du nicht machen.
Merke: Wer sich an Tempo 50 hält, kommt bei Gelb in der Regel sicher raus. Wer zu schnell ist, landet in der Falle.
➜ Überleitung: Und wenn es schon Rot ist? Die 1-Sekunde-Ampel.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1-Sekunde-Ampel. Die Zeit läuft ab dem Moment, in dem die Ampel Rot zeigt, bis du über die Haltlinie fährst.
🖱 Klick 1: Der Zähler läuft in Zeitlupe bis 1 Sekunde. Mitzählen lassen!
❓ Vor Klick 2 und 3 fragen: Was kostet das?
🖱 Klick 2: ✅ Unter 1 Sekunde: 90 € und 1 Punkt.
🖱 Klick 3: ✅ Über 1 Sekunde („qualifizierter Rotlichtverstoß“): 200 €, 2 Punkte, 1 Monat Fahrverbot.
🖱 Klick 4: In der Probezeit ist jeder Rotlichtverstoß ein A-Verstoß: Aufbauseminar, Probezeit +2 Jahre.
Mit Gefährdung oder Unfall wird es teurer, dann gibt es auch unter 1 Sekunde ein Fahrverbot.
Erinnerung: In 1 Sekunde fährst du bei 50 km/h 14 Meter.
➜ Überleitung: Grün heißt fahren. Aber was ist, wenn ich links abbiege?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abbiegen an der Ampel. ❓ Frage: Grün! Was machst du? ✅ Vorfahren bis etwa zur Mitte, Gegenverkehr durchlassen, Fußgänger beachten, dann abbiegen.
🖱 Klick 1: Du fährst bei Grün in die Kreuzung vor, bis etwa zur Mitte, und wartest dort.
🖱 Klick 2: Der Gegenverkehr B fährt geradeaus. Er hat Vorrang (§ 9 Abs. 3 StVO).
🖱 Klick 3: In der Straße, in die du abbiegst, gehen Fußgänger bei Grün. Auch sie haben Vorrang.
🖱 Klick 4: Jetzt biegst du ab.
Wichtig: Wird es Rot, während du in der Kreuzung wartest, fährst du zügig raus (Kreuzung räumen). Die anderen müssen dich rauslassen.
🖱 Klick 5: Merksatz Kreuzung räumen.
➜ Überleitung: Und wenn gegenüber auch einer links abbiegen 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Linksabbieger, die sich gegenüberstehen. Wie fahren sie?
✅ Voreinander abbiegen: Jeder biegt vor dem anderen ab, ihr fahrt nicht erst aneinander vorbei (§ 9 Abs. 4 StVO). Das spart Platz und Zeit.
Nur wenn die Kreuzung es verlangt, z. B. durch Markierungen, oder die Verkehrslage es erfordert, fährt man erst aneinander vorbei und biegt dann hinter dem anderen ab.
Achtung: Der andere verdeckt dir die Sicht auf den Gegenverkehr dahinter. Also langsam und aufmerksam.
❓ Frage vorher: Wie biegen die beiden ab? Vorbei und dann hintereinander, oder voreinander?
🖱 Klick 1: Beide biegen gleichzeitig ab, Stempel. 🖱 Klick 2: Erklärung.
➜ Überleitung: Rot, aber mit Grünpfeil. Darf ich fahren? Der Grünpfeil-Test.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Grünpfeil-Test. Deine Ampel zeigt Rot, daneben hängt das Grünpfeil-Schild (Zeichen 720). Du willst rechts abbiegen.
❓ Frage vorher: Was machst du, und in welcher Reihenfolge? Antworten sammeln, dann Schritt für Schritt auflösen.
✅ Richtige Reihenfolge:
🖱 Klick 1 · Anhalten! Immer, an der Haltlinie. Die Räder müssen stillstehen.
🖱 Klick 2 · Fußgänger in der Straße, in die du abbiegst, haben Grün. Sie gehen zuerst.
🖱 Klick 3 · Der Querverkehr von links hat Grün. Er fährt zuerst.
🖱 Klick 4 · Jetzt vorsichtig abbiegen.
Nur aus dem rechten Fahrstreifen. Niemand darf behindert oder gefährdet werden, vor allem nicht Fußgänger und Fahrzeuge, die Grün haben (§ 37 Abs. 2 StVO).
➜ Überleitung: Grünpfeil ist nicht gleich Grünpfeil. Nicht verwechseln!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Nicht verwechseln! Jeweils erst das Bild zeigen, fragen, dann auflösen.
🖱 Klick 1: Schild erscheint. ❓ Was erlaubt es? 🖱 Klick 2: ✅ Grünpfeil-Schild (Zeichen 720), hängt neben dem roten Licht: nach dem Anhalten trotz Rot rechts abbiegen, nur aus dem rechten Fahrstreifen, wer Grün hat, geht vor.
🖱 Klick 3: Pfeil in der Ampel erscheint. ❓ Und der? 🖱 Klick 4: ✅ Grüner Pfeil als Lichtzeichen: Frei ist nur die Richtung, in die er zeigt.
🖱 Klick 5: Zeichen 721. ❓ Was ist anders? 🖱 Klick 6: ✅ Grünpfeil nur für Radfahrer (seit 2020).
🖱 Klick 7 · ✅ Bußgeld (je 1 Punkt): nicht angehalten 70 € · mit Gefährdung 100 € · mit Sachbeschädigung 120 €.
➜ Überleitung: Und was, wenn die Ampel ganz ausfällt?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Stromausfall! Oder nachts abgeschaltet.
🖱 Klick 1: Die Ampeln gehen aus, es blinkt nur noch Gelb.
❓ Frage: Was gilt jetzt? Viele sagen: rechts vor links.
🖱 Klick 2: ✅ Erst die Schilder! An vielen Ampelkreuzungen hängen Vorfahrtschilder mit am Mast. Die gelten, sobald die Ampel aus ist. Gelbes Blinklicht warnt nur, es regelt nichts.
Erst wenn es auch keine Schilder gibt, gilt rechts vor links.
🖱 Klick 3: Du hast 306 und fährst zuerst, dann A.
➜ Überleitung: Es gibt noch Ampeln über einzelnen Fahrstreifen.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Dauerlichtzeichen hängen über einzelnen Fahrstreifen, z. B. in Tunneln, auf Brücken oder Autobahnen (§ 37 Abs. 3 StVO).
Pro Signal 2 Klicks: 1. Signal erscheint, ❓ „Was bedeutet das?“ 2. Auflösung.
✅ Rotes Kreuz: Dieser Fahrstreifen ist gesperrt, nicht benutzen.
✅ Grüner Pfeil nach unten: Der Fahrstreifen ist freigegeben.
✅ Gelb blinkender Schrägpfeil: Fahrstreifen in Pfeilrichtung wechseln.
➜ Überleitung: Ganz oben im Turm fehlt noch einer: die Polizei.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Kapitel: Polizei. Ganz oben im Turm.
▶ Zeichen und Weisungen der Polizei gehen allen anderen Anordnungen und Regeln vor. Auch der Ampel (§ 36 Abs. 1 StVO). Deine Sorgfaltspflicht bleibt trotzdem.
🖱 1 Klick: der zweite Satz.
➜ Überleitung: Wie lese ich, was der Polizist mir sagt?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Handzeichen (§ 36 Abs. 2 StVO). MITMACH-MOMENT: Mach die Zeichen vorne selbst vor. Die Klasse zeigt: Daumen hoch = fahren, flache Hand = halten.
Pro Figur 2 Klicks: 1. Figur erscheint, ❓ „Fahren oder halten?“ (Daumen/Hand zeigen lassen). 2. Auflösung.
✅ Arme seitlich ausgestreckt, du siehst Brust oder Rücken: HALT vor der Kreuzung.
✅ Du siehst die Seite: FAHREN, der Querverkehr ist freigegeben.
✅ Ein Arm hoch: Alle warten vor der Kreuzung auf das nächste Zeichen. Wer schon in der Kreuzung ist, räumt sie. Wie Gelb.
🖱 Letzter Klick · Merksatz. Dann 3–4 Mal schnell abfragen: Dreh dich, zeig ein Zeichen, Klasse reagiert.
➜ Überleitung: Jetzt auf der Kreuzung: Wer darf fahren?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Polizist auf der Kreuzung. Er schaut nach oben, die Arme zeigen nach links und rechts.
❓ Frage: Wer darf fahren? ✅ A und C sehen seine Seite: Sie fahren. Du und B seht Brust oder Rücken: Ihr haltet.
🖱 Klick 1: A und C fahren.
🖱 Klick 2: Der Polizist dreht sich um 90 Grad.
❓ Frage: Und jetzt? ✅ Jetzt sehen du und B die Seite.
🖱 Klick 3: Du und B fahrt.
➜ Überleitung: Die Polizei regelt nicht nur, sie hält auch an. So sieht das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Polizei darf dich zur Verkehrskontrolle anhalten (§ 36 Abs. 5 StVO). Das Zeichen dazu: Winkerkelle, rote Leuchte oder Anzeige am Streifenwagen („Stop Polizei“, „Bitte folgen“). So kann auch ein Auto vor dir angehalten werden.
Was tun? Blinken, rechts ran, anhalten, Anweisungen befolgen. Führerschein und Fahrzeugschein dabeihaben.
🖱 3 Klicks, je ein Zeichen.
➜ Überleitung: Jetzt seid ihr dran: Ihr baut selbst ein Rätsel.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Gruppenarbeit. Arbeitsblätter austeilen, drei Gruppen bilden.
Gruppe 1 · Abknickende Vorfahrt · Gruppe 2 · Kreisverkehr · Gruppe 3 · Ampel, Grünpfeil und Polizei.
🖱 Klick 1: Der Auftrag. 🖱 Klick 2: Timer 15 Minuten.
Auftrag: Zeichnet eure Kreuzung groß von oben, stellt 3 Autos auf (Klebezettel) und baut ein Rätsel „Wer fährt zuerst?“. Dazu 3 Regeln und ein Merksatz. Bei der Vorstellung rät zuerst die Klasse, dann löst ihr mit den Klebezetteln auf.
Material: Plakat, dicke Stifte in Grün, Rot, Schwarz, Klebezettel, Lineal.
Du gehst herum. Hängt eine Gruppe, stell eine Frage von ihrem Blatt, gib keine Lösung.
➜ Überleitung: So baut ihr euer Plakat.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baut ihr das Plakat. Einmal kurz durchgehen, dann starten.
🖱 4 Klicks, je ein Schritt.
Tipp: Klebezettel als Autos kann man bei der Vorstellung verschieben. So „fahren“ die Autos live.
Farbcode für alle gleich: Grün = fährt zuerst, Rot = muss warten, Schwarz = Straße und Schilder.
➜ Überleitung: Nach den Vorstellungen: Zurück zum Rätsel vom Anfang. Wer lag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Zurück zum Rätsel vom Anfang. Tafel mit der Abstimmung zeigen: Wer lag richtig?
🖱 Klick 1: A fährt zuerst. A ist auf der Vorfahrtstraße und folgt dem Knick (mit Blinker).
🖱 Klick 2: B fährt. B und C sind auf Nebenstraßen, untereinander gilt rechts vor links. B kommt für C von rechts.
🖱 Klick 3: C fährt.
🖱 Klick 4: Begründung. Kurz loben, wer es am Anfang schon richtig hatte.
➜ Überleitung: Was nehmt ihr heute mit? Sechs Sätze.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Merksätze des Abends. Einzeln einblenden und von der Klasse ergänzen lassen, bevor du klickst („Rechts vor links gilt, wenn …?“).
🖱 6 Klicks.
➜ Überleitung: Und ein letzter Satz, über allem.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Schlusssatz. Langsam, dann Pause.
▶ Das Schild heißt „Vorfahrt gewähren“. Nicht „Vorfahrt nehmen“. Vorfahrt ist etwas, das dir ein anderer lässt. Verlass dich nie blind darauf.
🖱 1 Klick: zweiter Satz.
➜ Überleitung zur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nach 90 Minuten. Danach geht es weiter mit Lektion 6 (Verkehrszeichen und Verkehrseinrichtungen).
Plakate hängen lassen, sie passen gut zu Lektion 6.
➜ Überleitung: Nach der Pause: Lektion 6, Verkehrszeichen und Verkehrseinrichtungen.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1-4.png"/><Relationship Id="rId3" Type="http://schemas.openxmlformats.org/officeDocument/2006/relationships/image" Target="../media/image-10-2.png"/><Relationship Id="rId4" Type="http://schemas.openxmlformats.org/officeDocument/2006/relationships/image" Target="../media/image-31-3.png"/><Relationship Id="rId5" Type="http://schemas.openxmlformats.org/officeDocument/2006/relationships/image" Target="../media/image-10-3.png"/><Relationship Id="rId6" Type="http://schemas.openxmlformats.org/officeDocument/2006/relationships/image" Target="../media/image-10-3.png"/><Relationship Id="rId7" Type="http://schemas.openxmlformats.org/officeDocument/2006/relationships/image" Target="../media/image-10-5.png"/><Relationship Id="rId8" Type="http://schemas.openxmlformats.org/officeDocument/2006/relationships/image" Target="../media/image-16-3.png"/><Relationship Id="rId9" Type="http://schemas.openxmlformats.org/officeDocument/2006/relationships/image" Target="../media/image-17-4.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1-4.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4-4.png"/><Relationship Id="rId4" Type="http://schemas.openxmlformats.org/officeDocument/2006/relationships/image" Target="../media/image-16-3.png"/><Relationship Id="rId5" Type="http://schemas.openxmlformats.org/officeDocument/2006/relationships/image" Target="../media/image-17-4.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5.png"/><Relationship Id="rId3" Type="http://schemas.openxmlformats.org/officeDocument/2006/relationships/image" Target="../media/image-16-3.png"/><Relationship Id="rId4" Type="http://schemas.openxmlformats.org/officeDocument/2006/relationships/image" Target="../media/image-17-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2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4-4.png"/><Relationship Id="rId6" Type="http://schemas.openxmlformats.org/officeDocument/2006/relationships/image" Target="../media/image-16-3.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1.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6-3.png"/><Relationship Id="rId5" Type="http://schemas.openxmlformats.org/officeDocument/2006/relationships/image" Target="../media/image-14-4.png"/><Relationship Id="rId6" Type="http://schemas.openxmlformats.org/officeDocument/2006/relationships/image" Target="../media/image-14-4.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13-2.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4-4.png"/><Relationship Id="rId3" Type="http://schemas.openxmlformats.org/officeDocument/2006/relationships/image" Target="../media/image-10-4.png"/><Relationship Id="rId4" Type="http://schemas.openxmlformats.org/officeDocument/2006/relationships/image" Target="../media/image-14-4.png"/><Relationship Id="rId5" Type="http://schemas.openxmlformats.org/officeDocument/2006/relationships/image" Target="../media/image-10-5.png"/><Relationship Id="rId6" Type="http://schemas.openxmlformats.org/officeDocument/2006/relationships/image" Target="../media/image-16-3.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0-3.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28-2.png"/><Relationship Id="rId3" Type="http://schemas.openxmlformats.org/officeDocument/2006/relationships/image" Target="../media/image-10-2.png"/><Relationship Id="rId4" Type="http://schemas.openxmlformats.org/officeDocument/2006/relationships/image" Target="../media/image-28-4.png"/><Relationship Id="rId5" Type="http://schemas.openxmlformats.org/officeDocument/2006/relationships/image" Target="../media/image-10-3.png"/><Relationship Id="rId6" Type="http://schemas.openxmlformats.org/officeDocument/2006/relationships/image" Target="../media/image-27-3.png"/><Relationship Id="rId7" Type="http://schemas.openxmlformats.org/officeDocument/2006/relationships/image" Target="../media/image-13-4.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27-3.png"/><Relationship Id="rId3" Type="http://schemas.openxmlformats.org/officeDocument/2006/relationships/image" Target="../media/image-10-4.png"/><Relationship Id="rId4" Type="http://schemas.openxmlformats.org/officeDocument/2006/relationships/image" Target="../media/image-29-4.png"/><Relationship Id="rId5" Type="http://schemas.openxmlformats.org/officeDocument/2006/relationships/image" Target="../media/image-1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1-4.png"/><Relationship Id="rId3" Type="http://schemas.openxmlformats.org/officeDocument/2006/relationships/image" Target="../media/image-10-2.png"/><Relationship Id="rId4" Type="http://schemas.openxmlformats.org/officeDocument/2006/relationships/image" Target="../media/image-31-3.png"/><Relationship Id="rId5" Type="http://schemas.openxmlformats.org/officeDocument/2006/relationships/image" Target="../media/image-10-2.png"/><Relationship Id="rId6" Type="http://schemas.openxmlformats.org/officeDocument/2006/relationships/image" Target="../media/image-31-3.png"/><Relationship Id="rId7" Type="http://schemas.openxmlformats.org/officeDocument/2006/relationships/image" Target="../media/image-10-3.png"/><Relationship Id="rId8" Type="http://schemas.openxmlformats.org/officeDocument/2006/relationships/image" Target="../media/image-10-3.png"/><Relationship Id="rId9" Type="http://schemas.openxmlformats.org/officeDocument/2006/relationships/image" Target="../media/image-10-4.png"/><Relationship Id="rId10" Type="http://schemas.openxmlformats.org/officeDocument/2006/relationships/image" Target="../media/image-10-5.png"/><Relationship Id="rId11" Type="http://schemas.openxmlformats.org/officeDocument/2006/relationships/image" Target="../media/image-16-3.png"/><Relationship Id="rId12" Type="http://schemas.openxmlformats.org/officeDocument/2006/relationships/image" Target="../media/image-14-4.png"/><Relationship Id="rId13" Type="http://schemas.openxmlformats.org/officeDocument/2006/relationships/image" Target="../media/image-29-4.png"/><Relationship Id="rId14" Type="http://schemas.openxmlformats.org/officeDocument/2006/relationships/slideLayout" Target="../slideLayouts/slideLayout1.xml"/><Relationship Id="rId1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1-4.png"/><Relationship Id="rId3" Type="http://schemas.openxmlformats.org/officeDocument/2006/relationships/image" Target="../media/image-10-2.png"/><Relationship Id="rId4" Type="http://schemas.openxmlformats.org/officeDocument/2006/relationships/image" Target="../media/image-31-3.png"/><Relationship Id="rId5" Type="http://schemas.openxmlformats.org/officeDocument/2006/relationships/image" Target="../media/image-10-2.png"/><Relationship Id="rId6" Type="http://schemas.openxmlformats.org/officeDocument/2006/relationships/image" Target="../media/image-31-3.png"/><Relationship Id="rId7" Type="http://schemas.openxmlformats.org/officeDocument/2006/relationships/image" Target="../media/image-10-3.png"/><Relationship Id="rId8" Type="http://schemas.openxmlformats.org/officeDocument/2006/relationships/image" Target="../media/image-10-3.png"/><Relationship Id="rId9" Type="http://schemas.openxmlformats.org/officeDocument/2006/relationships/image" Target="../media/image-10-5.png"/><Relationship Id="rId10" Type="http://schemas.openxmlformats.org/officeDocument/2006/relationships/image" Target="../media/image-16-3.png"/><Relationship Id="rId11" Type="http://schemas.openxmlformats.org/officeDocument/2006/relationships/image" Target="../media/image-17-4.png"/><Relationship Id="rId12" Type="http://schemas.openxmlformats.org/officeDocument/2006/relationships/image" Target="../media/image-29-4.png"/><Relationship Id="rId13" Type="http://schemas.openxmlformats.org/officeDocument/2006/relationships/slideLayout" Target="../slideLayouts/slideLayout1.xml"/><Relationship Id="rId1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35-6.png"/><Relationship Id="rId7" Type="http://schemas.openxmlformats.org/officeDocument/2006/relationships/image" Target="../media/image-29-4.png"/><Relationship Id="rId8" Type="http://schemas.openxmlformats.org/officeDocument/2006/relationships/image" Target="../media/image-29-4.png"/><Relationship Id="rId9" Type="http://schemas.openxmlformats.org/officeDocument/2006/relationships/slideLayout" Target="../slideLayouts/slideLayout1.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5-2.png"/><Relationship Id="rId3" Type="http://schemas.openxmlformats.org/officeDocument/2006/relationships/image" Target="../media/image-10-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2.png"/><Relationship Id="rId8" Type="http://schemas.openxmlformats.org/officeDocument/2006/relationships/image" Target="../media/image-24-3.png"/><Relationship Id="rId9" Type="http://schemas.openxmlformats.org/officeDocument/2006/relationships/image" Target="../media/image-36-9.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0-4.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10-4.png"/><Relationship Id="rId3" Type="http://schemas.openxmlformats.org/officeDocument/2006/relationships/image" Target="../media/image-14-4.png"/><Relationship Id="rId4" Type="http://schemas.openxmlformats.org/officeDocument/2006/relationships/image" Target="../media/image-16-3.png"/><Relationship Id="rId5" Type="http://schemas.openxmlformats.org/officeDocument/2006/relationships/image" Target="../media/image-35-6.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4-4.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42-2.png"/><Relationship Id="rId3" Type="http://schemas.openxmlformats.org/officeDocument/2006/relationships/image" Target="../media/image-10-4.png"/><Relationship Id="rId4" Type="http://schemas.openxmlformats.org/officeDocument/2006/relationships/image" Target="../media/image-29-4.png"/><Relationship Id="rId5" Type="http://schemas.openxmlformats.org/officeDocument/2006/relationships/image" Target="../media/image-16-3.png"/><Relationship Id="rId6" Type="http://schemas.openxmlformats.org/officeDocument/2006/relationships/image" Target="../media/image-42-6.png"/><Relationship Id="rId7" Type="http://schemas.openxmlformats.org/officeDocument/2006/relationships/image" Target="../media/image-29-6.png"/><Relationship Id="rId8" Type="http://schemas.openxmlformats.org/officeDocument/2006/relationships/slideLayout" Target="../slideLayouts/slideLayout1.xml"/><Relationship Id="rId9"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42-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1-4.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6-3.png"/><Relationship Id="rId6" Type="http://schemas.openxmlformats.org/officeDocument/2006/relationships/image" Target="../media/image-17-4.png"/><Relationship Id="rId7" Type="http://schemas.openxmlformats.org/officeDocument/2006/relationships/slideLayout" Target="../slideLayouts/slideLayout1.xml"/><Relationship Id="rId8"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slideLayout" Target="../slideLayouts/slideLayout1.xml"/><Relationship Id="rId7"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31-4.png"/><Relationship Id="rId3" Type="http://schemas.openxmlformats.org/officeDocument/2006/relationships/image" Target="../media/image-10-2.png"/><Relationship Id="rId4" Type="http://schemas.openxmlformats.org/officeDocument/2006/relationships/image" Target="../media/image-31-3.png"/><Relationship Id="rId5" Type="http://schemas.openxmlformats.org/officeDocument/2006/relationships/image" Target="../media/image-10-3.png"/><Relationship Id="rId6" Type="http://schemas.openxmlformats.org/officeDocument/2006/relationships/image" Target="../media/image-10-3.png"/><Relationship Id="rId7" Type="http://schemas.openxmlformats.org/officeDocument/2006/relationships/image" Target="../media/image-10-5.png"/><Relationship Id="rId8" Type="http://schemas.openxmlformats.org/officeDocument/2006/relationships/image" Target="../media/image-16-3.png"/><Relationship Id="rId9" Type="http://schemas.openxmlformats.org/officeDocument/2006/relationships/image" Target="../media/image-17-4.png"/><Relationship Id="rId10" Type="http://schemas.openxmlformats.org/officeDocument/2006/relationships/image" Target="../media/image-14-4.png"/><Relationship Id="rId11" Type="http://schemas.openxmlformats.org/officeDocument/2006/relationships/slideLayout" Target="../slideLayouts/slideLayout1.xml"/><Relationship Id="rId1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3-2.png"/><Relationship Id="rId3" Type="http://schemas.openxmlformats.org/officeDocument/2006/relationships/image" Target="../media/image-13-2.png"/><Relationship Id="rId4" Type="http://schemas.openxmlformats.org/officeDocument/2006/relationships/image" Target="../media/image-24-2.png"/><Relationship Id="rId5" Type="http://schemas.openxmlformats.org/officeDocument/2006/relationships/image" Target="../media/image-24-7.png"/><Relationship Id="rId6" Type="http://schemas.openxmlformats.org/officeDocument/2006/relationships/image" Target="../media/image-24-3.png"/><Relationship Id="rId7" Type="http://schemas.openxmlformats.org/officeDocument/2006/relationships/image" Target="../media/image-36-6.png"/><Relationship Id="rId8" Type="http://schemas.openxmlformats.org/officeDocument/2006/relationships/slideLayout" Target="../slideLayouts/slideLayout1.xml"/><Relationship Id="rId9"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logo" descr="/tmp/claude-0/-home-user-Fahrlehrer-Kompass-/11378f77-94a8-55e9-a697-0f3efd4c20b9/scratchpad/bau/art/boost_logo.png">    </p:cNvPr>
          <p:cNvPicPr>
            <a:picLocks noChangeAspect="1"/>
          </p:cNvPicPr>
          <p:nvPr/>
        </p:nvPicPr>
        <p:blipFill>
          <a:blip r:embed="rId2"/>
          <a:stretch>
            <a:fillRect/>
          </a:stretch>
        </p:blipFill>
        <p:spPr>
          <a:xfrm>
            <a:off x="731520" y="640080"/>
            <a:ext cx="2377440" cy="933502"/>
          </a:xfrm>
          <a:prstGeom prst="rect">
            <a:avLst/>
          </a:prstGeom>
        </p:spPr>
      </p:pic>
      <p:sp>
        <p:nvSpPr>
          <p:cNvPr id="5" name="e1_1"/>
          <p:cNvSpPr txBox="1"/>
          <p:nvPr/>
        </p:nvSpPr>
        <p:spPr>
          <a:xfrm>
            <a:off x="731520" y="251460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LEKTION 5 · GRUNDSTOFF</a:t>
            </a:r>
            <a:endParaRPr lang="en-US" sz="1300" dirty="0"/>
          </a:p>
        </p:txBody>
      </p:sp>
      <p:sp>
        <p:nvSpPr>
          <p:cNvPr id="6" name="e1_2"/>
          <p:cNvSpPr txBox="1"/>
          <p:nvPr/>
        </p:nvSpPr>
        <p:spPr>
          <a:xfrm>
            <a:off x="685800" y="2880360"/>
            <a:ext cx="6400800" cy="2377440"/>
          </a:xfrm>
          <a:prstGeom prst="rect">
            <a:avLst/>
          </a:prstGeom>
          <a:noFill/>
          <a:ln/>
        </p:spPr>
        <p:txBody>
          <a:bodyPr wrap="square" lIns="0" tIns="0" rIns="0" bIns="0" rtlCol="0" anchor="t"/>
          <a:lstStyle/>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Wer fährt</a:t>
            </a:r>
            <a:endParaRPr lang="en-US" sz="8000" dirty="0"/>
          </a:p>
          <a:p>
            <a:pPr algn="l" indent="0" marL="0">
              <a:lnSpc>
                <a:spcPct val="95000"/>
              </a:lnSpc>
              <a:buNone/>
            </a:pPr>
            <a:r>
              <a:rPr lang="en-US" sz="8000" b="1" dirty="0">
                <a:solidFill>
                  <a:srgbClr val="F5F2EC"/>
                </a:solidFill>
                <a:latin typeface="Cambria" pitchFamily="34" charset="0"/>
                <a:ea typeface="Cambria" pitchFamily="34" charset="-122"/>
                <a:cs typeface="Cambria" pitchFamily="34" charset="-120"/>
              </a:rPr>
              <a:t>zuerst?</a:t>
            </a:r>
            <a:endParaRPr lang="en-US" sz="8000" dirty="0"/>
          </a:p>
        </p:txBody>
      </p:sp>
      <p:sp>
        <p:nvSpPr>
          <p:cNvPr id="7" name="e1_3"/>
          <p:cNvSpPr txBox="1"/>
          <p:nvPr/>
        </p:nvSpPr>
        <p:spPr>
          <a:xfrm>
            <a:off x="731520" y="5257800"/>
            <a:ext cx="6400800" cy="41148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Grundregel, Vorfahrt und Verkehrsregelungen</a:t>
            </a:r>
            <a:endParaRPr lang="en-US" sz="2200" dirty="0"/>
          </a:p>
        </p:txBody>
      </p:sp>
      <p:sp>
        <p:nvSpPr>
          <p:cNvPr id="8" name="e1_4"/>
          <p:cNvSpPr txBox="1"/>
          <p:nvPr/>
        </p:nvSpPr>
        <p:spPr>
          <a:xfrm>
            <a:off x="731520" y="5715000"/>
            <a:ext cx="6400800" cy="365760"/>
          </a:xfrm>
          <a:prstGeom prst="rect">
            <a:avLst/>
          </a:prstGeom>
          <a:noFill/>
          <a:ln/>
        </p:spPr>
        <p:txBody>
          <a:bodyPr wrap="square" lIns="0" tIns="0" rIns="0" bIns="0" rtlCol="0" anchor="t"/>
          <a:lstStyle/>
          <a:p>
            <a:pPr algn="l" indent="0" marL="0">
              <a:buNone/>
            </a:pPr>
            <a:r>
              <a:rPr lang="en-US" sz="1800" dirty="0">
                <a:solidFill>
                  <a:srgbClr val="A7B0BD"/>
                </a:solidFill>
                <a:latin typeface="Calibri" pitchFamily="34" charset="0"/>
                <a:ea typeface="Calibri" pitchFamily="34" charset="-122"/>
                <a:cs typeface="Calibri" pitchFamily="34" charset="-120"/>
              </a:rPr>
              <a:t>Theorieunterricht Klasse B  ·  Fahrlehrer Serband</a:t>
            </a:r>
            <a:endParaRPr lang="en-US" sz="1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900"/>
                                        <p:tgtEl>
                                          <p:spTgt spid="4"/>
                                        </p:tgtEl>
                                      </p:cBhvr>
                                    </p:animEffect>
                                  </p:childTnLst>
                                </p:cTn>
                              </p:par>
                            </p:childTnLst>
                          </p:cTn>
                        </p:par>
                        <p:par>
                          <p:cTn id="8" fill="hold">
                            <p:stCondLst>
                              <p:cond delay="9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00"/>
                                        <p:tgtEl>
                                          <p:spTgt spid="5"/>
                                        </p:tgtEl>
                                      </p:cBhvr>
                                    </p:animEffect>
                                    <p:anim calcmode="lin" valueType="num">
                                      <p:cBhvr additive="base">
                                        <p:cTn id="12"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3" dur="700" fill="hold" decel="100000"/>
                                        <p:tgtEl>
                                          <p:spTgt spid="5"/>
                                        </p:tgtEl>
                                        <p:attrNameLst>
                                          <p:attrName>ppt_y</p:attrName>
                                        </p:attrNameLst>
                                      </p:cBhvr>
                                      <p:tavLst>
                                        <p:tav tm="0">
                                          <p:val>
                                            <p:strVal val="#ppt_y+.05"/>
                                          </p:val>
                                        </p:tav>
                                        <p:tav tm="100000">
                                          <p:val>
                                            <p:strVal val="#ppt_y"/>
                                          </p:val>
                                        </p:tav>
                                      </p:tavLst>
                                    </p:anim>
                                  </p:childTnLst>
                                </p:cTn>
                              </p:par>
                            </p:childTnLst>
                          </p:cTn>
                        </p:par>
                        <p:par>
                          <p:cTn id="14" fill="hold">
                            <p:stCondLst>
                              <p:cond delay="1600"/>
                            </p:stCondLst>
                            <p:childTnLst>
                              <p:par>
                                <p:cTn id="15" presetID="42"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100"/>
                                        <p:tgtEl>
                                          <p:spTgt spid="6"/>
                                        </p:tgtEl>
                                      </p:cBhvr>
                                    </p:animEffect>
                                    <p:anim calcmode="lin" valueType="num">
                                      <p:cBhvr additive="base">
                                        <p:cTn id="18" dur="110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1100" fill="hold" decel="100000"/>
                                        <p:tgtEl>
                                          <p:spTgt spid="6"/>
                                        </p:tgtEl>
                                        <p:attrNameLst>
                                          <p:attrName>ppt_y</p:attrName>
                                        </p:attrNameLst>
                                      </p:cBhvr>
                                      <p:tavLst>
                                        <p:tav tm="0">
                                          <p:val>
                                            <p:strVal val="#ppt_y+.18"/>
                                          </p:val>
                                        </p:tav>
                                        <p:tav tm="100000">
                                          <p:val>
                                            <p:strVal val="#ppt_y"/>
                                          </p:val>
                                        </p:tav>
                                      </p:tavLst>
                                    </p:anim>
                                  </p:childTnLst>
                                </p:cTn>
                              </p:par>
                            </p:childTnLst>
                          </p:cTn>
                        </p:par>
                        <p:par>
                          <p:cTn id="20" fill="hold">
                            <p:stCondLst>
                              <p:cond delay="27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91440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JEDEN TAG IN DEUTSCHLAND</a:t>
            </a:r>
            <a:endParaRPr lang="en-US" sz="1300" dirty="0"/>
          </a:p>
        </p:txBody>
      </p:sp>
      <p:sp>
        <p:nvSpPr>
          <p:cNvPr id="5" name="!!num"/>
          <p:cNvSpPr txBox="1"/>
          <p:nvPr/>
        </p:nvSpPr>
        <p:spPr>
          <a:xfrm>
            <a:off x="731520" y="1325880"/>
            <a:ext cx="10698480" cy="2651760"/>
          </a:xfrm>
          <a:prstGeom prst="rect">
            <a:avLst/>
          </a:prstGeom>
          <a:noFill/>
          <a:ln/>
        </p:spPr>
        <p:txBody>
          <a:bodyPr wrap="square" lIns="0" tIns="0" rIns="0" bIns="0" rtlCol="0" anchor="ctr"/>
          <a:lstStyle/>
          <a:p>
            <a:pPr algn="ctr" indent="0" marL="0">
              <a:buNone/>
            </a:pPr>
            <a:r>
              <a:rPr lang="en-US" sz="20000" b="1" dirty="0">
                <a:solidFill>
                  <a:srgbClr val="FF7A1A"/>
                </a:solidFill>
                <a:effectLst>
                  <a:glow rad="254000">
                    <a:srgbClr val="FF7A1A">
                      <a:alpha val="35000"/>
                    </a:srgbClr>
                  </a:glow>
                </a:effectLst>
                <a:latin typeface="Cambria" pitchFamily="34" charset="0"/>
                <a:ea typeface="Cambria" pitchFamily="34" charset="-122"/>
                <a:cs typeface="Cambria" pitchFamily="34" charset="-120"/>
              </a:rPr>
              <a:t>124</a:t>
            </a:r>
            <a:endParaRPr lang="en-US" sz="20000" dirty="0"/>
          </a:p>
        </p:txBody>
      </p:sp>
      <p:sp>
        <p:nvSpPr>
          <p:cNvPr id="6" name="!!sub"/>
          <p:cNvSpPr txBox="1"/>
          <p:nvPr/>
        </p:nvSpPr>
        <p:spPr>
          <a:xfrm>
            <a:off x="731520" y="4160520"/>
            <a:ext cx="10698480" cy="1097280"/>
          </a:xfrm>
          <a:prstGeom prst="rect">
            <a:avLst/>
          </a:prstGeom>
          <a:noFill/>
          <a:ln/>
        </p:spPr>
        <p:txBody>
          <a:bodyPr wrap="square" lIns="0" tIns="0" rIns="0" bIns="0" rtlCol="0" anchor="t"/>
          <a:lstStyle/>
          <a:p>
            <a:pPr algn="ctr" indent="0" marL="0">
              <a:lnSpc>
                <a:spcPct val="110000"/>
              </a:lnSpc>
              <a:buNone/>
            </a:pPr>
            <a:r>
              <a:rPr lang="en-US" sz="3000" dirty="0">
                <a:solidFill>
                  <a:srgbClr val="F5F2EC"/>
                </a:solidFill>
                <a:latin typeface="Cambria" pitchFamily="34" charset="0"/>
                <a:ea typeface="Cambria" pitchFamily="34" charset="-122"/>
                <a:cs typeface="Cambria" pitchFamily="34" charset="-120"/>
              </a:rPr>
              <a:t>Mal wird bei einem Unfall mit Verletzten oder Toten</a:t>
            </a:r>
            <a:endParaRPr lang="en-US" sz="3000" dirty="0"/>
          </a:p>
          <a:p>
            <a:pPr algn="ctr" indent="0" marL="0">
              <a:lnSpc>
                <a:spcPct val="110000"/>
              </a:lnSpc>
              <a:buNone/>
            </a:pPr>
            <a:r>
              <a:rPr lang="en-US" sz="3000" dirty="0">
                <a:solidFill>
                  <a:srgbClr val="F5F2EC"/>
                </a:solidFill>
                <a:latin typeface="Cambria" pitchFamily="34" charset="0"/>
                <a:ea typeface="Cambria" pitchFamily="34" charset="-122"/>
                <a:cs typeface="Cambria" pitchFamily="34" charset="-120"/>
              </a:rPr>
              <a:t>die Vorfahrt oder der Vorrang missachtet.</a:t>
            </a:r>
            <a:endParaRPr lang="en-US" sz="3000" dirty="0"/>
          </a:p>
        </p:txBody>
      </p:sp>
      <p:sp>
        <p:nvSpPr>
          <p:cNvPr id="7" name="!!src"/>
          <p:cNvSpPr txBox="1"/>
          <p:nvPr/>
        </p:nvSpPr>
        <p:spPr>
          <a:xfrm>
            <a:off x="731520" y="635508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Statistisches Bundesamt (Destatis) 2024: 45.489 Vorfahrt- und Vorrangfehler bei Unfällen mit Personenschaden · ÷ 366 Tage ≈ 124</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53" presetClass="entr" presetSubtype="32"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20" fill="hold" accel="60000"/>
                                        <p:tgtEl>
                                          <p:spTgt spid="5"/>
                                        </p:tgtEl>
                                        <p:attrNameLst>
                                          <p:attrName>ppt_w</p:attrName>
                                        </p:attrNameLst>
                                      </p:cBhvr>
                                      <p:tavLst>
                                        <p:tav tm="0">
                                          <p:val>
                                            <p:strVal val="#ppt_w*2.2"/>
                                          </p:val>
                                        </p:tav>
                                        <p:tav tm="100000">
                                          <p:val>
                                            <p:strVal val="#ppt_w"/>
                                          </p:val>
                                        </p:tav>
                                      </p:tavLst>
                                    </p:anim>
                                    <p:anim calcmode="lin" valueType="num">
                                      <p:cBhvr additive="base">
                                        <p:cTn id="17" dur="520" fill="hold" accel="60000"/>
                                        <p:tgtEl>
                                          <p:spTgt spid="5"/>
                                        </p:tgtEl>
                                        <p:attrNameLst>
                                          <p:attrName>ppt_h</p:attrName>
                                        </p:attrNameLst>
                                      </p:cBhvr>
                                      <p:tavLst>
                                        <p:tav tm="0">
                                          <p:val>
                                            <p:strVal val="#ppt_h*2.2"/>
                                          </p:val>
                                        </p:tav>
                                        <p:tav tm="100000">
                                          <p:val>
                                            <p:strVal val="#ppt_h"/>
                                          </p:val>
                                        </p:tav>
                                      </p:tavLst>
                                    </p:anim>
                                    <p:animEffect transition="in" filter="fade">
                                      <p:cBhvr>
                                        <p:cTn id="18" dur="312"/>
                                        <p:tgtEl>
                                          <p:spTgt spid="5"/>
                                        </p:tgtEl>
                                      </p:cBhvr>
                                    </p:animEffect>
                                  </p:childTnLst>
                                </p:cTn>
                              </p:par>
                            </p:childTnLst>
                          </p:cTn>
                        </p:par>
                        <p:par>
                          <p:cTn id="19" fill="hold">
                            <p:stCondLst>
                              <p:cond delay="117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k"/>
          <p:cNvSpPr txBox="1"/>
          <p:nvPr/>
        </p:nvSpPr>
        <p:spPr>
          <a:xfrm>
            <a:off x="731520" y="73152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JEDEN TAG IN DEUTSCHLAND</a:t>
            </a:r>
            <a:endParaRPr lang="en-US" sz="1300" dirty="0"/>
          </a:p>
        </p:txBody>
      </p:sp>
      <p:sp>
        <p:nvSpPr>
          <p:cNvPr id="5" name="!!num"/>
          <p:cNvSpPr txBox="1"/>
          <p:nvPr/>
        </p:nvSpPr>
        <p:spPr>
          <a:xfrm>
            <a:off x="685800" y="1051560"/>
            <a:ext cx="2926080" cy="1371600"/>
          </a:xfrm>
          <a:prstGeom prst="rect">
            <a:avLst/>
          </a:prstGeom>
          <a:noFill/>
          <a:ln/>
        </p:spPr>
        <p:txBody>
          <a:bodyPr wrap="square" lIns="0" tIns="0" rIns="0" bIns="0" rtlCol="0" anchor="ctr"/>
          <a:lstStyle/>
          <a:p>
            <a:pPr algn="l" indent="0" marL="0">
              <a:buNone/>
            </a:pPr>
            <a:r>
              <a:rPr lang="en-US" sz="9600" b="1" dirty="0">
                <a:solidFill>
                  <a:srgbClr val="FF7A1A"/>
                </a:solidFill>
                <a:effectLst>
                  <a:glow rad="177800">
                    <a:srgbClr val="FF7A1A">
                      <a:alpha val="30000"/>
                    </a:srgbClr>
                  </a:glow>
                </a:effectLst>
                <a:latin typeface="Cambria" pitchFamily="34" charset="0"/>
                <a:ea typeface="Cambria" pitchFamily="34" charset="-122"/>
                <a:cs typeface="Cambria" pitchFamily="34" charset="-120"/>
              </a:rPr>
              <a:t>124</a:t>
            </a:r>
            <a:endParaRPr lang="en-US" sz="9600" dirty="0"/>
          </a:p>
        </p:txBody>
      </p:sp>
      <p:sp>
        <p:nvSpPr>
          <p:cNvPr id="6" name="!!sub"/>
          <p:cNvSpPr txBox="1"/>
          <p:nvPr/>
        </p:nvSpPr>
        <p:spPr>
          <a:xfrm>
            <a:off x="3657600" y="1234440"/>
            <a:ext cx="7772400" cy="1005840"/>
          </a:xfrm>
          <a:prstGeom prst="rect">
            <a:avLst/>
          </a:prstGeom>
          <a:noFill/>
          <a:ln/>
        </p:spPr>
        <p:txBody>
          <a:bodyPr wrap="square" lIns="0" tIns="0" rIns="0" bIns="0" rtlCol="0" anchor="ctr"/>
          <a:lstStyle/>
          <a:p>
            <a:pPr algn="l" indent="0" marL="0">
              <a:lnSpc>
                <a:spcPct val="110000"/>
              </a:lnSpc>
              <a:buNone/>
            </a:pPr>
            <a:r>
              <a:rPr lang="en-US" sz="2400" dirty="0">
                <a:solidFill>
                  <a:srgbClr val="F5F2EC"/>
                </a:solidFill>
                <a:latin typeface="Cambria" pitchFamily="34" charset="0"/>
                <a:ea typeface="Cambria" pitchFamily="34" charset="-122"/>
                <a:cs typeface="Cambria" pitchFamily="34" charset="-120"/>
              </a:rPr>
              <a:t>Mal wird bei einem Unfall mit Verletzten oder Toten</a:t>
            </a:r>
            <a:endParaRPr lang="en-US" sz="2400" dirty="0"/>
          </a:p>
          <a:p>
            <a:pPr algn="l" indent="0" marL="0">
              <a:lnSpc>
                <a:spcPct val="110000"/>
              </a:lnSpc>
              <a:buNone/>
            </a:pPr>
            <a:r>
              <a:rPr lang="en-US" sz="2400" dirty="0">
                <a:solidFill>
                  <a:srgbClr val="F5F2EC"/>
                </a:solidFill>
                <a:latin typeface="Cambria" pitchFamily="34" charset="0"/>
                <a:ea typeface="Cambria" pitchFamily="34" charset="-122"/>
                <a:cs typeface="Cambria" pitchFamily="34" charset="-120"/>
              </a:rPr>
              <a:t>die Vorfahrt oder der Vorrang missachtet.</a:t>
            </a:r>
            <a:endParaRPr lang="en-US" sz="2400" dirty="0"/>
          </a:p>
        </p:txBody>
      </p:sp>
      <p:sp>
        <p:nvSpPr>
          <p:cNvPr id="7" name="e3_1"/>
          <p:cNvSpPr/>
          <p:nvPr/>
        </p:nvSpPr>
        <p:spPr>
          <a:xfrm>
            <a:off x="731520" y="2926080"/>
            <a:ext cx="5212080" cy="2834640"/>
          </a:xfrm>
          <a:prstGeom prst="roundRect">
            <a:avLst>
              <a:gd name="adj" fmla="val 4516"/>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3_2" descr="preencoded.png">    </p:cNvPr>
          <p:cNvPicPr>
            <a:picLocks noChangeAspect="1"/>
          </p:cNvPicPr>
          <p:nvPr/>
        </p:nvPicPr>
        <p:blipFill>
          <a:blip r:embed="rId2"/>
          <a:stretch>
            <a:fillRect/>
          </a:stretch>
        </p:blipFill>
        <p:spPr>
          <a:xfrm>
            <a:off x="1097280" y="3246120"/>
            <a:ext cx="640080" cy="640080"/>
          </a:xfrm>
          <a:prstGeom prst="rect">
            <a:avLst/>
          </a:prstGeom>
        </p:spPr>
      </p:pic>
      <p:sp>
        <p:nvSpPr>
          <p:cNvPr id="9" name="e3_3"/>
          <p:cNvSpPr txBox="1"/>
          <p:nvPr/>
        </p:nvSpPr>
        <p:spPr>
          <a:xfrm>
            <a:off x="1097280" y="3931920"/>
            <a:ext cx="4572000" cy="1005840"/>
          </a:xfrm>
          <a:prstGeom prst="rect">
            <a:avLst/>
          </a:prstGeom>
          <a:noFill/>
          <a:ln/>
        </p:spPr>
        <p:txBody>
          <a:bodyPr wrap="square" lIns="0" tIns="0" rIns="0" bIns="0" rtlCol="0" anchor="t"/>
          <a:lstStyle/>
          <a:p>
            <a:pPr algn="l" indent="0" marL="0">
              <a:buNone/>
            </a:pPr>
            <a:r>
              <a:rPr lang="en-US" sz="5800" b="1" dirty="0">
                <a:solidFill>
                  <a:srgbClr val="FF7A1A"/>
                </a:solidFill>
                <a:latin typeface="Cambria" pitchFamily="34" charset="0"/>
                <a:ea typeface="Cambria" pitchFamily="34" charset="-122"/>
                <a:cs typeface="Cambria" pitchFamily="34" charset="-120"/>
              </a:rPr>
              <a:t>Platz 2</a:t>
            </a:r>
            <a:endParaRPr lang="en-US" sz="5800" dirty="0"/>
          </a:p>
        </p:txBody>
      </p:sp>
      <p:sp>
        <p:nvSpPr>
          <p:cNvPr id="10" name="e3_4"/>
          <p:cNvSpPr txBox="1"/>
          <p:nvPr/>
        </p:nvSpPr>
        <p:spPr>
          <a:xfrm>
            <a:off x="1097280" y="4937760"/>
            <a:ext cx="4572000" cy="73152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der Unfallursachen bei Unfällen mit Verletzten oder Toten</a:t>
            </a:r>
            <a:endParaRPr lang="en-US" sz="2000" dirty="0"/>
          </a:p>
        </p:txBody>
      </p:sp>
      <p:sp>
        <p:nvSpPr>
          <p:cNvPr id="11" name="e3_5"/>
          <p:cNvSpPr/>
          <p:nvPr/>
        </p:nvSpPr>
        <p:spPr>
          <a:xfrm>
            <a:off x="6217920" y="2926080"/>
            <a:ext cx="5212080" cy="2834640"/>
          </a:xfrm>
          <a:prstGeom prst="roundRect">
            <a:avLst>
              <a:gd name="adj" fmla="val 4516"/>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3_6" descr="preencoded.png">    </p:cNvPr>
          <p:cNvPicPr>
            <a:picLocks noChangeAspect="1"/>
          </p:cNvPicPr>
          <p:nvPr/>
        </p:nvPicPr>
        <p:blipFill>
          <a:blip r:embed="rId3"/>
          <a:stretch>
            <a:fillRect/>
          </a:stretch>
        </p:blipFill>
        <p:spPr>
          <a:xfrm>
            <a:off x="6583680" y="3246120"/>
            <a:ext cx="640080" cy="640080"/>
          </a:xfrm>
          <a:prstGeom prst="rect">
            <a:avLst/>
          </a:prstGeom>
        </p:spPr>
      </p:pic>
      <p:sp>
        <p:nvSpPr>
          <p:cNvPr id="13" name="e3_7"/>
          <p:cNvSpPr txBox="1"/>
          <p:nvPr/>
        </p:nvSpPr>
        <p:spPr>
          <a:xfrm>
            <a:off x="6583680" y="3931920"/>
            <a:ext cx="4572000" cy="1005840"/>
          </a:xfrm>
          <a:prstGeom prst="rect">
            <a:avLst/>
          </a:prstGeom>
          <a:noFill/>
          <a:ln/>
        </p:spPr>
        <p:txBody>
          <a:bodyPr wrap="square" lIns="0" tIns="0" rIns="0" bIns="0" rtlCol="0" anchor="t"/>
          <a:lstStyle/>
          <a:p>
            <a:pPr algn="l" indent="0" marL="0">
              <a:buNone/>
            </a:pPr>
            <a:r>
              <a:rPr lang="en-US" sz="5800" b="1" dirty="0">
                <a:solidFill>
                  <a:srgbClr val="FF7A1A"/>
                </a:solidFill>
                <a:latin typeface="Cambria" pitchFamily="34" charset="0"/>
                <a:ea typeface="Cambria" pitchFamily="34" charset="-122"/>
                <a:cs typeface="Cambria" pitchFamily="34" charset="-120"/>
              </a:rPr>
              <a:t>3 von 4</a:t>
            </a:r>
            <a:endParaRPr lang="en-US" sz="5800" dirty="0"/>
          </a:p>
        </p:txBody>
      </p:sp>
      <p:sp>
        <p:nvSpPr>
          <p:cNvPr id="14" name="e3_8"/>
          <p:cNvSpPr txBox="1"/>
          <p:nvPr/>
        </p:nvSpPr>
        <p:spPr>
          <a:xfrm>
            <a:off x="6583680" y="4937760"/>
            <a:ext cx="4572000" cy="73152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dieser Fehler passieren innerorts</a:t>
            </a:r>
            <a:endParaRPr lang="en-US" sz="2000" dirty="0"/>
          </a:p>
        </p:txBody>
      </p:sp>
      <p:sp>
        <p:nvSpPr>
          <p:cNvPr id="15" name="!!src"/>
          <p:cNvSpPr txBox="1"/>
          <p:nvPr/>
        </p:nvSpPr>
        <p:spPr>
          <a:xfrm>
            <a:off x="731520" y="635508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Destatis 2024 · „Runter vom Gas“ (BMV/DVR): 45.489 Vorfahrt-/Vorrangfehler, davon 34.324 innerorts</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anim calcmode="lin" valueType="num">
                                      <p:cBhvr additive="base">
                                        <p:cTn id="8" dur="700" fill="hold" decel="100000"/>
                                        <p:tgtEl>
                                          <p:spTgt spid="7"/>
                                        </p:tgtEl>
                                        <p:attrNameLst>
                                          <p:attrName>ppt_x</p:attrName>
                                        </p:attrNameLst>
                                      </p:cBhvr>
                                      <p:tavLst>
                                        <p:tav tm="0">
                                          <p:val>
                                            <p:strVal val="#ppt_x"/>
                                          </p:val>
                                        </p:tav>
                                        <p:tav tm="100000">
                                          <p:val>
                                            <p:strVal val="#ppt_x"/>
                                          </p:val>
                                        </p:tav>
                                      </p:tavLst>
                                    </p:anim>
                                    <p:anim calcmode="lin" valueType="num">
                                      <p:cBhvr additive="base">
                                        <p:cTn id="9" dur="700" fill="hold" decel="100000"/>
                                        <p:tgtEl>
                                          <p:spTgt spid="7"/>
                                        </p:tgtEl>
                                        <p:attrNameLst>
                                          <p:attrName>ppt_y</p:attrName>
                                        </p:attrNameLst>
                                      </p:cBhvr>
                                      <p:tavLst>
                                        <p:tav tm="0">
                                          <p:val>
                                            <p:strVal val="#ppt_y+.18"/>
                                          </p:val>
                                        </p:tav>
                                        <p:tav tm="100000">
                                          <p:val>
                                            <p:strVal val="#ppt_y"/>
                                          </p:val>
                                        </p:tav>
                                      </p:tavLst>
                                    </p:anim>
                                  </p:childTnLst>
                                </p:cTn>
                              </p:par>
                            </p:childTnLst>
                          </p:cTn>
                        </p:par>
                        <p:par>
                          <p:cTn id="10" fill="hold">
                            <p:stCondLst>
                              <p:cond delay="70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350" fill="hold" decel="100000"/>
                                        <p:tgtEl>
                                          <p:spTgt spid="8"/>
                                        </p:tgtEl>
                                        <p:attrNameLst>
                                          <p:attrName>ppt_w</p:attrName>
                                        </p:attrNameLst>
                                      </p:cBhvr>
                                      <p:tavLst>
                                        <p:tav tm="0">
                                          <p:val>
                                            <p:strVal val="0"/>
                                          </p:val>
                                        </p:tav>
                                        <p:tav tm="100000">
                                          <p:val>
                                            <p:strVal val="#ppt_w"/>
                                          </p:val>
                                        </p:tav>
                                      </p:tavLst>
                                    </p:anim>
                                    <p:anim calcmode="lin" valueType="num">
                                      <p:cBhvr additive="base">
                                        <p:cTn id="14" dur="350" fill="hold" decel="100000"/>
                                        <p:tgtEl>
                                          <p:spTgt spid="8"/>
                                        </p:tgtEl>
                                        <p:attrNameLst>
                                          <p:attrName>ppt_h</p:attrName>
                                        </p:attrNameLst>
                                      </p:cBhvr>
                                      <p:tavLst>
                                        <p:tav tm="0">
                                          <p:val>
                                            <p:strVal val="0"/>
                                          </p:val>
                                        </p:tav>
                                        <p:tav tm="100000">
                                          <p:val>
                                            <p:strVal val="#ppt_h"/>
                                          </p:val>
                                        </p:tav>
                                      </p:tavLst>
                                    </p:anim>
                                    <p:animEffect transition="in" filter="fade">
                                      <p:cBhvr>
                                        <p:cTn id="15" dur="35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35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35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anim calcmode="lin" valueType="num">
                                      <p:cBhvr additive="base">
                                        <p:cTn id="27" dur="700" fill="hold" decel="100000"/>
                                        <p:tgtEl>
                                          <p:spTgt spid="11"/>
                                        </p:tgtEl>
                                        <p:attrNameLst>
                                          <p:attrName>ppt_x</p:attrName>
                                        </p:attrNameLst>
                                      </p:cBhvr>
                                      <p:tavLst>
                                        <p:tav tm="0">
                                          <p:val>
                                            <p:strVal val="#ppt_x"/>
                                          </p:val>
                                        </p:tav>
                                        <p:tav tm="100000">
                                          <p:val>
                                            <p:strVal val="#ppt_x"/>
                                          </p:val>
                                        </p:tav>
                                      </p:tavLst>
                                    </p:anim>
                                    <p:anim calcmode="lin" valueType="num">
                                      <p:cBhvr additive="base">
                                        <p:cTn id="28" dur="700" fill="hold" decel="100000"/>
                                        <p:tgtEl>
                                          <p:spTgt spid="11"/>
                                        </p:tgtEl>
                                        <p:attrNameLst>
                                          <p:attrName>ppt_y</p:attrName>
                                        </p:attrNameLst>
                                      </p:cBhvr>
                                      <p:tavLst>
                                        <p:tav tm="0">
                                          <p:val>
                                            <p:strVal val="#ppt_y+.18"/>
                                          </p:val>
                                        </p:tav>
                                        <p:tav tm="100000">
                                          <p:val>
                                            <p:strVal val="#ppt_y"/>
                                          </p:val>
                                        </p:tav>
                                      </p:tavLst>
                                    </p:anim>
                                  </p:childTnLst>
                                </p:cTn>
                              </p:par>
                            </p:childTnLst>
                          </p:cTn>
                        </p:par>
                        <p:par>
                          <p:cTn id="29" fill="hold">
                            <p:stCondLst>
                              <p:cond delay="700"/>
                            </p:stCondLst>
                            <p:childTnLst>
                              <p:par>
                                <p:cTn id="30" presetID="53" presetClass="entr" presetSubtype="16"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350" fill="hold" decel="100000"/>
                                        <p:tgtEl>
                                          <p:spTgt spid="12"/>
                                        </p:tgtEl>
                                        <p:attrNameLst>
                                          <p:attrName>ppt_w</p:attrName>
                                        </p:attrNameLst>
                                      </p:cBhvr>
                                      <p:tavLst>
                                        <p:tav tm="0">
                                          <p:val>
                                            <p:strVal val="0"/>
                                          </p:val>
                                        </p:tav>
                                        <p:tav tm="100000">
                                          <p:val>
                                            <p:strVal val="#ppt_w"/>
                                          </p:val>
                                        </p:tav>
                                      </p:tavLst>
                                    </p:anim>
                                    <p:anim calcmode="lin" valueType="num">
                                      <p:cBhvr additive="base">
                                        <p:cTn id="33" dur="350" fill="hold" decel="100000"/>
                                        <p:tgtEl>
                                          <p:spTgt spid="12"/>
                                        </p:tgtEl>
                                        <p:attrNameLst>
                                          <p:attrName>ppt_h</p:attrName>
                                        </p:attrNameLst>
                                      </p:cBhvr>
                                      <p:tavLst>
                                        <p:tav tm="0">
                                          <p:val>
                                            <p:strVal val="0"/>
                                          </p:val>
                                        </p:tav>
                                        <p:tav tm="100000">
                                          <p:val>
                                            <p:strVal val="#ppt_h"/>
                                          </p:val>
                                        </p:tav>
                                      </p:tavLst>
                                    </p:anim>
                                    <p:animEffect transition="in" filter="fade">
                                      <p:cBhvr>
                                        <p:cTn id="34" dur="3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3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DAS RÄTSEL DES ABENDS</a:t>
            </a:r>
            <a:endParaRPr lang="en-US" sz="1300" dirty="0"/>
          </a:p>
        </p:txBody>
      </p:sp>
      <p:sp>
        <p:nvSpPr>
          <p:cNvPr id="6" name="e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4_3"/>
          <p:cNvSpPr txBox="1"/>
          <p:nvPr/>
        </p:nvSpPr>
        <p:spPr>
          <a:xfrm>
            <a:off x="731520" y="3154680"/>
            <a:ext cx="4480560" cy="82296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 folgt der Vorfahrtstraße nach links.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B und C wollen geradeaus.</a:t>
            </a:r>
            <a:endParaRPr lang="en-US" sz="1900" dirty="0"/>
          </a:p>
        </p:txBody>
      </p:sp>
      <p:pic>
        <p:nvPicPr>
          <p:cNvPr id="8" name="e4_4"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9" name="e4_5"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10" name="e4_6" descr="/tmp/claude-0/-home-user-Fahrlehrer-Kompass-/11378f77-94a8-55e9-a697-0f3efd4c20b9/scratchpad/bau/art/zz_SW.png">    </p:cNvPr>
          <p:cNvPicPr>
            <a:picLocks noChangeAspect="1"/>
          </p:cNvPicPr>
          <p:nvPr/>
        </p:nvPicPr>
        <p:blipFill>
          <a:blip r:embed="rId4"/>
          <a:stretch>
            <a:fillRect/>
          </a:stretch>
        </p:blipFill>
        <p:spPr>
          <a:xfrm>
            <a:off x="9313164" y="4997196"/>
            <a:ext cx="594360" cy="457200"/>
          </a:xfrm>
          <a:prstGeom prst="rect">
            <a:avLst/>
          </a:prstGeom>
        </p:spPr>
      </p:pic>
      <p:pic>
        <p:nvPicPr>
          <p:cNvPr id="11" name="e4_7" descr="Verkehrszeichen 205">    </p:cNvPr>
          <p:cNvPicPr>
            <a:picLocks noChangeAspect="1"/>
          </p:cNvPicPr>
          <p:nvPr/>
        </p:nvPicPr>
        <p:blipFill>
          <a:blip r:embed="rId5"/>
          <a:stretch>
            <a:fillRect/>
          </a:stretch>
        </p:blipFill>
        <p:spPr>
          <a:xfrm>
            <a:off x="9029700" y="1970532"/>
            <a:ext cx="520337" cy="457200"/>
          </a:xfrm>
          <a:prstGeom prst="rect">
            <a:avLst/>
          </a:prstGeom>
        </p:spPr>
      </p:pic>
      <p:pic>
        <p:nvPicPr>
          <p:cNvPr id="12" name="e4_8" descr="Verkehrszeichen 205">    </p:cNvPr>
          <p:cNvPicPr>
            <a:picLocks noChangeAspect="1"/>
          </p:cNvPicPr>
          <p:nvPr/>
        </p:nvPicPr>
        <p:blipFill>
          <a:blip r:embed="rId6"/>
          <a:stretch>
            <a:fillRect/>
          </a:stretch>
        </p:blipFill>
        <p:spPr>
          <a:xfrm>
            <a:off x="6342235" y="1970532"/>
            <a:ext cx="520337" cy="457200"/>
          </a:xfrm>
          <a:prstGeom prst="rect">
            <a:avLst/>
          </a:prstGeom>
        </p:spPr>
      </p:pic>
      <p:pic>
        <p:nvPicPr>
          <p:cNvPr id="13" name="e4_9" descr="/tmp/claude-0/-home-user-Fahrlehrer-Kompass-/11378f77-94a8-55e9-a697-0f3efd4c20b9/scratchpad/bau/art/car_blau.png">    </p:cNvPr>
          <p:cNvPicPr>
            <a:picLocks noChangeAspect="1"/>
          </p:cNvPicPr>
          <p:nvPr/>
        </p:nvPicPr>
        <p:blipFill>
          <a:blip r:embed="rId7"/>
          <a:stretch>
            <a:fillRect/>
          </a:stretch>
        </p:blipFill>
        <p:spPr>
          <a:xfrm>
            <a:off x="7939278" y="4334256"/>
            <a:ext cx="740664" cy="1481328"/>
          </a:xfrm>
          <a:prstGeom prst="rect">
            <a:avLst/>
          </a:prstGeom>
        </p:spPr>
      </p:pic>
      <p:pic>
        <p:nvPicPr>
          <p:cNvPr id="14" name="e4_10" descr="/tmp/claude-0/-home-user-Fahrlehrer-Kompass-/11378f77-94a8-55e9-a697-0f3efd4c20b9/scratchpad/bau/art/car_rot.png">    </p:cNvPr>
          <p:cNvPicPr>
            <a:picLocks noChangeAspect="1"/>
          </p:cNvPicPr>
          <p:nvPr/>
        </p:nvPicPr>
        <p:blipFill>
          <a:blip r:embed="rId8"/>
          <a:stretch>
            <a:fillRect/>
          </a:stretch>
        </p:blipFill>
        <p:spPr>
          <a:xfrm rot="10800000">
            <a:off x="7047738" y="1042416"/>
            <a:ext cx="740664" cy="1481328"/>
          </a:xfrm>
          <a:prstGeom prst="rect">
            <a:avLst/>
          </a:prstGeom>
        </p:spPr>
      </p:pic>
      <p:pic>
        <p:nvPicPr>
          <p:cNvPr id="15" name="e4_11" descr="/tmp/claude-0/-home-user-Fahrlehrer-Kompass-/11378f77-94a8-55e9-a697-0f3efd4c20b9/scratchpad/bau/art/car_gruen.png">    </p:cNvPr>
          <p:cNvPicPr>
            <a:picLocks noChangeAspect="1"/>
          </p:cNvPicPr>
          <p:nvPr/>
        </p:nvPicPr>
        <p:blipFill>
          <a:blip r:embed="rId9"/>
          <a:stretch>
            <a:fillRect/>
          </a:stretch>
        </p:blipFill>
        <p:spPr>
          <a:xfrm rot="16200000">
            <a:off x="9139428" y="2242566"/>
            <a:ext cx="740664" cy="1481328"/>
          </a:xfrm>
          <a:prstGeom prst="rect">
            <a:avLst/>
          </a:prstGeom>
        </p:spPr>
      </p:pic>
      <p:sp>
        <p:nvSpPr>
          <p:cNvPr id="16" name="e4_12"/>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7" name="e4_13"/>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8" name="e4_14"/>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9" name="e4_15"/>
          <p:cNvSpPr txBox="1"/>
          <p:nvPr/>
        </p:nvSpPr>
        <p:spPr>
          <a:xfrm>
            <a:off x="731520" y="4297680"/>
            <a:ext cx="2926080" cy="457200"/>
          </a:xfrm>
          <a:prstGeom prst="roundRect">
            <a:avLst>
              <a:gd name="adj" fmla="val 50000"/>
            </a:avLst>
          </a:prstGeom>
          <a:solidFill>
            <a:srgbClr val="1A202B"/>
          </a:solidFill>
          <a:ln w="12700">
            <a:solidFill>
              <a:srgbClr val="3A4455"/>
            </a:solidFill>
          </a:ln>
        </p:spPr>
        <p:txBody>
          <a:bodyPr wrap="square" lIns="0" tIns="0" rIns="0" bIns="0" rtlCol="0" anchor="ctr"/>
          <a:lstStyle/>
          <a:p>
            <a:pPr algn="ctr" indent="0" marL="0">
              <a:buNone/>
            </a:pPr>
            <a:r>
              <a:rPr lang="en-US" sz="2000" b="1" dirty="0">
                <a:solidFill>
                  <a:srgbClr val="F5F2EC"/>
                </a:solidFill>
                <a:latin typeface="Calibri" pitchFamily="34" charset="0"/>
                <a:ea typeface="Calibri" pitchFamily="34" charset="-122"/>
                <a:cs typeface="Calibri" pitchFamily="34" charset="-120"/>
              </a:rPr>
              <a:t>A · B · C ?</a:t>
            </a:r>
            <a:endParaRPr lang="en-US" sz="2000" dirty="0"/>
          </a:p>
        </p:txBody>
      </p:sp>
      <p:sp>
        <p:nvSpPr>
          <p:cNvPr id="20" name="e4_16"/>
          <p:cNvSpPr txBox="1"/>
          <p:nvPr/>
        </p:nvSpPr>
        <p:spPr>
          <a:xfrm>
            <a:off x="731520" y="4937760"/>
            <a:ext cx="292608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Stimmt ab!</a:t>
            </a:r>
            <a:endParaRPr lang="en-US" sz="2000" dirty="0"/>
          </a:p>
        </p:txBody>
      </p:sp>
      <p:sp>
        <p:nvSpPr>
          <p:cNvPr id="21" name="e4_17"/>
          <p:cNvSpPr txBox="1"/>
          <p:nvPr/>
        </p:nvSpPr>
        <p:spPr>
          <a:xfrm>
            <a:off x="731520" y="5715000"/>
            <a:ext cx="4572000" cy="365760"/>
          </a:xfrm>
          <a:prstGeom prst="rect">
            <a:avLst/>
          </a:prstGeom>
          <a:noFill/>
          <a:ln/>
        </p:spPr>
        <p:txBody>
          <a:bodyPr wrap="square" lIns="0" tIns="0" rIns="0" bIns="0" rtlCol="0" anchor="t"/>
          <a:lstStyle/>
          <a:p>
            <a:pPr algn="l" indent="0" marL="0">
              <a:lnSpc>
                <a:spcPct val="108000"/>
              </a:lnSpc>
              <a:buNone/>
            </a:pPr>
            <a:r>
              <a:rPr lang="en-US" sz="1600" i="1" dirty="0">
                <a:solidFill>
                  <a:srgbClr val="A7B0BD"/>
                </a:solidFill>
                <a:latin typeface="Calibri" pitchFamily="34" charset="0"/>
                <a:ea typeface="Calibri" pitchFamily="34" charset="-122"/>
                <a:cs typeface="Calibri" pitchFamily="34" charset="-120"/>
              </a:rPr>
              <a:t>Die Auflösung gibt es am Ende des Abends.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childTnLst>
                                </p:cTn>
                              </p:par>
                              <p:par>
                                <p:cTn id="23" presetID="10" presetClass="entr" presetSubtype="0" fill="hold" nodeType="withEffect">
                                  <p:stCondLst>
                                    <p:cond delay="22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50"/>
                                        <p:tgtEl>
                                          <p:spTgt spid="10"/>
                                        </p:tgtEl>
                                      </p:cBhvr>
                                    </p:animEffect>
                                  </p:childTnLst>
                                </p:cTn>
                              </p:par>
                              <p:par>
                                <p:cTn id="26" presetID="10" presetClass="entr" presetSubtype="0" fill="hold" nodeType="withEffect">
                                  <p:stCondLst>
                                    <p:cond delay="275"/>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childTnLst>
                                </p:cTn>
                              </p:par>
                              <p:par>
                                <p:cTn id="29" presetID="10" presetClass="entr" presetSubtype="0" fill="hold" nodeType="withEffect">
                                  <p:stCondLst>
                                    <p:cond delay="33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50"/>
                                        <p:tgtEl>
                                          <p:spTgt spid="12"/>
                                        </p:tgtEl>
                                      </p:cBhvr>
                                    </p:animEffect>
                                  </p:childTnLst>
                                </p:cTn>
                              </p:par>
                              <p:par>
                                <p:cTn id="32" presetID="10" presetClass="entr" presetSubtype="0" fill="hold" nodeType="withEffect">
                                  <p:stCondLst>
                                    <p:cond delay="385"/>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50"/>
                                        <p:tgtEl>
                                          <p:spTgt spid="13"/>
                                        </p:tgtEl>
                                      </p:cBhvr>
                                    </p:animEffect>
                                  </p:childTnLst>
                                </p:cTn>
                              </p:par>
                              <p:par>
                                <p:cTn id="35" presetID="10" presetClass="entr" presetSubtype="0" fill="hold" nodeType="withEffect">
                                  <p:stCondLst>
                                    <p:cond delay="44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50"/>
                                        <p:tgtEl>
                                          <p:spTgt spid="14"/>
                                        </p:tgtEl>
                                      </p:cBhvr>
                                    </p:animEffect>
                                  </p:childTnLst>
                                </p:cTn>
                              </p:par>
                              <p:par>
                                <p:cTn id="38" presetID="10" presetClass="entr" presetSubtype="0" fill="hold" nodeType="withEffect">
                                  <p:stCondLst>
                                    <p:cond delay="495"/>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childTnLst>
                                </p:cTn>
                              </p:par>
                              <p:par>
                                <p:cTn id="41" presetID="42" presetClass="entr" presetSubtype="0" fill="hold" grpId="0" nodeType="withEffect">
                                  <p:stCondLst>
                                    <p:cond delay="55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50"/>
                                        <p:tgtEl>
                                          <p:spTgt spid="16"/>
                                        </p:tgtEl>
                                      </p:cBhvr>
                                    </p:animEffect>
                                    <p:anim calcmode="lin" valueType="num">
                                      <p:cBhvr additive="base">
                                        <p:cTn id="44"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45" dur="650" fill="hold" decel="100000"/>
                                        <p:tgtEl>
                                          <p:spTgt spid="16"/>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605"/>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50"/>
                                        <p:tgtEl>
                                          <p:spTgt spid="17"/>
                                        </p:tgtEl>
                                      </p:cBhvr>
                                    </p:animEffect>
                                    <p:anim calcmode="lin" valueType="num">
                                      <p:cBhvr additive="base">
                                        <p:cTn id="49"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50" dur="650" fill="hold" decel="100000"/>
                                        <p:tgtEl>
                                          <p:spTgt spid="17"/>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65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50"/>
                                        <p:tgtEl>
                                          <p:spTgt spid="18"/>
                                        </p:tgtEl>
                                      </p:cBhvr>
                                    </p:animEffect>
                                    <p:anim calcmode="lin" valueType="num">
                                      <p:cBhvr additive="base">
                                        <p:cTn id="54" dur="650" fill="hold" decel="100000"/>
                                        <p:tgtEl>
                                          <p:spTgt spid="18"/>
                                        </p:tgtEl>
                                        <p:attrNameLst>
                                          <p:attrName>ppt_x</p:attrName>
                                        </p:attrNameLst>
                                      </p:cBhvr>
                                      <p:tavLst>
                                        <p:tav tm="0">
                                          <p:val>
                                            <p:strVal val="#ppt_x"/>
                                          </p:val>
                                        </p:tav>
                                        <p:tav tm="100000">
                                          <p:val>
                                            <p:strVal val="#ppt_x"/>
                                          </p:val>
                                        </p:tav>
                                      </p:tavLst>
                                    </p:anim>
                                    <p:anim calcmode="lin" valueType="num">
                                      <p:cBhvr additive="base">
                                        <p:cTn id="55" dur="650" fill="hold" decel="100000"/>
                                        <p:tgtEl>
                                          <p:spTgt spid="18"/>
                                        </p:tgtEl>
                                        <p:attrNameLst>
                                          <p:attrName>ppt_y</p:attrName>
                                        </p:attrNameLst>
                                      </p:cBhvr>
                                      <p:tavLst>
                                        <p:tav tm="0">
                                          <p:val>
                                            <p:strVal val="#ppt_y+.05"/>
                                          </p:val>
                                        </p:tav>
                                        <p:tav tm="100000">
                                          <p:val>
                                            <p:strVal val="#ppt_y"/>
                                          </p:val>
                                        </p:tav>
                                      </p:tavLst>
                                    </p:anim>
                                  </p:childTnLst>
                                </p:cTn>
                              </p:par>
                              <p:par>
                                <p:cTn id="56" presetID="10" presetClass="entr" presetSubtype="0" fill="hold" nodeType="with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800"/>
                                        <p:tgtEl>
                                          <p:spTgt spid="8"/>
                                        </p:tgtEl>
                                      </p:cBhvr>
                                    </p:animEffect>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500"/>
                                        <p:tgtEl>
                                          <p:spTgt spid="19"/>
                                        </p:tgtEl>
                                      </p:cBhvr>
                                    </p:animEffect>
                                    <p:anim calcmode="lin" valueType="num">
                                      <p:cBhvr additive="base">
                                        <p:cTn id="64"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65" dur="500" fill="hold" decel="100000"/>
                                        <p:tgtEl>
                                          <p:spTgt spid="19"/>
                                        </p:tgtEl>
                                        <p:attrNameLst>
                                          <p:attrName>ppt_y</p:attrName>
                                        </p:attrNameLst>
                                      </p:cBhvr>
                                      <p:tavLst>
                                        <p:tav tm="0">
                                          <p:val>
                                            <p:strVal val="#ppt_y+.18"/>
                                          </p:val>
                                        </p:tav>
                                        <p:tav tm="100000">
                                          <p:val>
                                            <p:strVal val="#ppt_y"/>
                                          </p:val>
                                        </p:tav>
                                      </p:tavLst>
                                    </p:anim>
                                  </p:childTnLst>
                                </p:cTn>
                              </p:par>
                            </p:childTnLst>
                          </p:cTn>
                        </p:par>
                        <p:par>
                          <p:cTn id="66" fill="hold">
                            <p:stCondLst>
                              <p:cond delay="500"/>
                            </p:stCondLst>
                            <p:childTnLst>
                              <p:par>
                                <p:cTn id="67" presetID="42" presetClass="entr" presetSubtype="0" fill="hold" grpId="0" nodeType="after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500"/>
                                        <p:tgtEl>
                                          <p:spTgt spid="20"/>
                                        </p:tgtEl>
                                      </p:cBhvr>
                                    </p:animEffect>
                                    <p:anim calcmode="lin" valueType="num">
                                      <p:cBhvr additive="base">
                                        <p:cTn id="70" dur="500" fill="hold" decel="100000"/>
                                        <p:tgtEl>
                                          <p:spTgt spid="20"/>
                                        </p:tgtEl>
                                        <p:attrNameLst>
                                          <p:attrName>ppt_x</p:attrName>
                                        </p:attrNameLst>
                                      </p:cBhvr>
                                      <p:tavLst>
                                        <p:tav tm="0">
                                          <p:val>
                                            <p:strVal val="#ppt_x"/>
                                          </p:val>
                                        </p:tav>
                                        <p:tav tm="100000">
                                          <p:val>
                                            <p:strVal val="#ppt_x"/>
                                          </p:val>
                                        </p:tav>
                                      </p:tavLst>
                                    </p:anim>
                                    <p:anim calcmode="lin" valueType="num">
                                      <p:cBhvr additive="base">
                                        <p:cTn id="71" dur="500" fill="hold" decel="100000"/>
                                        <p:tgtEl>
                                          <p:spTgt spid="20"/>
                                        </p:tgtEl>
                                        <p:attrNameLst>
                                          <p:attrName>ppt_y</p:attrName>
                                        </p:attrNameLst>
                                      </p:cBhvr>
                                      <p:tavLst>
                                        <p:tav tm="0">
                                          <p:val>
                                            <p:strVal val="#ppt_y+.18"/>
                                          </p:val>
                                        </p:tav>
                                        <p:tav tm="100000">
                                          <p:val>
                                            <p:strVal val="#ppt_y"/>
                                          </p:val>
                                        </p:tav>
                                      </p:tavLst>
                                    </p:anim>
                                  </p:childTnLst>
                                </p:cTn>
                              </p:par>
                            </p:childTnLst>
                          </p:cTn>
                        </p:par>
                        <p:par>
                          <p:cTn id="72" fill="hold">
                            <p:stCondLst>
                              <p:cond delay="1000"/>
                            </p:stCondLst>
                            <p:childTnLst>
                              <p:par>
                                <p:cTn id="73" presetID="10" presetClass="entr" presetSubtype="0" fill="hold" grpId="0" nodeType="afterEffect">
                                  <p:stCondLst>
                                    <p:cond delay="0"/>
                                  </p:stCondLst>
                                  <p:childTnLst>
                                    <p:set>
                                      <p:cBhvr>
                                        <p:cTn id="74" dur="1" fill="hold">
                                          <p:stCondLst>
                                            <p:cond delay="0"/>
                                          </p:stCondLst>
                                        </p:cTn>
                                        <p:tgtEl>
                                          <p:spTgt spid="21"/>
                                        </p:tgtEl>
                                        <p:attrNameLst>
                                          <p:attrName>style.visibility</p:attrName>
                                        </p:attrNameLst>
                                      </p:cBhvr>
                                      <p:to>
                                        <p:strVal val="visible"/>
                                      </p:to>
                                    </p:set>
                                    <p:animEffect transition="in" filter="fade">
                                      <p:cBhvr>
                                        <p:cTn id="75"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DAS FUNDAMENT · § 1 STVO</a:t>
            </a:r>
            <a:endParaRPr lang="en-US" sz="1300" dirty="0"/>
          </a:p>
        </p:txBody>
      </p:sp>
      <p:sp>
        <p:nvSpPr>
          <p:cNvPr id="6" name="e5_2"/>
          <p:cNvSpPr txBox="1"/>
          <p:nvPr/>
        </p:nvSpPr>
        <p:spPr>
          <a:xfrm>
            <a:off x="685800" y="1188720"/>
            <a:ext cx="10515600" cy="155448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Bevor es losgeht: zwei Sätze,</a:t>
            </a:r>
            <a:endParaRPr lang="en-US" sz="4000" dirty="0"/>
          </a:p>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die über allem stehen</a:t>
            </a:r>
            <a:endParaRPr lang="en-US" sz="4000" dirty="0"/>
          </a:p>
        </p:txBody>
      </p:sp>
      <p:sp>
        <p:nvSpPr>
          <p:cNvPr id="7" name="e5_3"/>
          <p:cNvSpPr/>
          <p:nvPr/>
        </p:nvSpPr>
        <p:spPr>
          <a:xfrm>
            <a:off x="731520" y="2971800"/>
            <a:ext cx="10698480" cy="932688"/>
          </a:xfrm>
          <a:prstGeom prst="roundRect">
            <a:avLst>
              <a:gd name="adj" fmla="val 11765"/>
            </a:avLst>
          </a:prstGeom>
          <a:solidFill>
            <a:srgbClr val="12161E"/>
          </a:solidFill>
          <a:ln w="12700">
            <a:solidFill>
              <a:srgbClr val="2A3342"/>
            </a:solidFill>
            <a:prstDash val="solid"/>
          </a:ln>
        </p:spPr>
      </p:sp>
      <p:sp>
        <p:nvSpPr>
          <p:cNvPr id="8" name="e5_4"/>
          <p:cNvSpPr/>
          <p:nvPr/>
        </p:nvSpPr>
        <p:spPr>
          <a:xfrm>
            <a:off x="960120" y="3118104"/>
            <a:ext cx="640080" cy="640080"/>
          </a:xfrm>
          <a:prstGeom prst="ellipse">
            <a:avLst/>
          </a:prstGeom>
          <a:solidFill>
            <a:srgbClr val="1E2635"/>
          </a:solidFill>
          <a:ln/>
        </p:spPr>
      </p:sp>
      <p:pic>
        <p:nvPicPr>
          <p:cNvPr id="9" name="e5_5" descr="preencoded.png">    </p:cNvPr>
          <p:cNvPicPr>
            <a:picLocks noChangeAspect="1"/>
          </p:cNvPicPr>
          <p:nvPr/>
        </p:nvPicPr>
        <p:blipFill>
          <a:blip r:embed="rId2"/>
          <a:stretch>
            <a:fillRect/>
          </a:stretch>
        </p:blipFill>
        <p:spPr>
          <a:xfrm>
            <a:off x="1097280" y="3255264"/>
            <a:ext cx="365760" cy="365760"/>
          </a:xfrm>
          <a:prstGeom prst="rect">
            <a:avLst/>
          </a:prstGeom>
        </p:spPr>
      </p:pic>
      <p:sp>
        <p:nvSpPr>
          <p:cNvPr id="10" name="e5_6"/>
          <p:cNvSpPr txBox="1"/>
          <p:nvPr/>
        </p:nvSpPr>
        <p:spPr>
          <a:xfrm>
            <a:off x="1828800" y="308152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Vorsicht und Rücksicht</a:t>
            </a:r>
            <a:endParaRPr lang="en-US" sz="2200" dirty="0"/>
          </a:p>
        </p:txBody>
      </p:sp>
      <p:sp>
        <p:nvSpPr>
          <p:cNvPr id="11" name="e5_7"/>
          <p:cNvSpPr txBox="1"/>
          <p:nvPr/>
        </p:nvSpPr>
        <p:spPr>
          <a:xfrm>
            <a:off x="5120640" y="304495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Ständige Vorsicht und gegenseitige Rücksicht.</a:t>
            </a:r>
            <a:endParaRPr lang="en-US" sz="1600" dirty="0"/>
          </a:p>
        </p:txBody>
      </p:sp>
      <p:sp>
        <p:nvSpPr>
          <p:cNvPr id="12" name="e5_8"/>
          <p:cNvSpPr txBox="1"/>
          <p:nvPr/>
        </p:nvSpPr>
        <p:spPr>
          <a:xfrm>
            <a:off x="10058400" y="308152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1 Abs. 1</a:t>
            </a:r>
            <a:endParaRPr lang="en-US" sz="1300" dirty="0"/>
          </a:p>
        </p:txBody>
      </p:sp>
      <p:sp>
        <p:nvSpPr>
          <p:cNvPr id="13" name="e5_9"/>
          <p:cNvSpPr/>
          <p:nvPr/>
        </p:nvSpPr>
        <p:spPr>
          <a:xfrm>
            <a:off x="731520" y="4069080"/>
            <a:ext cx="10698480" cy="932688"/>
          </a:xfrm>
          <a:prstGeom prst="roundRect">
            <a:avLst>
              <a:gd name="adj" fmla="val 11765"/>
            </a:avLst>
          </a:prstGeom>
          <a:solidFill>
            <a:srgbClr val="12161E"/>
          </a:solidFill>
          <a:ln w="12700">
            <a:solidFill>
              <a:srgbClr val="2A3342"/>
            </a:solidFill>
            <a:prstDash val="solid"/>
          </a:ln>
        </p:spPr>
      </p:sp>
      <p:sp>
        <p:nvSpPr>
          <p:cNvPr id="14" name="e5_10"/>
          <p:cNvSpPr/>
          <p:nvPr/>
        </p:nvSpPr>
        <p:spPr>
          <a:xfrm>
            <a:off x="960120" y="4215384"/>
            <a:ext cx="640080" cy="640080"/>
          </a:xfrm>
          <a:prstGeom prst="ellipse">
            <a:avLst/>
          </a:prstGeom>
          <a:solidFill>
            <a:srgbClr val="1E2635"/>
          </a:solidFill>
          <a:ln/>
        </p:spPr>
      </p:sp>
      <p:pic>
        <p:nvPicPr>
          <p:cNvPr id="15" name="e5_11" descr="preencoded.png">    </p:cNvPr>
          <p:cNvPicPr>
            <a:picLocks noChangeAspect="1"/>
          </p:cNvPicPr>
          <p:nvPr/>
        </p:nvPicPr>
        <p:blipFill>
          <a:blip r:embed="rId3"/>
          <a:stretch>
            <a:fillRect/>
          </a:stretch>
        </p:blipFill>
        <p:spPr>
          <a:xfrm>
            <a:off x="1097280" y="4352544"/>
            <a:ext cx="365760" cy="365760"/>
          </a:xfrm>
          <a:prstGeom prst="rect">
            <a:avLst/>
          </a:prstGeom>
        </p:spPr>
      </p:pic>
      <p:sp>
        <p:nvSpPr>
          <p:cNvPr id="16" name="e5_12"/>
          <p:cNvSpPr txBox="1"/>
          <p:nvPr/>
        </p:nvSpPr>
        <p:spPr>
          <a:xfrm>
            <a:off x="1828800" y="417880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Niemand kommt zu Schaden</a:t>
            </a:r>
            <a:endParaRPr lang="en-US" sz="2200" dirty="0"/>
          </a:p>
        </p:txBody>
      </p:sp>
      <p:sp>
        <p:nvSpPr>
          <p:cNvPr id="17" name="e5_13"/>
          <p:cNvSpPr txBox="1"/>
          <p:nvPr/>
        </p:nvSpPr>
        <p:spPr>
          <a:xfrm>
            <a:off x="5120640" y="414223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Niemand darf geschädigt, gefährdet oder mehr als unvermeidbar behindert oder belästigt werden.</a:t>
            </a:r>
            <a:endParaRPr lang="en-US" sz="1600" dirty="0"/>
          </a:p>
        </p:txBody>
      </p:sp>
      <p:sp>
        <p:nvSpPr>
          <p:cNvPr id="18" name="e5_14"/>
          <p:cNvSpPr txBox="1"/>
          <p:nvPr/>
        </p:nvSpPr>
        <p:spPr>
          <a:xfrm>
            <a:off x="10058400" y="417880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1 Abs. 2</a:t>
            </a:r>
            <a:endParaRPr lang="en-US" sz="1300" dirty="0"/>
          </a:p>
        </p:txBody>
      </p:sp>
      <p:sp>
        <p:nvSpPr>
          <p:cNvPr id="19" name="e5_15"/>
          <p:cNvSpPr/>
          <p:nvPr/>
        </p:nvSpPr>
        <p:spPr>
          <a:xfrm>
            <a:off x="731520" y="5166360"/>
            <a:ext cx="10698480" cy="932688"/>
          </a:xfrm>
          <a:prstGeom prst="roundRect">
            <a:avLst>
              <a:gd name="adj" fmla="val 11765"/>
            </a:avLst>
          </a:prstGeom>
          <a:solidFill>
            <a:srgbClr val="12161E"/>
          </a:solidFill>
          <a:ln w="12700">
            <a:solidFill>
              <a:srgbClr val="2A3342"/>
            </a:solidFill>
            <a:prstDash val="solid"/>
          </a:ln>
        </p:spPr>
      </p:sp>
      <p:sp>
        <p:nvSpPr>
          <p:cNvPr id="20" name="e5_16"/>
          <p:cNvSpPr/>
          <p:nvPr/>
        </p:nvSpPr>
        <p:spPr>
          <a:xfrm>
            <a:off x="960120" y="5312664"/>
            <a:ext cx="640080" cy="640080"/>
          </a:xfrm>
          <a:prstGeom prst="ellipse">
            <a:avLst/>
          </a:prstGeom>
          <a:solidFill>
            <a:srgbClr val="1E2635"/>
          </a:solidFill>
          <a:ln/>
        </p:spPr>
      </p:sp>
      <p:pic>
        <p:nvPicPr>
          <p:cNvPr id="21" name="e5_17" descr="preencoded.png">    </p:cNvPr>
          <p:cNvPicPr>
            <a:picLocks noChangeAspect="1"/>
          </p:cNvPicPr>
          <p:nvPr/>
        </p:nvPicPr>
        <p:blipFill>
          <a:blip r:embed="rId4"/>
          <a:stretch>
            <a:fillRect/>
          </a:stretch>
        </p:blipFill>
        <p:spPr>
          <a:xfrm>
            <a:off x="1097280" y="5449824"/>
            <a:ext cx="365760" cy="365760"/>
          </a:xfrm>
          <a:prstGeom prst="rect">
            <a:avLst/>
          </a:prstGeom>
        </p:spPr>
      </p:pic>
      <p:sp>
        <p:nvSpPr>
          <p:cNvPr id="22" name="e5_18"/>
          <p:cNvSpPr txBox="1"/>
          <p:nvPr/>
        </p:nvSpPr>
        <p:spPr>
          <a:xfrm>
            <a:off x="1828800" y="5276088"/>
            <a:ext cx="3291840" cy="731520"/>
          </a:xfrm>
          <a:prstGeom prst="rect">
            <a:avLst/>
          </a:prstGeom>
          <a:noFill/>
          <a:ln/>
        </p:spPr>
        <p:txBody>
          <a:bodyPr wrap="square" lIns="0" tIns="0" rIns="0" bIns="0" rtlCol="0" anchor="ctr"/>
          <a:lstStyle/>
          <a:p>
            <a:pPr algn="l" indent="0" marL="0">
              <a:buNone/>
            </a:pPr>
            <a:r>
              <a:rPr lang="en-US" sz="2200" b="1" dirty="0">
                <a:solidFill>
                  <a:srgbClr val="F5F2EC"/>
                </a:solidFill>
                <a:latin typeface="Cambria" pitchFamily="34" charset="0"/>
                <a:ea typeface="Cambria" pitchFamily="34" charset="-122"/>
                <a:cs typeface="Cambria" pitchFamily="34" charset="-120"/>
              </a:rPr>
              <a:t>Vertrauen, aber nicht blind</a:t>
            </a:r>
            <a:endParaRPr lang="en-US" sz="2200" dirty="0"/>
          </a:p>
        </p:txBody>
      </p:sp>
      <p:sp>
        <p:nvSpPr>
          <p:cNvPr id="23" name="e5_19"/>
          <p:cNvSpPr txBox="1"/>
          <p:nvPr/>
        </p:nvSpPr>
        <p:spPr>
          <a:xfrm>
            <a:off x="5120640" y="5239512"/>
            <a:ext cx="4937760" cy="804672"/>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Du darfst dich auf andere verlassen. Nicht, wenn du Fehler erkennst. Bei Kindern, Hilfsbedürftigen, Älteren: Gefährdung ausschließen.</a:t>
            </a:r>
            <a:endParaRPr lang="en-US" sz="1600" dirty="0"/>
          </a:p>
        </p:txBody>
      </p:sp>
      <p:sp>
        <p:nvSpPr>
          <p:cNvPr id="24" name="e5_20"/>
          <p:cNvSpPr txBox="1"/>
          <p:nvPr/>
        </p:nvSpPr>
        <p:spPr>
          <a:xfrm>
            <a:off x="10058400" y="5276088"/>
            <a:ext cx="1188720" cy="731520"/>
          </a:xfrm>
          <a:prstGeom prst="rect">
            <a:avLst/>
          </a:prstGeom>
          <a:noFill/>
          <a:ln/>
        </p:spPr>
        <p:txBody>
          <a:bodyPr wrap="square" lIns="0" tIns="0" rIns="0" bIns="0" rtlCol="0" anchor="ctr"/>
          <a:lstStyle/>
          <a:p>
            <a:pPr algn="r" indent="0" marL="0">
              <a:buNone/>
            </a:pPr>
            <a:r>
              <a:rPr lang="en-US" sz="1300" b="1" dirty="0">
                <a:solidFill>
                  <a:srgbClr val="5B8CFF"/>
                </a:solidFill>
                <a:latin typeface="Calibri" pitchFamily="34" charset="0"/>
                <a:ea typeface="Calibri" pitchFamily="34" charset="-122"/>
                <a:cs typeface="Calibri" pitchFamily="34" charset="-120"/>
              </a:rPr>
              <a:t>§ 3 Abs. 2a</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5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5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3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3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3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650" fill="hold" decel="100000"/>
                                        <p:tgtEl>
                                          <p:spTgt spid="13"/>
                                        </p:tgtEl>
                                        <p:attrNameLst>
                                          <p:attrName>ppt_x</p:attrName>
                                        </p:attrNameLst>
                                      </p:cBhvr>
                                      <p:tavLst>
                                        <p:tav tm="0">
                                          <p:val>
                                            <p:strVal val="0-#ppt_w/2"/>
                                          </p:val>
                                        </p:tav>
                                        <p:tav tm="100000">
                                          <p:val>
                                            <p:strVal val="#ppt_x"/>
                                          </p:val>
                                        </p:tav>
                                      </p:tavLst>
                                    </p:anim>
                                    <p:anim calcmode="lin" valueType="num">
                                      <p:cBhvr additive="base">
                                        <p:cTn id="41" dur="650" fill="hold"/>
                                        <p:tgtEl>
                                          <p:spTgt spid="13"/>
                                        </p:tgtEl>
                                        <p:attrNameLst>
                                          <p:attrName>ppt_y</p:attrName>
                                        </p:attrNameLst>
                                      </p:cBhvr>
                                      <p:tavLst>
                                        <p:tav tm="0">
                                          <p:val>
                                            <p:strVal val="#ppt_y"/>
                                          </p:val>
                                        </p:tav>
                                        <p:tav tm="100000">
                                          <p:val>
                                            <p:strVal val="#ppt_y"/>
                                          </p:val>
                                        </p:tav>
                                      </p:tavLst>
                                    </p:anim>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300"/>
                                        <p:tgtEl>
                                          <p:spTgt spid="14"/>
                                        </p:tgtEl>
                                      </p:cBhvr>
                                    </p:animEffect>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300"/>
                                        <p:tgtEl>
                                          <p:spTgt spid="1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3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3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3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650" fill="hold" decel="100000"/>
                                        <p:tgtEl>
                                          <p:spTgt spid="19"/>
                                        </p:tgtEl>
                                        <p:attrNameLst>
                                          <p:attrName>ppt_x</p:attrName>
                                        </p:attrNameLst>
                                      </p:cBhvr>
                                      <p:tavLst>
                                        <p:tav tm="0">
                                          <p:val>
                                            <p:strVal val="0-#ppt_w/2"/>
                                          </p:val>
                                        </p:tav>
                                        <p:tav tm="100000">
                                          <p:val>
                                            <p:strVal val="#ppt_x"/>
                                          </p:val>
                                        </p:tav>
                                      </p:tavLst>
                                    </p:anim>
                                    <p:anim calcmode="lin" valueType="num">
                                      <p:cBhvr additive="base">
                                        <p:cTn id="62" dur="650" fill="hold"/>
                                        <p:tgtEl>
                                          <p:spTgt spid="19"/>
                                        </p:tgtEl>
                                        <p:attrNameLst>
                                          <p:attrName>ppt_y</p:attrName>
                                        </p:attrNameLst>
                                      </p:cBhvr>
                                      <p:tavLst>
                                        <p:tav tm="0">
                                          <p:val>
                                            <p:strVal val="#ppt_y"/>
                                          </p:val>
                                        </p:tav>
                                        <p:tav tm="100000">
                                          <p:val>
                                            <p:strVal val="#ppt_y"/>
                                          </p:val>
                                        </p:tav>
                                      </p:tavLst>
                                    </p:anim>
                                  </p:childTnLst>
                                </p:cTn>
                              </p:par>
                              <p:par>
                                <p:cTn id="63" presetID="10"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300"/>
                                        <p:tgtEl>
                                          <p:spTgt spid="20"/>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300"/>
                                        <p:tgtEl>
                                          <p:spTgt spid="2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300"/>
                                        <p:tgtEl>
                                          <p:spTgt spid="2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3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6_1"/>
          <p:cNvSpPr txBox="1"/>
          <p:nvPr/>
        </p:nvSpPr>
        <p:spPr>
          <a:xfrm>
            <a:off x="731520" y="1828800"/>
            <a:ext cx="10698480" cy="1097280"/>
          </a:xfrm>
          <a:prstGeom prst="rect">
            <a:avLst/>
          </a:prstGeom>
          <a:noFill/>
          <a:ln/>
        </p:spPr>
        <p:txBody>
          <a:bodyPr wrap="square" lIns="0" tIns="0" rIns="0" bIns="0" rtlCol="0" anchor="t"/>
          <a:lstStyle/>
          <a:p>
            <a:pPr algn="ctr" indent="0" marL="0">
              <a:lnSpc>
                <a:spcPct val="95000"/>
              </a:lnSpc>
              <a:buNone/>
            </a:pPr>
            <a:r>
              <a:rPr lang="en-US" sz="6400" b="1" dirty="0">
                <a:solidFill>
                  <a:srgbClr val="F5F2EC"/>
                </a:solidFill>
                <a:latin typeface="Cambria" pitchFamily="34" charset="0"/>
                <a:ea typeface="Cambria" pitchFamily="34" charset="-122"/>
                <a:cs typeface="Cambria" pitchFamily="34" charset="-120"/>
              </a:rPr>
              <a:t>Vorfahrt ist ein Recht.</a:t>
            </a:r>
            <a:endParaRPr lang="en-US" sz="6400" dirty="0"/>
          </a:p>
        </p:txBody>
      </p:sp>
      <p:sp>
        <p:nvSpPr>
          <p:cNvPr id="5" name="e6_2"/>
          <p:cNvSpPr txBox="1"/>
          <p:nvPr/>
        </p:nvSpPr>
        <p:spPr>
          <a:xfrm>
            <a:off x="731520" y="3017520"/>
            <a:ext cx="10698480" cy="914400"/>
          </a:xfrm>
          <a:prstGeom prst="rect">
            <a:avLst/>
          </a:prstGeom>
          <a:noFill/>
          <a:ln/>
        </p:spPr>
        <p:txBody>
          <a:bodyPr wrap="square" lIns="0" tIns="0" rIns="0" bIns="0" rtlCol="0" anchor="t"/>
          <a:lstStyle/>
          <a:p>
            <a:pPr algn="ctr" indent="0" marL="0">
              <a:buNone/>
            </a:pPr>
            <a:r>
              <a:rPr lang="en-US" sz="4800" i="1" dirty="0">
                <a:solidFill>
                  <a:srgbClr val="FF7A1A"/>
                </a:solidFill>
                <a:effectLst>
                  <a:glow rad="127000">
                    <a:srgbClr val="FF7A1A">
                      <a:alpha val="30000"/>
                    </a:srgbClr>
                  </a:glow>
                </a:effectLst>
                <a:latin typeface="Cambria" pitchFamily="34" charset="0"/>
                <a:ea typeface="Cambria" pitchFamily="34" charset="-122"/>
                <a:cs typeface="Cambria" pitchFamily="34" charset="-120"/>
              </a:rPr>
              <a:t>Aber kein Freifahrtschein.</a:t>
            </a:r>
            <a:endParaRPr lang="en-US" sz="4800" dirty="0"/>
          </a:p>
        </p:txBody>
      </p:sp>
      <p:sp>
        <p:nvSpPr>
          <p:cNvPr id="6" name="e6_3"/>
          <p:cNvSpPr txBox="1"/>
          <p:nvPr/>
        </p:nvSpPr>
        <p:spPr>
          <a:xfrm>
            <a:off x="1188720" y="4480560"/>
            <a:ext cx="9784080" cy="914400"/>
          </a:xfrm>
          <a:prstGeom prst="rect">
            <a:avLst/>
          </a:prstGeom>
          <a:noFill/>
          <a:ln/>
        </p:spPr>
        <p:txBody>
          <a:bodyPr wrap="square" lIns="0" tIns="0" rIns="0" bIns="0" rtlCol="0" anchor="t"/>
          <a:lstStyle/>
          <a:p>
            <a:pPr algn="ctr" indent="0" marL="0">
              <a:lnSpc>
                <a:spcPct val="110000"/>
              </a:lnSpc>
              <a:buNone/>
            </a:pPr>
            <a:r>
              <a:rPr lang="en-US" sz="2000" dirty="0">
                <a:solidFill>
                  <a:srgbClr val="A7B0BD"/>
                </a:solidFill>
                <a:latin typeface="Calibri" pitchFamily="34" charset="0"/>
                <a:ea typeface="Calibri" pitchFamily="34" charset="-122"/>
                <a:cs typeface="Calibri" pitchFamily="34" charset="-120"/>
              </a:rPr>
              <a:t>Wer Vorrang hat, muss darauf verzichten, wenn die Verkehrslage es erfordert.</a:t>
            </a:r>
            <a:endParaRPr lang="en-US" sz="2000" dirty="0"/>
          </a:p>
          <a:p>
            <a:pPr algn="ctr" indent="0" marL="0">
              <a:lnSpc>
                <a:spcPct val="110000"/>
              </a:lnSpc>
              <a:buNone/>
            </a:pPr>
            <a:r>
              <a:rPr lang="en-US" sz="2000" dirty="0">
                <a:solidFill>
                  <a:srgbClr val="A7B0BD"/>
                </a:solidFill>
                <a:latin typeface="Calibri" pitchFamily="34" charset="0"/>
                <a:ea typeface="Calibri" pitchFamily="34" charset="-122"/>
                <a:cs typeface="Calibri" pitchFamily="34" charset="-120"/>
              </a:rPr>
              <a:t>Auf einen Verzicht darf man sich nur verlassen, wenn man sich verständigt hat.</a:t>
            </a:r>
            <a:endParaRPr lang="en-US" sz="2000" dirty="0"/>
          </a:p>
        </p:txBody>
      </p:sp>
      <p:sp>
        <p:nvSpPr>
          <p:cNvPr id="7" name="e6_4"/>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11 Abs. 3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200"/>
                                        <p:tgtEl>
                                          <p:spTgt spid="4"/>
                                        </p:tgtEl>
                                      </p:cBhvr>
                                    </p:animEffect>
                                  </p:childTnLst>
                                </p:cTn>
                              </p:par>
                            </p:childTnLst>
                          </p:cTn>
                        </p:par>
                        <p:par>
                          <p:cTn id="13" fill="hold">
                            <p:stCondLst>
                              <p:cond delay="120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additive="base">
                                        <p:cTn id="17" dur="1000" fill="hold" decel="100000"/>
                                        <p:tgtEl>
                                          <p:spTgt spid="5"/>
                                        </p:tgtEl>
                                        <p:attrNameLst>
                                          <p:attrName>ppt_x</p:attrName>
                                        </p:attrNameLst>
                                      </p:cBhvr>
                                      <p:tavLst>
                                        <p:tav tm="0">
                                          <p:val>
                                            <p:strVal val="#ppt_x"/>
                                          </p:val>
                                        </p:tav>
                                        <p:tav tm="100000">
                                          <p:val>
                                            <p:strVal val="#ppt_x"/>
                                          </p:val>
                                        </p:tav>
                                      </p:tavLst>
                                    </p:anim>
                                    <p:anim calcmode="lin" valueType="num">
                                      <p:cBhvr additive="base">
                                        <p:cTn id="18" dur="1000" fill="hold" decel="100000"/>
                                        <p:tgtEl>
                                          <p:spTgt spid="5"/>
                                        </p:tgtEl>
                                        <p:attrNameLst>
                                          <p:attrName>ppt_y</p:attrName>
                                        </p:attrNameLst>
                                      </p:cBhvr>
                                      <p:tavLst>
                                        <p:tav tm="0">
                                          <p:val>
                                            <p:strVal val="#ppt_y+.18"/>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ZWEI BEGRIFFE</a:t>
            </a:r>
            <a:endParaRPr lang="en-US" sz="1300" dirty="0"/>
          </a:p>
        </p:txBody>
      </p:sp>
      <p:sp>
        <p:nvSpPr>
          <p:cNvPr id="6" name="e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Vorfahrt oder Vorrang?</a:t>
            </a:r>
            <a:endParaRPr lang="en-US" sz="4600" dirty="0"/>
          </a:p>
        </p:txBody>
      </p:sp>
      <p:sp>
        <p:nvSpPr>
          <p:cNvPr id="7" name="e7_3"/>
          <p:cNvSpPr/>
          <p:nvPr/>
        </p:nvSpPr>
        <p:spPr>
          <a:xfrm>
            <a:off x="731520" y="2377440"/>
            <a:ext cx="5212080" cy="3566160"/>
          </a:xfrm>
          <a:prstGeom prst="roundRect">
            <a:avLst>
              <a:gd name="adj" fmla="val 3590"/>
            </a:avLst>
          </a:prstGeom>
          <a:solidFill>
            <a:srgbClr val="12161E"/>
          </a:solidFill>
          <a:ln w="19050">
            <a:solidFill>
              <a:srgbClr val="FF7A1A"/>
            </a:solidFill>
            <a:prstDash val="solid"/>
          </a:ln>
          <a:effectLst>
            <a:outerShdw sx="100000" sy="100000" kx="0" ky="0" algn="bl" rotWithShape="0" blurRad="228600" dist="50800" dir="5400000">
              <a:srgbClr val="000000">
                <a:alpha val="55000"/>
              </a:srgbClr>
            </a:outerShdw>
          </a:effectLst>
        </p:spPr>
      </p:sp>
      <p:pic>
        <p:nvPicPr>
          <p:cNvPr id="8" name="e7_4" descr="preencoded.png">    </p:cNvPr>
          <p:cNvPicPr>
            <a:picLocks noChangeAspect="1"/>
          </p:cNvPicPr>
          <p:nvPr/>
        </p:nvPicPr>
        <p:blipFill>
          <a:blip r:embed="rId2"/>
          <a:stretch>
            <a:fillRect/>
          </a:stretch>
        </p:blipFill>
        <p:spPr>
          <a:xfrm>
            <a:off x="1097280" y="2651760"/>
            <a:ext cx="594360" cy="594360"/>
          </a:xfrm>
          <a:prstGeom prst="rect">
            <a:avLst/>
          </a:prstGeom>
        </p:spPr>
      </p:pic>
      <p:sp>
        <p:nvSpPr>
          <p:cNvPr id="9" name="e7_5"/>
          <p:cNvSpPr txBox="1"/>
          <p:nvPr/>
        </p:nvSpPr>
        <p:spPr>
          <a:xfrm>
            <a:off x="1874520" y="2606040"/>
            <a:ext cx="3840480" cy="685800"/>
          </a:xfrm>
          <a:prstGeom prst="rect">
            <a:avLst/>
          </a:prstGeom>
          <a:noFill/>
          <a:ln/>
        </p:spPr>
        <p:txBody>
          <a:bodyPr wrap="square" lIns="0" tIns="0" rIns="0" bIns="0" rtlCol="0" anchor="ctr"/>
          <a:lstStyle/>
          <a:p>
            <a:pPr algn="l" indent="0" marL="0">
              <a:buNone/>
            </a:pPr>
            <a:r>
              <a:rPr lang="en-US" sz="3400" b="1" dirty="0">
                <a:solidFill>
                  <a:srgbClr val="F5F2EC"/>
                </a:solidFill>
                <a:latin typeface="Cambria" pitchFamily="34" charset="0"/>
                <a:ea typeface="Cambria" pitchFamily="34" charset="-122"/>
                <a:cs typeface="Cambria" pitchFamily="34" charset="-120"/>
              </a:rPr>
              <a:t>Vorfahrt</a:t>
            </a:r>
            <a:endParaRPr lang="en-US" sz="3400" dirty="0"/>
          </a:p>
        </p:txBody>
      </p:sp>
      <p:sp>
        <p:nvSpPr>
          <p:cNvPr id="10" name="e7_6"/>
          <p:cNvSpPr txBox="1"/>
          <p:nvPr/>
        </p:nvSpPr>
        <p:spPr>
          <a:xfrm>
            <a:off x="1097280" y="3429000"/>
            <a:ext cx="4572000" cy="457200"/>
          </a:xfrm>
          <a:prstGeom prst="rect">
            <a:avLst/>
          </a:prstGeom>
          <a:noFill/>
          <a:ln/>
        </p:spPr>
        <p:txBody>
          <a:bodyPr wrap="square" lIns="0" tIns="0" rIns="0" bIns="0" rtlCol="0" anchor="t"/>
          <a:lstStyle/>
          <a:p>
            <a:pPr algn="l" indent="0" marL="0">
              <a:buNone/>
            </a:pPr>
            <a:r>
              <a:rPr lang="en-US" sz="1900" b="1" dirty="0">
                <a:solidFill>
                  <a:srgbClr val="FF7A1A"/>
                </a:solidFill>
                <a:latin typeface="Calibri" pitchFamily="34" charset="0"/>
                <a:ea typeface="Calibri" pitchFamily="34" charset="-122"/>
                <a:cs typeface="Calibri" pitchFamily="34" charset="-120"/>
              </a:rPr>
              <a:t>An Kreuzungen und Einmündungen.</a:t>
            </a:r>
            <a:endParaRPr lang="en-US" sz="1900" dirty="0"/>
          </a:p>
        </p:txBody>
      </p:sp>
      <p:sp>
        <p:nvSpPr>
          <p:cNvPr id="11" name="e7_7"/>
          <p:cNvSpPr txBox="1"/>
          <p:nvPr/>
        </p:nvSpPr>
        <p:spPr>
          <a:xfrm>
            <a:off x="1097280" y="3977640"/>
            <a:ext cx="4572000" cy="1463040"/>
          </a:xfrm>
          <a:prstGeom prst="rect">
            <a:avLst/>
          </a:prstGeom>
          <a:noFill/>
          <a:ln/>
        </p:spPr>
        <p:txBody>
          <a:bodyPr wrap="square" lIns="0" tIns="0" rIns="0" bIns="0" rtlCol="0" anchor="t"/>
          <a:lstStyle/>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Rechts vor links</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Vorfahrt durch Verkehrszeichen</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Ampel und Polizei regeln sie neu</a:t>
            </a:r>
            <a:endParaRPr lang="en-US" sz="1700" dirty="0"/>
          </a:p>
        </p:txBody>
      </p:sp>
      <p:sp>
        <p:nvSpPr>
          <p:cNvPr id="12" name="e7_8"/>
          <p:cNvSpPr txBox="1"/>
          <p:nvPr/>
        </p:nvSpPr>
        <p:spPr>
          <a:xfrm>
            <a:off x="1097280" y="5440680"/>
            <a:ext cx="4572000" cy="320040"/>
          </a:xfrm>
          <a:prstGeom prst="rect">
            <a:avLst/>
          </a:prstGeom>
          <a:noFill/>
          <a:ln/>
        </p:spPr>
        <p:txBody>
          <a:bodyPr wrap="square" lIns="0" tIns="0" rIns="0" bIns="0" rtlCol="0" anchor="t"/>
          <a:lstStyle/>
          <a:p>
            <a:pPr algn="l" indent="0" marL="0">
              <a:buNone/>
            </a:pPr>
            <a:r>
              <a:rPr lang="en-US" sz="1300" b="1" dirty="0">
                <a:solidFill>
                  <a:srgbClr val="FFB547"/>
                </a:solidFill>
                <a:latin typeface="Calibri" pitchFamily="34" charset="0"/>
                <a:ea typeface="Calibri" pitchFamily="34" charset="-122"/>
                <a:cs typeface="Calibri" pitchFamily="34" charset="-120"/>
              </a:rPr>
              <a:t>§ 8 StVO</a:t>
            </a:r>
            <a:endParaRPr lang="en-US" sz="1300" dirty="0"/>
          </a:p>
        </p:txBody>
      </p:sp>
      <p:sp>
        <p:nvSpPr>
          <p:cNvPr id="13" name="e7_9"/>
          <p:cNvSpPr/>
          <p:nvPr/>
        </p:nvSpPr>
        <p:spPr>
          <a:xfrm>
            <a:off x="6217920" y="2377440"/>
            <a:ext cx="5212080" cy="3566160"/>
          </a:xfrm>
          <a:prstGeom prst="roundRect">
            <a:avLst>
              <a:gd name="adj" fmla="val 3590"/>
            </a:avLst>
          </a:prstGeom>
          <a:solidFill>
            <a:srgbClr val="12161E"/>
          </a:solidFill>
          <a:ln w="12700">
            <a:solidFill>
              <a:srgbClr val="4A3B24"/>
            </a:solidFill>
            <a:prstDash val="solid"/>
          </a:ln>
          <a:effectLst>
            <a:outerShdw sx="100000" sy="100000" kx="0" ky="0" algn="bl" rotWithShape="0" blurRad="228600" dist="50800" dir="5400000">
              <a:srgbClr val="000000">
                <a:alpha val="55000"/>
              </a:srgbClr>
            </a:outerShdw>
          </a:effectLst>
        </p:spPr>
      </p:sp>
      <p:pic>
        <p:nvPicPr>
          <p:cNvPr id="14" name="e7_10" descr="preencoded.png">    </p:cNvPr>
          <p:cNvPicPr>
            <a:picLocks noChangeAspect="1"/>
          </p:cNvPicPr>
          <p:nvPr/>
        </p:nvPicPr>
        <p:blipFill>
          <a:blip r:embed="rId3"/>
          <a:stretch>
            <a:fillRect/>
          </a:stretch>
        </p:blipFill>
        <p:spPr>
          <a:xfrm>
            <a:off x="6583680" y="2651760"/>
            <a:ext cx="594360" cy="594360"/>
          </a:xfrm>
          <a:prstGeom prst="rect">
            <a:avLst/>
          </a:prstGeom>
        </p:spPr>
      </p:pic>
      <p:sp>
        <p:nvSpPr>
          <p:cNvPr id="15" name="e7_11"/>
          <p:cNvSpPr txBox="1"/>
          <p:nvPr/>
        </p:nvSpPr>
        <p:spPr>
          <a:xfrm>
            <a:off x="7360920" y="2606040"/>
            <a:ext cx="3840480" cy="685800"/>
          </a:xfrm>
          <a:prstGeom prst="rect">
            <a:avLst/>
          </a:prstGeom>
          <a:noFill/>
          <a:ln/>
        </p:spPr>
        <p:txBody>
          <a:bodyPr wrap="square" lIns="0" tIns="0" rIns="0" bIns="0" rtlCol="0" anchor="ctr"/>
          <a:lstStyle/>
          <a:p>
            <a:pPr algn="l" indent="0" marL="0">
              <a:buNone/>
            </a:pPr>
            <a:r>
              <a:rPr lang="en-US" sz="3400" b="1" dirty="0">
                <a:solidFill>
                  <a:srgbClr val="F5F2EC"/>
                </a:solidFill>
                <a:latin typeface="Cambria" pitchFamily="34" charset="0"/>
                <a:ea typeface="Cambria" pitchFamily="34" charset="-122"/>
                <a:cs typeface="Cambria" pitchFamily="34" charset="-120"/>
              </a:rPr>
              <a:t>Vorrang</a:t>
            </a:r>
            <a:endParaRPr lang="en-US" sz="3400" dirty="0"/>
          </a:p>
        </p:txBody>
      </p:sp>
      <p:sp>
        <p:nvSpPr>
          <p:cNvPr id="16" name="e7_12"/>
          <p:cNvSpPr txBox="1"/>
          <p:nvPr/>
        </p:nvSpPr>
        <p:spPr>
          <a:xfrm>
            <a:off x="6583680" y="3429000"/>
            <a:ext cx="4572000" cy="457200"/>
          </a:xfrm>
          <a:prstGeom prst="rect">
            <a:avLst/>
          </a:prstGeom>
          <a:noFill/>
          <a:ln/>
        </p:spPr>
        <p:txBody>
          <a:bodyPr wrap="square" lIns="0" tIns="0" rIns="0" bIns="0" rtlCol="0" anchor="t"/>
          <a:lstStyle/>
          <a:p>
            <a:pPr algn="l" indent="0" marL="0">
              <a:buNone/>
            </a:pPr>
            <a:r>
              <a:rPr lang="en-US" sz="1900" b="1" dirty="0">
                <a:solidFill>
                  <a:srgbClr val="FF7A1A"/>
                </a:solidFill>
                <a:latin typeface="Calibri" pitchFamily="34" charset="0"/>
                <a:ea typeface="Calibri" pitchFamily="34" charset="-122"/>
                <a:cs typeface="Calibri" pitchFamily="34" charset="-120"/>
              </a:rPr>
              <a:t>Überall sonst, wo einer zuerst darf.</a:t>
            </a:r>
            <a:endParaRPr lang="en-US" sz="1900" dirty="0"/>
          </a:p>
        </p:txBody>
      </p:sp>
      <p:sp>
        <p:nvSpPr>
          <p:cNvPr id="17" name="e7_13"/>
          <p:cNvSpPr txBox="1"/>
          <p:nvPr/>
        </p:nvSpPr>
        <p:spPr>
          <a:xfrm>
            <a:off x="6583680" y="3977640"/>
            <a:ext cx="4572000" cy="1463040"/>
          </a:xfrm>
          <a:prstGeom prst="rect">
            <a:avLst/>
          </a:prstGeom>
          <a:noFill/>
          <a:ln/>
        </p:spPr>
        <p:txBody>
          <a:bodyPr wrap="square" lIns="0" tIns="0" rIns="0" bIns="0" rtlCol="0" anchor="t"/>
          <a:lstStyle/>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Engstelle (Zeichen 208 / 308)</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Fußgänger am Zebrastreifen (§ 26)</a:t>
            </a:r>
            <a:endParaRPr lang="en-US" sz="1700" dirty="0"/>
          </a:p>
          <a:p>
            <a:pPr algn="l" marL="342900" indent="-342900">
              <a:spcAft>
                <a:spcPts val="600"/>
              </a:spcAft>
              <a:buSzPct val="100000"/>
              <a:buChar char="▸"/>
            </a:pPr>
            <a:r>
              <a:rPr lang="en-US" sz="1700" dirty="0">
                <a:solidFill>
                  <a:srgbClr val="F5F2EC"/>
                </a:solidFill>
                <a:latin typeface="Calibri" pitchFamily="34" charset="0"/>
                <a:ea typeface="Calibri" pitchFamily="34" charset="-122"/>
                <a:cs typeface="Calibri" pitchFamily="34" charset="-120"/>
              </a:rPr>
              <a:t>Einfahren: alle anderen zuerst (§ 10)</a:t>
            </a:r>
            <a:endParaRPr lang="en-US" sz="1700" dirty="0"/>
          </a:p>
        </p:txBody>
      </p:sp>
      <p:sp>
        <p:nvSpPr>
          <p:cNvPr id="18" name="e7_14"/>
          <p:cNvSpPr txBox="1"/>
          <p:nvPr/>
        </p:nvSpPr>
        <p:spPr>
          <a:xfrm>
            <a:off x="6583680" y="5440680"/>
            <a:ext cx="4572000" cy="320040"/>
          </a:xfrm>
          <a:prstGeom prst="rect">
            <a:avLst/>
          </a:prstGeom>
          <a:noFill/>
          <a:ln/>
        </p:spPr>
        <p:txBody>
          <a:bodyPr wrap="square" lIns="0" tIns="0" rIns="0" bIns="0" rtlCol="0" anchor="t"/>
          <a:lstStyle/>
          <a:p>
            <a:pPr algn="l" indent="0" marL="0">
              <a:buNone/>
            </a:pPr>
            <a:r>
              <a:rPr lang="en-US" sz="1300" b="1" dirty="0">
                <a:solidFill>
                  <a:srgbClr val="FFB547"/>
                </a:solidFill>
                <a:latin typeface="Calibri" pitchFamily="34" charset="0"/>
                <a:ea typeface="Calibri" pitchFamily="34" charset="-122"/>
                <a:cs typeface="Calibri" pitchFamily="34" charset="-120"/>
              </a:rPr>
              <a:t>z. B. §§ 10, 26 StVO</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50"/>
                                        <p:tgtEl>
                                          <p:spTgt spid="7"/>
                                        </p:tgtEl>
                                      </p:cBhvr>
                                    </p:animEffect>
                                    <p:anim calcmode="lin" valueType="num">
                                      <p:cBhvr additive="base">
                                        <p:cTn id="20"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50" fill="hold" decel="100000"/>
                                        <p:tgtEl>
                                          <p:spTgt spid="7"/>
                                        </p:tgtEl>
                                        <p:attrNameLst>
                                          <p:attrName>ppt_y</p:attrName>
                                        </p:attrNameLst>
                                      </p:cBhvr>
                                      <p:tavLst>
                                        <p:tav tm="0">
                                          <p:val>
                                            <p:strVal val="#ppt_y+.18"/>
                                          </p:val>
                                        </p:tav>
                                        <p:tav tm="100000">
                                          <p:val>
                                            <p:strVal val="#ppt_y"/>
                                          </p:val>
                                        </p:tav>
                                      </p:tavLst>
                                    </p:anim>
                                  </p:childTnLst>
                                </p:cTn>
                              </p:par>
                            </p:childTnLst>
                          </p:cTn>
                        </p:par>
                        <p:par>
                          <p:cTn id="22" fill="hold">
                            <p:stCondLst>
                              <p:cond delay="65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350" fill="hold" decel="100000"/>
                                        <p:tgtEl>
                                          <p:spTgt spid="8"/>
                                        </p:tgtEl>
                                        <p:attrNameLst>
                                          <p:attrName>ppt_w</p:attrName>
                                        </p:attrNameLst>
                                      </p:cBhvr>
                                      <p:tavLst>
                                        <p:tav tm="0">
                                          <p:val>
                                            <p:strVal val="0"/>
                                          </p:val>
                                        </p:tav>
                                        <p:tav tm="100000">
                                          <p:val>
                                            <p:strVal val="#ppt_w"/>
                                          </p:val>
                                        </p:tav>
                                      </p:tavLst>
                                    </p:anim>
                                    <p:anim calcmode="lin" valueType="num">
                                      <p:cBhvr additive="base">
                                        <p:cTn id="26" dur="350" fill="hold" decel="100000"/>
                                        <p:tgtEl>
                                          <p:spTgt spid="8"/>
                                        </p:tgtEl>
                                        <p:attrNameLst>
                                          <p:attrName>ppt_h</p:attrName>
                                        </p:attrNameLst>
                                      </p:cBhvr>
                                      <p:tavLst>
                                        <p:tav tm="0">
                                          <p:val>
                                            <p:strVal val="0"/>
                                          </p:val>
                                        </p:tav>
                                        <p:tav tm="100000">
                                          <p:val>
                                            <p:strVal val="#ppt_h"/>
                                          </p:val>
                                        </p:tav>
                                      </p:tavLst>
                                    </p:anim>
                                    <p:animEffect transition="in" filter="fade">
                                      <p:cBhvr>
                                        <p:cTn id="27" dur="35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50"/>
                                        <p:tgtEl>
                                          <p:spTgt spid="1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35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650"/>
                                        <p:tgtEl>
                                          <p:spTgt spid="13"/>
                                        </p:tgtEl>
                                      </p:cBhvr>
                                    </p:animEffect>
                                    <p:anim calcmode="lin" valueType="num">
                                      <p:cBhvr additive="base">
                                        <p:cTn id="45"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46" dur="650" fill="hold" decel="100000"/>
                                        <p:tgtEl>
                                          <p:spTgt spid="13"/>
                                        </p:tgtEl>
                                        <p:attrNameLst>
                                          <p:attrName>ppt_y</p:attrName>
                                        </p:attrNameLst>
                                      </p:cBhvr>
                                      <p:tavLst>
                                        <p:tav tm="0">
                                          <p:val>
                                            <p:strVal val="#ppt_y+.18"/>
                                          </p:val>
                                        </p:tav>
                                        <p:tav tm="100000">
                                          <p:val>
                                            <p:strVal val="#ppt_y"/>
                                          </p:val>
                                        </p:tav>
                                      </p:tavLst>
                                    </p:anim>
                                  </p:childTnLst>
                                </p:cTn>
                              </p:par>
                            </p:childTnLst>
                          </p:cTn>
                        </p:par>
                        <p:par>
                          <p:cTn id="47" fill="hold">
                            <p:stCondLst>
                              <p:cond delay="650"/>
                            </p:stCondLst>
                            <p:childTnLst>
                              <p:par>
                                <p:cTn id="48" presetID="53" presetClass="entr" presetSubtype="16" fill="hold" nodeType="after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350" fill="hold" decel="100000"/>
                                        <p:tgtEl>
                                          <p:spTgt spid="14"/>
                                        </p:tgtEl>
                                        <p:attrNameLst>
                                          <p:attrName>ppt_w</p:attrName>
                                        </p:attrNameLst>
                                      </p:cBhvr>
                                      <p:tavLst>
                                        <p:tav tm="0">
                                          <p:val>
                                            <p:strVal val="0"/>
                                          </p:val>
                                        </p:tav>
                                        <p:tav tm="100000">
                                          <p:val>
                                            <p:strVal val="#ppt_w"/>
                                          </p:val>
                                        </p:tav>
                                      </p:tavLst>
                                    </p:anim>
                                    <p:anim calcmode="lin" valueType="num">
                                      <p:cBhvr additive="base">
                                        <p:cTn id="51" dur="350" fill="hold" decel="100000"/>
                                        <p:tgtEl>
                                          <p:spTgt spid="14"/>
                                        </p:tgtEl>
                                        <p:attrNameLst>
                                          <p:attrName>ppt_h</p:attrName>
                                        </p:attrNameLst>
                                      </p:cBhvr>
                                      <p:tavLst>
                                        <p:tav tm="0">
                                          <p:val>
                                            <p:strVal val="0"/>
                                          </p:val>
                                        </p:tav>
                                        <p:tav tm="100000">
                                          <p:val>
                                            <p:strVal val="#ppt_h"/>
                                          </p:val>
                                        </p:tav>
                                      </p:tavLst>
                                    </p:anim>
                                    <p:animEffect transition="in" filter="fade">
                                      <p:cBhvr>
                                        <p:cTn id="52" dur="35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35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50"/>
                                        <p:tgtEl>
                                          <p:spTgt spid="1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50"/>
                                        <p:tgtEl>
                                          <p:spTgt spid="1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5" grpId="0" animBg="1"/>
      <p:bldP spid="16" grpId="0" animBg="1"/>
      <p:bldP spid="17" grpId="0" animBg="1"/>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2A1A0E"/>
          </a:solidFill>
          <a:ln w="25400">
            <a:solidFill>
              <a:srgbClr val="FF7A1A"/>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Rechts vor links</a:t>
            </a:r>
            <a:pPr algn="l" indent="0" marL="0">
              <a:buNone/>
            </a:pPr>
            <a:r>
              <a:rPr lang="en-US" sz="1400" dirty="0">
                <a:solidFill>
                  <a:srgbClr val="A7B0BD"/>
                </a:solidFill>
                <a:latin typeface="Calibri" pitchFamily="34" charset="0"/>
                <a:ea typeface="Calibri" pitchFamily="34" charset="-122"/>
                <a:cs typeface="Calibri" pitchFamily="34" charset="-120"/>
              </a:rPr>
              <a:t>  Die Grundregel</a:t>
            </a:r>
            <a:endParaRPr lang="en-US" sz="2000" dirty="0"/>
          </a:p>
        </p:txBody>
      </p:sp>
      <p:sp>
        <p:nvSpPr>
          <p:cNvPr id="10"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1" name="!!du" descr="/tmp/claude-0/-home-user-Fahrlehrer-Kompass-/11378f77-94a8-55e9-a697-0f3efd4c20b9/scratchpad/bau/art/car_du.png">    </p:cNvPr>
          <p:cNvPicPr>
            <a:picLocks noChangeAspect="1"/>
          </p:cNvPicPr>
          <p:nvPr/>
        </p:nvPicPr>
        <p:blipFill>
          <a:blip r:embed="rId2"/>
          <a:stretch>
            <a:fillRect/>
          </a:stretch>
        </p:blipFill>
        <p:spPr>
          <a:xfrm>
            <a:off x="7939278" y="4334256"/>
            <a:ext cx="740664" cy="1481328"/>
          </a:xfrm>
          <a:prstGeom prst="rect">
            <a:avLst/>
          </a:prstGeom>
        </p:spPr>
      </p:pic>
      <p:pic>
        <p:nvPicPr>
          <p:cNvPr id="12" name="!!a" descr="/tmp/claude-0/-home-user-Fahrlehrer-Kompass-/11378f77-94a8-55e9-a697-0f3efd4c20b9/scratchpad/bau/art/car_blau.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3"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4"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5" name="e8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kommt von rechts</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650"/>
                                        <p:tgtEl>
                                          <p:spTgt spid="8"/>
                                        </p:tgtEl>
                                      </p:cBhvr>
                                    </p:animEffect>
                                    <p:anim calcmode="lin" valueType="num">
                                      <p:cBhvr additive="base">
                                        <p:cTn id="21"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8"/>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650"/>
                                        <p:tgtEl>
                                          <p:spTgt spid="9"/>
                                        </p:tgtEl>
                                      </p:cBhvr>
                                    </p:animEffect>
                                    <p:anim calcmode="lin" valueType="num">
                                      <p:cBhvr additive="base">
                                        <p:cTn id="26"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9"/>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275"/>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650"/>
                                        <p:tgtEl>
                                          <p:spTgt spid="10"/>
                                        </p:tgtEl>
                                      </p:cBhvr>
                                    </p:animEffect>
                                    <p:anim calcmode="lin" valueType="num">
                                      <p:cBhvr additive="base">
                                        <p:cTn id="31" dur="650" fill="hold" decel="100000"/>
                                        <p:tgtEl>
                                          <p:spTgt spid="10"/>
                                        </p:tgtEl>
                                        <p:attrNameLst>
                                          <p:attrName>ppt_x</p:attrName>
                                        </p:attrNameLst>
                                      </p:cBhvr>
                                      <p:tavLst>
                                        <p:tav tm="0">
                                          <p:val>
                                            <p:strVal val="#ppt_x"/>
                                          </p:val>
                                        </p:tav>
                                        <p:tav tm="100000">
                                          <p:val>
                                            <p:strVal val="#ppt_x"/>
                                          </p:val>
                                        </p:tav>
                                      </p:tavLst>
                                    </p:anim>
                                    <p:anim calcmode="lin" valueType="num">
                                      <p:cBhvr additive="base">
                                        <p:cTn id="32" dur="650" fill="hold" decel="100000"/>
                                        <p:tgtEl>
                                          <p:spTgt spid="10"/>
                                        </p:tgtEl>
                                        <p:attrNameLst>
                                          <p:attrName>ppt_y</p:attrName>
                                        </p:attrNameLst>
                                      </p:cBhvr>
                                      <p:tavLst>
                                        <p:tav tm="0">
                                          <p:val>
                                            <p:strVal val="#ppt_y+.05"/>
                                          </p:val>
                                        </p:tav>
                                        <p:tav tm="100000">
                                          <p:val>
                                            <p:strVal val="#ppt_y"/>
                                          </p:val>
                                        </p:tav>
                                      </p:tavLst>
                                    </p:anim>
                                  </p:childTnLst>
                                </p:cTn>
                              </p:par>
                              <p:par>
                                <p:cTn id="33" presetID="42" presetClass="entr" presetSubtype="0" fill="hold" grpId="0" nodeType="withEffect">
                                  <p:stCondLst>
                                    <p:cond delay="33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650"/>
                                        <p:tgtEl>
                                          <p:spTgt spid="13"/>
                                        </p:tgtEl>
                                      </p:cBhvr>
                                    </p:animEffect>
                                    <p:anim calcmode="lin" valueType="num">
                                      <p:cBhvr additive="base">
                                        <p:cTn id="36"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7" dur="650" fill="hold" decel="100000"/>
                                        <p:tgtEl>
                                          <p:spTgt spid="13"/>
                                        </p:tgtEl>
                                        <p:attrNameLst>
                                          <p:attrName>ppt_y</p:attrName>
                                        </p:attrNameLst>
                                      </p:cBhvr>
                                      <p:tavLst>
                                        <p:tav tm="0">
                                          <p:val>
                                            <p:strVal val="#ppt_y+.05"/>
                                          </p:val>
                                        </p:tav>
                                        <p:tav tm="100000">
                                          <p:val>
                                            <p:strVal val="#ppt_y"/>
                                          </p:val>
                                        </p:tav>
                                      </p:tavLst>
                                    </p:anim>
                                  </p:childTnLst>
                                </p:cTn>
                              </p:par>
                              <p:par>
                                <p:cTn id="38" presetID="42" presetClass="entr" presetSubtype="0" fill="hold" grpId="0" nodeType="withEffect">
                                  <p:stCondLst>
                                    <p:cond delay="38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650"/>
                                        <p:tgtEl>
                                          <p:spTgt spid="14"/>
                                        </p:tgtEl>
                                      </p:cBhvr>
                                    </p:animEffect>
                                    <p:anim calcmode="lin" valueType="num">
                                      <p:cBhvr additive="base">
                                        <p:cTn id="41"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42" dur="650" fill="hold" decel="100000"/>
                                        <p:tgtEl>
                                          <p:spTgt spid="14"/>
                                        </p:tgtEl>
                                        <p:attrNameLst>
                                          <p:attrName>ppt_y</p:attrName>
                                        </p:attrNameLst>
                                      </p:cBhvr>
                                      <p:tavLst>
                                        <p:tav tm="0">
                                          <p:val>
                                            <p:strVal val="#ppt_y+.05"/>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53" presetClass="entr" presetSubtype="32"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8" dur="380" fill="hold" accel="60000"/>
                                        <p:tgtEl>
                                          <p:spTgt spid="15"/>
                                        </p:tgtEl>
                                        <p:attrNameLst>
                                          <p:attrName>ppt_h</p:attrName>
                                        </p:attrNameLst>
                                      </p:cBhvr>
                                      <p:tavLst>
                                        <p:tav tm="0">
                                          <p:val>
                                            <p:strVal val="#ppt_h*2.2"/>
                                          </p:val>
                                        </p:tav>
                                        <p:tav tm="100000">
                                          <p:val>
                                            <p:strVal val="#ppt_h"/>
                                          </p:val>
                                        </p:tav>
                                      </p:tavLst>
                                    </p:anim>
                                    <p:animEffect transition="in" filter="fade">
                                      <p:cBhvr>
                                        <p:cTn id="49" dur="228"/>
                                        <p:tgtEl>
                                          <p:spTgt spid="15"/>
                                        </p:tgtEl>
                                      </p:cBhvr>
                                    </p:animEffect>
                                  </p:childTnLst>
                                </p:cTn>
                              </p:par>
                            </p:childTnLst>
                          </p:cTn>
                        </p:par>
                        <p:par>
                          <p:cTn id="50" fill="hold">
                            <p:stCondLst>
                              <p:cond delay="380"/>
                            </p:stCondLst>
                            <p:childTnLst>
                              <p:par>
                                <p:cTn id="51" presetID="0" presetClass="path" presetSubtype="0" fill="hold" nodeType="afterEffect" accel="40000" decel="40000">
                                  <p:stCondLst>
                                    <p:cond delay="0"/>
                                  </p:stCondLst>
                                  <p:childTnLst>
                                    <p:animMotion origin="layout" path="M 0 0 C -0.09 0 -0.18 0 -0.27 0 E" pathEditMode="relative" rAng="0" ptsTypes="">
                                      <p:cBhvr>
                                        <p:cTn id="52" dur="2118" fill="hold"/>
                                        <p:tgtEl>
                                          <p:spTgt spid="12"/>
                                        </p:tgtEl>
                                        <p:attrNameLst>
                                          <p:attrName>ppt_x</p:attrName>
                                          <p:attrName>ppt_y</p:attrName>
                                        </p:attrNameLst>
                                      </p:cBhvr>
                                      <p:rCtr x="0" y="0"/>
                                    </p:animMotion>
                                  </p:childTnLst>
                                </p:cTn>
                              </p:par>
                            </p:childTnLst>
                          </p:cTn>
                        </p:par>
                        <p:par>
                          <p:cTn id="53" fill="hold">
                            <p:stCondLst>
                              <p:cond delay="2498"/>
                            </p:stCondLst>
                            <p:childTnLst>
                              <p:par>
                                <p:cTn id="54" presetID="10" presetClass="exit" presetSubtype="0" fill="hold" nodeType="afterEffect">
                                  <p:stCondLst>
                                    <p:cond delay="0"/>
                                  </p:stCondLst>
                                  <p:childTnLst>
                                    <p:animEffect transition="out" filter="fade">
                                      <p:cBhvr>
                                        <p:cTn id="55" dur="350"/>
                                        <p:tgtEl>
                                          <p:spTgt spid="12"/>
                                        </p:tgtEl>
                                      </p:cBhvr>
                                    </p:animEffect>
                                    <p:set>
                                      <p:cBhvr>
                                        <p:cTn id="56" dur="1" fill="hold">
                                          <p:stCondLst>
                                            <p:cond delay="349"/>
                                          </p:stCondLst>
                                        </p:cTn>
                                        <p:tgtEl>
                                          <p:spTgt spid="12"/>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0" presetClass="path" presetSubtype="0" fill="hold" nodeType="clickEffect" accel="40000" decel="40000">
                                  <p:stCondLst>
                                    <p:cond delay="0"/>
                                  </p:stCondLst>
                                  <p:childTnLst>
                                    <p:animMotion origin="layout" path="M 0 0 C 0 -0.2222 0 -0.4444 0 -0.6667 E" pathEditMode="relative" rAng="0" ptsTypes="">
                                      <p:cBhvr>
                                        <p:cTn id="60" dur="2941" fill="hold"/>
                                        <p:tgtEl>
                                          <p:spTgt spid="11"/>
                                        </p:tgtEl>
                                        <p:attrNameLst>
                                          <p:attrName>ppt_x</p:attrName>
                                          <p:attrName>ppt_y</p:attrName>
                                        </p:attrNameLst>
                                      </p:cBhvr>
                                      <p:rCtr x="0" y="0"/>
                                    </p:animMotion>
                                  </p:childTnLst>
                                </p:cTn>
                              </p:par>
                            </p:childTnLst>
                          </p:cTn>
                        </p:par>
                        <p:par>
                          <p:cTn id="61" fill="hold">
                            <p:stCondLst>
                              <p:cond delay="2941"/>
                            </p:stCondLst>
                            <p:childTnLst>
                              <p:par>
                                <p:cTn id="62" presetID="10" presetClass="exit" presetSubtype="0" fill="hold" nodeType="afterEffect">
                                  <p:stCondLst>
                                    <p:cond delay="0"/>
                                  </p:stCondLst>
                                  <p:childTnLst>
                                    <p:animEffect transition="out" filter="fade">
                                      <p:cBhvr>
                                        <p:cTn id="63" dur="350"/>
                                        <p:tgtEl>
                                          <p:spTgt spid="11"/>
                                        </p:tgtEl>
                                      </p:cBhvr>
                                    </p:animEffect>
                                    <p:set>
                                      <p:cBhvr>
                                        <p:cTn id="64"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3" grpId="0" animBg="1"/>
      <p:bldP spid="14"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2A1A0E"/>
          </a:solidFill>
          <a:ln w="25400">
            <a:solidFill>
              <a:srgbClr val="FF7A1A"/>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Verkehrszeichen</a:t>
            </a:r>
            <a:pPr algn="l" indent="0" marL="0">
              <a:buNone/>
            </a:pPr>
            <a:r>
              <a:rPr lang="en-US" sz="1400" dirty="0">
                <a:solidFill>
                  <a:srgbClr val="A7B0BD"/>
                </a:solidFill>
                <a:latin typeface="Calibri" pitchFamily="34" charset="0"/>
                <a:ea typeface="Calibri" pitchFamily="34" charset="-122"/>
                <a:cs typeface="Calibri" pitchFamily="34" charset="-120"/>
              </a:rPr>
              <a:t>  z. B. 306 und 205</a:t>
            </a:r>
            <a:endParaRPr lang="en-US" sz="2000" dirty="0"/>
          </a:p>
        </p:txBody>
      </p:sp>
      <p:sp>
        <p:nvSpPr>
          <p:cNvPr id="13"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4" name="!!s306" descr="Verkehrszeichen 306">    </p:cNvPr>
          <p:cNvPicPr>
            <a:picLocks noChangeAspect="1"/>
          </p:cNvPicPr>
          <p:nvPr/>
        </p:nvPicPr>
        <p:blipFill>
          <a:blip r:embed="rId2"/>
          <a:stretch>
            <a:fillRect/>
          </a:stretch>
        </p:blipFill>
        <p:spPr>
          <a:xfrm>
            <a:off x="8865108" y="4503420"/>
            <a:ext cx="457200" cy="457200"/>
          </a:xfrm>
          <a:prstGeom prst="rect">
            <a:avLst/>
          </a:prstGeom>
        </p:spPr>
      </p:pic>
      <p:pic>
        <p:nvPicPr>
          <p:cNvPr id="15"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pic>
        <p:nvPicPr>
          <p:cNvPr id="16" name="!!du"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17" name="!!a"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8"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9"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0" name="e9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Du hast Vorfahrt (306)</a:t>
            </a:r>
            <a:endParaRPr lang="en-US" sz="2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20"/>
                                        </p:tgtEl>
                                        <p:attrNameLst>
                                          <p:attrName>ppt_h</p:attrName>
                                        </p:attrNameLst>
                                      </p:cBhvr>
                                      <p:tavLst>
                                        <p:tav tm="0">
                                          <p:val>
                                            <p:strVal val="#ppt_h*2.2"/>
                                          </p:val>
                                        </p:tav>
                                        <p:tav tm="100000">
                                          <p:val>
                                            <p:strVal val="#ppt_h"/>
                                          </p:val>
                                        </p:tav>
                                      </p:tavLst>
                                    </p:anim>
                                    <p:animEffect transition="in" filter="fade">
                                      <p:cBhvr>
                                        <p:cTn id="9" dur="228"/>
                                        <p:tgtEl>
                                          <p:spTgt spid="20"/>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 -0.2222 0 -0.4444 0 -0.6667 E" pathEditMode="relative" rAng="0" ptsTypes="">
                                      <p:cBhvr>
                                        <p:cTn id="12" dur="2941" fill="hold"/>
                                        <p:tgtEl>
                                          <p:spTgt spid="16"/>
                                        </p:tgtEl>
                                        <p:attrNameLst>
                                          <p:attrName>ppt_x</p:attrName>
                                          <p:attrName>ppt_y</p:attrName>
                                        </p:attrNameLst>
                                      </p:cBhvr>
                                      <p:rCtr x="0" y="0"/>
                                    </p:animMotion>
                                  </p:childTnLst>
                                </p:cTn>
                              </p:par>
                            </p:childTnLst>
                          </p:cTn>
                        </p:par>
                        <p:par>
                          <p:cTn id="13" fill="hold">
                            <p:stCondLst>
                              <p:cond delay="3321"/>
                            </p:stCondLst>
                            <p:childTnLst>
                              <p:par>
                                <p:cTn id="14" presetID="10" presetClass="exit" presetSubtype="0" fill="hold" nodeType="afterEffect">
                                  <p:stCondLst>
                                    <p:cond delay="0"/>
                                  </p:stCondLst>
                                  <p:childTnLst>
                                    <p:animEffect transition="out" filter="fade">
                                      <p:cBhvr>
                                        <p:cTn id="15" dur="350"/>
                                        <p:tgtEl>
                                          <p:spTgt spid="16"/>
                                        </p:tgtEl>
                                      </p:cBhvr>
                                    </p:animEffect>
                                    <p:set>
                                      <p:cBhvr>
                                        <p:cTn id="16" dur="1" fill="hold">
                                          <p:stCondLst>
                                            <p:cond delay="349"/>
                                          </p:stCondLst>
                                        </p:cTn>
                                        <p:tgtEl>
                                          <p:spTgt spid="1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fill="hold" nodeType="clickEffect" accel="40000" decel="40000">
                                  <p:stCondLst>
                                    <p:cond delay="0"/>
                                  </p:stCondLst>
                                  <p:childTnLst>
                                    <p:animMotion origin="layout" path="M 0 0 C -0.09 0 -0.18 0 -0.27 0 E" pathEditMode="relative" rAng="0" ptsTypes="">
                                      <p:cBhvr>
                                        <p:cTn id="20" dur="2118" fill="hold"/>
                                        <p:tgtEl>
                                          <p:spTgt spid="17"/>
                                        </p:tgtEl>
                                        <p:attrNameLst>
                                          <p:attrName>ppt_x</p:attrName>
                                          <p:attrName>ppt_y</p:attrName>
                                        </p:attrNameLst>
                                      </p:cBhvr>
                                      <p:rCtr x="0" y="0"/>
                                    </p:animMotion>
                                  </p:childTnLst>
                                </p:cTn>
                              </p:par>
                            </p:childTnLst>
                          </p:cTn>
                        </p:par>
                        <p:par>
                          <p:cTn id="21" fill="hold">
                            <p:stCondLst>
                              <p:cond delay="2118"/>
                            </p:stCondLst>
                            <p:childTnLst>
                              <p:par>
                                <p:cTn id="22" presetID="10" presetClass="exit" presetSubtype="0" fill="hold" nodeType="afterEffect">
                                  <p:stCondLst>
                                    <p:cond delay="0"/>
                                  </p:stCondLst>
                                  <p:childTnLst>
                                    <p:animEffect transition="out" filter="fade">
                                      <p:cBhvr>
                                        <p:cTn id="23" dur="350"/>
                                        <p:tgtEl>
                                          <p:spTgt spid="17"/>
                                        </p:tgtEl>
                                      </p:cBhvr>
                                    </p:animEffect>
                                    <p:set>
                                      <p:cBhvr>
                                        <p:cTn id="24" dur="1" fill="hold">
                                          <p:stCondLst>
                                            <p:cond delay="34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12161E"/>
          </a:solidFill>
          <a:ln w="12700">
            <a:solidFill>
              <a:srgbClr val="2A3342"/>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Verkehrszeichen</a:t>
            </a:r>
            <a:pPr algn="l" indent="0" marL="0">
              <a:buNone/>
            </a:pPr>
            <a:r>
              <a:rPr lang="en-US" sz="1400" dirty="0">
                <a:solidFill>
                  <a:srgbClr val="5B6474"/>
                </a:solidFill>
                <a:latin typeface="Calibri" pitchFamily="34" charset="0"/>
                <a:ea typeface="Calibri" pitchFamily="34" charset="-122"/>
                <a:cs typeface="Calibri" pitchFamily="34" charset="-120"/>
              </a:rPr>
              <a:t>  z. B. 306 und 205</a:t>
            </a:r>
            <a:endParaRPr lang="en-US" sz="2000" dirty="0"/>
          </a:p>
        </p:txBody>
      </p:sp>
      <p:sp>
        <p:nvSpPr>
          <p:cNvPr id="13" name="!!tb2"/>
          <p:cNvSpPr/>
          <p:nvPr/>
        </p:nvSpPr>
        <p:spPr>
          <a:xfrm>
            <a:off x="731520" y="3666744"/>
            <a:ext cx="4206240" cy="731520"/>
          </a:xfrm>
          <a:prstGeom prst="roundRect">
            <a:avLst>
              <a:gd name="adj" fmla="val 15000"/>
            </a:avLst>
          </a:prstGeom>
          <a:solidFill>
            <a:srgbClr val="2A1A0E"/>
          </a:solidFill>
          <a:ln w="25400">
            <a:solidFill>
              <a:srgbClr val="FF7A1A"/>
            </a:solidFill>
            <a:prstDash val="solid"/>
          </a:ln>
        </p:spPr>
      </p:sp>
      <p:sp>
        <p:nvSpPr>
          <p:cNvPr id="14" name="!!tn2"/>
          <p:cNvSpPr txBox="1"/>
          <p:nvPr/>
        </p:nvSpPr>
        <p:spPr>
          <a:xfrm>
            <a:off x="868680" y="3758184"/>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2</a:t>
            </a:r>
            <a:endParaRPr lang="en-US" sz="2800" dirty="0"/>
          </a:p>
        </p:txBody>
      </p:sp>
      <p:sp>
        <p:nvSpPr>
          <p:cNvPr id="15" name="!!tt2"/>
          <p:cNvSpPr txBox="1"/>
          <p:nvPr/>
        </p:nvSpPr>
        <p:spPr>
          <a:xfrm>
            <a:off x="1508760" y="3758184"/>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Ampel</a:t>
            </a:r>
            <a:pPr algn="l" indent="0" marL="0">
              <a:buNone/>
            </a:pPr>
            <a:r>
              <a:rPr lang="en-US" sz="1400" dirty="0">
                <a:solidFill>
                  <a:srgbClr val="A7B0BD"/>
                </a:solidFill>
                <a:latin typeface="Calibri" pitchFamily="34" charset="0"/>
                <a:ea typeface="Calibri" pitchFamily="34" charset="-122"/>
                <a:cs typeface="Calibri" pitchFamily="34" charset="-120"/>
              </a:rPr>
              <a:t>  Lichtzeichen</a:t>
            </a:r>
            <a:endParaRPr lang="en-US" sz="2000" dirty="0"/>
          </a:p>
        </p:txBody>
      </p:sp>
      <p:sp>
        <p:nvSpPr>
          <p:cNvPr id="16" name="!!hint"/>
          <p:cNvSpPr txBox="1"/>
          <p:nvPr/>
        </p:nvSpPr>
        <p:spPr>
          <a:xfrm>
            <a:off x="731520" y="2148840"/>
            <a:ext cx="438912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Was oben steht, schlägt alles darunter.</a:t>
            </a:r>
            <a:endParaRPr lang="en-US" sz="1700" dirty="0"/>
          </a:p>
        </p:txBody>
      </p:sp>
      <p:pic>
        <p:nvPicPr>
          <p:cNvPr id="17" name="!!s306" descr="Verkehrszeichen 306">    </p:cNvPr>
          <p:cNvPicPr>
            <a:picLocks noChangeAspect="1"/>
          </p:cNvPicPr>
          <p:nvPr/>
        </p:nvPicPr>
        <p:blipFill>
          <a:blip r:embed="rId2"/>
          <a:stretch>
            <a:fillRect/>
          </a:stretch>
        </p:blipFill>
        <p:spPr>
          <a:xfrm>
            <a:off x="8865108" y="5280660"/>
            <a:ext cx="457200" cy="457200"/>
          </a:xfrm>
          <a:prstGeom prst="rect">
            <a:avLst/>
          </a:prstGeom>
        </p:spPr>
      </p:pic>
      <p:pic>
        <p:nvPicPr>
          <p:cNvPr id="18"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sp>
        <p:nvSpPr>
          <p:cNvPr id="19" name="!!lSh"/>
          <p:cNvSpPr/>
          <p:nvPr/>
        </p:nvSpPr>
        <p:spPr>
          <a:xfrm>
            <a:off x="8974836" y="4503420"/>
            <a:ext cx="237744" cy="618134"/>
          </a:xfrm>
          <a:prstGeom prst="roundRect">
            <a:avLst>
              <a:gd name="adj" fmla="val 96154"/>
            </a:avLst>
          </a:prstGeom>
          <a:solidFill>
            <a:srgbClr val="07090D"/>
          </a:solidFill>
          <a:ln w="12700">
            <a:solidFill>
              <a:srgbClr val="4A5261"/>
            </a:solidFill>
            <a:prstDash val="solid"/>
          </a:ln>
        </p:spPr>
      </p:sp>
      <p:sp>
        <p:nvSpPr>
          <p:cNvPr id="20" name="!!lSdr"/>
          <p:cNvSpPr/>
          <p:nvPr/>
        </p:nvSpPr>
        <p:spPr>
          <a:xfrm>
            <a:off x="9020007" y="4540984"/>
            <a:ext cx="147401" cy="147401"/>
          </a:xfrm>
          <a:prstGeom prst="ellipse">
            <a:avLst/>
          </a:prstGeom>
          <a:solidFill>
            <a:srgbClr val="1B1F27"/>
          </a:solidFill>
          <a:ln/>
        </p:spPr>
      </p:sp>
      <p:sp>
        <p:nvSpPr>
          <p:cNvPr id="21" name="!!lSdy"/>
          <p:cNvSpPr/>
          <p:nvPr/>
        </p:nvSpPr>
        <p:spPr>
          <a:xfrm>
            <a:off x="9020007" y="4738787"/>
            <a:ext cx="147401" cy="147401"/>
          </a:xfrm>
          <a:prstGeom prst="ellipse">
            <a:avLst/>
          </a:prstGeom>
          <a:solidFill>
            <a:srgbClr val="1B1F27"/>
          </a:solidFill>
          <a:ln/>
        </p:spPr>
      </p:sp>
      <p:sp>
        <p:nvSpPr>
          <p:cNvPr id="22" name="!!lSdg"/>
          <p:cNvSpPr/>
          <p:nvPr/>
        </p:nvSpPr>
        <p:spPr>
          <a:xfrm>
            <a:off x="9020007" y="4936590"/>
            <a:ext cx="147401" cy="147401"/>
          </a:xfrm>
          <a:prstGeom prst="ellipse">
            <a:avLst/>
          </a:prstGeom>
          <a:solidFill>
            <a:srgbClr val="1B1F27"/>
          </a:solidFill>
          <a:ln/>
        </p:spPr>
      </p:sp>
      <p:sp>
        <p:nvSpPr>
          <p:cNvPr id="23" name="!!lEh"/>
          <p:cNvSpPr/>
          <p:nvPr/>
        </p:nvSpPr>
        <p:spPr>
          <a:xfrm>
            <a:off x="9468612" y="1805940"/>
            <a:ext cx="237744" cy="618134"/>
          </a:xfrm>
          <a:prstGeom prst="roundRect">
            <a:avLst>
              <a:gd name="adj" fmla="val 96154"/>
            </a:avLst>
          </a:prstGeom>
          <a:solidFill>
            <a:srgbClr val="07090D"/>
          </a:solidFill>
          <a:ln w="12700">
            <a:solidFill>
              <a:srgbClr val="4A5261"/>
            </a:solidFill>
            <a:prstDash val="solid"/>
          </a:ln>
        </p:spPr>
      </p:sp>
      <p:sp>
        <p:nvSpPr>
          <p:cNvPr id="24" name="!!lEdr"/>
          <p:cNvSpPr/>
          <p:nvPr/>
        </p:nvSpPr>
        <p:spPr>
          <a:xfrm>
            <a:off x="9513783" y="1843504"/>
            <a:ext cx="147401" cy="147401"/>
          </a:xfrm>
          <a:prstGeom prst="ellipse">
            <a:avLst/>
          </a:prstGeom>
          <a:solidFill>
            <a:srgbClr val="1B1F27"/>
          </a:solidFill>
          <a:ln/>
        </p:spPr>
      </p:sp>
      <p:sp>
        <p:nvSpPr>
          <p:cNvPr id="25" name="!!lEdy"/>
          <p:cNvSpPr/>
          <p:nvPr/>
        </p:nvSpPr>
        <p:spPr>
          <a:xfrm>
            <a:off x="9513783" y="2041307"/>
            <a:ext cx="147401" cy="147401"/>
          </a:xfrm>
          <a:prstGeom prst="ellipse">
            <a:avLst/>
          </a:prstGeom>
          <a:solidFill>
            <a:srgbClr val="1B1F27"/>
          </a:solidFill>
          <a:ln/>
        </p:spPr>
      </p:sp>
      <p:sp>
        <p:nvSpPr>
          <p:cNvPr id="26" name="!!lEdg"/>
          <p:cNvSpPr/>
          <p:nvPr/>
        </p:nvSpPr>
        <p:spPr>
          <a:xfrm>
            <a:off x="9513783" y="2239110"/>
            <a:ext cx="147401" cy="147401"/>
          </a:xfrm>
          <a:prstGeom prst="ellipse">
            <a:avLst/>
          </a:prstGeom>
          <a:solidFill>
            <a:srgbClr val="1B1F27"/>
          </a:solidFill>
          <a:ln/>
        </p:spPr>
      </p:sp>
      <p:sp>
        <p:nvSpPr>
          <p:cNvPr id="27" name="!!lSr"/>
          <p:cNvSpPr/>
          <p:nvPr/>
        </p:nvSpPr>
        <p:spPr>
          <a:xfrm>
            <a:off x="9020007" y="4540984"/>
            <a:ext cx="147401" cy="147401"/>
          </a:xfrm>
          <a:prstGeom prst="ellipse">
            <a:avLst/>
          </a:prstGeom>
          <a:solidFill>
            <a:srgbClr val="FF3B30"/>
          </a:solidFill>
          <a:ln/>
        </p:spPr>
      </p:sp>
      <p:sp>
        <p:nvSpPr>
          <p:cNvPr id="28" name="!!lEg"/>
          <p:cNvSpPr/>
          <p:nvPr/>
        </p:nvSpPr>
        <p:spPr>
          <a:xfrm>
            <a:off x="9513783" y="2239110"/>
            <a:ext cx="147401" cy="147401"/>
          </a:xfrm>
          <a:prstGeom prst="ellipse">
            <a:avLst/>
          </a:prstGeom>
          <a:solidFill>
            <a:srgbClr val="2EE071"/>
          </a:solidFill>
          <a:ln/>
        </p:spPr>
      </p:sp>
      <p:pic>
        <p:nvPicPr>
          <p:cNvPr id="29" name="!!du"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30" name="!!a"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31"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32"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33" name="e10_1"/>
          <p:cNvSpPr txBox="1"/>
          <p:nvPr/>
        </p:nvSpPr>
        <p:spPr>
          <a:xfrm rot="-180000">
            <a:off x="6035040" y="86868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hat Grün</a:t>
            </a:r>
            <a:endParaRPr lang="en-US" sz="2000" dirty="0"/>
          </a:p>
        </p:txBody>
      </p:sp>
      <p:sp>
        <p:nvSpPr>
          <p:cNvPr id="34" name="!!lSg"/>
          <p:cNvSpPr/>
          <p:nvPr/>
        </p:nvSpPr>
        <p:spPr>
          <a:xfrm>
            <a:off x="9020007" y="4936590"/>
            <a:ext cx="147401" cy="147401"/>
          </a:xfrm>
          <a:prstGeom prst="ellipse">
            <a:avLst/>
          </a:prstGeom>
          <a:solidFill>
            <a:srgbClr val="2EE071"/>
          </a:solidFill>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380" fill="hold" accel="60000"/>
                                        <p:tgtEl>
                                          <p:spTgt spid="33"/>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33"/>
                                        </p:tgtEl>
                                        <p:attrNameLst>
                                          <p:attrName>ppt_h</p:attrName>
                                        </p:attrNameLst>
                                      </p:cBhvr>
                                      <p:tavLst>
                                        <p:tav tm="0">
                                          <p:val>
                                            <p:strVal val="#ppt_h*2.2"/>
                                          </p:val>
                                        </p:tav>
                                        <p:tav tm="100000">
                                          <p:val>
                                            <p:strVal val="#ppt_h"/>
                                          </p:val>
                                        </p:tav>
                                      </p:tavLst>
                                    </p:anim>
                                    <p:animEffect transition="in" filter="fade">
                                      <p:cBhvr>
                                        <p:cTn id="9" dur="228"/>
                                        <p:tgtEl>
                                          <p:spTgt spid="33"/>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09 0 -0.18 0 -0.27 0 E" pathEditMode="relative" rAng="0" ptsTypes="">
                                      <p:cBhvr>
                                        <p:cTn id="12" dur="2118" fill="hold"/>
                                        <p:tgtEl>
                                          <p:spTgt spid="30"/>
                                        </p:tgtEl>
                                        <p:attrNameLst>
                                          <p:attrName>ppt_x</p:attrName>
                                          <p:attrName>ppt_y</p:attrName>
                                        </p:attrNameLst>
                                      </p:cBhvr>
                                      <p:rCtr x="0" y="0"/>
                                    </p:animMotion>
                                  </p:childTnLst>
                                </p:cTn>
                              </p:par>
                            </p:childTnLst>
                          </p:cTn>
                        </p:par>
                        <p:par>
                          <p:cTn id="13" fill="hold">
                            <p:stCondLst>
                              <p:cond delay="2498"/>
                            </p:stCondLst>
                            <p:childTnLst>
                              <p:par>
                                <p:cTn id="14" presetID="10" presetClass="exit" presetSubtype="0" fill="hold" nodeType="afterEffect">
                                  <p:stCondLst>
                                    <p:cond delay="0"/>
                                  </p:stCondLst>
                                  <p:childTnLst>
                                    <p:animEffect transition="out" filter="fade">
                                      <p:cBhvr>
                                        <p:cTn id="15" dur="350"/>
                                        <p:tgtEl>
                                          <p:spTgt spid="30"/>
                                        </p:tgtEl>
                                      </p:cBhvr>
                                    </p:animEffect>
                                    <p:set>
                                      <p:cBhvr>
                                        <p:cTn id="16" dur="1" fill="hold">
                                          <p:stCondLst>
                                            <p:cond delay="349"/>
                                          </p:stCondLst>
                                        </p:cTn>
                                        <p:tgtEl>
                                          <p:spTgt spid="30"/>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200"/>
                                        <p:tgtEl>
                                          <p:spTgt spid="27"/>
                                        </p:tgtEl>
                                      </p:cBhvr>
                                    </p:animEffect>
                                    <p:set>
                                      <p:cBhvr>
                                        <p:cTn id="21" dur="1" fill="hold">
                                          <p:stCondLst>
                                            <p:cond delay="199"/>
                                          </p:stCondLst>
                                        </p:cTn>
                                        <p:tgtEl>
                                          <p:spTgt spid="27"/>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300"/>
                                        <p:tgtEl>
                                          <p:spTgt spid="34"/>
                                        </p:tgtEl>
                                      </p:cBhvr>
                                    </p:animEffect>
                                  </p:childTnLst>
                                </p:cTn>
                              </p:par>
                            </p:childTnLst>
                          </p:cTn>
                        </p:par>
                        <p:par>
                          <p:cTn id="25" fill="hold">
                            <p:stCondLst>
                              <p:cond delay="300"/>
                            </p:stCondLst>
                            <p:childTnLst>
                              <p:par>
                                <p:cTn id="26" presetID="0" presetClass="path" presetSubtype="0" fill="hold" nodeType="afterEffect" accel="40000" decel="40000">
                                  <p:stCondLst>
                                    <p:cond delay="0"/>
                                  </p:stCondLst>
                                  <p:childTnLst>
                                    <p:animMotion origin="layout" path="M 0 0 C 0 -0.2222 0 -0.4444 0 -0.6667 E" pathEditMode="relative" rAng="0" ptsTypes="">
                                      <p:cBhvr>
                                        <p:cTn id="27" dur="2941" fill="hold"/>
                                        <p:tgtEl>
                                          <p:spTgt spid="29"/>
                                        </p:tgtEl>
                                        <p:attrNameLst>
                                          <p:attrName>ppt_x</p:attrName>
                                          <p:attrName>ppt_y</p:attrName>
                                        </p:attrNameLst>
                                      </p:cBhvr>
                                      <p:rCtr x="0" y="0"/>
                                    </p:animMotion>
                                  </p:childTnLst>
                                </p:cTn>
                              </p:par>
                            </p:childTnLst>
                          </p:cTn>
                        </p:par>
                        <p:par>
                          <p:cTn id="28" fill="hold">
                            <p:stCondLst>
                              <p:cond delay="3241"/>
                            </p:stCondLst>
                            <p:childTnLst>
                              <p:par>
                                <p:cTn id="29" presetID="10" presetClass="exit" presetSubtype="0" fill="hold" nodeType="afterEffect">
                                  <p:stCondLst>
                                    <p:cond delay="0"/>
                                  </p:stCondLst>
                                  <p:childTnLst>
                                    <p:animEffect transition="out" filter="fade">
                                      <p:cBhvr>
                                        <p:cTn id="30" dur="350"/>
                                        <p:tgtEl>
                                          <p:spTgt spid="29"/>
                                        </p:tgtEl>
                                      </p:cBhvr>
                                    </p:animEffect>
                                    <p:set>
                                      <p:cBhvr>
                                        <p:cTn id="31" dur="1" fill="hold">
                                          <p:stCondLst>
                                            <p:cond delay="34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7" grpId="0" animBg="1"/>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k"/>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WER HAT DAS SAGEN?</a:t>
            </a:r>
            <a:endParaRPr lang="en-US" sz="1300" dirty="0"/>
          </a:p>
        </p:txBody>
      </p:sp>
      <p:sp>
        <p:nvSpPr>
          <p:cNvPr id="6" name="!!t"/>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Rangfolge</a:t>
            </a:r>
            <a:endParaRPr lang="en-US" sz="4600" dirty="0"/>
          </a:p>
        </p:txBody>
      </p:sp>
      <p:sp>
        <p:nvSpPr>
          <p:cNvPr id="7" name="!!tb0"/>
          <p:cNvSpPr/>
          <p:nvPr/>
        </p:nvSpPr>
        <p:spPr>
          <a:xfrm>
            <a:off x="731520" y="5349240"/>
            <a:ext cx="4206240" cy="731520"/>
          </a:xfrm>
          <a:prstGeom prst="roundRect">
            <a:avLst>
              <a:gd name="adj" fmla="val 15000"/>
            </a:avLst>
          </a:prstGeom>
          <a:solidFill>
            <a:srgbClr val="12161E"/>
          </a:solidFill>
          <a:ln w="12700">
            <a:solidFill>
              <a:srgbClr val="2A3342"/>
            </a:solidFill>
            <a:prstDash val="solid"/>
          </a:ln>
        </p:spPr>
      </p:sp>
      <p:sp>
        <p:nvSpPr>
          <p:cNvPr id="8" name="!!tn0"/>
          <p:cNvSpPr txBox="1"/>
          <p:nvPr/>
        </p:nvSpPr>
        <p:spPr>
          <a:xfrm>
            <a:off x="868680" y="5440680"/>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4</a:t>
            </a:r>
            <a:endParaRPr lang="en-US" sz="2800" dirty="0"/>
          </a:p>
        </p:txBody>
      </p:sp>
      <p:sp>
        <p:nvSpPr>
          <p:cNvPr id="9" name="!!tt0"/>
          <p:cNvSpPr txBox="1"/>
          <p:nvPr/>
        </p:nvSpPr>
        <p:spPr>
          <a:xfrm>
            <a:off x="1508760" y="5440680"/>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Rechts vor links</a:t>
            </a:r>
            <a:pPr algn="l" indent="0" marL="0">
              <a:buNone/>
            </a:pPr>
            <a:r>
              <a:rPr lang="en-US" sz="1400" dirty="0">
                <a:solidFill>
                  <a:srgbClr val="5B6474"/>
                </a:solidFill>
                <a:latin typeface="Calibri" pitchFamily="34" charset="0"/>
                <a:ea typeface="Calibri" pitchFamily="34" charset="-122"/>
                <a:cs typeface="Calibri" pitchFamily="34" charset="-120"/>
              </a:rPr>
              <a:t>  Die Grundregel</a:t>
            </a:r>
            <a:endParaRPr lang="en-US" sz="2000" dirty="0"/>
          </a:p>
        </p:txBody>
      </p:sp>
      <p:sp>
        <p:nvSpPr>
          <p:cNvPr id="10" name="!!tb1"/>
          <p:cNvSpPr/>
          <p:nvPr/>
        </p:nvSpPr>
        <p:spPr>
          <a:xfrm>
            <a:off x="731520" y="4507992"/>
            <a:ext cx="4206240" cy="731520"/>
          </a:xfrm>
          <a:prstGeom prst="roundRect">
            <a:avLst>
              <a:gd name="adj" fmla="val 15000"/>
            </a:avLst>
          </a:prstGeom>
          <a:solidFill>
            <a:srgbClr val="12161E"/>
          </a:solidFill>
          <a:ln w="12700">
            <a:solidFill>
              <a:srgbClr val="2A3342"/>
            </a:solidFill>
            <a:prstDash val="solid"/>
          </a:ln>
        </p:spPr>
      </p:sp>
      <p:sp>
        <p:nvSpPr>
          <p:cNvPr id="11" name="!!tn1"/>
          <p:cNvSpPr txBox="1"/>
          <p:nvPr/>
        </p:nvSpPr>
        <p:spPr>
          <a:xfrm>
            <a:off x="868680" y="4599432"/>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3</a:t>
            </a:r>
            <a:endParaRPr lang="en-US" sz="2800" dirty="0"/>
          </a:p>
        </p:txBody>
      </p:sp>
      <p:sp>
        <p:nvSpPr>
          <p:cNvPr id="12" name="!!tt1"/>
          <p:cNvSpPr txBox="1"/>
          <p:nvPr/>
        </p:nvSpPr>
        <p:spPr>
          <a:xfrm>
            <a:off x="1508760" y="4599432"/>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Verkehrszeichen</a:t>
            </a:r>
            <a:pPr algn="l" indent="0" marL="0">
              <a:buNone/>
            </a:pPr>
            <a:r>
              <a:rPr lang="en-US" sz="1400" dirty="0">
                <a:solidFill>
                  <a:srgbClr val="5B6474"/>
                </a:solidFill>
                <a:latin typeface="Calibri" pitchFamily="34" charset="0"/>
                <a:ea typeface="Calibri" pitchFamily="34" charset="-122"/>
                <a:cs typeface="Calibri" pitchFamily="34" charset="-120"/>
              </a:rPr>
              <a:t>  z. B. 306 und 205</a:t>
            </a:r>
            <a:endParaRPr lang="en-US" sz="2000" dirty="0"/>
          </a:p>
        </p:txBody>
      </p:sp>
      <p:sp>
        <p:nvSpPr>
          <p:cNvPr id="13" name="!!tb2"/>
          <p:cNvSpPr/>
          <p:nvPr/>
        </p:nvSpPr>
        <p:spPr>
          <a:xfrm>
            <a:off x="731520" y="3666744"/>
            <a:ext cx="4206240" cy="731520"/>
          </a:xfrm>
          <a:prstGeom prst="roundRect">
            <a:avLst>
              <a:gd name="adj" fmla="val 15000"/>
            </a:avLst>
          </a:prstGeom>
          <a:solidFill>
            <a:srgbClr val="12161E"/>
          </a:solidFill>
          <a:ln w="12700">
            <a:solidFill>
              <a:srgbClr val="2A3342"/>
            </a:solidFill>
            <a:prstDash val="solid"/>
          </a:ln>
        </p:spPr>
      </p:sp>
      <p:sp>
        <p:nvSpPr>
          <p:cNvPr id="14" name="!!tn2"/>
          <p:cNvSpPr txBox="1"/>
          <p:nvPr/>
        </p:nvSpPr>
        <p:spPr>
          <a:xfrm>
            <a:off x="868680" y="3758184"/>
            <a:ext cx="548640" cy="548640"/>
          </a:xfrm>
          <a:prstGeom prst="rect">
            <a:avLst/>
          </a:prstGeom>
          <a:noFill/>
          <a:ln/>
        </p:spPr>
        <p:txBody>
          <a:bodyPr wrap="square" lIns="0" tIns="0" rIns="0" bIns="0" rtlCol="0" anchor="ctr"/>
          <a:lstStyle/>
          <a:p>
            <a:pPr algn="ctr" indent="0" marL="0">
              <a:buNone/>
            </a:pPr>
            <a:r>
              <a:rPr lang="en-US" sz="2800" b="1" dirty="0">
                <a:solidFill>
                  <a:srgbClr val="5B6474"/>
                </a:solidFill>
                <a:latin typeface="Cambria" pitchFamily="34" charset="0"/>
                <a:ea typeface="Cambria" pitchFamily="34" charset="-122"/>
                <a:cs typeface="Cambria" pitchFamily="34" charset="-120"/>
              </a:rPr>
              <a:t>2</a:t>
            </a:r>
            <a:endParaRPr lang="en-US" sz="2800" dirty="0"/>
          </a:p>
        </p:txBody>
      </p:sp>
      <p:sp>
        <p:nvSpPr>
          <p:cNvPr id="15" name="!!tt2"/>
          <p:cNvSpPr txBox="1"/>
          <p:nvPr/>
        </p:nvSpPr>
        <p:spPr>
          <a:xfrm>
            <a:off x="1508760" y="3758184"/>
            <a:ext cx="3383280" cy="548640"/>
          </a:xfrm>
          <a:prstGeom prst="rect">
            <a:avLst/>
          </a:prstGeom>
          <a:noFill/>
          <a:ln/>
        </p:spPr>
        <p:txBody>
          <a:bodyPr wrap="square" lIns="0" tIns="0" rIns="0" bIns="0" rtlCol="0" anchor="ctr"/>
          <a:lstStyle/>
          <a:p>
            <a:pPr algn="l" indent="0" marL="0">
              <a:buNone/>
            </a:pPr>
            <a:r>
              <a:rPr lang="en-US" sz="2100" b="1" dirty="0">
                <a:solidFill>
                  <a:srgbClr val="8A93A2"/>
                </a:solidFill>
                <a:latin typeface="Calibri" pitchFamily="34" charset="0"/>
                <a:ea typeface="Calibri" pitchFamily="34" charset="-122"/>
                <a:cs typeface="Calibri" pitchFamily="34" charset="-120"/>
              </a:rPr>
              <a:t>Ampel</a:t>
            </a:r>
            <a:pPr algn="l" indent="0" marL="0">
              <a:buNone/>
            </a:pPr>
            <a:r>
              <a:rPr lang="en-US" sz="1400" dirty="0">
                <a:solidFill>
                  <a:srgbClr val="5B6474"/>
                </a:solidFill>
                <a:latin typeface="Calibri" pitchFamily="34" charset="0"/>
                <a:ea typeface="Calibri" pitchFamily="34" charset="-122"/>
                <a:cs typeface="Calibri" pitchFamily="34" charset="-120"/>
              </a:rPr>
              <a:t>  Lichtzeichen</a:t>
            </a:r>
            <a:endParaRPr lang="en-US" sz="2000" dirty="0"/>
          </a:p>
        </p:txBody>
      </p:sp>
      <p:sp>
        <p:nvSpPr>
          <p:cNvPr id="16" name="!!tb3"/>
          <p:cNvSpPr/>
          <p:nvPr/>
        </p:nvSpPr>
        <p:spPr>
          <a:xfrm>
            <a:off x="731520" y="2825496"/>
            <a:ext cx="4206240" cy="731520"/>
          </a:xfrm>
          <a:prstGeom prst="roundRect">
            <a:avLst>
              <a:gd name="adj" fmla="val 15000"/>
            </a:avLst>
          </a:prstGeom>
          <a:solidFill>
            <a:srgbClr val="2A1A0E"/>
          </a:solidFill>
          <a:ln w="25400">
            <a:solidFill>
              <a:srgbClr val="FF7A1A"/>
            </a:solidFill>
            <a:prstDash val="solid"/>
          </a:ln>
        </p:spPr>
      </p:sp>
      <p:sp>
        <p:nvSpPr>
          <p:cNvPr id="17" name="!!tn3"/>
          <p:cNvSpPr txBox="1"/>
          <p:nvPr/>
        </p:nvSpPr>
        <p:spPr>
          <a:xfrm>
            <a:off x="868680" y="2916936"/>
            <a:ext cx="548640" cy="548640"/>
          </a:xfrm>
          <a:prstGeom prst="rect">
            <a:avLst/>
          </a:prstGeom>
          <a:noFill/>
          <a:ln/>
        </p:spPr>
        <p:txBody>
          <a:bodyPr wrap="square" lIns="0" tIns="0" rIns="0" bIns="0" rtlCol="0" anchor="ctr"/>
          <a:lstStyle/>
          <a:p>
            <a:pPr algn="ctr" indent="0" marL="0">
              <a:buNone/>
            </a:pPr>
            <a:r>
              <a:rPr lang="en-US" sz="2800" b="1" dirty="0">
                <a:solidFill>
                  <a:srgbClr val="FF7A1A"/>
                </a:solidFill>
                <a:latin typeface="Cambria" pitchFamily="34" charset="0"/>
                <a:ea typeface="Cambria" pitchFamily="34" charset="-122"/>
                <a:cs typeface="Cambria" pitchFamily="34" charset="-120"/>
              </a:rPr>
              <a:t>1</a:t>
            </a:r>
            <a:endParaRPr lang="en-US" sz="2800" dirty="0"/>
          </a:p>
        </p:txBody>
      </p:sp>
      <p:sp>
        <p:nvSpPr>
          <p:cNvPr id="18" name="!!tt3"/>
          <p:cNvSpPr txBox="1"/>
          <p:nvPr/>
        </p:nvSpPr>
        <p:spPr>
          <a:xfrm>
            <a:off x="1508760" y="2916936"/>
            <a:ext cx="3383280" cy="548640"/>
          </a:xfrm>
          <a:prstGeom prst="rect">
            <a:avLst/>
          </a:prstGeom>
          <a:noFill/>
          <a:ln/>
        </p:spPr>
        <p:txBody>
          <a:bodyPr wrap="square" lIns="0" tIns="0" rIns="0" bIns="0" rtlCol="0" anchor="ctr"/>
          <a:lstStyle/>
          <a:p>
            <a:pPr algn="l" indent="0" marL="0">
              <a:buNone/>
            </a:pPr>
            <a:r>
              <a:rPr lang="en-US" sz="2100" b="1" dirty="0">
                <a:solidFill>
                  <a:srgbClr val="F5F2EC"/>
                </a:solidFill>
                <a:latin typeface="Calibri" pitchFamily="34" charset="0"/>
                <a:ea typeface="Calibri" pitchFamily="34" charset="-122"/>
                <a:cs typeface="Calibri" pitchFamily="34" charset="-120"/>
              </a:rPr>
              <a:t>Polizei</a:t>
            </a:r>
            <a:pPr algn="l" indent="0" marL="0">
              <a:buNone/>
            </a:pPr>
            <a:r>
              <a:rPr lang="en-US" sz="1400" dirty="0">
                <a:solidFill>
                  <a:srgbClr val="A7B0BD"/>
                </a:solidFill>
                <a:latin typeface="Calibri" pitchFamily="34" charset="0"/>
                <a:ea typeface="Calibri" pitchFamily="34" charset="-122"/>
                <a:cs typeface="Calibri" pitchFamily="34" charset="-120"/>
              </a:rPr>
              <a:t>  Zeichen und Weisungen</a:t>
            </a:r>
            <a:endParaRPr lang="en-US" sz="2000" dirty="0"/>
          </a:p>
        </p:txBody>
      </p:sp>
      <p:pic>
        <p:nvPicPr>
          <p:cNvPr id="19" name="!!s306" descr="Verkehrszeichen 306">    </p:cNvPr>
          <p:cNvPicPr>
            <a:picLocks noChangeAspect="1"/>
          </p:cNvPicPr>
          <p:nvPr/>
        </p:nvPicPr>
        <p:blipFill>
          <a:blip r:embed="rId2"/>
          <a:stretch>
            <a:fillRect/>
          </a:stretch>
        </p:blipFill>
        <p:spPr>
          <a:xfrm>
            <a:off x="8865108" y="5280660"/>
            <a:ext cx="457200" cy="457200"/>
          </a:xfrm>
          <a:prstGeom prst="rect">
            <a:avLst/>
          </a:prstGeom>
        </p:spPr>
      </p:pic>
      <p:pic>
        <p:nvPicPr>
          <p:cNvPr id="20" name="!!s205" descr="Verkehrszeichen 205">    </p:cNvPr>
          <p:cNvPicPr>
            <a:picLocks noChangeAspect="1"/>
          </p:cNvPicPr>
          <p:nvPr/>
        </p:nvPicPr>
        <p:blipFill>
          <a:blip r:embed="rId3"/>
          <a:stretch>
            <a:fillRect/>
          </a:stretch>
        </p:blipFill>
        <p:spPr>
          <a:xfrm>
            <a:off x="8938260" y="1988820"/>
            <a:ext cx="520337" cy="457200"/>
          </a:xfrm>
          <a:prstGeom prst="rect">
            <a:avLst/>
          </a:prstGeom>
        </p:spPr>
      </p:pic>
      <p:sp>
        <p:nvSpPr>
          <p:cNvPr id="21" name="!!lSh"/>
          <p:cNvSpPr/>
          <p:nvPr/>
        </p:nvSpPr>
        <p:spPr>
          <a:xfrm>
            <a:off x="8974836" y="4503420"/>
            <a:ext cx="237744" cy="618134"/>
          </a:xfrm>
          <a:prstGeom prst="roundRect">
            <a:avLst>
              <a:gd name="adj" fmla="val 96154"/>
            </a:avLst>
          </a:prstGeom>
          <a:solidFill>
            <a:srgbClr val="07090D"/>
          </a:solidFill>
          <a:ln w="12700">
            <a:solidFill>
              <a:srgbClr val="4A5261"/>
            </a:solidFill>
            <a:prstDash val="solid"/>
          </a:ln>
        </p:spPr>
      </p:sp>
      <p:sp>
        <p:nvSpPr>
          <p:cNvPr id="22" name="!!lSdr"/>
          <p:cNvSpPr/>
          <p:nvPr/>
        </p:nvSpPr>
        <p:spPr>
          <a:xfrm>
            <a:off x="9020007" y="4540984"/>
            <a:ext cx="147401" cy="147401"/>
          </a:xfrm>
          <a:prstGeom prst="ellipse">
            <a:avLst/>
          </a:prstGeom>
          <a:solidFill>
            <a:srgbClr val="1B1F27"/>
          </a:solidFill>
          <a:ln/>
        </p:spPr>
      </p:sp>
      <p:sp>
        <p:nvSpPr>
          <p:cNvPr id="23" name="!!lSdy"/>
          <p:cNvSpPr/>
          <p:nvPr/>
        </p:nvSpPr>
        <p:spPr>
          <a:xfrm>
            <a:off x="9020007" y="4738787"/>
            <a:ext cx="147401" cy="147401"/>
          </a:xfrm>
          <a:prstGeom prst="ellipse">
            <a:avLst/>
          </a:prstGeom>
          <a:solidFill>
            <a:srgbClr val="1B1F27"/>
          </a:solidFill>
          <a:ln/>
        </p:spPr>
      </p:sp>
      <p:sp>
        <p:nvSpPr>
          <p:cNvPr id="24" name="!!lSdg"/>
          <p:cNvSpPr/>
          <p:nvPr/>
        </p:nvSpPr>
        <p:spPr>
          <a:xfrm>
            <a:off x="9020007" y="4936590"/>
            <a:ext cx="147401" cy="147401"/>
          </a:xfrm>
          <a:prstGeom prst="ellipse">
            <a:avLst/>
          </a:prstGeom>
          <a:solidFill>
            <a:srgbClr val="1B1F27"/>
          </a:solidFill>
          <a:ln/>
        </p:spPr>
      </p:sp>
      <p:sp>
        <p:nvSpPr>
          <p:cNvPr id="25" name="!!lEh"/>
          <p:cNvSpPr/>
          <p:nvPr/>
        </p:nvSpPr>
        <p:spPr>
          <a:xfrm>
            <a:off x="9468612" y="1805940"/>
            <a:ext cx="237744" cy="618134"/>
          </a:xfrm>
          <a:prstGeom prst="roundRect">
            <a:avLst>
              <a:gd name="adj" fmla="val 96154"/>
            </a:avLst>
          </a:prstGeom>
          <a:solidFill>
            <a:srgbClr val="07090D"/>
          </a:solidFill>
          <a:ln w="12700">
            <a:solidFill>
              <a:srgbClr val="4A5261"/>
            </a:solidFill>
            <a:prstDash val="solid"/>
          </a:ln>
        </p:spPr>
      </p:sp>
      <p:sp>
        <p:nvSpPr>
          <p:cNvPr id="26" name="!!lEdr"/>
          <p:cNvSpPr/>
          <p:nvPr/>
        </p:nvSpPr>
        <p:spPr>
          <a:xfrm>
            <a:off x="9513783" y="1843504"/>
            <a:ext cx="147401" cy="147401"/>
          </a:xfrm>
          <a:prstGeom prst="ellipse">
            <a:avLst/>
          </a:prstGeom>
          <a:solidFill>
            <a:srgbClr val="1B1F27"/>
          </a:solidFill>
          <a:ln/>
        </p:spPr>
      </p:sp>
      <p:sp>
        <p:nvSpPr>
          <p:cNvPr id="27" name="!!lEdy"/>
          <p:cNvSpPr/>
          <p:nvPr/>
        </p:nvSpPr>
        <p:spPr>
          <a:xfrm>
            <a:off x="9513783" y="2041307"/>
            <a:ext cx="147401" cy="147401"/>
          </a:xfrm>
          <a:prstGeom prst="ellipse">
            <a:avLst/>
          </a:prstGeom>
          <a:solidFill>
            <a:srgbClr val="1B1F27"/>
          </a:solidFill>
          <a:ln/>
        </p:spPr>
      </p:sp>
      <p:sp>
        <p:nvSpPr>
          <p:cNvPr id="28" name="!!lEdg"/>
          <p:cNvSpPr/>
          <p:nvPr/>
        </p:nvSpPr>
        <p:spPr>
          <a:xfrm>
            <a:off x="9513783" y="2239110"/>
            <a:ext cx="147401" cy="147401"/>
          </a:xfrm>
          <a:prstGeom prst="ellipse">
            <a:avLst/>
          </a:prstGeom>
          <a:solidFill>
            <a:srgbClr val="1B1F27"/>
          </a:solidFill>
          <a:ln/>
        </p:spPr>
      </p:sp>
      <p:sp>
        <p:nvSpPr>
          <p:cNvPr id="29" name="!!lSr"/>
          <p:cNvSpPr/>
          <p:nvPr/>
        </p:nvSpPr>
        <p:spPr>
          <a:xfrm>
            <a:off x="9020007" y="4540984"/>
            <a:ext cx="147401" cy="147401"/>
          </a:xfrm>
          <a:prstGeom prst="ellipse">
            <a:avLst/>
          </a:prstGeom>
          <a:solidFill>
            <a:srgbClr val="FF3B30"/>
          </a:solidFill>
          <a:ln/>
        </p:spPr>
      </p:sp>
      <p:sp>
        <p:nvSpPr>
          <p:cNvPr id="30" name="!!lEg"/>
          <p:cNvSpPr/>
          <p:nvPr/>
        </p:nvSpPr>
        <p:spPr>
          <a:xfrm>
            <a:off x="9513783" y="2239110"/>
            <a:ext cx="147401" cy="147401"/>
          </a:xfrm>
          <a:prstGeom prst="ellipse">
            <a:avLst/>
          </a:prstGeom>
          <a:solidFill>
            <a:srgbClr val="2EE071"/>
          </a:solidFill>
          <a:ln/>
        </p:spPr>
      </p:sp>
      <p:sp>
        <p:nvSpPr>
          <p:cNvPr id="31" name="!!copg"/>
          <p:cNvSpPr/>
          <p:nvPr/>
        </p:nvSpPr>
        <p:spPr>
          <a:xfrm>
            <a:off x="7406640" y="2971800"/>
            <a:ext cx="914400" cy="914400"/>
          </a:xfrm>
          <a:prstGeom prst="ellipse">
            <a:avLst/>
          </a:prstGeom>
          <a:solidFill>
            <a:srgbClr val="5B8CFF">
              <a:alpha val="20000"/>
            </a:srgbClr>
          </a:solidFill>
          <a:ln/>
        </p:spPr>
      </p:sp>
      <p:pic>
        <p:nvPicPr>
          <p:cNvPr id="32" name="!!cop" descr="/tmp/claude-0/-home-user-Fahrlehrer-Kompass-/11378f77-94a8-55e9-a697-0f3efd4c20b9/scratchpad/bau/art/cop_out.png">    </p:cNvPr>
          <p:cNvPicPr>
            <a:picLocks noChangeAspect="1"/>
          </p:cNvPicPr>
          <p:nvPr/>
        </p:nvPicPr>
        <p:blipFill>
          <a:blip r:embed="rId4"/>
          <a:stretch>
            <a:fillRect/>
          </a:stretch>
        </p:blipFill>
        <p:spPr>
          <a:xfrm rot="5400000">
            <a:off x="7479792" y="3223260"/>
            <a:ext cx="768096" cy="411480"/>
          </a:xfrm>
          <a:prstGeom prst="rect">
            <a:avLst/>
          </a:prstGeom>
        </p:spPr>
      </p:pic>
      <p:pic>
        <p:nvPicPr>
          <p:cNvPr id="33" name="!!du" descr="/tmp/claude-0/-home-user-Fahrlehrer-Kompass-/11378f77-94a8-55e9-a697-0f3efd4c20b9/scratchpad/bau/art/car_du.png">    </p:cNvPr>
          <p:cNvPicPr>
            <a:picLocks noChangeAspect="1"/>
          </p:cNvPicPr>
          <p:nvPr/>
        </p:nvPicPr>
        <p:blipFill>
          <a:blip r:embed="rId5"/>
          <a:stretch>
            <a:fillRect/>
          </a:stretch>
        </p:blipFill>
        <p:spPr>
          <a:xfrm>
            <a:off x="7939278" y="4334256"/>
            <a:ext cx="740664" cy="1481328"/>
          </a:xfrm>
          <a:prstGeom prst="rect">
            <a:avLst/>
          </a:prstGeom>
        </p:spPr>
      </p:pic>
      <p:pic>
        <p:nvPicPr>
          <p:cNvPr id="34" name="!!a" descr="/tmp/claude-0/-home-user-Fahrlehrer-Kompass-/11378f77-94a8-55e9-a697-0f3efd4c20b9/scratchpad/bau/art/car_blau.png">    </p:cNvPr>
          <p:cNvPicPr>
            <a:picLocks noChangeAspect="1"/>
          </p:cNvPicPr>
          <p:nvPr/>
        </p:nvPicPr>
        <p:blipFill>
          <a:blip r:embed="rId6"/>
          <a:stretch>
            <a:fillRect/>
          </a:stretch>
        </p:blipFill>
        <p:spPr>
          <a:xfrm rot="16200000">
            <a:off x="9139428" y="2242566"/>
            <a:ext cx="740664" cy="1481328"/>
          </a:xfrm>
          <a:prstGeom prst="rect">
            <a:avLst/>
          </a:prstGeom>
        </p:spPr>
      </p:pic>
      <p:sp>
        <p:nvSpPr>
          <p:cNvPr id="35" name="!!ldu"/>
          <p:cNvSpPr txBox="1"/>
          <p:nvPr/>
        </p:nvSpPr>
        <p:spPr>
          <a:xfrm>
            <a:off x="7395210" y="5394960"/>
            <a:ext cx="54864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36" name="!!la"/>
          <p:cNvSpPr txBox="1"/>
          <p:nvPr/>
        </p:nvSpPr>
        <p:spPr>
          <a:xfrm>
            <a:off x="10158984" y="276377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37" name="e11_1"/>
          <p:cNvSpPr txBox="1"/>
          <p:nvPr/>
        </p:nvSpPr>
        <p:spPr>
          <a:xfrm rot="-180000">
            <a:off x="6035040" y="868680"/>
            <a:ext cx="4206240" cy="566928"/>
          </a:xfrm>
          <a:prstGeom prst="roundRect">
            <a:avLst>
              <a:gd name="adj" fmla="val 32258"/>
            </a:avLst>
          </a:prstGeom>
          <a:solidFill>
            <a:srgbClr val="5B8CFF"/>
          </a:solidFill>
          <a:ln/>
        </p:spPr>
        <p:txBody>
          <a:bodyPr wrap="square" lIns="0" tIns="0" rIns="0" bIns="0" rtlCol="0" anchor="ctr"/>
          <a:lstStyle/>
          <a:p>
            <a:pPr algn="ctr" indent="0" marL="0">
              <a:buNone/>
            </a:pPr>
            <a:r>
              <a:rPr lang="en-US" sz="2000" b="1" spc="100" kern="0" dirty="0">
                <a:solidFill>
                  <a:srgbClr val="0A0C10"/>
                </a:solidFill>
                <a:effectLst>
                  <a:glow rad="177800">
                    <a:srgbClr val="5B8CFF">
                      <a:alpha val="45000"/>
                    </a:srgbClr>
                  </a:glow>
                </a:effectLst>
                <a:latin typeface="Calibri" pitchFamily="34" charset="0"/>
                <a:ea typeface="Calibri" pitchFamily="34" charset="-122"/>
                <a:cs typeface="Calibri" pitchFamily="34" charset="-120"/>
              </a:rPr>
              <a:t>Der Polizist lässt dich fahren</a:t>
            </a:r>
            <a:endParaRPr lang="en-US" sz="2000" dirty="0"/>
          </a:p>
        </p:txBody>
      </p:sp>
      <p:sp>
        <p:nvSpPr>
          <p:cNvPr id="38" name="e11_2"/>
          <p:cNvSpPr txBox="1"/>
          <p:nvPr/>
        </p:nvSpPr>
        <p:spPr>
          <a:xfrm>
            <a:off x="731520" y="2103120"/>
            <a:ext cx="4206240" cy="457200"/>
          </a:xfrm>
          <a:prstGeom prst="roundRect">
            <a:avLst>
              <a:gd name="adj" fmla="val 40000"/>
            </a:avLst>
          </a:prstGeom>
          <a:solidFill>
            <a:srgbClr val="1A120B"/>
          </a:solidFill>
          <a:ln/>
        </p:spPr>
        <p:txBody>
          <a:bodyPr wrap="square" lIns="0" tIns="0" rIns="0" bIns="0" rtlCol="0" anchor="ctr"/>
          <a:lstStyle/>
          <a:p>
            <a:pPr algn="ctr" indent="0" marL="0">
              <a:buNone/>
            </a:pPr>
            <a:r>
              <a:rPr lang="en-US" sz="1800" b="1" dirty="0">
                <a:solidFill>
                  <a:srgbClr val="FF7A1A"/>
                </a:solidFill>
                <a:latin typeface="Calibri" pitchFamily="34" charset="0"/>
                <a:ea typeface="Calibri" pitchFamily="34" charset="-122"/>
                <a:cs typeface="Calibri" pitchFamily="34" charset="-120"/>
              </a:rPr>
              <a:t>Polizei › Ampel › Schild › rechts vor links</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32"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380" fill="hold" accel="60000"/>
                                        <p:tgtEl>
                                          <p:spTgt spid="37"/>
                                        </p:tgtEl>
                                        <p:attrNameLst>
                                          <p:attrName>ppt_w</p:attrName>
                                        </p:attrNameLst>
                                      </p:cBhvr>
                                      <p:tavLst>
                                        <p:tav tm="0">
                                          <p:val>
                                            <p:strVal val="#ppt_w*2.2"/>
                                          </p:val>
                                        </p:tav>
                                        <p:tav tm="100000">
                                          <p:val>
                                            <p:strVal val="#ppt_w"/>
                                          </p:val>
                                        </p:tav>
                                      </p:tavLst>
                                    </p:anim>
                                    <p:anim calcmode="lin" valueType="num">
                                      <p:cBhvr additive="base">
                                        <p:cTn id="8" dur="380" fill="hold" accel="60000"/>
                                        <p:tgtEl>
                                          <p:spTgt spid="37"/>
                                        </p:tgtEl>
                                        <p:attrNameLst>
                                          <p:attrName>ppt_h</p:attrName>
                                        </p:attrNameLst>
                                      </p:cBhvr>
                                      <p:tavLst>
                                        <p:tav tm="0">
                                          <p:val>
                                            <p:strVal val="#ppt_h*2.2"/>
                                          </p:val>
                                        </p:tav>
                                        <p:tav tm="100000">
                                          <p:val>
                                            <p:strVal val="#ppt_h"/>
                                          </p:val>
                                        </p:tav>
                                      </p:tavLst>
                                    </p:anim>
                                    <p:animEffect transition="in" filter="fade">
                                      <p:cBhvr>
                                        <p:cTn id="9" dur="228"/>
                                        <p:tgtEl>
                                          <p:spTgt spid="37"/>
                                        </p:tgtEl>
                                      </p:cBhvr>
                                    </p:animEffect>
                                  </p:childTnLst>
                                </p:cTn>
                              </p:par>
                            </p:childTnLst>
                          </p:cTn>
                        </p:par>
                        <p:par>
                          <p:cTn id="10" fill="hold">
                            <p:stCondLst>
                              <p:cond delay="380"/>
                            </p:stCondLst>
                            <p:childTnLst>
                              <p:par>
                                <p:cTn id="11" presetID="0" presetClass="path" presetSubtype="0" fill="hold" nodeType="afterEffect" accel="40000" decel="40000">
                                  <p:stCondLst>
                                    <p:cond delay="0"/>
                                  </p:stCondLst>
                                  <p:childTnLst>
                                    <p:animMotion origin="layout" path="M 0 0 C 0 -0.2222 0 -0.4444 0 -0.6667 E" pathEditMode="relative" rAng="0" ptsTypes="">
                                      <p:cBhvr>
                                        <p:cTn id="12" dur="2941" fill="hold"/>
                                        <p:tgtEl>
                                          <p:spTgt spid="33"/>
                                        </p:tgtEl>
                                        <p:attrNameLst>
                                          <p:attrName>ppt_x</p:attrName>
                                          <p:attrName>ppt_y</p:attrName>
                                        </p:attrNameLst>
                                      </p:cBhvr>
                                      <p:rCtr x="0" y="0"/>
                                    </p:animMotion>
                                  </p:childTnLst>
                                </p:cTn>
                              </p:par>
                            </p:childTnLst>
                          </p:cTn>
                        </p:par>
                        <p:par>
                          <p:cTn id="13" fill="hold">
                            <p:stCondLst>
                              <p:cond delay="3321"/>
                            </p:stCondLst>
                            <p:childTnLst>
                              <p:par>
                                <p:cTn id="14" presetID="10" presetClass="exit" presetSubtype="0" fill="hold" nodeType="afterEffect">
                                  <p:stCondLst>
                                    <p:cond delay="0"/>
                                  </p:stCondLst>
                                  <p:childTnLst>
                                    <p:animEffect transition="out" filter="fade">
                                      <p:cBhvr>
                                        <p:cTn id="15" dur="350"/>
                                        <p:tgtEl>
                                          <p:spTgt spid="33"/>
                                        </p:tgtEl>
                                      </p:cBhvr>
                                    </p:animEffect>
                                    <p:set>
                                      <p:cBhvr>
                                        <p:cTn id="16" dur="1" fill="hold">
                                          <p:stCondLst>
                                            <p:cond delay="349"/>
                                          </p:stCondLst>
                                        </p:cTn>
                                        <p:tgtEl>
                                          <p:spTgt spid="3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700"/>
                                        <p:tgtEl>
                                          <p:spTgt spid="38"/>
                                        </p:tgtEl>
                                      </p:cBhvr>
                                    </p:animEffect>
                                    <p:anim calcmode="lin" valueType="num">
                                      <p:cBhvr additive="base">
                                        <p:cTn id="22" dur="700" fill="hold" decel="100000"/>
                                        <p:tgtEl>
                                          <p:spTgt spid="38"/>
                                        </p:tgtEl>
                                        <p:attrNameLst>
                                          <p:attrName>ppt_x</p:attrName>
                                        </p:attrNameLst>
                                      </p:cBhvr>
                                      <p:tavLst>
                                        <p:tav tm="0">
                                          <p:val>
                                            <p:strVal val="#ppt_x"/>
                                          </p:val>
                                        </p:tav>
                                        <p:tav tm="100000">
                                          <p:val>
                                            <p:strVal val="#ppt_x"/>
                                          </p:val>
                                        </p:tav>
                                      </p:tavLst>
                                    </p:anim>
                                    <p:anim calcmode="lin" valueType="num">
                                      <p:cBhvr additive="base">
                                        <p:cTn id="23" dur="700" fill="hold" decel="100000"/>
                                        <p:tgtEl>
                                          <p:spTgt spid="3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2_1"/>
          <p:cNvSpPr txBox="1"/>
          <p:nvPr/>
        </p:nvSpPr>
        <p:spPr>
          <a:xfrm>
            <a:off x="731520" y="12801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1</a:t>
            </a:r>
            <a:endParaRPr lang="en-US" sz="1300" dirty="0"/>
          </a:p>
        </p:txBody>
      </p:sp>
      <p:sp>
        <p:nvSpPr>
          <p:cNvPr id="5" name="e12_2"/>
          <p:cNvSpPr txBox="1"/>
          <p:nvPr/>
        </p:nvSpPr>
        <p:spPr>
          <a:xfrm>
            <a:off x="731520" y="1737360"/>
            <a:ext cx="10698480" cy="1463040"/>
          </a:xfrm>
          <a:prstGeom prst="rect">
            <a:avLst/>
          </a:prstGeom>
          <a:noFill/>
          <a:ln/>
        </p:spPr>
        <p:txBody>
          <a:bodyPr wrap="square" lIns="0" tIns="0" rIns="0" bIns="0" rtlCol="0" anchor="t"/>
          <a:lstStyle/>
          <a:p>
            <a:pPr algn="ctr" indent="0" marL="0">
              <a:lnSpc>
                <a:spcPct val="95000"/>
              </a:lnSpc>
              <a:buNone/>
            </a:pPr>
            <a:r>
              <a:rPr lang="en-US" sz="8800" b="1" dirty="0">
                <a:solidFill>
                  <a:srgbClr val="F5F2EC"/>
                </a:solidFill>
                <a:latin typeface="Cambria" pitchFamily="34" charset="0"/>
                <a:ea typeface="Cambria" pitchFamily="34" charset="-122"/>
                <a:cs typeface="Cambria" pitchFamily="34" charset="-120"/>
              </a:rPr>
              <a:t>Rechts vor links</a:t>
            </a:r>
            <a:endParaRPr lang="en-US" sz="8800" dirty="0"/>
          </a:p>
        </p:txBody>
      </p:sp>
      <p:sp>
        <p:nvSpPr>
          <p:cNvPr id="6" name="e12_3"/>
          <p:cNvSpPr/>
          <p:nvPr/>
        </p:nvSpPr>
        <p:spPr>
          <a:xfrm>
            <a:off x="4023360" y="3840480"/>
            <a:ext cx="4114800" cy="914"/>
          </a:xfrm>
          <a:prstGeom prst="line">
            <a:avLst/>
          </a:prstGeom>
          <a:noFill/>
          <a:ln w="63500">
            <a:solidFill>
              <a:srgbClr val="FF7A1A"/>
            </a:solidFill>
            <a:prstDash val="solid"/>
            <a:tailEnd type="triangle"/>
          </a:ln>
        </p:spPr>
      </p:sp>
      <p:sp>
        <p:nvSpPr>
          <p:cNvPr id="7" name="e12_4"/>
          <p:cNvSpPr txBox="1"/>
          <p:nvPr/>
        </p:nvSpPr>
        <p:spPr>
          <a:xfrm>
            <a:off x="731520" y="4343400"/>
            <a:ext cx="10698480" cy="548640"/>
          </a:xfrm>
          <a:prstGeom prst="rect">
            <a:avLst/>
          </a:prstGeom>
          <a:noFill/>
          <a:ln/>
        </p:spPr>
        <p:txBody>
          <a:bodyPr wrap="square" lIns="0" tIns="0" rIns="0" bIns="0" rtlCol="0" anchor="t"/>
          <a:lstStyle/>
          <a:p>
            <a:pPr algn="ctr" indent="0" marL="0">
              <a:buNone/>
            </a:pPr>
            <a:r>
              <a:rPr lang="en-US" sz="2400" dirty="0">
                <a:solidFill>
                  <a:srgbClr val="A7B0BD"/>
                </a:solidFill>
                <a:latin typeface="Calibri" pitchFamily="34" charset="0"/>
                <a:ea typeface="Calibri" pitchFamily="34" charset="-122"/>
                <a:cs typeface="Calibri" pitchFamily="34" charset="-120"/>
              </a:rPr>
              <a:t>Die Grundregel. Sie gilt, wenn nichts anderes geregelt ist.</a:t>
            </a:r>
            <a:endParaRPr lang="en-US" sz="2400" dirty="0"/>
          </a:p>
        </p:txBody>
      </p:sp>
      <p:sp>
        <p:nvSpPr>
          <p:cNvPr id="8" name="e12_5"/>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8 Abs. 1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650"/>
                                        <p:tgtEl>
                                          <p:spTgt spid="8"/>
                                        </p:tgtEl>
                                      </p:cBhvr>
                                    </p:animEffect>
                                    <p:anim calcmode="lin" valueType="num">
                                      <p:cBhvr additive="base">
                                        <p:cTn id="8"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8"/>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42"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100"/>
                                        <p:tgtEl>
                                          <p:spTgt spid="5"/>
                                        </p:tgtEl>
                                      </p:cBhvr>
                                    </p:animEffect>
                                    <p:anim calcmode="lin" valueType="num">
                                      <p:cBhvr additive="base">
                                        <p:cTn id="17" dur="1100" fill="hold" decel="100000"/>
                                        <p:tgtEl>
                                          <p:spTgt spid="5"/>
                                        </p:tgtEl>
                                        <p:attrNameLst>
                                          <p:attrName>ppt_x</p:attrName>
                                        </p:attrNameLst>
                                      </p:cBhvr>
                                      <p:tavLst>
                                        <p:tav tm="0">
                                          <p:val>
                                            <p:strVal val="#ppt_x"/>
                                          </p:val>
                                        </p:tav>
                                        <p:tav tm="100000">
                                          <p:val>
                                            <p:strVal val="#ppt_x"/>
                                          </p:val>
                                        </p:tav>
                                      </p:tavLst>
                                    </p:anim>
                                    <p:anim calcmode="lin" valueType="num">
                                      <p:cBhvr additive="base">
                                        <p:cTn id="18" dur="1100" fill="hold" decel="100000"/>
                                        <p:tgtEl>
                                          <p:spTgt spid="5"/>
                                        </p:tgtEl>
                                        <p:attrNameLst>
                                          <p:attrName>ppt_y</p:attrName>
                                        </p:attrNameLst>
                                      </p:cBhvr>
                                      <p:tavLst>
                                        <p:tav tm="0">
                                          <p:val>
                                            <p:strVal val="#ppt_y+.18"/>
                                          </p:val>
                                        </p:tav>
                                        <p:tav tm="100000">
                                          <p:val>
                                            <p:strVal val="#ppt_y"/>
                                          </p:val>
                                        </p:tav>
                                      </p:tavLst>
                                    </p:anim>
                                  </p:childTnLst>
                                </p:cTn>
                              </p:par>
                            </p:childTnLst>
                          </p:cTn>
                        </p:par>
                        <p:par>
                          <p:cTn id="19" fill="hold">
                            <p:stCondLst>
                              <p:cond delay="1750"/>
                            </p:stCondLst>
                            <p:childTnLst>
                              <p:par>
                                <p:cTn id="20" presetID="22" presetClass="entr" presetSubtype="2"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right)">
                                      <p:cBhvr>
                                        <p:cTn id="22" dur="900"/>
                                        <p:tgtEl>
                                          <p:spTgt spid="6"/>
                                        </p:tgtEl>
                                      </p:cBhvr>
                                    </p:animEffect>
                                  </p:childTnLst>
                                </p:cTn>
                              </p:par>
                            </p:childTnLst>
                          </p:cTn>
                        </p:par>
                        <p:par>
                          <p:cTn id="23" fill="hold">
                            <p:stCondLst>
                              <p:cond delay="2650"/>
                            </p:stCondLst>
                            <p:childTnLst>
                              <p:par>
                                <p:cTn id="24" presetID="10"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WO GILT DIE GRUNDREGEL?</a:t>
            </a:r>
            <a:endParaRPr lang="en-US" sz="1300" dirty="0"/>
          </a:p>
        </p:txBody>
      </p:sp>
      <p:sp>
        <p:nvSpPr>
          <p:cNvPr id="6" name="e1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Wo gilt rechts vor links?</a:t>
            </a:r>
            <a:endParaRPr lang="en-US" sz="4400" dirty="0"/>
          </a:p>
        </p:txBody>
      </p:sp>
      <p:sp>
        <p:nvSpPr>
          <p:cNvPr id="7" name="e13_3"/>
          <p:cNvSpPr/>
          <p:nvPr/>
        </p:nvSpPr>
        <p:spPr>
          <a:xfrm>
            <a:off x="7466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8" name="e13_4" descr="preencoded.png">    </p:cNvPr>
          <p:cNvPicPr>
            <a:picLocks noChangeAspect="1"/>
          </p:cNvPicPr>
          <p:nvPr/>
        </p:nvPicPr>
        <p:blipFill>
          <a:blip r:embed="rId2"/>
          <a:stretch>
            <a:fillRect/>
          </a:stretch>
        </p:blipFill>
        <p:spPr>
          <a:xfrm>
            <a:off x="1066648" y="2743200"/>
            <a:ext cx="685800" cy="685800"/>
          </a:xfrm>
          <a:prstGeom prst="rect">
            <a:avLst/>
          </a:prstGeom>
        </p:spPr>
      </p:pic>
      <p:sp>
        <p:nvSpPr>
          <p:cNvPr id="9" name="e13_5"/>
          <p:cNvSpPr txBox="1"/>
          <p:nvPr/>
        </p:nvSpPr>
        <p:spPr>
          <a:xfrm>
            <a:off x="10666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Kreuzungen und Einmündungen</a:t>
            </a:r>
            <a:endParaRPr lang="en-US" sz="2300" dirty="0"/>
          </a:p>
        </p:txBody>
      </p:sp>
      <p:sp>
        <p:nvSpPr>
          <p:cNvPr id="10" name="e13_6"/>
          <p:cNvSpPr txBox="1"/>
          <p:nvPr/>
        </p:nvSpPr>
        <p:spPr>
          <a:xfrm>
            <a:off x="10666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ohne Schild, ohne Ampel, ohne Polizei. Auch an kleinen Seitenstraßen.</a:t>
            </a:r>
            <a:endParaRPr lang="en-US" sz="1600" dirty="0"/>
          </a:p>
        </p:txBody>
      </p:sp>
      <p:sp>
        <p:nvSpPr>
          <p:cNvPr id="11" name="e13_7"/>
          <p:cNvSpPr/>
          <p:nvPr/>
        </p:nvSpPr>
        <p:spPr>
          <a:xfrm>
            <a:off x="44042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2" name="e13_8" descr="preencoded.png">    </p:cNvPr>
          <p:cNvPicPr>
            <a:picLocks noChangeAspect="1"/>
          </p:cNvPicPr>
          <p:nvPr/>
        </p:nvPicPr>
        <p:blipFill>
          <a:blip r:embed="rId3"/>
          <a:stretch>
            <a:fillRect/>
          </a:stretch>
        </p:blipFill>
        <p:spPr>
          <a:xfrm>
            <a:off x="4724248" y="2743200"/>
            <a:ext cx="685800" cy="685800"/>
          </a:xfrm>
          <a:prstGeom prst="rect">
            <a:avLst/>
          </a:prstGeom>
        </p:spPr>
      </p:pic>
      <p:sp>
        <p:nvSpPr>
          <p:cNvPr id="13" name="e13_9"/>
          <p:cNvSpPr txBox="1"/>
          <p:nvPr/>
        </p:nvSpPr>
        <p:spPr>
          <a:xfrm>
            <a:off x="47242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Tempo-30-Zonen</a:t>
            </a:r>
            <a:endParaRPr lang="en-US" sz="2300" dirty="0"/>
          </a:p>
        </p:txBody>
      </p:sp>
      <p:sp>
        <p:nvSpPr>
          <p:cNvPr id="14" name="e13_10"/>
          <p:cNvSpPr txBox="1"/>
          <p:nvPr/>
        </p:nvSpPr>
        <p:spPr>
          <a:xfrm>
            <a:off x="47242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Dort gilt an Kreuzungen grundsätzlich rechts vor links (§ 45 Abs. 1c StVO).</a:t>
            </a:r>
            <a:endParaRPr lang="en-US" sz="1600" dirty="0"/>
          </a:p>
        </p:txBody>
      </p:sp>
      <p:sp>
        <p:nvSpPr>
          <p:cNvPr id="15" name="e13_11"/>
          <p:cNvSpPr/>
          <p:nvPr/>
        </p:nvSpPr>
        <p:spPr>
          <a:xfrm>
            <a:off x="8061808" y="2468880"/>
            <a:ext cx="3383280" cy="3383280"/>
          </a:xfrm>
          <a:prstGeom prst="roundRect">
            <a:avLst>
              <a:gd name="adj" fmla="val 3784"/>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pic>
        <p:nvPicPr>
          <p:cNvPr id="16" name="e13_12" descr="Verkehrszeichen 102">    </p:cNvPr>
          <p:cNvPicPr>
            <a:picLocks noChangeAspect="1"/>
          </p:cNvPicPr>
          <p:nvPr/>
        </p:nvPicPr>
        <p:blipFill>
          <a:blip r:embed="rId4"/>
          <a:stretch>
            <a:fillRect/>
          </a:stretch>
        </p:blipFill>
        <p:spPr>
          <a:xfrm>
            <a:off x="8381848" y="2697480"/>
            <a:ext cx="884573" cy="777240"/>
          </a:xfrm>
          <a:prstGeom prst="rect">
            <a:avLst/>
          </a:prstGeom>
        </p:spPr>
      </p:pic>
      <p:sp>
        <p:nvSpPr>
          <p:cNvPr id="17" name="e13_13"/>
          <p:cNvSpPr txBox="1"/>
          <p:nvPr/>
        </p:nvSpPr>
        <p:spPr>
          <a:xfrm>
            <a:off x="8381848" y="3657600"/>
            <a:ext cx="2834640" cy="86868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Zeichen 102</a:t>
            </a:r>
            <a:endParaRPr lang="en-US" sz="2300" dirty="0"/>
          </a:p>
        </p:txBody>
      </p:sp>
      <p:sp>
        <p:nvSpPr>
          <p:cNvPr id="18" name="e13_14"/>
          <p:cNvSpPr txBox="1"/>
          <p:nvPr/>
        </p:nvSpPr>
        <p:spPr>
          <a:xfrm>
            <a:off x="8381848" y="4526280"/>
            <a:ext cx="2834640" cy="11887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kündigt rechts vor links an. Es muss aber nicht stehen.</a:t>
            </a:r>
            <a:endParaRPr lang="en-US" sz="1600" dirty="0"/>
          </a:p>
        </p:txBody>
      </p:sp>
      <p:sp>
        <p:nvSpPr>
          <p:cNvPr id="19" name="e13_15"/>
          <p:cNvSpPr txBox="1"/>
          <p:nvPr/>
        </p:nvSpPr>
        <p:spPr>
          <a:xfrm>
            <a:off x="731520" y="6035040"/>
            <a:ext cx="10698480" cy="365760"/>
          </a:xfrm>
          <a:prstGeom prst="rect">
            <a:avLst/>
          </a:prstGeom>
          <a:noFill/>
          <a:ln/>
        </p:spPr>
        <p:txBody>
          <a:bodyPr wrap="square" lIns="0" tIns="0" rIns="0" bIns="0" rtlCol="0" anchor="t"/>
          <a:lstStyle/>
          <a:p>
            <a:pPr algn="ctr" indent="0" marL="0">
              <a:lnSpc>
                <a:spcPct val="108000"/>
              </a:lnSpc>
              <a:buNone/>
            </a:pPr>
            <a:r>
              <a:rPr lang="en-US" sz="1700" i="1" dirty="0">
                <a:solidFill>
                  <a:srgbClr val="A7B0BD"/>
                </a:solidFill>
                <a:latin typeface="Calibri" pitchFamily="34" charset="0"/>
                <a:ea typeface="Calibri" pitchFamily="34" charset="-122"/>
                <a:cs typeface="Calibri" pitchFamily="34" charset="-120"/>
              </a:rPr>
              <a:t>Gilt für alle Fahrzeuge, auch für Radfahrer.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50"/>
                                        <p:tgtEl>
                                          <p:spTgt spid="7"/>
                                        </p:tgtEl>
                                      </p:cBhvr>
                                    </p:animEffect>
                                    <p:anim calcmode="lin" valueType="num">
                                      <p:cBhvr additive="base">
                                        <p:cTn id="20"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50" fill="hold" decel="100000"/>
                                        <p:tgtEl>
                                          <p:spTgt spid="7"/>
                                        </p:tgtEl>
                                        <p:attrNameLst>
                                          <p:attrName>ppt_y</p:attrName>
                                        </p:attrNameLst>
                                      </p:cBhvr>
                                      <p:tavLst>
                                        <p:tav tm="0">
                                          <p:val>
                                            <p:strVal val="#ppt_y+.18"/>
                                          </p:val>
                                        </p:tav>
                                        <p:tav tm="100000">
                                          <p:val>
                                            <p:strVal val="#ppt_y"/>
                                          </p:val>
                                        </p:tav>
                                      </p:tavLst>
                                    </p:anim>
                                  </p:childTnLst>
                                </p:cTn>
                              </p:par>
                            </p:childTnLst>
                          </p:cTn>
                        </p:par>
                        <p:par>
                          <p:cTn id="22" fill="hold">
                            <p:stCondLst>
                              <p:cond delay="650"/>
                            </p:stCondLst>
                            <p:childTnLst>
                              <p:par>
                                <p:cTn id="23" presetID="53" presetClass="entr" presetSubtype="16"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350" fill="hold" decel="100000"/>
                                        <p:tgtEl>
                                          <p:spTgt spid="8"/>
                                        </p:tgtEl>
                                        <p:attrNameLst>
                                          <p:attrName>ppt_w</p:attrName>
                                        </p:attrNameLst>
                                      </p:cBhvr>
                                      <p:tavLst>
                                        <p:tav tm="0">
                                          <p:val>
                                            <p:strVal val="0"/>
                                          </p:val>
                                        </p:tav>
                                        <p:tav tm="100000">
                                          <p:val>
                                            <p:strVal val="#ppt_w"/>
                                          </p:val>
                                        </p:tav>
                                      </p:tavLst>
                                    </p:anim>
                                    <p:anim calcmode="lin" valueType="num">
                                      <p:cBhvr additive="base">
                                        <p:cTn id="26" dur="350" fill="hold" decel="100000"/>
                                        <p:tgtEl>
                                          <p:spTgt spid="8"/>
                                        </p:tgtEl>
                                        <p:attrNameLst>
                                          <p:attrName>ppt_h</p:attrName>
                                        </p:attrNameLst>
                                      </p:cBhvr>
                                      <p:tavLst>
                                        <p:tav tm="0">
                                          <p:val>
                                            <p:strVal val="0"/>
                                          </p:val>
                                        </p:tav>
                                        <p:tav tm="100000">
                                          <p:val>
                                            <p:strVal val="#ppt_h"/>
                                          </p:val>
                                        </p:tav>
                                      </p:tavLst>
                                    </p:anim>
                                    <p:animEffect transition="in" filter="fade">
                                      <p:cBhvr>
                                        <p:cTn id="27" dur="35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35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35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650"/>
                                        <p:tgtEl>
                                          <p:spTgt spid="11"/>
                                        </p:tgtEl>
                                      </p:cBhvr>
                                    </p:animEffect>
                                    <p:anim calcmode="lin" valueType="num">
                                      <p:cBhvr additive="base">
                                        <p:cTn id="39"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40" dur="650" fill="hold" decel="100000"/>
                                        <p:tgtEl>
                                          <p:spTgt spid="11"/>
                                        </p:tgtEl>
                                        <p:attrNameLst>
                                          <p:attrName>ppt_y</p:attrName>
                                        </p:attrNameLst>
                                      </p:cBhvr>
                                      <p:tavLst>
                                        <p:tav tm="0">
                                          <p:val>
                                            <p:strVal val="#ppt_y+.18"/>
                                          </p:val>
                                        </p:tav>
                                        <p:tav tm="100000">
                                          <p:val>
                                            <p:strVal val="#ppt_y"/>
                                          </p:val>
                                        </p:tav>
                                      </p:tavLst>
                                    </p:anim>
                                  </p:childTnLst>
                                </p:cTn>
                              </p:par>
                            </p:childTnLst>
                          </p:cTn>
                        </p:par>
                        <p:par>
                          <p:cTn id="41" fill="hold">
                            <p:stCondLst>
                              <p:cond delay="650"/>
                            </p:stCondLst>
                            <p:childTnLst>
                              <p:par>
                                <p:cTn id="42" presetID="53" presetClass="entr" presetSubtype="16"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350" fill="hold" decel="100000"/>
                                        <p:tgtEl>
                                          <p:spTgt spid="12"/>
                                        </p:tgtEl>
                                        <p:attrNameLst>
                                          <p:attrName>ppt_w</p:attrName>
                                        </p:attrNameLst>
                                      </p:cBhvr>
                                      <p:tavLst>
                                        <p:tav tm="0">
                                          <p:val>
                                            <p:strVal val="0"/>
                                          </p:val>
                                        </p:tav>
                                        <p:tav tm="100000">
                                          <p:val>
                                            <p:strVal val="#ppt_w"/>
                                          </p:val>
                                        </p:tav>
                                      </p:tavLst>
                                    </p:anim>
                                    <p:anim calcmode="lin" valueType="num">
                                      <p:cBhvr additive="base">
                                        <p:cTn id="45" dur="350" fill="hold" decel="100000"/>
                                        <p:tgtEl>
                                          <p:spTgt spid="12"/>
                                        </p:tgtEl>
                                        <p:attrNameLst>
                                          <p:attrName>ppt_h</p:attrName>
                                        </p:attrNameLst>
                                      </p:cBhvr>
                                      <p:tavLst>
                                        <p:tav tm="0">
                                          <p:val>
                                            <p:strVal val="0"/>
                                          </p:val>
                                        </p:tav>
                                        <p:tav tm="100000">
                                          <p:val>
                                            <p:strVal val="#ppt_h"/>
                                          </p:val>
                                        </p:tav>
                                      </p:tavLst>
                                    </p:anim>
                                    <p:animEffect transition="in" filter="fade">
                                      <p:cBhvr>
                                        <p:cTn id="46" dur="350"/>
                                        <p:tgtEl>
                                          <p:spTgt spid="1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350"/>
                                        <p:tgtEl>
                                          <p:spTgt spid="1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35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fade">
                                      <p:cBhvr>
                                        <p:cTn id="57" dur="650"/>
                                        <p:tgtEl>
                                          <p:spTgt spid="15"/>
                                        </p:tgtEl>
                                      </p:cBhvr>
                                    </p:animEffect>
                                    <p:anim calcmode="lin" valueType="num">
                                      <p:cBhvr additive="base">
                                        <p:cTn id="58"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59" dur="650" fill="hold" decel="100000"/>
                                        <p:tgtEl>
                                          <p:spTgt spid="15"/>
                                        </p:tgtEl>
                                        <p:attrNameLst>
                                          <p:attrName>ppt_y</p:attrName>
                                        </p:attrNameLst>
                                      </p:cBhvr>
                                      <p:tavLst>
                                        <p:tav tm="0">
                                          <p:val>
                                            <p:strVal val="#ppt_y+.18"/>
                                          </p:val>
                                        </p:tav>
                                        <p:tav tm="100000">
                                          <p:val>
                                            <p:strVal val="#ppt_y"/>
                                          </p:val>
                                        </p:tav>
                                      </p:tavLst>
                                    </p:anim>
                                  </p:childTnLst>
                                </p:cTn>
                              </p:par>
                            </p:childTnLst>
                          </p:cTn>
                        </p:par>
                        <p:par>
                          <p:cTn id="60" fill="hold">
                            <p:stCondLst>
                              <p:cond delay="650"/>
                            </p:stCondLst>
                            <p:childTnLst>
                              <p:par>
                                <p:cTn id="61" presetID="53" presetClass="entr" presetSubtype="16" fill="hold"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350" fill="hold" decel="100000"/>
                                        <p:tgtEl>
                                          <p:spTgt spid="16"/>
                                        </p:tgtEl>
                                        <p:attrNameLst>
                                          <p:attrName>ppt_w</p:attrName>
                                        </p:attrNameLst>
                                      </p:cBhvr>
                                      <p:tavLst>
                                        <p:tav tm="0">
                                          <p:val>
                                            <p:strVal val="0"/>
                                          </p:val>
                                        </p:tav>
                                        <p:tav tm="100000">
                                          <p:val>
                                            <p:strVal val="#ppt_w"/>
                                          </p:val>
                                        </p:tav>
                                      </p:tavLst>
                                    </p:anim>
                                    <p:anim calcmode="lin" valueType="num">
                                      <p:cBhvr additive="base">
                                        <p:cTn id="64" dur="350" fill="hold" decel="100000"/>
                                        <p:tgtEl>
                                          <p:spTgt spid="16"/>
                                        </p:tgtEl>
                                        <p:attrNameLst>
                                          <p:attrName>ppt_h</p:attrName>
                                        </p:attrNameLst>
                                      </p:cBhvr>
                                      <p:tavLst>
                                        <p:tav tm="0">
                                          <p:val>
                                            <p:strVal val="0"/>
                                          </p:val>
                                        </p:tav>
                                        <p:tav tm="100000">
                                          <p:val>
                                            <p:strVal val="#ppt_h"/>
                                          </p:val>
                                        </p:tav>
                                      </p:tavLst>
                                    </p:anim>
                                    <p:animEffect transition="in" filter="fade">
                                      <p:cBhvr>
                                        <p:cTn id="65" dur="350"/>
                                        <p:tgtEl>
                                          <p:spTgt spid="16"/>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350"/>
                                        <p:tgtEl>
                                          <p:spTgt spid="1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350"/>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EINMÜNDUNG</a:t>
            </a:r>
            <a:endParaRPr lang="en-US" sz="1300" dirty="0"/>
          </a:p>
        </p:txBody>
      </p:sp>
      <p:sp>
        <p:nvSpPr>
          <p:cNvPr id="6" name="e1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kleine Straße</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von rechts</a:t>
            </a:r>
            <a:endParaRPr lang="en-US" sz="4600" dirty="0"/>
          </a:p>
        </p:txBody>
      </p:sp>
      <p:sp>
        <p:nvSpPr>
          <p:cNvPr id="7" name="e14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fährst geradeaus.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 kommt aus der Seitenstraße und will links abbiegen. Wer fährt?</a:t>
            </a:r>
            <a:endParaRPr lang="en-US" sz="1900" dirty="0"/>
          </a:p>
        </p:txBody>
      </p:sp>
      <p:pic>
        <p:nvPicPr>
          <p:cNvPr id="8" name="e14_4" descr="/tmp/claude-0/-home-user-Fahrlehrer-Kompass-/11378f77-94a8-55e9-a697-0f3efd4c20b9/scratchpad/bau/art/car_du.png">    </p:cNvPr>
          <p:cNvPicPr>
            <a:picLocks noChangeAspect="1"/>
          </p:cNvPicPr>
          <p:nvPr/>
        </p:nvPicPr>
        <p:blipFill>
          <a:blip r:embed="rId2"/>
          <a:stretch>
            <a:fillRect/>
          </a:stretch>
        </p:blipFill>
        <p:spPr>
          <a:xfrm rot="5400000">
            <a:off x="5390388" y="3134106"/>
            <a:ext cx="740664" cy="1481328"/>
          </a:xfrm>
          <a:prstGeom prst="rect">
            <a:avLst/>
          </a:prstGeom>
        </p:spPr>
      </p:pic>
      <p:pic>
        <p:nvPicPr>
          <p:cNvPr id="9" name="e14_5" descr="/tmp/claude-0/-home-user-Fahrlehrer-Kompass-/11378f77-94a8-55e9-a697-0f3efd4c20b9/scratchpad/bau/art/car_blau.png">    </p:cNvPr>
          <p:cNvPicPr>
            <a:picLocks noChangeAspect="1"/>
          </p:cNvPicPr>
          <p:nvPr/>
        </p:nvPicPr>
        <p:blipFill>
          <a:blip r:embed="rId3"/>
          <a:stretch>
            <a:fillRect/>
          </a:stretch>
        </p:blipFill>
        <p:spPr>
          <a:xfrm>
            <a:off x="7939278" y="4334256"/>
            <a:ext cx="740664" cy="1481328"/>
          </a:xfrm>
          <a:prstGeom prst="rect">
            <a:avLst/>
          </a:prstGeom>
        </p:spPr>
      </p:pic>
      <p:pic>
        <p:nvPicPr>
          <p:cNvPr id="10" name="e14_6" descr="/tmp/claude-0/-home-user-Fahrlehrer-Kompass-/11378f77-94a8-55e9-a697-0f3efd4c20b9/scratchpad/bau/art/blink_L.png">    </p:cNvPr>
          <p:cNvPicPr>
            <a:picLocks noChangeAspect="1"/>
          </p:cNvPicPr>
          <p:nvPr/>
        </p:nvPicPr>
        <p:blipFill>
          <a:blip r:embed="rId4"/>
          <a:stretch>
            <a:fillRect/>
          </a:stretch>
        </p:blipFill>
        <p:spPr>
          <a:xfrm>
            <a:off x="7939278" y="4334256"/>
            <a:ext cx="740664" cy="1481328"/>
          </a:xfrm>
          <a:prstGeom prst="rect">
            <a:avLst/>
          </a:prstGeom>
        </p:spPr>
      </p:pic>
      <p:sp>
        <p:nvSpPr>
          <p:cNvPr id="11" name="e14_7"/>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2" name="e14_8"/>
          <p:cNvSpPr txBox="1"/>
          <p:nvPr/>
        </p:nvSpPr>
        <p:spPr>
          <a:xfrm>
            <a:off x="5440680" y="4286250"/>
            <a:ext cx="640080" cy="36576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DU</a:t>
            </a:r>
            <a:endParaRPr lang="en-US" sz="1600" dirty="0"/>
          </a:p>
        </p:txBody>
      </p:sp>
      <p:sp>
        <p:nvSpPr>
          <p:cNvPr id="13" name="e14_9"/>
          <p:cNvSpPr txBox="1"/>
          <p:nvPr/>
        </p:nvSpPr>
        <p:spPr>
          <a:xfrm rot="-180000">
            <a:off x="731520" y="443484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zuerst: kommt von rechts!</a:t>
            </a:r>
            <a:endParaRPr lang="en-US" sz="2200" dirty="0"/>
          </a:p>
        </p:txBody>
      </p:sp>
      <p:sp>
        <p:nvSpPr>
          <p:cNvPr id="14" name="e14_10"/>
          <p:cNvSpPr txBox="1"/>
          <p:nvPr/>
        </p:nvSpPr>
        <p:spPr>
          <a:xfrm>
            <a:off x="731520" y="5257800"/>
            <a:ext cx="4023360" cy="822960"/>
          </a:xfrm>
          <a:prstGeom prst="rect">
            <a:avLst/>
          </a:prstGeom>
          <a:noFill/>
          <a:ln/>
        </p:spPr>
        <p:txBody>
          <a:bodyPr wrap="square" lIns="0" tIns="0" rIns="0" bIns="0" rtlCol="0" anchor="t"/>
          <a:lstStyle/>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Größere Straße heißt nicht Vorfahrt.</a:t>
            </a:r>
            <a:endParaRPr lang="en-US" sz="1700" dirty="0"/>
          </a:p>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Nur Schilder regeln das anders.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50"/>
                                        <p:tgtEl>
                                          <p:spTgt spid="11"/>
                                        </p:tgtEl>
                                      </p:cBhvr>
                                    </p:animEffect>
                                    <p:anim calcmode="lin" valueType="num">
                                      <p:cBhvr additive="base">
                                        <p:cTn id="23"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11"/>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2"/>
                                        </p:tgtEl>
                                        <p:attrNameLst>
                                          <p:attrName>ppt_y</p:attrName>
                                        </p:attrNameLst>
                                      </p:cBhvr>
                                      <p:tavLst>
                                        <p:tav tm="0">
                                          <p:val>
                                            <p:strVal val="#ppt_y+.05"/>
                                          </p:val>
                                        </p:tav>
                                        <p:tav tm="100000">
                                          <p:val>
                                            <p:strVal val="#ppt_y"/>
                                          </p:val>
                                        </p:tav>
                                      </p:tavLst>
                                    </p:anim>
                                  </p:childTnLst>
                                </p:cTn>
                              </p:par>
                              <p:par>
                                <p:cTn id="30" presetID="10"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50"/>
                                        <p:tgtEl>
                                          <p:spTgt spid="10"/>
                                        </p:tgtEl>
                                      </p:cBhvr>
                                    </p:animEffect>
                                  </p:childTnLst>
                                </p:cTn>
                              </p:par>
                              <p:par>
                                <p:cTn id="33" presetID="35" presetClass="emph" presetSubtype="0" fill="hold" nodeType="withEffect" repeatCount="indefinite">
                                  <p:stCondLst>
                                    <p:cond delay="0"/>
                                  </p:stCondLst>
                                  <p:childTnLst>
                                    <p:anim calcmode="discrete" valueType="str">
                                      <p:cBhvr override="childStyle">
                                        <p:cTn id="34" dur="700"/>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32"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380" fill="hold" accel="60000"/>
                                        <p:tgtEl>
                                          <p:spTgt spid="13"/>
                                        </p:tgtEl>
                                        <p:attrNameLst>
                                          <p:attrName>ppt_w</p:attrName>
                                        </p:attrNameLst>
                                      </p:cBhvr>
                                      <p:tavLst>
                                        <p:tav tm="0">
                                          <p:val>
                                            <p:strVal val="#ppt_w*2.2"/>
                                          </p:val>
                                        </p:tav>
                                        <p:tav tm="100000">
                                          <p:val>
                                            <p:strVal val="#ppt_w"/>
                                          </p:val>
                                        </p:tav>
                                      </p:tavLst>
                                    </p:anim>
                                    <p:anim calcmode="lin" valueType="num">
                                      <p:cBhvr additive="base">
                                        <p:cTn id="40" dur="380" fill="hold" accel="60000"/>
                                        <p:tgtEl>
                                          <p:spTgt spid="13"/>
                                        </p:tgtEl>
                                        <p:attrNameLst>
                                          <p:attrName>ppt_h</p:attrName>
                                        </p:attrNameLst>
                                      </p:cBhvr>
                                      <p:tavLst>
                                        <p:tav tm="0">
                                          <p:val>
                                            <p:strVal val="#ppt_h*2.2"/>
                                          </p:val>
                                        </p:tav>
                                        <p:tav tm="100000">
                                          <p:val>
                                            <p:strVal val="#ppt_h"/>
                                          </p:val>
                                        </p:tav>
                                      </p:tavLst>
                                    </p:anim>
                                    <p:animEffect transition="in" filter="fade">
                                      <p:cBhvr>
                                        <p:cTn id="41" dur="228"/>
                                        <p:tgtEl>
                                          <p:spTgt spid="13"/>
                                        </p:tgtEl>
                                      </p:cBhvr>
                                    </p:animEffect>
                                  </p:childTnLst>
                                </p:cTn>
                              </p:par>
                            </p:childTnLst>
                          </p:cTn>
                        </p:par>
                        <p:par>
                          <p:cTn id="42" fill="hold">
                            <p:stCondLst>
                              <p:cond delay="380"/>
                            </p:stCondLst>
                            <p:childTnLst>
                              <p:par>
                                <p:cTn id="43" presetID="0" presetClass="path" presetSubtype="0" fill="hold" nodeType="afterEffect" accel="50000">
                                  <p:stCondLst>
                                    <p:cond delay="0"/>
                                  </p:stCondLst>
                                  <p:childTnLst>
                                    <p:animMotion origin="layout" path="M 0 0 C 0 -0.0439 0 -0.0878 0 -0.1317 E" pathEditMode="relative" rAng="0" ptsTypes="">
                                      <p:cBhvr>
                                        <p:cTn id="44" dur="581" fill="hold"/>
                                        <p:tgtEl>
                                          <p:spTgt spid="9"/>
                                        </p:tgtEl>
                                        <p:attrNameLst>
                                          <p:attrName>ppt_x</p:attrName>
                                          <p:attrName>ppt_y</p:attrName>
                                        </p:attrNameLst>
                                      </p:cBhvr>
                                      <p:rCtr x="0" y="0"/>
                                    </p:animMotion>
                                  </p:childTnLst>
                                </p:cTn>
                              </p:par>
                              <p:par>
                                <p:cTn id="45" presetID="0" presetClass="path" presetSubtype="0" fill="hold" nodeType="withEffect" accel="50000">
                                  <p:stCondLst>
                                    <p:cond delay="0"/>
                                  </p:stCondLst>
                                  <p:childTnLst>
                                    <p:animMotion origin="layout" path="M 0 0 C 0 -0.0439 0 -0.0878 0 -0.1317 E" pathEditMode="relative" rAng="0" ptsTypes="">
                                      <p:cBhvr>
                                        <p:cTn id="46" dur="581" fill="hold"/>
                                        <p:tgtEl>
                                          <p:spTgt spid="10"/>
                                        </p:tgtEl>
                                        <p:attrNameLst>
                                          <p:attrName>ppt_x</p:attrName>
                                          <p:attrName>ppt_y</p:attrName>
                                        </p:attrNameLst>
                                      </p:cBhvr>
                                      <p:rCtr x="0" y="0"/>
                                    </p:animMotion>
                                  </p:childTnLst>
                                </p:cTn>
                              </p:par>
                            </p:childTnLst>
                          </p:cTn>
                        </p:par>
                        <p:par>
                          <p:cTn id="47" fill="hold">
                            <p:stCondLst>
                              <p:cond delay="961"/>
                            </p:stCondLst>
                            <p:childTnLst>
                              <p:par>
                                <p:cTn id="48" presetID="0" presetClass="path" presetSubtype="0" fill="hold" nodeType="afterEffect">
                                  <p:stCondLst>
                                    <p:cond delay="0"/>
                                  </p:stCondLst>
                                  <p:childTnLst>
                                    <p:animMotion origin="layout" path="M 0 -0.1317 C 0 -0.2274 -0.0437 -0.305 -0.0975 -0.305 E" pathEditMode="relative" rAng="0" ptsTypes="">
                                      <p:cBhvr>
                                        <p:cTn id="49" dur="1201" fill="hold"/>
                                        <p:tgtEl>
                                          <p:spTgt spid="9"/>
                                        </p:tgtEl>
                                        <p:attrNameLst>
                                          <p:attrName>ppt_x</p:attrName>
                                          <p:attrName>ppt_y</p:attrName>
                                        </p:attrNameLst>
                                      </p:cBhvr>
                                      <p:rCtr x="0" y="0"/>
                                    </p:animMotion>
                                  </p:childTnLst>
                                </p:cTn>
                              </p:par>
                              <p:par>
                                <p:cTn id="50" presetID="8" presetClass="emph" presetSubtype="0" fill="hold" nodeType="withEffect">
                                  <p:stCondLst>
                                    <p:cond delay="0"/>
                                  </p:stCondLst>
                                  <p:childTnLst>
                                    <p:animRot by="-5400000">
                                      <p:cBhvr>
                                        <p:cTn id="51" dur="1201" fill="hold"/>
                                        <p:tgtEl>
                                          <p:spTgt spid="9"/>
                                        </p:tgtEl>
                                        <p:attrNameLst>
                                          <p:attrName>r</p:attrName>
                                        </p:attrNameLst>
                                      </p:cBhvr>
                                    </p:animRot>
                                  </p:childTnLst>
                                </p:cTn>
                              </p:par>
                              <p:par>
                                <p:cTn id="52" presetID="0" presetClass="path" presetSubtype="0" fill="hold" nodeType="withEffect">
                                  <p:stCondLst>
                                    <p:cond delay="0"/>
                                  </p:stCondLst>
                                  <p:childTnLst>
                                    <p:animMotion origin="layout" path="M 0 -0.1317 C 0 -0.2274 -0.0437 -0.305 -0.0975 -0.305 E" pathEditMode="relative" rAng="0" ptsTypes="">
                                      <p:cBhvr>
                                        <p:cTn id="53" dur="1201" fill="hold"/>
                                        <p:tgtEl>
                                          <p:spTgt spid="10"/>
                                        </p:tgtEl>
                                        <p:attrNameLst>
                                          <p:attrName>ppt_x</p:attrName>
                                          <p:attrName>ppt_y</p:attrName>
                                        </p:attrNameLst>
                                      </p:cBhvr>
                                      <p:rCtr x="0" y="0"/>
                                    </p:animMotion>
                                  </p:childTnLst>
                                </p:cTn>
                              </p:par>
                              <p:par>
                                <p:cTn id="54" presetID="8" presetClass="emph" presetSubtype="0" fill="hold" nodeType="withEffect">
                                  <p:stCondLst>
                                    <p:cond delay="0"/>
                                  </p:stCondLst>
                                  <p:childTnLst>
                                    <p:animRot by="-5400000">
                                      <p:cBhvr>
                                        <p:cTn id="55" dur="1201" fill="hold"/>
                                        <p:tgtEl>
                                          <p:spTgt spid="10"/>
                                        </p:tgtEl>
                                        <p:attrNameLst>
                                          <p:attrName>r</p:attrName>
                                        </p:attrNameLst>
                                      </p:cBhvr>
                                    </p:animRot>
                                  </p:childTnLst>
                                </p:cTn>
                              </p:par>
                            </p:childTnLst>
                          </p:cTn>
                        </p:par>
                        <p:par>
                          <p:cTn id="56" fill="hold">
                            <p:stCondLst>
                              <p:cond delay="2162"/>
                            </p:stCondLst>
                            <p:childTnLst>
                              <p:par>
                                <p:cTn id="57" presetID="0" presetClass="path" presetSubtype="0" fill="hold" nodeType="afterEffect" decel="50000">
                                  <p:stCondLst>
                                    <p:cond delay="0"/>
                                  </p:stCondLst>
                                  <p:childTnLst>
                                    <p:animMotion origin="layout" path="M -0.0975 -0.305 C -0.1375 -0.305 -0.1775 -0.305 -0.2175 -0.305 E" pathEditMode="relative" rAng="0" ptsTypes="">
                                      <p:cBhvr>
                                        <p:cTn id="58" dur="941" fill="hold"/>
                                        <p:tgtEl>
                                          <p:spTgt spid="9"/>
                                        </p:tgtEl>
                                        <p:attrNameLst>
                                          <p:attrName>ppt_x</p:attrName>
                                          <p:attrName>ppt_y</p:attrName>
                                        </p:attrNameLst>
                                      </p:cBhvr>
                                      <p:rCtr x="0" y="0"/>
                                    </p:animMotion>
                                  </p:childTnLst>
                                </p:cTn>
                              </p:par>
                              <p:par>
                                <p:cTn id="59" presetID="0" presetClass="path" presetSubtype="0" fill="hold" nodeType="withEffect" decel="50000">
                                  <p:stCondLst>
                                    <p:cond delay="0"/>
                                  </p:stCondLst>
                                  <p:childTnLst>
                                    <p:animMotion origin="layout" path="M -0.0975 -0.305 C -0.1375 -0.305 -0.1775 -0.305 -0.2175 -0.305 E" pathEditMode="relative" rAng="0" ptsTypes="">
                                      <p:cBhvr>
                                        <p:cTn id="60" dur="941" fill="hold"/>
                                        <p:tgtEl>
                                          <p:spTgt spid="10"/>
                                        </p:tgtEl>
                                        <p:attrNameLst>
                                          <p:attrName>ppt_x</p:attrName>
                                          <p:attrName>ppt_y</p:attrName>
                                        </p:attrNameLst>
                                      </p:cBhvr>
                                      <p:rCtr x="0" y="0"/>
                                    </p:animMotion>
                                  </p:childTnLst>
                                </p:cTn>
                              </p:par>
                            </p:childTnLst>
                          </p:cTn>
                        </p:par>
                        <p:par>
                          <p:cTn id="61" fill="hold">
                            <p:stCondLst>
                              <p:cond delay="3103"/>
                            </p:stCondLst>
                            <p:childTnLst>
                              <p:par>
                                <p:cTn id="62" presetID="10" presetClass="exit" presetSubtype="0" fill="hold" nodeType="afterEffect">
                                  <p:stCondLst>
                                    <p:cond delay="0"/>
                                  </p:stCondLst>
                                  <p:childTnLst>
                                    <p:animEffect transition="out" filter="fade">
                                      <p:cBhvr>
                                        <p:cTn id="63" dur="350"/>
                                        <p:tgtEl>
                                          <p:spTgt spid="9"/>
                                        </p:tgtEl>
                                      </p:cBhvr>
                                    </p:animEffect>
                                    <p:set>
                                      <p:cBhvr>
                                        <p:cTn id="64" dur="1" fill="hold">
                                          <p:stCondLst>
                                            <p:cond delay="349"/>
                                          </p:stCondLst>
                                        </p:cTn>
                                        <p:tgtEl>
                                          <p:spTgt spid="9"/>
                                        </p:tgtEl>
                                        <p:attrNameLst>
                                          <p:attrName>style.visibility</p:attrName>
                                        </p:attrNameLst>
                                      </p:cBhvr>
                                      <p:to>
                                        <p:strVal val="hidden"/>
                                      </p:to>
                                    </p:set>
                                  </p:childTnLst>
                                </p:cTn>
                              </p:par>
                              <p:par>
                                <p:cTn id="65" presetID="10" presetClass="exit" presetSubtype="0" fill="hold" nodeType="withEffect">
                                  <p:stCondLst>
                                    <p:cond delay="0"/>
                                  </p:stCondLst>
                                  <p:childTnLst>
                                    <p:animEffect transition="out" filter="fade">
                                      <p:cBhvr>
                                        <p:cTn id="66" dur="350"/>
                                        <p:tgtEl>
                                          <p:spTgt spid="10"/>
                                        </p:tgtEl>
                                      </p:cBhvr>
                                    </p:animEffect>
                                    <p:set>
                                      <p:cBhvr>
                                        <p:cTn id="67" dur="1" fill="hold">
                                          <p:stCondLst>
                                            <p:cond delay="349"/>
                                          </p:stCondLst>
                                        </p:cTn>
                                        <p:tgtEl>
                                          <p:spTgt spid="10"/>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600"/>
                                        <p:tgtEl>
                                          <p:spTgt spid="14"/>
                                        </p:tgtEl>
                                      </p:cBhvr>
                                    </p:animEffect>
                                  </p:childTnLst>
                                </p:cTn>
                              </p:par>
                            </p:childTnLst>
                          </p:cTn>
                        </p:par>
                        <p:par>
                          <p:cTn id="73" fill="hold">
                            <p:stCondLst>
                              <p:cond delay="600"/>
                            </p:stCondLst>
                            <p:childTnLst>
                              <p:par>
                                <p:cTn id="74" presetID="0" presetClass="path" presetSubtype="0" fill="hold" nodeType="afterEffect" accel="40000" decel="40000">
                                  <p:stCondLst>
                                    <p:cond delay="0"/>
                                  </p:stCondLst>
                                  <p:childTnLst>
                                    <p:animMotion origin="layout" path="M 0 0 C 0.1875 0 0.375 0 0.5625 0 E" pathEditMode="relative" rAng="0" ptsTypes="">
                                      <p:cBhvr>
                                        <p:cTn id="75" dur="4412" fill="hold"/>
                                        <p:tgtEl>
                                          <p:spTgt spid="8"/>
                                        </p:tgtEl>
                                        <p:attrNameLst>
                                          <p:attrName>ppt_x</p:attrName>
                                          <p:attrName>ppt_y</p:attrName>
                                        </p:attrNameLst>
                                      </p:cBhvr>
                                      <p:rCtr x="0" y="0"/>
                                    </p:animMotion>
                                  </p:childTnLst>
                                </p:cTn>
                              </p:par>
                            </p:childTnLst>
                          </p:cTn>
                        </p:par>
                        <p:par>
                          <p:cTn id="76" fill="hold">
                            <p:stCondLst>
                              <p:cond delay="5012"/>
                            </p:stCondLst>
                            <p:childTnLst>
                              <p:par>
                                <p:cTn id="77" presetID="10" presetClass="exit" presetSubtype="0" fill="hold" nodeType="afterEffect">
                                  <p:stCondLst>
                                    <p:cond delay="0"/>
                                  </p:stCondLst>
                                  <p:childTnLst>
                                    <p:animEffect transition="out" filter="fade">
                                      <p:cBhvr>
                                        <p:cTn id="78" dur="350"/>
                                        <p:tgtEl>
                                          <p:spTgt spid="8"/>
                                        </p:tgtEl>
                                      </p:cBhvr>
                                    </p:animEffect>
                                    <p:set>
                                      <p:cBhvr>
                                        <p:cTn id="79" dur="1" fill="hold">
                                          <p:stCondLst>
                                            <p:cond delay="34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15_1"/>
          <p:cNvSpPr txBox="1"/>
          <p:nvPr/>
        </p:nvSpPr>
        <p:spPr>
          <a:xfrm>
            <a:off x="731520" y="137160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DAS KREUZUNGS-DUELL</a:t>
            </a:r>
            <a:endParaRPr lang="en-US" sz="1300" dirty="0"/>
          </a:p>
        </p:txBody>
      </p:sp>
      <p:sp>
        <p:nvSpPr>
          <p:cNvPr id="5" name="e15_2"/>
          <p:cNvSpPr txBox="1"/>
          <p:nvPr/>
        </p:nvSpPr>
        <p:spPr>
          <a:xfrm>
            <a:off x="731520" y="1828800"/>
            <a:ext cx="10698480" cy="1371600"/>
          </a:xfrm>
          <a:prstGeom prst="rect">
            <a:avLst/>
          </a:prstGeom>
          <a:noFill/>
          <a:ln/>
        </p:spPr>
        <p:txBody>
          <a:bodyPr wrap="square" lIns="0" tIns="0" rIns="0" bIns="0" rtlCol="0" anchor="t"/>
          <a:lstStyle/>
          <a:p>
            <a:pPr algn="ctr" indent="0" marL="0">
              <a:lnSpc>
                <a:spcPct val="95000"/>
              </a:lnSpc>
              <a:buNone/>
            </a:pPr>
            <a:r>
              <a:rPr lang="en-US" sz="8000" b="1" dirty="0">
                <a:solidFill>
                  <a:srgbClr val="F5F2EC"/>
                </a:solidFill>
                <a:latin typeface="Cambria" pitchFamily="34" charset="0"/>
                <a:ea typeface="Cambria" pitchFamily="34" charset="-122"/>
                <a:cs typeface="Cambria" pitchFamily="34" charset="-120"/>
              </a:rPr>
              <a:t>Wer fährt zuerst?</a:t>
            </a:r>
            <a:endParaRPr lang="en-US" sz="8000" dirty="0"/>
          </a:p>
        </p:txBody>
      </p:sp>
      <p:sp>
        <p:nvSpPr>
          <p:cNvPr id="6" name="e15_3"/>
          <p:cNvSpPr txBox="1"/>
          <p:nvPr/>
        </p:nvSpPr>
        <p:spPr>
          <a:xfrm>
            <a:off x="731520" y="3383280"/>
            <a:ext cx="10698480" cy="731520"/>
          </a:xfrm>
          <a:prstGeom prst="rect">
            <a:avLst/>
          </a:prstGeom>
          <a:noFill/>
          <a:ln/>
        </p:spPr>
        <p:txBody>
          <a:bodyPr wrap="square" lIns="0" tIns="0" rIns="0" bIns="0" rtlCol="0" anchor="t"/>
          <a:lstStyle/>
          <a:p>
            <a:pPr algn="ctr" indent="0" marL="0">
              <a:buNone/>
            </a:pPr>
            <a:r>
              <a:rPr lang="en-US" sz="3600" i="1" dirty="0">
                <a:solidFill>
                  <a:srgbClr val="F5F2EC"/>
                </a:solidFill>
                <a:latin typeface="Cambria" pitchFamily="34" charset="0"/>
                <a:ea typeface="Cambria" pitchFamily="34" charset="-122"/>
                <a:cs typeface="Cambria" pitchFamily="34" charset="-120"/>
              </a:rPr>
              <a:t>5 Runden. </a:t>
            </a:r>
            <a:pPr algn="ctr" indent="0" marL="0">
              <a:buNone/>
            </a:pPr>
            <a:r>
              <a:rPr lang="en-US" sz="3600" i="1" dirty="0">
                <a:solidFill>
                  <a:srgbClr val="FF7A1A"/>
                </a:solidFill>
                <a:latin typeface="Cambria" pitchFamily="34" charset="0"/>
                <a:ea typeface="Cambria" pitchFamily="34" charset="-122"/>
                <a:cs typeface="Cambria" pitchFamily="34" charset="-120"/>
              </a:rPr>
              <a:t>Ihr entscheidet.</a:t>
            </a:r>
            <a:endParaRPr lang="en-US" sz="3600" dirty="0"/>
          </a:p>
        </p:txBody>
      </p:sp>
      <p:sp>
        <p:nvSpPr>
          <p:cNvPr id="7" name="e15_4"/>
          <p:cNvSpPr txBox="1"/>
          <p:nvPr/>
        </p:nvSpPr>
        <p:spPr>
          <a:xfrm>
            <a:off x="173736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Situation ansehen</a:t>
            </a:r>
            <a:endParaRPr lang="en-US" sz="1900" dirty="0"/>
          </a:p>
        </p:txBody>
      </p:sp>
      <p:sp>
        <p:nvSpPr>
          <p:cNvPr id="8" name="e15_5"/>
          <p:cNvSpPr txBox="1"/>
          <p:nvPr/>
        </p:nvSpPr>
        <p:spPr>
          <a:xfrm>
            <a:off x="480060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Hand hoch: A, B, C?</a:t>
            </a:r>
            <a:endParaRPr lang="en-US" sz="1900" dirty="0"/>
          </a:p>
        </p:txBody>
      </p:sp>
      <p:sp>
        <p:nvSpPr>
          <p:cNvPr id="9" name="e15_6"/>
          <p:cNvSpPr txBox="1"/>
          <p:nvPr/>
        </p:nvSpPr>
        <p:spPr>
          <a:xfrm>
            <a:off x="7863840" y="4663440"/>
            <a:ext cx="2788920" cy="594360"/>
          </a:xfrm>
          <a:prstGeom prst="roundRect">
            <a:avLst>
              <a:gd name="adj" fmla="val 38462"/>
            </a:avLst>
          </a:prstGeom>
          <a:solidFill>
            <a:srgbClr val="1A202B"/>
          </a:solidFill>
          <a:ln w="12700">
            <a:solidFill>
              <a:srgbClr val="3A4455"/>
            </a:solidFill>
          </a:ln>
        </p:spPr>
        <p:txBody>
          <a:bodyPr wrap="square" lIns="0" tIns="0" rIns="0" bIns="0" rtlCol="0" anchor="ctr"/>
          <a:lstStyle/>
          <a:p>
            <a:pPr algn="ctr" indent="0" marL="0">
              <a:buNone/>
            </a:pPr>
            <a:r>
              <a:rPr lang="en-US" sz="1900" b="1" dirty="0">
                <a:solidFill>
                  <a:srgbClr val="F5F2EC"/>
                </a:solidFill>
                <a:latin typeface="Calibri" pitchFamily="34" charset="0"/>
                <a:ea typeface="Calibri" pitchFamily="34" charset="-122"/>
                <a:cs typeface="Calibri" pitchFamily="34" charset="-120"/>
              </a:rPr>
              <a:t>Autos fahren los</a:t>
            </a:r>
            <a:endParaRPr lang="en-US" sz="19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53" presetClass="entr" presetSubtype="3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accel="60000"/>
                                        <p:tgtEl>
                                          <p:spTgt spid="5"/>
                                        </p:tgtEl>
                                        <p:attrNameLst>
                                          <p:attrName>ppt_w</p:attrName>
                                        </p:attrNameLst>
                                      </p:cBhvr>
                                      <p:tavLst>
                                        <p:tav tm="0">
                                          <p:val>
                                            <p:strVal val="#ppt_w*2.2"/>
                                          </p:val>
                                        </p:tav>
                                        <p:tav tm="100000">
                                          <p:val>
                                            <p:strVal val="#ppt_w"/>
                                          </p:val>
                                        </p:tav>
                                      </p:tavLst>
                                    </p:anim>
                                    <p:anim calcmode="lin" valueType="num">
                                      <p:cBhvr additive="base">
                                        <p:cTn id="12" dur="500" fill="hold" accel="60000"/>
                                        <p:tgtEl>
                                          <p:spTgt spid="5"/>
                                        </p:tgtEl>
                                        <p:attrNameLst>
                                          <p:attrName>ppt_h</p:attrName>
                                        </p:attrNameLst>
                                      </p:cBhvr>
                                      <p:tavLst>
                                        <p:tav tm="0">
                                          <p:val>
                                            <p:strVal val="#ppt_h*2.2"/>
                                          </p:val>
                                        </p:tav>
                                        <p:tav tm="100000">
                                          <p:val>
                                            <p:strVal val="#ppt_h"/>
                                          </p:val>
                                        </p:tav>
                                      </p:tavLst>
                                    </p:anim>
                                    <p:animEffect transition="in" filter="fade">
                                      <p:cBhvr>
                                        <p:cTn id="13" dur="300"/>
                                        <p:tgtEl>
                                          <p:spTgt spid="5"/>
                                        </p:tgtEl>
                                      </p:cBhvr>
                                    </p:animEffect>
                                  </p:childTnLst>
                                </p:cTn>
                              </p:par>
                            </p:childTnLst>
                          </p:cTn>
                        </p:par>
                        <p:par>
                          <p:cTn id="14" fill="hold">
                            <p:stCondLst>
                              <p:cond delay="1100"/>
                            </p:stCondLst>
                            <p:childTnLst>
                              <p:par>
                                <p:cTn id="15" presetID="10" presetClass="entr" presetSubtype="0"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6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additive="base">
                                        <p:cTn id="23" dur="450" fill="hold" decel="100000"/>
                                        <p:tgtEl>
                                          <p:spTgt spid="7"/>
                                        </p:tgtEl>
                                        <p:attrNameLst>
                                          <p:attrName>ppt_x</p:attrName>
                                        </p:attrNameLst>
                                      </p:cBhvr>
                                      <p:tavLst>
                                        <p:tav tm="0">
                                          <p:val>
                                            <p:strVal val="#ppt_x"/>
                                          </p:val>
                                        </p:tav>
                                        <p:tav tm="100000">
                                          <p:val>
                                            <p:strVal val="#ppt_x"/>
                                          </p:val>
                                        </p:tav>
                                      </p:tavLst>
                                    </p:anim>
                                    <p:anim calcmode="lin" valueType="num">
                                      <p:cBhvr additive="base">
                                        <p:cTn id="24" dur="450" fill="hold" decel="100000"/>
                                        <p:tgtEl>
                                          <p:spTgt spid="7"/>
                                        </p:tgtEl>
                                        <p:attrNameLst>
                                          <p:attrName>ppt_y</p:attrName>
                                        </p:attrNameLst>
                                      </p:cBhvr>
                                      <p:tavLst>
                                        <p:tav tm="0">
                                          <p:val>
                                            <p:strVal val="#ppt_y+.18"/>
                                          </p:val>
                                        </p:tav>
                                        <p:tav tm="100000">
                                          <p:val>
                                            <p:strVal val="#ppt_y"/>
                                          </p:val>
                                        </p:tav>
                                      </p:tavLst>
                                    </p:anim>
                                  </p:childTnLst>
                                </p:cTn>
                              </p:par>
                            </p:childTnLst>
                          </p:cTn>
                        </p:par>
                        <p:par>
                          <p:cTn id="25" fill="hold">
                            <p:stCondLst>
                              <p:cond delay="450"/>
                            </p:stCondLst>
                            <p:childTnLst>
                              <p:par>
                                <p:cTn id="26" presetID="42"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50"/>
                                        <p:tgtEl>
                                          <p:spTgt spid="8"/>
                                        </p:tgtEl>
                                      </p:cBhvr>
                                    </p:animEffect>
                                    <p:anim calcmode="lin" valueType="num">
                                      <p:cBhvr additive="base">
                                        <p:cTn id="29" dur="450" fill="hold" decel="100000"/>
                                        <p:tgtEl>
                                          <p:spTgt spid="8"/>
                                        </p:tgtEl>
                                        <p:attrNameLst>
                                          <p:attrName>ppt_x</p:attrName>
                                        </p:attrNameLst>
                                      </p:cBhvr>
                                      <p:tavLst>
                                        <p:tav tm="0">
                                          <p:val>
                                            <p:strVal val="#ppt_x"/>
                                          </p:val>
                                        </p:tav>
                                        <p:tav tm="100000">
                                          <p:val>
                                            <p:strVal val="#ppt_x"/>
                                          </p:val>
                                        </p:tav>
                                      </p:tavLst>
                                    </p:anim>
                                    <p:anim calcmode="lin" valueType="num">
                                      <p:cBhvr additive="base">
                                        <p:cTn id="30" dur="450" fill="hold" decel="100000"/>
                                        <p:tgtEl>
                                          <p:spTgt spid="8"/>
                                        </p:tgtEl>
                                        <p:attrNameLst>
                                          <p:attrName>ppt_y</p:attrName>
                                        </p:attrNameLst>
                                      </p:cBhvr>
                                      <p:tavLst>
                                        <p:tav tm="0">
                                          <p:val>
                                            <p:strVal val="#ppt_y+.18"/>
                                          </p:val>
                                        </p:tav>
                                        <p:tav tm="100000">
                                          <p:val>
                                            <p:strVal val="#ppt_y"/>
                                          </p:val>
                                        </p:tav>
                                      </p:tavLst>
                                    </p:anim>
                                  </p:childTnLst>
                                </p:cTn>
                              </p:par>
                            </p:childTnLst>
                          </p:cTn>
                        </p:par>
                        <p:par>
                          <p:cTn id="31" fill="hold">
                            <p:stCondLst>
                              <p:cond delay="900"/>
                            </p:stCondLst>
                            <p:childTnLst>
                              <p:par>
                                <p:cTn id="32" presetID="42" presetClass="entr" presetSubtype="0"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additive="base">
                                        <p:cTn id="35"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6" dur="45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1 VON 5</a:t>
            </a:r>
            <a:endParaRPr lang="en-US" sz="1300" dirty="0"/>
          </a:p>
        </p:txBody>
      </p:sp>
      <p:sp>
        <p:nvSpPr>
          <p:cNvPr id="6" name="e16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6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und B wollen geradeaus.</a:t>
            </a:r>
            <a:endParaRPr lang="en-US" sz="1800" dirty="0"/>
          </a:p>
        </p:txBody>
      </p:sp>
      <p:pic>
        <p:nvPicPr>
          <p:cNvPr id="8" name="e16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6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6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6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2" name="e16_8"/>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a:t>
            </a:r>
            <a:endParaRPr lang="en-US" sz="1800" dirty="0"/>
          </a:p>
        </p:txBody>
      </p:sp>
      <p:sp>
        <p:nvSpPr>
          <p:cNvPr id="13" name="e16_9"/>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4" name="e16_10"/>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5" name="e16_11"/>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A von rechts. B fährt zuerst.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32"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380" fill="hold" accel="60000"/>
                                        <p:tgtEl>
                                          <p:spTgt spid="12"/>
                                        </p:tgtEl>
                                        <p:attrNameLst>
                                          <p:attrName>ppt_w</p:attrName>
                                        </p:attrNameLst>
                                      </p:cBhvr>
                                      <p:tavLst>
                                        <p:tav tm="0">
                                          <p:val>
                                            <p:strVal val="#ppt_w*2.2"/>
                                          </p:val>
                                        </p:tav>
                                        <p:tav tm="100000">
                                          <p:val>
                                            <p:strVal val="#ppt_w"/>
                                          </p:val>
                                        </p:tav>
                                      </p:tavLst>
                                    </p:anim>
                                    <p:anim calcmode="lin" valueType="num">
                                      <p:cBhvr additive="base">
                                        <p:cTn id="35" dur="380" fill="hold" accel="60000"/>
                                        <p:tgtEl>
                                          <p:spTgt spid="12"/>
                                        </p:tgtEl>
                                        <p:attrNameLst>
                                          <p:attrName>ppt_h</p:attrName>
                                        </p:attrNameLst>
                                      </p:cBhvr>
                                      <p:tavLst>
                                        <p:tav tm="0">
                                          <p:val>
                                            <p:strVal val="#ppt_h*2.2"/>
                                          </p:val>
                                        </p:tav>
                                        <p:tav tm="100000">
                                          <p:val>
                                            <p:strVal val="#ppt_h"/>
                                          </p:val>
                                        </p:tav>
                                      </p:tavLst>
                                    </p:anim>
                                    <p:animEffect transition="in" filter="fade">
                                      <p:cBhvr>
                                        <p:cTn id="36" dur="228"/>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32"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380" fill="hold" accel="60000"/>
                                        <p:tgtEl>
                                          <p:spTgt spid="13"/>
                                        </p:tgtEl>
                                        <p:attrNameLst>
                                          <p:attrName>ppt_w</p:attrName>
                                        </p:attrNameLst>
                                      </p:cBhvr>
                                      <p:tavLst>
                                        <p:tav tm="0">
                                          <p:val>
                                            <p:strVal val="#ppt_w*2.2"/>
                                          </p:val>
                                        </p:tav>
                                        <p:tav tm="100000">
                                          <p:val>
                                            <p:strVal val="#ppt_w"/>
                                          </p:val>
                                        </p:tav>
                                      </p:tavLst>
                                    </p:anim>
                                    <p:anim calcmode="lin" valueType="num">
                                      <p:cBhvr additive="base">
                                        <p:cTn id="42" dur="380" fill="hold" accel="60000"/>
                                        <p:tgtEl>
                                          <p:spTgt spid="13"/>
                                        </p:tgtEl>
                                        <p:attrNameLst>
                                          <p:attrName>ppt_h</p:attrName>
                                        </p:attrNameLst>
                                      </p:cBhvr>
                                      <p:tavLst>
                                        <p:tav tm="0">
                                          <p:val>
                                            <p:strVal val="#ppt_h*2.2"/>
                                          </p:val>
                                        </p:tav>
                                        <p:tav tm="100000">
                                          <p:val>
                                            <p:strVal val="#ppt_h"/>
                                          </p:val>
                                        </p:tav>
                                      </p:tavLst>
                                    </p:anim>
                                    <p:animEffect transition="in" filter="fade">
                                      <p:cBhvr>
                                        <p:cTn id="43" dur="228"/>
                                        <p:tgtEl>
                                          <p:spTgt spid="13"/>
                                        </p:tgtEl>
                                      </p:cBhvr>
                                    </p:animEffect>
                                  </p:childTnLst>
                                </p:cTn>
                              </p:par>
                            </p:childTnLst>
                          </p:cTn>
                        </p:par>
                        <p:par>
                          <p:cTn id="44" fill="hold">
                            <p:stCondLst>
                              <p:cond delay="380"/>
                            </p:stCondLst>
                            <p:childTnLst>
                              <p:par>
                                <p:cTn id="45" presetID="0" presetClass="path" presetSubtype="0" fill="hold" nodeType="afterEffect" accel="40000" decel="40000">
                                  <p:stCondLst>
                                    <p:cond delay="0"/>
                                  </p:stCondLst>
                                  <p:childTnLst>
                                    <p:animMotion origin="layout" path="M 0 0 C -0.09 0 -0.18 0 -0.27 0 E" pathEditMode="relative" rAng="0" ptsTypes="">
                                      <p:cBhvr>
                                        <p:cTn id="46" dur="2118" fill="hold"/>
                                        <p:tgtEl>
                                          <p:spTgt spid="10"/>
                                        </p:tgtEl>
                                        <p:attrNameLst>
                                          <p:attrName>ppt_x</p:attrName>
                                          <p:attrName>ppt_y</p:attrName>
                                        </p:attrNameLst>
                                      </p:cBhvr>
                                      <p:rCtr x="0" y="0"/>
                                    </p:animMotion>
                                  </p:childTnLst>
                                </p:cTn>
                              </p:par>
                            </p:childTnLst>
                          </p:cTn>
                        </p:par>
                        <p:par>
                          <p:cTn id="47" fill="hold">
                            <p:stCondLst>
                              <p:cond delay="2498"/>
                            </p:stCondLst>
                            <p:childTnLst>
                              <p:par>
                                <p:cTn id="48" presetID="10" presetClass="exit" presetSubtype="0" fill="hold" nodeType="afterEffect">
                                  <p:stCondLst>
                                    <p:cond delay="0"/>
                                  </p:stCondLst>
                                  <p:childTnLst>
                                    <p:animEffect transition="out" filter="fade">
                                      <p:cBhvr>
                                        <p:cTn id="49" dur="350"/>
                                        <p:tgtEl>
                                          <p:spTgt spid="10"/>
                                        </p:tgtEl>
                                      </p:cBhvr>
                                    </p:animEffect>
                                    <p:set>
                                      <p:cBhvr>
                                        <p:cTn id="50" dur="1" fill="hold">
                                          <p:stCondLst>
                                            <p:cond delay="349"/>
                                          </p:stCondLst>
                                        </p:cTn>
                                        <p:tgtEl>
                                          <p:spTgt spid="1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53" presetClass="entr" presetSubtype="32"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4"/>
                                        </p:tgtEl>
                                        <p:attrNameLst>
                                          <p:attrName>ppt_h</p:attrName>
                                        </p:attrNameLst>
                                      </p:cBhvr>
                                      <p:tavLst>
                                        <p:tav tm="0">
                                          <p:val>
                                            <p:strVal val="#ppt_h*2.2"/>
                                          </p:val>
                                        </p:tav>
                                        <p:tav tm="100000">
                                          <p:val>
                                            <p:strVal val="#ppt_h"/>
                                          </p:val>
                                        </p:tav>
                                      </p:tavLst>
                                    </p:anim>
                                    <p:animEffect transition="in" filter="fade">
                                      <p:cBhvr>
                                        <p:cTn id="57" dur="228"/>
                                        <p:tgtEl>
                                          <p:spTgt spid="14"/>
                                        </p:tgtEl>
                                      </p:cBhvr>
                                    </p:animEffect>
                                  </p:childTnLst>
                                </p:cTn>
                              </p:par>
                            </p:childTnLst>
                          </p:cTn>
                        </p:par>
                        <p:par>
                          <p:cTn id="58" fill="hold">
                            <p:stCondLst>
                              <p:cond delay="380"/>
                            </p:stCondLst>
                            <p:childTnLst>
                              <p:par>
                                <p:cTn id="59" presetID="0" presetClass="path" presetSubtype="0" fill="hold" nodeType="afterEffect" accel="40000" decel="40000">
                                  <p:stCondLst>
                                    <p:cond delay="0"/>
                                  </p:stCondLst>
                                  <p:childTnLst>
                                    <p:animMotion origin="layout" path="M 0 0 C 0 -0.2222 0 -0.4444 0 -0.6667 E" pathEditMode="relative" rAng="0" ptsTypes="">
                                      <p:cBhvr>
                                        <p:cTn id="60" dur="2941" fill="hold"/>
                                        <p:tgtEl>
                                          <p:spTgt spid="8"/>
                                        </p:tgtEl>
                                        <p:attrNameLst>
                                          <p:attrName>ppt_x</p:attrName>
                                          <p:attrName>ppt_y</p:attrName>
                                        </p:attrNameLst>
                                      </p:cBhvr>
                                      <p:rCtr x="0" y="0"/>
                                    </p:animMotion>
                                  </p:childTnLst>
                                </p:cTn>
                              </p:par>
                            </p:childTnLst>
                          </p:cTn>
                        </p:par>
                        <p:par>
                          <p:cTn id="61" fill="hold">
                            <p:stCondLst>
                              <p:cond delay="3321"/>
                            </p:stCondLst>
                            <p:childTnLst>
                              <p:par>
                                <p:cTn id="62" presetID="10" presetClass="exit" presetSubtype="0" fill="hold" nodeType="afterEffect">
                                  <p:stCondLst>
                                    <p:cond delay="0"/>
                                  </p:stCondLst>
                                  <p:childTnLst>
                                    <p:animEffect transition="out" filter="fade">
                                      <p:cBhvr>
                                        <p:cTn id="63" dur="350"/>
                                        <p:tgtEl>
                                          <p:spTgt spid="8"/>
                                        </p:tgtEl>
                                      </p:cBhvr>
                                    </p:animEffect>
                                    <p:set>
                                      <p:cBhvr>
                                        <p:cTn id="64" dur="1" fill="hold">
                                          <p:stCondLst>
                                            <p:cond delay="349"/>
                                          </p:stCondLst>
                                        </p:cTn>
                                        <p:tgtEl>
                                          <p:spTgt spid="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600"/>
                                        <p:tgtEl>
                                          <p:spTgt spid="15"/>
                                        </p:tgtEl>
                                      </p:cBhvr>
                                    </p:animEffect>
                                    <p:anim calcmode="lin" valueType="num">
                                      <p:cBhvr additive="base">
                                        <p:cTn id="70"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71" dur="600" fill="hold" decel="100000"/>
                                        <p:tgtEl>
                                          <p:spTgt spid="1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2" grpId="0" animBg="1"/>
      <p:bldP spid="13" grpId="0" animBg="1"/>
      <p:bldP spid="14" grpId="0" animBg="1"/>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2 VON 5</a:t>
            </a:r>
            <a:endParaRPr lang="en-US" sz="1300" dirty="0"/>
          </a:p>
        </p:txBody>
      </p:sp>
      <p:sp>
        <p:nvSpPr>
          <p:cNvPr id="6" name="e17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7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Alle wollen geradeaus.</a:t>
            </a:r>
            <a:endParaRPr lang="en-US" sz="1800" dirty="0"/>
          </a:p>
        </p:txBody>
      </p:sp>
      <p:pic>
        <p:nvPicPr>
          <p:cNvPr id="8" name="e17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7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7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7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2" name="e17_8" descr="/tmp/claude-0/-home-user-Fahrlehrer-Kompass-/11378f77-94a8-55e9-a697-0f3efd4c20b9/scratchpad/bau/art/car_gruen.png">    </p:cNvPr>
          <p:cNvPicPr>
            <a:picLocks noChangeAspect="1"/>
          </p:cNvPicPr>
          <p:nvPr/>
        </p:nvPicPr>
        <p:blipFill>
          <a:blip r:embed="rId4"/>
          <a:stretch>
            <a:fillRect/>
          </a:stretch>
        </p:blipFill>
        <p:spPr>
          <a:xfrm rot="5400000">
            <a:off x="5847588" y="3134106"/>
            <a:ext cx="740664" cy="1481328"/>
          </a:xfrm>
          <a:prstGeom prst="rect">
            <a:avLst/>
          </a:prstGeom>
        </p:spPr>
      </p:pic>
      <p:sp>
        <p:nvSpPr>
          <p:cNvPr id="13" name="e17_9"/>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4" name="e17_10"/>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15" name="e17_11"/>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6" name="e17_12"/>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7" name="e17_13"/>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18" name="e17_14"/>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A von rechts, A kommt für C von rechts. Also B, A, C.</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50"/>
                                        <p:tgtEl>
                                          <p:spTgt spid="13"/>
                                        </p:tgtEl>
                                      </p:cBhvr>
                                    </p:animEffect>
                                    <p:anim calcmode="lin" valueType="num">
                                      <p:cBhvr additive="base">
                                        <p:cTn id="3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3"/>
                                        </p:tgtEl>
                                        <p:attrNameLst>
                                          <p:attrName>ppt_y</p:attrName>
                                        </p:attrNameLst>
                                      </p:cBhvr>
                                      <p:tavLst>
                                        <p:tav tm="0">
                                          <p:val>
                                            <p:strVal val="#ppt_y+.05"/>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53" presetClass="entr" presetSubtype="32"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0" dur="380" fill="hold" accel="60000"/>
                                        <p:tgtEl>
                                          <p:spTgt spid="14"/>
                                        </p:tgtEl>
                                        <p:attrNameLst>
                                          <p:attrName>ppt_h</p:attrName>
                                        </p:attrNameLst>
                                      </p:cBhvr>
                                      <p:tavLst>
                                        <p:tav tm="0">
                                          <p:val>
                                            <p:strVal val="#ppt_h*2.2"/>
                                          </p:val>
                                        </p:tav>
                                        <p:tav tm="100000">
                                          <p:val>
                                            <p:strVal val="#ppt_h"/>
                                          </p:val>
                                        </p:tav>
                                      </p:tavLst>
                                    </p:anim>
                                    <p:animEffect transition="in" filter="fade">
                                      <p:cBhvr>
                                        <p:cTn id="41" dur="228"/>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53" presetClass="entr" presetSubtype="32"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7" dur="380" fill="hold" accel="60000"/>
                                        <p:tgtEl>
                                          <p:spTgt spid="15"/>
                                        </p:tgtEl>
                                        <p:attrNameLst>
                                          <p:attrName>ppt_h</p:attrName>
                                        </p:attrNameLst>
                                      </p:cBhvr>
                                      <p:tavLst>
                                        <p:tav tm="0">
                                          <p:val>
                                            <p:strVal val="#ppt_h*2.2"/>
                                          </p:val>
                                        </p:tav>
                                        <p:tav tm="100000">
                                          <p:val>
                                            <p:strVal val="#ppt_h"/>
                                          </p:val>
                                        </p:tav>
                                      </p:tavLst>
                                    </p:anim>
                                    <p:animEffect transition="in" filter="fade">
                                      <p:cBhvr>
                                        <p:cTn id="48" dur="228"/>
                                        <p:tgtEl>
                                          <p:spTgt spid="15"/>
                                        </p:tgtEl>
                                      </p:cBhvr>
                                    </p:animEffect>
                                  </p:childTnLst>
                                </p:cTn>
                              </p:par>
                            </p:childTnLst>
                          </p:cTn>
                        </p:par>
                        <p:par>
                          <p:cTn id="49" fill="hold">
                            <p:stCondLst>
                              <p:cond delay="380"/>
                            </p:stCondLst>
                            <p:childTnLst>
                              <p:par>
                                <p:cTn id="50" presetID="0" presetClass="path" presetSubtype="0" fill="hold" nodeType="afterEffect" accel="40000" decel="40000">
                                  <p:stCondLst>
                                    <p:cond delay="0"/>
                                  </p:stCondLst>
                                  <p:childTnLst>
                                    <p:animMotion origin="layout" path="M 0 0 C -0.09 0 -0.18 0 -0.27 0 E" pathEditMode="relative" rAng="0" ptsTypes="">
                                      <p:cBhvr>
                                        <p:cTn id="51" dur="2118" fill="hold"/>
                                        <p:tgtEl>
                                          <p:spTgt spid="10"/>
                                        </p:tgtEl>
                                        <p:attrNameLst>
                                          <p:attrName>ppt_x</p:attrName>
                                          <p:attrName>ppt_y</p:attrName>
                                        </p:attrNameLst>
                                      </p:cBhvr>
                                      <p:rCtr x="0" y="0"/>
                                    </p:animMotion>
                                  </p:childTnLst>
                                </p:cTn>
                              </p:par>
                            </p:childTnLst>
                          </p:cTn>
                        </p:par>
                        <p:par>
                          <p:cTn id="52" fill="hold">
                            <p:stCondLst>
                              <p:cond delay="2498"/>
                            </p:stCondLst>
                            <p:childTnLst>
                              <p:par>
                                <p:cTn id="53" presetID="10" presetClass="exit" presetSubtype="0" fill="hold" nodeType="afterEffect">
                                  <p:stCondLst>
                                    <p:cond delay="0"/>
                                  </p:stCondLst>
                                  <p:childTnLst>
                                    <p:animEffect transition="out" filter="fade">
                                      <p:cBhvr>
                                        <p:cTn id="54" dur="350"/>
                                        <p:tgtEl>
                                          <p:spTgt spid="10"/>
                                        </p:tgtEl>
                                      </p:cBhvr>
                                    </p:animEffect>
                                    <p:set>
                                      <p:cBhvr>
                                        <p:cTn id="55" dur="1" fill="hold">
                                          <p:stCondLst>
                                            <p:cond delay="349"/>
                                          </p:stCondLst>
                                        </p:cTn>
                                        <p:tgtEl>
                                          <p:spTgt spid="10"/>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53" presetClass="entr" presetSubtype="32"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 calcmode="lin" valueType="num">
                                      <p:cBhvr additive="base">
                                        <p:cTn id="60"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61" dur="380" fill="hold" accel="60000"/>
                                        <p:tgtEl>
                                          <p:spTgt spid="16"/>
                                        </p:tgtEl>
                                        <p:attrNameLst>
                                          <p:attrName>ppt_h</p:attrName>
                                        </p:attrNameLst>
                                      </p:cBhvr>
                                      <p:tavLst>
                                        <p:tav tm="0">
                                          <p:val>
                                            <p:strVal val="#ppt_h*2.2"/>
                                          </p:val>
                                        </p:tav>
                                        <p:tav tm="100000">
                                          <p:val>
                                            <p:strVal val="#ppt_h"/>
                                          </p:val>
                                        </p:tav>
                                      </p:tavLst>
                                    </p:anim>
                                    <p:animEffect transition="in" filter="fade">
                                      <p:cBhvr>
                                        <p:cTn id="62" dur="228"/>
                                        <p:tgtEl>
                                          <p:spTgt spid="16"/>
                                        </p:tgtEl>
                                      </p:cBhvr>
                                    </p:animEffect>
                                  </p:childTnLst>
                                </p:cTn>
                              </p:par>
                            </p:childTnLst>
                          </p:cTn>
                        </p:par>
                        <p:par>
                          <p:cTn id="63" fill="hold">
                            <p:stCondLst>
                              <p:cond delay="380"/>
                            </p:stCondLst>
                            <p:childTnLst>
                              <p:par>
                                <p:cTn id="64" presetID="0" presetClass="path" presetSubtype="0" fill="hold" nodeType="afterEffect" accel="40000" decel="40000">
                                  <p:stCondLst>
                                    <p:cond delay="0"/>
                                  </p:stCondLst>
                                  <p:childTnLst>
                                    <p:animMotion origin="layout" path="M 0 0 C 0 -0.2222 0 -0.4444 0 -0.6667 E" pathEditMode="relative" rAng="0" ptsTypes="">
                                      <p:cBhvr>
                                        <p:cTn id="65" dur="2941" fill="hold"/>
                                        <p:tgtEl>
                                          <p:spTgt spid="8"/>
                                        </p:tgtEl>
                                        <p:attrNameLst>
                                          <p:attrName>ppt_x</p:attrName>
                                          <p:attrName>ppt_y</p:attrName>
                                        </p:attrNameLst>
                                      </p:cBhvr>
                                      <p:rCtr x="0" y="0"/>
                                    </p:animMotion>
                                  </p:childTnLst>
                                </p:cTn>
                              </p:par>
                            </p:childTnLst>
                          </p:cTn>
                        </p:par>
                        <p:par>
                          <p:cTn id="66" fill="hold">
                            <p:stCondLst>
                              <p:cond delay="3321"/>
                            </p:stCondLst>
                            <p:childTnLst>
                              <p:par>
                                <p:cTn id="67" presetID="10" presetClass="exit" presetSubtype="0" fill="hold" nodeType="afterEffect">
                                  <p:stCondLst>
                                    <p:cond delay="0"/>
                                  </p:stCondLst>
                                  <p:childTnLst>
                                    <p:animEffect transition="out" filter="fade">
                                      <p:cBhvr>
                                        <p:cTn id="68" dur="350"/>
                                        <p:tgtEl>
                                          <p:spTgt spid="8"/>
                                        </p:tgtEl>
                                      </p:cBhvr>
                                    </p:animEffect>
                                    <p:set>
                                      <p:cBhvr>
                                        <p:cTn id="69" dur="1" fill="hold">
                                          <p:stCondLst>
                                            <p:cond delay="349"/>
                                          </p:stCondLst>
                                        </p:cTn>
                                        <p:tgtEl>
                                          <p:spTgt spid="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53" presetClass="entr" presetSubtype="32" fill="hold" grpId="0" nodeType="clickEffect">
                                  <p:stCondLst>
                                    <p:cond delay="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75" dur="380" fill="hold" accel="60000"/>
                                        <p:tgtEl>
                                          <p:spTgt spid="17"/>
                                        </p:tgtEl>
                                        <p:attrNameLst>
                                          <p:attrName>ppt_h</p:attrName>
                                        </p:attrNameLst>
                                      </p:cBhvr>
                                      <p:tavLst>
                                        <p:tav tm="0">
                                          <p:val>
                                            <p:strVal val="#ppt_h*2.2"/>
                                          </p:val>
                                        </p:tav>
                                        <p:tav tm="100000">
                                          <p:val>
                                            <p:strVal val="#ppt_h"/>
                                          </p:val>
                                        </p:tav>
                                      </p:tavLst>
                                    </p:anim>
                                    <p:animEffect transition="in" filter="fade">
                                      <p:cBhvr>
                                        <p:cTn id="76" dur="228"/>
                                        <p:tgtEl>
                                          <p:spTgt spid="17"/>
                                        </p:tgtEl>
                                      </p:cBhvr>
                                    </p:animEffect>
                                  </p:childTnLst>
                                </p:cTn>
                              </p:par>
                            </p:childTnLst>
                          </p:cTn>
                        </p:par>
                        <p:par>
                          <p:cTn id="77" fill="hold">
                            <p:stCondLst>
                              <p:cond delay="380"/>
                            </p:stCondLst>
                            <p:childTnLst>
                              <p:par>
                                <p:cTn id="78" presetID="0" presetClass="path" presetSubtype="0" fill="hold" nodeType="afterEffect" accel="40000" decel="40000">
                                  <p:stCondLst>
                                    <p:cond delay="0"/>
                                  </p:stCondLst>
                                  <p:childTnLst>
                                    <p:animMotion origin="layout" path="M 0 0 C 0.17 0 0.34 0 0.51 0 E" pathEditMode="relative" rAng="0" ptsTypes="">
                                      <p:cBhvr>
                                        <p:cTn id="79" dur="4000" fill="hold"/>
                                        <p:tgtEl>
                                          <p:spTgt spid="12"/>
                                        </p:tgtEl>
                                        <p:attrNameLst>
                                          <p:attrName>ppt_x</p:attrName>
                                          <p:attrName>ppt_y</p:attrName>
                                        </p:attrNameLst>
                                      </p:cBhvr>
                                      <p:rCtr x="0" y="0"/>
                                    </p:animMotion>
                                  </p:childTnLst>
                                </p:cTn>
                              </p:par>
                            </p:childTnLst>
                          </p:cTn>
                        </p:par>
                        <p:par>
                          <p:cTn id="80" fill="hold">
                            <p:stCondLst>
                              <p:cond delay="4380"/>
                            </p:stCondLst>
                            <p:childTnLst>
                              <p:par>
                                <p:cTn id="81" presetID="10" presetClass="exit" presetSubtype="0" fill="hold" nodeType="afterEffect">
                                  <p:stCondLst>
                                    <p:cond delay="0"/>
                                  </p:stCondLst>
                                  <p:childTnLst>
                                    <p:animEffect transition="out" filter="fade">
                                      <p:cBhvr>
                                        <p:cTn id="82" dur="350"/>
                                        <p:tgtEl>
                                          <p:spTgt spid="12"/>
                                        </p:tgtEl>
                                      </p:cBhvr>
                                    </p:animEffect>
                                    <p:set>
                                      <p:cBhvr>
                                        <p:cTn id="83" dur="1" fill="hold">
                                          <p:stCondLst>
                                            <p:cond delay="349"/>
                                          </p:stCondLst>
                                        </p:cTn>
                                        <p:tgtEl>
                                          <p:spTgt spid="12"/>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decel="100000"/>
                                        <p:tgtEl>
                                          <p:spTgt spid="18"/>
                                        </p:tgtEl>
                                        <p:attrNameLst>
                                          <p:attrName>ppt_x</p:attrName>
                                        </p:attrNameLst>
                                      </p:cBhvr>
                                      <p:tavLst>
                                        <p:tav tm="0">
                                          <p:val>
                                            <p:strVal val="#ppt_x"/>
                                          </p:val>
                                        </p:tav>
                                        <p:tav tm="100000">
                                          <p:val>
                                            <p:strVal val="#ppt_x"/>
                                          </p:val>
                                        </p:tav>
                                      </p:tavLst>
                                    </p:anim>
                                    <p:anim calcmode="lin" valueType="num">
                                      <p:cBhvr additive="base">
                                        <p:cTn id="90" dur="6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3" grpId="0" animBg="1"/>
      <p:bldP spid="14" grpId="0" animBg="1"/>
      <p:bldP spid="15" grpId="0" animBg="1"/>
      <p:bldP spid="16" grpId="0" animBg="1"/>
      <p:bldP spid="17"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3 VON 5</a:t>
            </a:r>
            <a:endParaRPr lang="en-US" sz="1300" dirty="0"/>
          </a:p>
        </p:txBody>
      </p:sp>
      <p:sp>
        <p:nvSpPr>
          <p:cNvPr id="6" name="e18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8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will links abbiegen (blinkt).</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B und C wollen geradeaus.</a:t>
            </a:r>
            <a:endParaRPr lang="en-US" sz="1800" dirty="0"/>
          </a:p>
        </p:txBody>
      </p:sp>
      <p:pic>
        <p:nvPicPr>
          <p:cNvPr id="8" name="e18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8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8_6" descr="/tmp/claude-0/-home-user-Fahrlehrer-Kompass-/11378f77-94a8-55e9-a697-0f3efd4c20b9/scratchpad/bau/art/blink_L.png">    </p:cNvPr>
          <p:cNvPicPr>
            <a:picLocks noChangeAspect="1"/>
          </p:cNvPicPr>
          <p:nvPr/>
        </p:nvPicPr>
        <p:blipFill>
          <a:blip r:embed="rId3"/>
          <a:stretch>
            <a:fillRect/>
          </a:stretch>
        </p:blipFill>
        <p:spPr>
          <a:xfrm>
            <a:off x="7939278" y="4334256"/>
            <a:ext cx="740664" cy="1481328"/>
          </a:xfrm>
          <a:prstGeom prst="rect">
            <a:avLst/>
          </a:prstGeom>
        </p:spPr>
      </p:pic>
      <p:pic>
        <p:nvPicPr>
          <p:cNvPr id="11" name="e18_7" descr="/tmp/claude-0/-home-user-Fahrlehrer-Kompass-/11378f77-94a8-55e9-a697-0f3efd4c20b9/scratchpad/bau/art/car_rot.png">    </p:cNvPr>
          <p:cNvPicPr>
            <a:picLocks noChangeAspect="1"/>
          </p:cNvPicPr>
          <p:nvPr/>
        </p:nvPicPr>
        <p:blipFill>
          <a:blip r:embed="rId4"/>
          <a:stretch>
            <a:fillRect/>
          </a:stretch>
        </p:blipFill>
        <p:spPr>
          <a:xfrm rot="10800000">
            <a:off x="7047738" y="1042416"/>
            <a:ext cx="740664" cy="1481328"/>
          </a:xfrm>
          <a:prstGeom prst="rect">
            <a:avLst/>
          </a:prstGeom>
        </p:spPr>
      </p:pic>
      <p:sp>
        <p:nvSpPr>
          <p:cNvPr id="12" name="e18_8"/>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3" name="e18_9" descr="/tmp/claude-0/-home-user-Fahrlehrer-Kompass-/11378f77-94a8-55e9-a697-0f3efd4c20b9/scratchpad/bau/art/car_gruen.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4" name="e18_10"/>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5" name="e18_11"/>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16" name="e18_12"/>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7" name="e18_13"/>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8" name="e18_14"/>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19" name="e18_15"/>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B kommt für C von rechts. C kommt für A von rechts. A biegt links ab und lässt den Gegenverkehr B durch.</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2"/>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650"/>
                                        <p:tgtEl>
                                          <p:spTgt spid="14"/>
                                        </p:tgtEl>
                                      </p:cBhvr>
                                    </p:animEffect>
                                    <p:anim calcmode="lin" valueType="num">
                                      <p:cBhvr additive="base">
                                        <p:cTn id="33"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4"/>
                                        </p:tgtEl>
                                        <p:attrNameLst>
                                          <p:attrName>ppt_y</p:attrName>
                                        </p:attrNameLst>
                                      </p:cBhvr>
                                      <p:tavLst>
                                        <p:tav tm="0">
                                          <p:val>
                                            <p:strVal val="#ppt_y+.05"/>
                                          </p:val>
                                        </p:tav>
                                        <p:tav tm="100000">
                                          <p:val>
                                            <p:strVal val="#ppt_y"/>
                                          </p:val>
                                        </p:tav>
                                      </p:tavLst>
                                    </p:anim>
                                  </p:childTnLst>
                                </p:cTn>
                              </p:par>
                              <p:par>
                                <p:cTn id="35" presetID="10"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50"/>
                                        <p:tgtEl>
                                          <p:spTgt spid="10"/>
                                        </p:tgtEl>
                                      </p:cBhvr>
                                    </p:animEffect>
                                  </p:childTnLst>
                                </p:cTn>
                              </p:par>
                              <p:par>
                                <p:cTn id="38" presetID="35" presetClass="emph" presetSubtype="0" fill="hold" nodeType="withEffect" repeatCount="indefinite">
                                  <p:stCondLst>
                                    <p:cond delay="0"/>
                                  </p:stCondLst>
                                  <p:childTnLst>
                                    <p:anim calcmode="discrete" valueType="str">
                                      <p:cBhvr override="childStyle">
                                        <p:cTn id="39" dur="700"/>
                                        <p:tgtEl>
                                          <p:spTgt spid="10"/>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32"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additive="base">
                                        <p:cTn id="44"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5"/>
                                        </p:tgtEl>
                                        <p:attrNameLst>
                                          <p:attrName>ppt_h</p:attrName>
                                        </p:attrNameLst>
                                      </p:cBhvr>
                                      <p:tavLst>
                                        <p:tav tm="0">
                                          <p:val>
                                            <p:strVal val="#ppt_h*2.2"/>
                                          </p:val>
                                        </p:tav>
                                        <p:tav tm="100000">
                                          <p:val>
                                            <p:strVal val="#ppt_h"/>
                                          </p:val>
                                        </p:tav>
                                      </p:tavLst>
                                    </p:anim>
                                    <p:animEffect transition="in" filter="fade">
                                      <p:cBhvr>
                                        <p:cTn id="46" dur="228"/>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32"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52" dur="380" fill="hold" accel="60000"/>
                                        <p:tgtEl>
                                          <p:spTgt spid="16"/>
                                        </p:tgtEl>
                                        <p:attrNameLst>
                                          <p:attrName>ppt_h</p:attrName>
                                        </p:attrNameLst>
                                      </p:cBhvr>
                                      <p:tavLst>
                                        <p:tav tm="0">
                                          <p:val>
                                            <p:strVal val="#ppt_h*2.2"/>
                                          </p:val>
                                        </p:tav>
                                        <p:tav tm="100000">
                                          <p:val>
                                            <p:strVal val="#ppt_h"/>
                                          </p:val>
                                        </p:tav>
                                      </p:tavLst>
                                    </p:anim>
                                    <p:animEffect transition="in" filter="fade">
                                      <p:cBhvr>
                                        <p:cTn id="53" dur="228"/>
                                        <p:tgtEl>
                                          <p:spTgt spid="16"/>
                                        </p:tgtEl>
                                      </p:cBhvr>
                                    </p:animEffect>
                                  </p:childTnLst>
                                </p:cTn>
                              </p:par>
                            </p:childTnLst>
                          </p:cTn>
                        </p:par>
                        <p:par>
                          <p:cTn id="54" fill="hold">
                            <p:stCondLst>
                              <p:cond delay="380"/>
                            </p:stCondLst>
                            <p:childTnLst>
                              <p:par>
                                <p:cTn id="55" presetID="0" presetClass="path" presetSubtype="0" fill="hold" nodeType="afterEffect" accel="40000" decel="40000">
                                  <p:stCondLst>
                                    <p:cond delay="0"/>
                                  </p:stCondLst>
                                  <p:childTnLst>
                                    <p:animMotion origin="layout" path="M 0 0 C 0 0.2222 0 0.4444 0 0.6667 E" pathEditMode="relative" rAng="0" ptsTypes="">
                                      <p:cBhvr>
                                        <p:cTn id="56" dur="2941" fill="hold"/>
                                        <p:tgtEl>
                                          <p:spTgt spid="11"/>
                                        </p:tgtEl>
                                        <p:attrNameLst>
                                          <p:attrName>ppt_x</p:attrName>
                                          <p:attrName>ppt_y</p:attrName>
                                        </p:attrNameLst>
                                      </p:cBhvr>
                                      <p:rCtr x="0" y="0"/>
                                    </p:animMotion>
                                  </p:childTnLst>
                                </p:cTn>
                              </p:par>
                            </p:childTnLst>
                          </p:cTn>
                        </p:par>
                        <p:par>
                          <p:cTn id="57" fill="hold">
                            <p:stCondLst>
                              <p:cond delay="3321"/>
                            </p:stCondLst>
                            <p:childTnLst>
                              <p:par>
                                <p:cTn id="58" presetID="10" presetClass="exit" presetSubtype="0" fill="hold" nodeType="afterEffect">
                                  <p:stCondLst>
                                    <p:cond delay="0"/>
                                  </p:stCondLst>
                                  <p:childTnLst>
                                    <p:animEffect transition="out" filter="fade">
                                      <p:cBhvr>
                                        <p:cTn id="59" dur="350"/>
                                        <p:tgtEl>
                                          <p:spTgt spid="11"/>
                                        </p:tgtEl>
                                      </p:cBhvr>
                                    </p:animEffect>
                                    <p:set>
                                      <p:cBhvr>
                                        <p:cTn id="60" dur="1" fill="hold">
                                          <p:stCondLst>
                                            <p:cond delay="349"/>
                                          </p:stCondLst>
                                        </p:cTn>
                                        <p:tgtEl>
                                          <p:spTgt spid="11"/>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7"/>
                                        </p:tgtEl>
                                        <p:attrNameLst>
                                          <p:attrName>ppt_h</p:attrName>
                                        </p:attrNameLst>
                                      </p:cBhvr>
                                      <p:tavLst>
                                        <p:tav tm="0">
                                          <p:val>
                                            <p:strVal val="#ppt_h*2.2"/>
                                          </p:val>
                                        </p:tav>
                                        <p:tav tm="100000">
                                          <p:val>
                                            <p:strVal val="#ppt_h"/>
                                          </p:val>
                                        </p:tav>
                                      </p:tavLst>
                                    </p:anim>
                                    <p:animEffect transition="in" filter="fade">
                                      <p:cBhvr>
                                        <p:cTn id="67" dur="228"/>
                                        <p:tgtEl>
                                          <p:spTgt spid="17"/>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09 0 -0.18 0 -0.27 0 E" pathEditMode="relative" rAng="0" ptsTypes="">
                                      <p:cBhvr>
                                        <p:cTn id="70" dur="2118" fill="hold"/>
                                        <p:tgtEl>
                                          <p:spTgt spid="13"/>
                                        </p:tgtEl>
                                        <p:attrNameLst>
                                          <p:attrName>ppt_x</p:attrName>
                                          <p:attrName>ppt_y</p:attrName>
                                        </p:attrNameLst>
                                      </p:cBhvr>
                                      <p:rCtr x="0" y="0"/>
                                    </p:animMotion>
                                  </p:childTnLst>
                                </p:cTn>
                              </p:par>
                            </p:childTnLst>
                          </p:cTn>
                        </p:par>
                        <p:par>
                          <p:cTn id="71" fill="hold">
                            <p:stCondLst>
                              <p:cond delay="2498"/>
                            </p:stCondLst>
                            <p:childTnLst>
                              <p:par>
                                <p:cTn id="72" presetID="10" presetClass="exit" presetSubtype="0" fill="hold" nodeType="afterEffect">
                                  <p:stCondLst>
                                    <p:cond delay="0"/>
                                  </p:stCondLst>
                                  <p:childTnLst>
                                    <p:animEffect transition="out" filter="fade">
                                      <p:cBhvr>
                                        <p:cTn id="73" dur="350"/>
                                        <p:tgtEl>
                                          <p:spTgt spid="13"/>
                                        </p:tgtEl>
                                      </p:cBhvr>
                                    </p:animEffect>
                                    <p:set>
                                      <p:cBhvr>
                                        <p:cTn id="74" dur="1" fill="hold">
                                          <p:stCondLst>
                                            <p:cond delay="349"/>
                                          </p:stCondLst>
                                        </p:cTn>
                                        <p:tgtEl>
                                          <p:spTgt spid="13"/>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ntr" presetSubtype="32" fill="hold" grpId="0" nodeType="clickEffect">
                                  <p:stCondLst>
                                    <p:cond delay="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80" dur="380" fill="hold" accel="60000"/>
                                        <p:tgtEl>
                                          <p:spTgt spid="18"/>
                                        </p:tgtEl>
                                        <p:attrNameLst>
                                          <p:attrName>ppt_h</p:attrName>
                                        </p:attrNameLst>
                                      </p:cBhvr>
                                      <p:tavLst>
                                        <p:tav tm="0">
                                          <p:val>
                                            <p:strVal val="#ppt_h*2.2"/>
                                          </p:val>
                                        </p:tav>
                                        <p:tav tm="100000">
                                          <p:val>
                                            <p:strVal val="#ppt_h"/>
                                          </p:val>
                                        </p:tav>
                                      </p:tavLst>
                                    </p:anim>
                                    <p:animEffect transition="in" filter="fade">
                                      <p:cBhvr>
                                        <p:cTn id="81" dur="228"/>
                                        <p:tgtEl>
                                          <p:spTgt spid="18"/>
                                        </p:tgtEl>
                                      </p:cBhvr>
                                    </p:animEffect>
                                  </p:childTnLst>
                                </p:cTn>
                              </p:par>
                            </p:childTnLst>
                          </p:cTn>
                        </p:par>
                        <p:par>
                          <p:cTn id="82" fill="hold">
                            <p:stCondLst>
                              <p:cond delay="380"/>
                            </p:stCondLst>
                            <p:childTnLst>
                              <p:par>
                                <p:cTn id="83" presetID="0" presetClass="path" presetSubtype="0" fill="hold" nodeType="afterEffect" accel="50000">
                                  <p:stCondLst>
                                    <p:cond delay="0"/>
                                  </p:stCondLst>
                                  <p:childTnLst>
                                    <p:animMotion origin="layout" path="M 0 0 C 0 -0.0439 0 -0.0878 0 -0.1317 E" pathEditMode="relative" rAng="0" ptsTypes="">
                                      <p:cBhvr>
                                        <p:cTn id="84" dur="581" fill="hold"/>
                                        <p:tgtEl>
                                          <p:spTgt spid="8"/>
                                        </p:tgtEl>
                                        <p:attrNameLst>
                                          <p:attrName>ppt_x</p:attrName>
                                          <p:attrName>ppt_y</p:attrName>
                                        </p:attrNameLst>
                                      </p:cBhvr>
                                      <p:rCtr x="0" y="0"/>
                                    </p:animMotion>
                                  </p:childTnLst>
                                </p:cTn>
                              </p:par>
                              <p:par>
                                <p:cTn id="85" presetID="0" presetClass="path" presetSubtype="0" fill="hold" nodeType="withEffect" accel="50000">
                                  <p:stCondLst>
                                    <p:cond delay="0"/>
                                  </p:stCondLst>
                                  <p:childTnLst>
                                    <p:animMotion origin="layout" path="M 0 0 C 0 -0.0439 0 -0.0878 0 -0.1317 E" pathEditMode="relative" rAng="0" ptsTypes="">
                                      <p:cBhvr>
                                        <p:cTn id="86" dur="581" fill="hold"/>
                                        <p:tgtEl>
                                          <p:spTgt spid="10"/>
                                        </p:tgtEl>
                                        <p:attrNameLst>
                                          <p:attrName>ppt_x</p:attrName>
                                          <p:attrName>ppt_y</p:attrName>
                                        </p:attrNameLst>
                                      </p:cBhvr>
                                      <p:rCtr x="0" y="0"/>
                                    </p:animMotion>
                                  </p:childTnLst>
                                </p:cTn>
                              </p:par>
                            </p:childTnLst>
                          </p:cTn>
                        </p:par>
                        <p:par>
                          <p:cTn id="87" fill="hold">
                            <p:stCondLst>
                              <p:cond delay="961"/>
                            </p:stCondLst>
                            <p:childTnLst>
                              <p:par>
                                <p:cTn id="88" presetID="0" presetClass="path" presetSubtype="0" fill="hold" nodeType="afterEffect">
                                  <p:stCondLst>
                                    <p:cond delay="0"/>
                                  </p:stCondLst>
                                  <p:childTnLst>
                                    <p:animMotion origin="layout" path="M 0 -0.1317 C 0 -0.2274 -0.0437 -0.305 -0.0975 -0.305 E" pathEditMode="relative" rAng="0" ptsTypes="">
                                      <p:cBhvr>
                                        <p:cTn id="89" dur="1201" fill="hold"/>
                                        <p:tgtEl>
                                          <p:spTgt spid="8"/>
                                        </p:tgtEl>
                                        <p:attrNameLst>
                                          <p:attrName>ppt_x</p:attrName>
                                          <p:attrName>ppt_y</p:attrName>
                                        </p:attrNameLst>
                                      </p:cBhvr>
                                      <p:rCtr x="0" y="0"/>
                                    </p:animMotion>
                                  </p:childTnLst>
                                </p:cTn>
                              </p:par>
                              <p:par>
                                <p:cTn id="90" presetID="8" presetClass="emph" presetSubtype="0" fill="hold" nodeType="withEffect">
                                  <p:stCondLst>
                                    <p:cond delay="0"/>
                                  </p:stCondLst>
                                  <p:childTnLst>
                                    <p:animRot by="-5400000">
                                      <p:cBhvr>
                                        <p:cTn id="91" dur="1201" fill="hold"/>
                                        <p:tgtEl>
                                          <p:spTgt spid="8"/>
                                        </p:tgtEl>
                                        <p:attrNameLst>
                                          <p:attrName>r</p:attrName>
                                        </p:attrNameLst>
                                      </p:cBhvr>
                                    </p:animRot>
                                  </p:childTnLst>
                                </p:cTn>
                              </p:par>
                              <p:par>
                                <p:cTn id="92" presetID="0" presetClass="path" presetSubtype="0" fill="hold" nodeType="withEffect">
                                  <p:stCondLst>
                                    <p:cond delay="0"/>
                                  </p:stCondLst>
                                  <p:childTnLst>
                                    <p:animMotion origin="layout" path="M 0 -0.1317 C 0 -0.2274 -0.0437 -0.305 -0.0975 -0.305 E" pathEditMode="relative" rAng="0" ptsTypes="">
                                      <p:cBhvr>
                                        <p:cTn id="93" dur="1201" fill="hold"/>
                                        <p:tgtEl>
                                          <p:spTgt spid="10"/>
                                        </p:tgtEl>
                                        <p:attrNameLst>
                                          <p:attrName>ppt_x</p:attrName>
                                          <p:attrName>ppt_y</p:attrName>
                                        </p:attrNameLst>
                                      </p:cBhvr>
                                      <p:rCtr x="0" y="0"/>
                                    </p:animMotion>
                                  </p:childTnLst>
                                </p:cTn>
                              </p:par>
                              <p:par>
                                <p:cTn id="94" presetID="8" presetClass="emph" presetSubtype="0" fill="hold" nodeType="withEffect">
                                  <p:stCondLst>
                                    <p:cond delay="0"/>
                                  </p:stCondLst>
                                  <p:childTnLst>
                                    <p:animRot by="-5400000">
                                      <p:cBhvr>
                                        <p:cTn id="95" dur="1201" fill="hold"/>
                                        <p:tgtEl>
                                          <p:spTgt spid="10"/>
                                        </p:tgtEl>
                                        <p:attrNameLst>
                                          <p:attrName>r</p:attrName>
                                        </p:attrNameLst>
                                      </p:cBhvr>
                                    </p:animRot>
                                  </p:childTnLst>
                                </p:cTn>
                              </p:par>
                            </p:childTnLst>
                          </p:cTn>
                        </p:par>
                        <p:par>
                          <p:cTn id="96" fill="hold">
                            <p:stCondLst>
                              <p:cond delay="2162"/>
                            </p:stCondLst>
                            <p:childTnLst>
                              <p:par>
                                <p:cTn id="97" presetID="0" presetClass="path" presetSubtype="0" fill="hold" nodeType="afterEffect" decel="50000">
                                  <p:stCondLst>
                                    <p:cond delay="0"/>
                                  </p:stCondLst>
                                  <p:childTnLst>
                                    <p:animMotion origin="layout" path="M -0.0975 -0.305 C -0.1375 -0.305 -0.1775 -0.305 -0.2175 -0.305 E" pathEditMode="relative" rAng="0" ptsTypes="">
                                      <p:cBhvr>
                                        <p:cTn id="98" dur="941" fill="hold"/>
                                        <p:tgtEl>
                                          <p:spTgt spid="8"/>
                                        </p:tgtEl>
                                        <p:attrNameLst>
                                          <p:attrName>ppt_x</p:attrName>
                                          <p:attrName>ppt_y</p:attrName>
                                        </p:attrNameLst>
                                      </p:cBhvr>
                                      <p:rCtr x="0" y="0"/>
                                    </p:animMotion>
                                  </p:childTnLst>
                                </p:cTn>
                              </p:par>
                              <p:par>
                                <p:cTn id="99" presetID="0" presetClass="path" presetSubtype="0" fill="hold" nodeType="withEffect" decel="50000">
                                  <p:stCondLst>
                                    <p:cond delay="0"/>
                                  </p:stCondLst>
                                  <p:childTnLst>
                                    <p:animMotion origin="layout" path="M -0.0975 -0.305 C -0.1375 -0.305 -0.1775 -0.305 -0.2175 -0.305 E" pathEditMode="relative" rAng="0" ptsTypes="">
                                      <p:cBhvr>
                                        <p:cTn id="100" dur="941" fill="hold"/>
                                        <p:tgtEl>
                                          <p:spTgt spid="10"/>
                                        </p:tgtEl>
                                        <p:attrNameLst>
                                          <p:attrName>ppt_x</p:attrName>
                                          <p:attrName>ppt_y</p:attrName>
                                        </p:attrNameLst>
                                      </p:cBhvr>
                                      <p:rCtr x="0" y="0"/>
                                    </p:animMotion>
                                  </p:childTnLst>
                                </p:cTn>
                              </p:par>
                            </p:childTnLst>
                          </p:cTn>
                        </p:par>
                        <p:par>
                          <p:cTn id="101" fill="hold">
                            <p:stCondLst>
                              <p:cond delay="3103"/>
                            </p:stCondLst>
                            <p:childTnLst>
                              <p:par>
                                <p:cTn id="102" presetID="10" presetClass="exit" presetSubtype="0" fill="hold" nodeType="afterEffect">
                                  <p:stCondLst>
                                    <p:cond delay="0"/>
                                  </p:stCondLst>
                                  <p:childTnLst>
                                    <p:animEffect transition="out" filter="fade">
                                      <p:cBhvr>
                                        <p:cTn id="103" dur="350"/>
                                        <p:tgtEl>
                                          <p:spTgt spid="8"/>
                                        </p:tgtEl>
                                      </p:cBhvr>
                                    </p:animEffect>
                                    <p:set>
                                      <p:cBhvr>
                                        <p:cTn id="104" dur="1" fill="hold">
                                          <p:stCondLst>
                                            <p:cond delay="349"/>
                                          </p:stCondLst>
                                        </p:cTn>
                                        <p:tgtEl>
                                          <p:spTgt spid="8"/>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10"/>
                                        </p:tgtEl>
                                      </p:cBhvr>
                                    </p:animEffect>
                                    <p:set>
                                      <p:cBhvr>
                                        <p:cTn id="107" dur="1" fill="hold">
                                          <p:stCondLst>
                                            <p:cond delay="349"/>
                                          </p:stCondLst>
                                        </p:cTn>
                                        <p:tgtEl>
                                          <p:spTgt spid="10"/>
                                        </p:tgtEl>
                                        <p:attrNameLst>
                                          <p:attrName>style.visibility</p:attrName>
                                        </p:attrNameLst>
                                      </p:cBhvr>
                                      <p:to>
                                        <p:strVal val="hidden"/>
                                      </p:to>
                                    </p:se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19"/>
                                        </p:tgtEl>
                                        <p:attrNameLst>
                                          <p:attrName>style.visibility</p:attrName>
                                        </p:attrNameLst>
                                      </p:cBhvr>
                                      <p:to>
                                        <p:strVal val="visible"/>
                                      </p:to>
                                    </p:set>
                                    <p:animEffect transition="in" filter="fade">
                                      <p:cBhvr>
                                        <p:cTn id="112" dur="600"/>
                                        <p:tgtEl>
                                          <p:spTgt spid="19"/>
                                        </p:tgtEl>
                                      </p:cBhvr>
                                    </p:animEffect>
                                    <p:anim calcmode="lin" valueType="num">
                                      <p:cBhvr additive="base">
                                        <p:cTn id="113"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114" dur="600" fill="hold" decel="100000"/>
                                        <p:tgtEl>
                                          <p:spTgt spid="19"/>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2" grpId="0" animBg="1"/>
      <p:bldP spid="14" grpId="0" animBg="1"/>
      <p:bldP spid="15"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1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4 VON 5</a:t>
            </a:r>
            <a:endParaRPr lang="en-US" sz="1300" dirty="0"/>
          </a:p>
        </p:txBody>
      </p:sp>
      <p:sp>
        <p:nvSpPr>
          <p:cNvPr id="6" name="e19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19_3"/>
          <p:cNvSpPr txBox="1"/>
          <p:nvPr/>
        </p:nvSpPr>
        <p:spPr>
          <a:xfrm>
            <a:off x="731520" y="3108960"/>
            <a:ext cx="4023360" cy="118872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Keine Schilder, keine Ampel.</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Vier Autos, alle geradeaus.</a:t>
            </a:r>
            <a:endParaRPr lang="en-US" sz="1800" dirty="0"/>
          </a:p>
        </p:txBody>
      </p:sp>
      <p:pic>
        <p:nvPicPr>
          <p:cNvPr id="8" name="e19_4" descr="/tmp/claude-0/-home-user-Fahrlehrer-Kompass-/11378f77-94a8-55e9-a697-0f3efd4c20b9/scratchpad/bau/art/car_blau.png">    </p:cNvPr>
          <p:cNvPicPr>
            <a:picLocks noChangeAspect="1"/>
          </p:cNvPicPr>
          <p:nvPr/>
        </p:nvPicPr>
        <p:blipFill>
          <a:blip r:embed="rId2"/>
          <a:stretch>
            <a:fillRect/>
          </a:stretch>
        </p:blipFill>
        <p:spPr>
          <a:xfrm>
            <a:off x="7939278" y="4334256"/>
            <a:ext cx="740664" cy="1481328"/>
          </a:xfrm>
          <a:prstGeom prst="rect">
            <a:avLst/>
          </a:prstGeom>
        </p:spPr>
      </p:pic>
      <p:sp>
        <p:nvSpPr>
          <p:cNvPr id="9" name="e19_5"/>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0" name="e19_6" descr="/tmp/claude-0/-home-user-Fahrlehrer-Kompass-/11378f77-94a8-55e9-a697-0f3efd4c20b9/scratchpad/bau/art/car_rot.png">    </p:cNvPr>
          <p:cNvPicPr>
            <a:picLocks noChangeAspect="1"/>
          </p:cNvPicPr>
          <p:nvPr/>
        </p:nvPicPr>
        <p:blipFill>
          <a:blip r:embed="rId3"/>
          <a:stretch>
            <a:fillRect/>
          </a:stretch>
        </p:blipFill>
        <p:spPr>
          <a:xfrm rot="16200000">
            <a:off x="9139428" y="2242566"/>
            <a:ext cx="740664" cy="1481328"/>
          </a:xfrm>
          <a:prstGeom prst="rect">
            <a:avLst/>
          </a:prstGeom>
        </p:spPr>
      </p:pic>
      <p:sp>
        <p:nvSpPr>
          <p:cNvPr id="11" name="e19_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12" name="e19_8" descr="/tmp/claude-0/-home-user-Fahrlehrer-Kompass-/11378f77-94a8-55e9-a697-0f3efd4c20b9/scratchpad/bau/art/car_gruen.png">    </p:cNvPr>
          <p:cNvPicPr>
            <a:picLocks noChangeAspect="1"/>
          </p:cNvPicPr>
          <p:nvPr/>
        </p:nvPicPr>
        <p:blipFill>
          <a:blip r:embed="rId4"/>
          <a:stretch>
            <a:fillRect/>
          </a:stretch>
        </p:blipFill>
        <p:spPr>
          <a:xfrm rot="10800000">
            <a:off x="7047738" y="1042416"/>
            <a:ext cx="740664" cy="1481328"/>
          </a:xfrm>
          <a:prstGeom prst="rect">
            <a:avLst/>
          </a:prstGeom>
        </p:spPr>
      </p:pic>
      <p:sp>
        <p:nvSpPr>
          <p:cNvPr id="13" name="e19_9"/>
          <p:cNvSpPr txBox="1"/>
          <p:nvPr/>
        </p:nvSpPr>
        <p:spPr>
          <a:xfrm>
            <a:off x="6631686" y="1243584"/>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pic>
        <p:nvPicPr>
          <p:cNvPr id="14" name="e19_10" descr="/tmp/claude-0/-home-user-Fahrlehrer-Kompass-/11378f77-94a8-55e9-a697-0f3efd4c20b9/scratchpad/bau/art/car_weiss.png">    </p:cNvPr>
          <p:cNvPicPr>
            <a:picLocks noChangeAspect="1"/>
          </p:cNvPicPr>
          <p:nvPr/>
        </p:nvPicPr>
        <p:blipFill>
          <a:blip r:embed="rId5"/>
          <a:stretch>
            <a:fillRect/>
          </a:stretch>
        </p:blipFill>
        <p:spPr>
          <a:xfrm rot="5400000">
            <a:off x="5847588" y="3134106"/>
            <a:ext cx="740664" cy="1481328"/>
          </a:xfrm>
          <a:prstGeom prst="rect">
            <a:avLst/>
          </a:prstGeom>
        </p:spPr>
      </p:pic>
      <p:sp>
        <p:nvSpPr>
          <p:cNvPr id="15" name="e19_11"/>
          <p:cNvSpPr txBox="1"/>
          <p:nvPr/>
        </p:nvSpPr>
        <p:spPr>
          <a:xfrm>
            <a:off x="5678424" y="4222242"/>
            <a:ext cx="438912" cy="438912"/>
          </a:xfrm>
          <a:prstGeom prst="ellipse">
            <a:avLst/>
          </a:prstGeom>
          <a:solidFill>
            <a:srgbClr val="E6EAF0"/>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D</a:t>
            </a:r>
            <a:endParaRPr lang="en-US" sz="2000" dirty="0"/>
          </a:p>
        </p:txBody>
      </p:sp>
      <p:sp>
        <p:nvSpPr>
          <p:cNvPr id="16" name="e19_12"/>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 D ?</a:t>
            </a:r>
            <a:endParaRPr lang="en-US" sz="1800" dirty="0"/>
          </a:p>
        </p:txBody>
      </p:sp>
      <p:sp>
        <p:nvSpPr>
          <p:cNvPr id="17" name="e19_13"/>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18" name="e19_14"/>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19" name="e19_15"/>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0" name="e19_16"/>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4</a:t>
            </a:r>
            <a:endParaRPr lang="en-US" sz="2600" dirty="0"/>
          </a:p>
        </p:txBody>
      </p:sp>
      <p:sp>
        <p:nvSpPr>
          <p:cNvPr id="21" name="e19_17"/>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Patt! Keiner hat Vorfahrt. Verständigen: Einer verzichtet per Handzeichen (hier fährt A). Danach wieder rechts vor links: D, C, B.</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50"/>
                                        <p:tgtEl>
                                          <p:spTgt spid="9"/>
                                        </p:tgtEl>
                                      </p:cBhvr>
                                    </p:animEffect>
                                    <p:anim calcmode="lin" valueType="num">
                                      <p:cBhvr additive="base">
                                        <p:cTn id="23"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9"/>
                                        </p:tgtEl>
                                        <p:attrNameLst>
                                          <p:attrName>ppt_y</p:attrName>
                                        </p:attrNameLst>
                                      </p:cBhvr>
                                      <p:tavLst>
                                        <p:tav tm="0">
                                          <p:val>
                                            <p:strVal val="#ppt_y+.05"/>
                                          </p:val>
                                        </p:tav>
                                        <p:tav tm="100000">
                                          <p:val>
                                            <p:strVal val="#ppt_y"/>
                                          </p:val>
                                        </p:tav>
                                      </p:tavLst>
                                    </p:anim>
                                  </p:childTnLst>
                                </p:cTn>
                              </p:par>
                              <p:par>
                                <p:cTn id="25" presetID="42" presetClass="entr" presetSubtype="0" fill="hold" grpId="0" nodeType="withEffect">
                                  <p:stCondLst>
                                    <p:cond delay="22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50"/>
                                        <p:tgtEl>
                                          <p:spTgt spid="11"/>
                                        </p:tgtEl>
                                      </p:cBhvr>
                                    </p:animEffect>
                                    <p:anim calcmode="lin" valueType="num">
                                      <p:cBhvr additive="base">
                                        <p:cTn id="28"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9" dur="650" fill="hold" decel="100000"/>
                                        <p:tgtEl>
                                          <p:spTgt spid="11"/>
                                        </p:tgtEl>
                                        <p:attrNameLst>
                                          <p:attrName>ppt_y</p:attrName>
                                        </p:attrNameLst>
                                      </p:cBhvr>
                                      <p:tavLst>
                                        <p:tav tm="0">
                                          <p:val>
                                            <p:strVal val="#ppt_y+.05"/>
                                          </p:val>
                                        </p:tav>
                                        <p:tav tm="100000">
                                          <p:val>
                                            <p:strVal val="#ppt_y"/>
                                          </p:val>
                                        </p:tav>
                                      </p:tavLst>
                                    </p:anim>
                                  </p:childTnLst>
                                </p:cTn>
                              </p:par>
                              <p:par>
                                <p:cTn id="30" presetID="42" presetClass="entr" presetSubtype="0" fill="hold" grpId="0" nodeType="withEffect">
                                  <p:stCondLst>
                                    <p:cond delay="275"/>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650"/>
                                        <p:tgtEl>
                                          <p:spTgt spid="13"/>
                                        </p:tgtEl>
                                      </p:cBhvr>
                                    </p:animEffect>
                                    <p:anim calcmode="lin" valueType="num">
                                      <p:cBhvr additive="base">
                                        <p:cTn id="3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3"/>
                                        </p:tgtEl>
                                        <p:attrNameLst>
                                          <p:attrName>ppt_y</p:attrName>
                                        </p:attrNameLst>
                                      </p:cBhvr>
                                      <p:tavLst>
                                        <p:tav tm="0">
                                          <p:val>
                                            <p:strVal val="#ppt_y+.05"/>
                                          </p:val>
                                        </p:tav>
                                        <p:tav tm="100000">
                                          <p:val>
                                            <p:strVal val="#ppt_y"/>
                                          </p:val>
                                        </p:tav>
                                      </p:tavLst>
                                    </p:anim>
                                  </p:childTnLst>
                                </p:cTn>
                              </p:par>
                              <p:par>
                                <p:cTn id="35" presetID="42" presetClass="entr" presetSubtype="0" fill="hold" grpId="0" nodeType="withEffect">
                                  <p:stCondLst>
                                    <p:cond delay="33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650"/>
                                        <p:tgtEl>
                                          <p:spTgt spid="15"/>
                                        </p:tgtEl>
                                      </p:cBhvr>
                                    </p:animEffect>
                                    <p:anim calcmode="lin" valueType="num">
                                      <p:cBhvr additive="base">
                                        <p:cTn id="38"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39" dur="650" fill="hold" decel="100000"/>
                                        <p:tgtEl>
                                          <p:spTgt spid="15"/>
                                        </p:tgtEl>
                                        <p:attrNameLst>
                                          <p:attrName>ppt_y</p:attrName>
                                        </p:attrNameLst>
                                      </p:cBhvr>
                                      <p:tavLst>
                                        <p:tav tm="0">
                                          <p:val>
                                            <p:strVal val="#ppt_y+.05"/>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3" presetClass="entr" presetSubtype="32"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6"/>
                                        </p:tgtEl>
                                        <p:attrNameLst>
                                          <p:attrName>ppt_h</p:attrName>
                                        </p:attrNameLst>
                                      </p:cBhvr>
                                      <p:tavLst>
                                        <p:tav tm="0">
                                          <p:val>
                                            <p:strVal val="#ppt_h*2.2"/>
                                          </p:val>
                                        </p:tav>
                                        <p:tav tm="100000">
                                          <p:val>
                                            <p:strVal val="#ppt_h"/>
                                          </p:val>
                                        </p:tav>
                                      </p:tavLst>
                                    </p:anim>
                                    <p:animEffect transition="in" filter="fade">
                                      <p:cBhvr>
                                        <p:cTn id="46" dur="228"/>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32"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52" dur="380" fill="hold" accel="60000"/>
                                        <p:tgtEl>
                                          <p:spTgt spid="17"/>
                                        </p:tgtEl>
                                        <p:attrNameLst>
                                          <p:attrName>ppt_h</p:attrName>
                                        </p:attrNameLst>
                                      </p:cBhvr>
                                      <p:tavLst>
                                        <p:tav tm="0">
                                          <p:val>
                                            <p:strVal val="#ppt_h*2.2"/>
                                          </p:val>
                                        </p:tav>
                                        <p:tav tm="100000">
                                          <p:val>
                                            <p:strVal val="#ppt_h"/>
                                          </p:val>
                                        </p:tav>
                                      </p:tavLst>
                                    </p:anim>
                                    <p:animEffect transition="in" filter="fade">
                                      <p:cBhvr>
                                        <p:cTn id="53" dur="228"/>
                                        <p:tgtEl>
                                          <p:spTgt spid="17"/>
                                        </p:tgtEl>
                                      </p:cBhvr>
                                    </p:animEffect>
                                  </p:childTnLst>
                                </p:cTn>
                              </p:par>
                            </p:childTnLst>
                          </p:cTn>
                        </p:par>
                        <p:par>
                          <p:cTn id="54" fill="hold">
                            <p:stCondLst>
                              <p:cond delay="380"/>
                            </p:stCondLst>
                            <p:childTnLst>
                              <p:par>
                                <p:cTn id="55" presetID="0" presetClass="path" presetSubtype="0" fill="hold" nodeType="afterEffect" accel="40000" decel="40000">
                                  <p:stCondLst>
                                    <p:cond delay="0"/>
                                  </p:stCondLst>
                                  <p:childTnLst>
                                    <p:animMotion origin="layout" path="M 0 0 C 0 -0.2222 0 -0.4444 0 -0.6667 E" pathEditMode="relative" rAng="0" ptsTypes="">
                                      <p:cBhvr>
                                        <p:cTn id="56" dur="2941" fill="hold"/>
                                        <p:tgtEl>
                                          <p:spTgt spid="8"/>
                                        </p:tgtEl>
                                        <p:attrNameLst>
                                          <p:attrName>ppt_x</p:attrName>
                                          <p:attrName>ppt_y</p:attrName>
                                        </p:attrNameLst>
                                      </p:cBhvr>
                                      <p:rCtr x="0" y="0"/>
                                    </p:animMotion>
                                  </p:childTnLst>
                                </p:cTn>
                              </p:par>
                            </p:childTnLst>
                          </p:cTn>
                        </p:par>
                        <p:par>
                          <p:cTn id="57" fill="hold">
                            <p:stCondLst>
                              <p:cond delay="3321"/>
                            </p:stCondLst>
                            <p:childTnLst>
                              <p:par>
                                <p:cTn id="58" presetID="10" presetClass="exit" presetSubtype="0" fill="hold" nodeType="afterEffect">
                                  <p:stCondLst>
                                    <p:cond delay="0"/>
                                  </p:stCondLst>
                                  <p:childTnLst>
                                    <p:animEffect transition="out" filter="fade">
                                      <p:cBhvr>
                                        <p:cTn id="59" dur="350"/>
                                        <p:tgtEl>
                                          <p:spTgt spid="8"/>
                                        </p:tgtEl>
                                      </p:cBhvr>
                                    </p:animEffect>
                                    <p:set>
                                      <p:cBhvr>
                                        <p:cTn id="60" dur="1" fill="hold">
                                          <p:stCondLst>
                                            <p:cond delay="349"/>
                                          </p:stCondLst>
                                        </p:cTn>
                                        <p:tgtEl>
                                          <p:spTgt spid="8"/>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8"/>
                                        </p:tgtEl>
                                        <p:attrNameLst>
                                          <p:attrName>ppt_h</p:attrName>
                                        </p:attrNameLst>
                                      </p:cBhvr>
                                      <p:tavLst>
                                        <p:tav tm="0">
                                          <p:val>
                                            <p:strVal val="#ppt_h*2.2"/>
                                          </p:val>
                                        </p:tav>
                                        <p:tav tm="100000">
                                          <p:val>
                                            <p:strVal val="#ppt_h"/>
                                          </p:val>
                                        </p:tav>
                                      </p:tavLst>
                                    </p:anim>
                                    <p:animEffect transition="in" filter="fade">
                                      <p:cBhvr>
                                        <p:cTn id="67" dur="228"/>
                                        <p:tgtEl>
                                          <p:spTgt spid="18"/>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17 0 0.34 0 0.51 0 E" pathEditMode="relative" rAng="0" ptsTypes="">
                                      <p:cBhvr>
                                        <p:cTn id="70" dur="4000" fill="hold"/>
                                        <p:tgtEl>
                                          <p:spTgt spid="14"/>
                                        </p:tgtEl>
                                        <p:attrNameLst>
                                          <p:attrName>ppt_x</p:attrName>
                                          <p:attrName>ppt_y</p:attrName>
                                        </p:attrNameLst>
                                      </p:cBhvr>
                                      <p:rCtr x="0" y="0"/>
                                    </p:animMotion>
                                  </p:childTnLst>
                                </p:cTn>
                              </p:par>
                            </p:childTnLst>
                          </p:cTn>
                        </p:par>
                        <p:par>
                          <p:cTn id="71" fill="hold">
                            <p:stCondLst>
                              <p:cond delay="4380"/>
                            </p:stCondLst>
                            <p:childTnLst>
                              <p:par>
                                <p:cTn id="72" presetID="10" presetClass="exit" presetSubtype="0" fill="hold" nodeType="afterEffect">
                                  <p:stCondLst>
                                    <p:cond delay="0"/>
                                  </p:stCondLst>
                                  <p:childTnLst>
                                    <p:animEffect transition="out" filter="fade">
                                      <p:cBhvr>
                                        <p:cTn id="73" dur="350"/>
                                        <p:tgtEl>
                                          <p:spTgt spid="14"/>
                                        </p:tgtEl>
                                      </p:cBhvr>
                                    </p:animEffect>
                                    <p:set>
                                      <p:cBhvr>
                                        <p:cTn id="74" dur="1" fill="hold">
                                          <p:stCondLst>
                                            <p:cond delay="349"/>
                                          </p:stCondLst>
                                        </p:cTn>
                                        <p:tgtEl>
                                          <p:spTgt spid="14"/>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53" presetClass="entr" presetSubtype="32"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80" dur="380" fill="hold" accel="60000"/>
                                        <p:tgtEl>
                                          <p:spTgt spid="19"/>
                                        </p:tgtEl>
                                        <p:attrNameLst>
                                          <p:attrName>ppt_h</p:attrName>
                                        </p:attrNameLst>
                                      </p:cBhvr>
                                      <p:tavLst>
                                        <p:tav tm="0">
                                          <p:val>
                                            <p:strVal val="#ppt_h*2.2"/>
                                          </p:val>
                                        </p:tav>
                                        <p:tav tm="100000">
                                          <p:val>
                                            <p:strVal val="#ppt_h"/>
                                          </p:val>
                                        </p:tav>
                                      </p:tavLst>
                                    </p:anim>
                                    <p:animEffect transition="in" filter="fade">
                                      <p:cBhvr>
                                        <p:cTn id="81" dur="228"/>
                                        <p:tgtEl>
                                          <p:spTgt spid="19"/>
                                        </p:tgtEl>
                                      </p:cBhvr>
                                    </p:animEffect>
                                  </p:childTnLst>
                                </p:cTn>
                              </p:par>
                            </p:childTnLst>
                          </p:cTn>
                        </p:par>
                        <p:par>
                          <p:cTn id="82" fill="hold">
                            <p:stCondLst>
                              <p:cond delay="380"/>
                            </p:stCondLst>
                            <p:childTnLst>
                              <p:par>
                                <p:cTn id="83" presetID="0" presetClass="path" presetSubtype="0" fill="hold" nodeType="afterEffect" accel="40000" decel="40000">
                                  <p:stCondLst>
                                    <p:cond delay="0"/>
                                  </p:stCondLst>
                                  <p:childTnLst>
                                    <p:animMotion origin="layout" path="M 0 0 C 0 0.2222 0 0.4444 0 0.6667 E" pathEditMode="relative" rAng="0" ptsTypes="">
                                      <p:cBhvr>
                                        <p:cTn id="84" dur="2941" fill="hold"/>
                                        <p:tgtEl>
                                          <p:spTgt spid="12"/>
                                        </p:tgtEl>
                                        <p:attrNameLst>
                                          <p:attrName>ppt_x</p:attrName>
                                          <p:attrName>ppt_y</p:attrName>
                                        </p:attrNameLst>
                                      </p:cBhvr>
                                      <p:rCtr x="0" y="0"/>
                                    </p:animMotion>
                                  </p:childTnLst>
                                </p:cTn>
                              </p:par>
                            </p:childTnLst>
                          </p:cTn>
                        </p:par>
                        <p:par>
                          <p:cTn id="85" fill="hold">
                            <p:stCondLst>
                              <p:cond delay="3321"/>
                            </p:stCondLst>
                            <p:childTnLst>
                              <p:par>
                                <p:cTn id="86" presetID="10" presetClass="exit" presetSubtype="0" fill="hold" nodeType="afterEffect">
                                  <p:stCondLst>
                                    <p:cond delay="0"/>
                                  </p:stCondLst>
                                  <p:childTnLst>
                                    <p:animEffect transition="out" filter="fade">
                                      <p:cBhvr>
                                        <p:cTn id="87" dur="350"/>
                                        <p:tgtEl>
                                          <p:spTgt spid="12"/>
                                        </p:tgtEl>
                                      </p:cBhvr>
                                    </p:animEffect>
                                    <p:set>
                                      <p:cBhvr>
                                        <p:cTn id="88" dur="1" fill="hold">
                                          <p:stCondLst>
                                            <p:cond delay="349"/>
                                          </p:stCondLst>
                                        </p:cTn>
                                        <p:tgtEl>
                                          <p:spTgt spid="1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53" presetClass="entr" presetSubtype="32" fill="hold" grpId="0" nodeType="clickEffect">
                                  <p:stCondLst>
                                    <p:cond delay="0"/>
                                  </p:stCondLst>
                                  <p:childTnLst>
                                    <p:set>
                                      <p:cBhvr>
                                        <p:cTn id="92" dur="1" fill="hold">
                                          <p:stCondLst>
                                            <p:cond delay="0"/>
                                          </p:stCondLst>
                                        </p:cTn>
                                        <p:tgtEl>
                                          <p:spTgt spid="20"/>
                                        </p:tgtEl>
                                        <p:attrNameLst>
                                          <p:attrName>style.visibility</p:attrName>
                                        </p:attrNameLst>
                                      </p:cBhvr>
                                      <p:to>
                                        <p:strVal val="visible"/>
                                      </p:to>
                                    </p:set>
                                    <p:anim calcmode="lin" valueType="num">
                                      <p:cBhvr additive="base">
                                        <p:cTn id="93"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94" dur="380" fill="hold" accel="60000"/>
                                        <p:tgtEl>
                                          <p:spTgt spid="20"/>
                                        </p:tgtEl>
                                        <p:attrNameLst>
                                          <p:attrName>ppt_h</p:attrName>
                                        </p:attrNameLst>
                                      </p:cBhvr>
                                      <p:tavLst>
                                        <p:tav tm="0">
                                          <p:val>
                                            <p:strVal val="#ppt_h*2.2"/>
                                          </p:val>
                                        </p:tav>
                                        <p:tav tm="100000">
                                          <p:val>
                                            <p:strVal val="#ppt_h"/>
                                          </p:val>
                                        </p:tav>
                                      </p:tavLst>
                                    </p:anim>
                                    <p:animEffect transition="in" filter="fade">
                                      <p:cBhvr>
                                        <p:cTn id="95" dur="228"/>
                                        <p:tgtEl>
                                          <p:spTgt spid="20"/>
                                        </p:tgtEl>
                                      </p:cBhvr>
                                    </p:animEffect>
                                  </p:childTnLst>
                                </p:cTn>
                              </p:par>
                            </p:childTnLst>
                          </p:cTn>
                        </p:par>
                        <p:par>
                          <p:cTn id="96" fill="hold">
                            <p:stCondLst>
                              <p:cond delay="380"/>
                            </p:stCondLst>
                            <p:childTnLst>
                              <p:par>
                                <p:cTn id="97" presetID="0" presetClass="path" presetSubtype="0" fill="hold" nodeType="afterEffect" accel="40000" decel="40000">
                                  <p:stCondLst>
                                    <p:cond delay="0"/>
                                  </p:stCondLst>
                                  <p:childTnLst>
                                    <p:animMotion origin="layout" path="M 0 0 C -0.09 0 -0.18 0 -0.27 0 E" pathEditMode="relative" rAng="0" ptsTypes="">
                                      <p:cBhvr>
                                        <p:cTn id="98" dur="2118" fill="hold"/>
                                        <p:tgtEl>
                                          <p:spTgt spid="10"/>
                                        </p:tgtEl>
                                        <p:attrNameLst>
                                          <p:attrName>ppt_x</p:attrName>
                                          <p:attrName>ppt_y</p:attrName>
                                        </p:attrNameLst>
                                      </p:cBhvr>
                                      <p:rCtr x="0" y="0"/>
                                    </p:animMotion>
                                  </p:childTnLst>
                                </p:cTn>
                              </p:par>
                            </p:childTnLst>
                          </p:cTn>
                        </p:par>
                        <p:par>
                          <p:cTn id="99" fill="hold">
                            <p:stCondLst>
                              <p:cond delay="2498"/>
                            </p:stCondLst>
                            <p:childTnLst>
                              <p:par>
                                <p:cTn id="100" presetID="10" presetClass="exit" presetSubtype="0" fill="hold" nodeType="afterEffect">
                                  <p:stCondLst>
                                    <p:cond delay="0"/>
                                  </p:stCondLst>
                                  <p:childTnLst>
                                    <p:animEffect transition="out" filter="fade">
                                      <p:cBhvr>
                                        <p:cTn id="101" dur="350"/>
                                        <p:tgtEl>
                                          <p:spTgt spid="10"/>
                                        </p:tgtEl>
                                      </p:cBhvr>
                                    </p:animEffect>
                                    <p:set>
                                      <p:cBhvr>
                                        <p:cTn id="102" dur="1" fill="hold">
                                          <p:stCondLst>
                                            <p:cond delay="349"/>
                                          </p:stCondLst>
                                        </p:cTn>
                                        <p:tgtEl>
                                          <p:spTgt spid="1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21"/>
                                        </p:tgtEl>
                                        <p:attrNameLst>
                                          <p:attrName>style.visibility</p:attrName>
                                        </p:attrNameLst>
                                      </p:cBhvr>
                                      <p:to>
                                        <p:strVal val="visible"/>
                                      </p:to>
                                    </p:set>
                                    <p:animEffect transition="in" filter="fade">
                                      <p:cBhvr>
                                        <p:cTn id="107" dur="600"/>
                                        <p:tgtEl>
                                          <p:spTgt spid="21"/>
                                        </p:tgtEl>
                                      </p:cBhvr>
                                    </p:animEffect>
                                    <p:anim calcmode="lin" valueType="num">
                                      <p:cBhvr additive="base">
                                        <p:cTn id="108"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109" dur="600" fill="hold" decel="100000"/>
                                        <p:tgtEl>
                                          <p:spTgt spid="21"/>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1" grpId="0" animBg="1"/>
      <p:bldP spid="13" grpId="0" animBg="1"/>
      <p:bldP spid="15" grpId="0" animBg="1"/>
      <p:bldP spid="16" grpId="0" animBg="1"/>
      <p:bldP spid="17" grpId="0" animBg="1"/>
      <p:bldP spid="18" grpId="0" animBg="1"/>
      <p:bldP spid="19" grpId="0" animBg="1"/>
      <p:bldP spid="20" grpId="0" animBg="1"/>
      <p:bldP spid="2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SCHLECHTE SICHT</a:t>
            </a:r>
            <a:endParaRPr lang="en-US" sz="1300" dirty="0"/>
          </a:p>
        </p:txBody>
      </p:sp>
      <p:sp>
        <p:nvSpPr>
          <p:cNvPr id="6" name="e20_2"/>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5000" b="1" dirty="0">
                <a:solidFill>
                  <a:srgbClr val="F5F2EC"/>
                </a:solidFill>
                <a:latin typeface="Cambria" pitchFamily="34" charset="0"/>
                <a:ea typeface="Cambria" pitchFamily="34" charset="-122"/>
                <a:cs typeface="Cambria" pitchFamily="34" charset="-120"/>
              </a:rPr>
              <a:t>Hineintasten</a:t>
            </a:r>
            <a:endParaRPr lang="en-US" sz="5000" dirty="0"/>
          </a:p>
        </p:txBody>
      </p:sp>
      <p:sp>
        <p:nvSpPr>
          <p:cNvPr id="7" name="e20_3"/>
          <p:cNvSpPr txBox="1"/>
          <p:nvPr/>
        </p:nvSpPr>
        <p:spPr>
          <a:xfrm>
            <a:off x="731520" y="2194560"/>
            <a:ext cx="4023360" cy="173736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Wer warten muss, zeigt es früh: langsam heranfahren.</a:t>
            </a:r>
            <a:endParaRPr lang="en-US" sz="1800" dirty="0"/>
          </a:p>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Siehst du nichts? Zentimeter für Zentimeter vorrollen, bis du alles überblickst.</a:t>
            </a:r>
            <a:endParaRPr lang="en-US" sz="1800" dirty="0"/>
          </a:p>
        </p:txBody>
      </p:sp>
      <p:pic>
        <p:nvPicPr>
          <p:cNvPr id="8" name="e20_4" descr="/tmp/claude-0/-home-user-Fahrlehrer-Kompass-/11378f77-94a8-55e9-a697-0f3efd4c20b9/scratchpad/bau/art/ov_hedge.png">    </p:cNvPr>
          <p:cNvPicPr>
            <a:picLocks noChangeAspect="1"/>
          </p:cNvPicPr>
          <p:nvPr/>
        </p:nvPicPr>
        <p:blipFill>
          <a:blip r:embed="rId2"/>
          <a:stretch>
            <a:fillRect/>
          </a:stretch>
        </p:blipFill>
        <p:spPr>
          <a:xfrm>
            <a:off x="0" y="0"/>
            <a:ext cx="12191695" cy="6858000"/>
          </a:xfrm>
          <a:prstGeom prst="rect">
            <a:avLst/>
          </a:prstGeom>
        </p:spPr>
      </p:pic>
      <p:pic>
        <p:nvPicPr>
          <p:cNvPr id="9" name="e20_5" descr="Verkehrszeichen 205">    </p:cNvPr>
          <p:cNvPicPr>
            <a:picLocks noChangeAspect="1"/>
          </p:cNvPicPr>
          <p:nvPr/>
        </p:nvPicPr>
        <p:blipFill>
          <a:blip r:embed="rId3"/>
          <a:stretch>
            <a:fillRect/>
          </a:stretch>
        </p:blipFill>
        <p:spPr>
          <a:xfrm>
            <a:off x="8801100" y="4503420"/>
            <a:ext cx="520337" cy="457200"/>
          </a:xfrm>
          <a:prstGeom prst="rect">
            <a:avLst/>
          </a:prstGeom>
        </p:spPr>
      </p:pic>
      <p:pic>
        <p:nvPicPr>
          <p:cNvPr id="10" name="e20_6" descr="/tmp/claude-0/-home-user-Fahrlehrer-Kompass-/11378f77-94a8-55e9-a697-0f3efd4c20b9/scratchpad/bau/art/car_du.png">    </p:cNvPr>
          <p:cNvPicPr>
            <a:picLocks noChangeAspect="1"/>
          </p:cNvPicPr>
          <p:nvPr/>
        </p:nvPicPr>
        <p:blipFill>
          <a:blip r:embed="rId4"/>
          <a:stretch>
            <a:fillRect/>
          </a:stretch>
        </p:blipFill>
        <p:spPr>
          <a:xfrm>
            <a:off x="7939278" y="5157216"/>
            <a:ext cx="740664" cy="1481328"/>
          </a:xfrm>
          <a:prstGeom prst="rect">
            <a:avLst/>
          </a:prstGeom>
        </p:spPr>
      </p:pic>
      <p:pic>
        <p:nvPicPr>
          <p:cNvPr id="11" name="e20_7" descr="/tmp/claude-0/-home-user-Fahrlehrer-Kompass-/11378f77-94a8-55e9-a697-0f3efd4c20b9/scratchpad/bau/art/blink_L.png">    </p:cNvPr>
          <p:cNvPicPr>
            <a:picLocks noChangeAspect="1"/>
          </p:cNvPicPr>
          <p:nvPr/>
        </p:nvPicPr>
        <p:blipFill>
          <a:blip r:embed="rId5"/>
          <a:stretch>
            <a:fillRect/>
          </a:stretch>
        </p:blipFill>
        <p:spPr>
          <a:xfrm>
            <a:off x="7939278" y="5157216"/>
            <a:ext cx="740664" cy="1481328"/>
          </a:xfrm>
          <a:prstGeom prst="rect">
            <a:avLst/>
          </a:prstGeom>
        </p:spPr>
      </p:pic>
      <p:pic>
        <p:nvPicPr>
          <p:cNvPr id="12" name="e20_8" descr="/tmp/claude-0/-home-user-Fahrlehrer-Kompass-/11378f77-94a8-55e9-a697-0f3efd4c20b9/scratchpad/bau/art/car_rot.png">    </p:cNvPr>
          <p:cNvPicPr>
            <a:picLocks noChangeAspect="1"/>
          </p:cNvPicPr>
          <p:nvPr/>
        </p:nvPicPr>
        <p:blipFill>
          <a:blip r:embed="rId6"/>
          <a:stretch>
            <a:fillRect/>
          </a:stretch>
        </p:blipFill>
        <p:spPr>
          <a:xfrm rot="16200000">
            <a:off x="10785348" y="2242566"/>
            <a:ext cx="740664" cy="1481328"/>
          </a:xfrm>
          <a:prstGeom prst="rect">
            <a:avLst/>
          </a:prstGeom>
        </p:spPr>
      </p:pic>
      <p:pic>
        <p:nvPicPr>
          <p:cNvPr id="13" name="e20_9" descr="/tmp/claude-0/-home-user-Fahrlehrer-Kompass-/11378f77-94a8-55e9-a697-0f3efd4c20b9/scratchpad/bau/art/ov_cone_short.png">    </p:cNvPr>
          <p:cNvPicPr>
            <a:picLocks noChangeAspect="1"/>
          </p:cNvPicPr>
          <p:nvPr/>
        </p:nvPicPr>
        <p:blipFill>
          <a:blip r:embed="rId7"/>
          <a:stretch>
            <a:fillRect/>
          </a:stretch>
        </p:blipFill>
        <p:spPr>
          <a:xfrm>
            <a:off x="0" y="0"/>
            <a:ext cx="12191695" cy="6858000"/>
          </a:xfrm>
          <a:prstGeom prst="rect">
            <a:avLst/>
          </a:prstGeom>
        </p:spPr>
      </p:pic>
      <p:sp>
        <p:nvSpPr>
          <p:cNvPr id="14" name="e20_10"/>
          <p:cNvSpPr txBox="1"/>
          <p:nvPr/>
        </p:nvSpPr>
        <p:spPr>
          <a:xfrm rot="-180000">
            <a:off x="731520" y="4206240"/>
            <a:ext cx="329184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Ich sehe nichts!</a:t>
            </a:r>
            <a:endParaRPr lang="en-US" sz="2200" dirty="0"/>
          </a:p>
        </p:txBody>
      </p:sp>
      <p:pic>
        <p:nvPicPr>
          <p:cNvPr id="15" name="e20_11" descr="/tmp/claude-0/-home-user-Fahrlehrer-Kompass-/11378f77-94a8-55e9-a697-0f3efd4c20b9/scratchpad/bau/art/ov_cone_long.png">    </p:cNvPr>
          <p:cNvPicPr>
            <a:picLocks noChangeAspect="1"/>
          </p:cNvPicPr>
          <p:nvPr/>
        </p:nvPicPr>
        <p:blipFill>
          <a:blip r:embed="rId8"/>
          <a:stretch>
            <a:fillRect/>
          </a:stretch>
        </p:blipFill>
        <p:spPr>
          <a:xfrm>
            <a:off x="0" y="0"/>
            <a:ext cx="12191695" cy="6858000"/>
          </a:xfrm>
          <a:prstGeom prst="rect">
            <a:avLst/>
          </a:prstGeom>
        </p:spPr>
      </p:pic>
      <p:sp>
        <p:nvSpPr>
          <p:cNvPr id="16" name="e20_12"/>
          <p:cNvSpPr txBox="1"/>
          <p:nvPr/>
        </p:nvSpPr>
        <p:spPr>
          <a:xfrm rot="-180000">
            <a:off x="731520" y="4892040"/>
            <a:ext cx="32918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Jetzt sehe ich alles.</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50"/>
                                        <p:tgtEl>
                                          <p:spTgt spid="11"/>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accel="40000" decel="40000">
                                  <p:stCondLst>
                                    <p:cond delay="0"/>
                                  </p:stCondLst>
                                  <p:childTnLst>
                                    <p:animMotion origin="layout" path="M 0 0 C 0 -0.04 0 -0.08 0 -0.12 E" pathEditMode="relative" rAng="0" ptsTypes="">
                                      <p:cBhvr>
                                        <p:cTn id="34" dur="529" fill="hold"/>
                                        <p:tgtEl>
                                          <p:spTgt spid="10"/>
                                        </p:tgtEl>
                                        <p:attrNameLst>
                                          <p:attrName>ppt_x</p:attrName>
                                          <p:attrName>ppt_y</p:attrName>
                                        </p:attrNameLst>
                                      </p:cBhvr>
                                      <p:rCtr x="0" y="0"/>
                                    </p:animMotion>
                                  </p:childTnLst>
                                </p:cTn>
                              </p:par>
                              <p:par>
                                <p:cTn id="35" presetID="0" presetClass="path" presetSubtype="0" fill="hold" nodeType="withEffect" accel="40000" decel="40000">
                                  <p:stCondLst>
                                    <p:cond delay="0"/>
                                  </p:stCondLst>
                                  <p:childTnLst>
                                    <p:animMotion origin="layout" path="M 0 0 C 0 -0.04 0 -0.08 0 -0.12 E" pathEditMode="relative" rAng="0" ptsTypes="">
                                      <p:cBhvr>
                                        <p:cTn id="36" dur="529" fill="hold"/>
                                        <p:tgtEl>
                                          <p:spTgt spid="11"/>
                                        </p:tgtEl>
                                        <p:attrNameLst>
                                          <p:attrName>ppt_x</p:attrName>
                                          <p:attrName>ppt_y</p:attrName>
                                        </p:attrNameLst>
                                      </p:cBhvr>
                                      <p:rCtr x="0" y="0"/>
                                    </p:animMotion>
                                  </p:childTnLst>
                                </p:cTn>
                              </p:par>
                            </p:childTnLst>
                          </p:cTn>
                        </p:par>
                        <p:par>
                          <p:cTn id="37" fill="hold">
                            <p:stCondLst>
                              <p:cond delay="529"/>
                            </p:stCondLst>
                            <p:childTnLst>
                              <p:par>
                                <p:cTn id="38" presetID="10" presetClass="entr" presetSubtype="0"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childTnLst>
                          </p:cTn>
                        </p:par>
                        <p:par>
                          <p:cTn id="41" fill="hold">
                            <p:stCondLst>
                              <p:cond delay="929"/>
                            </p:stCondLst>
                            <p:childTnLst>
                              <p:par>
                                <p:cTn id="42" presetID="53" presetClass="entr" presetSubtype="32" fill="hold" grpId="0" nodeType="afterEffect">
                                  <p:stCondLst>
                                    <p:cond delay="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5" dur="380" fill="hold" accel="60000"/>
                                        <p:tgtEl>
                                          <p:spTgt spid="14"/>
                                        </p:tgtEl>
                                        <p:attrNameLst>
                                          <p:attrName>ppt_h</p:attrName>
                                        </p:attrNameLst>
                                      </p:cBhvr>
                                      <p:tavLst>
                                        <p:tav tm="0">
                                          <p:val>
                                            <p:strVal val="#ppt_h*2.2"/>
                                          </p:val>
                                        </p:tav>
                                        <p:tav tm="100000">
                                          <p:val>
                                            <p:strVal val="#ppt_h"/>
                                          </p:val>
                                        </p:tav>
                                      </p:tavLst>
                                    </p:anim>
                                    <p:animEffect transition="in" filter="fade">
                                      <p:cBhvr>
                                        <p:cTn id="46" dur="228"/>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0" presetClass="path" presetSubtype="0" fill="hold" nodeType="clickEffect" accel="40000" decel="40000">
                                  <p:stCondLst>
                                    <p:cond delay="0"/>
                                  </p:stCondLst>
                                  <p:childTnLst>
                                    <p:animMotion origin="layout" path="M 0 -0.12 C 0 -0.1444 0 -0.1689 0 -0.1933 E" pathEditMode="relative" rAng="0" ptsTypes="">
                                      <p:cBhvr>
                                        <p:cTn id="50" dur="1833" fill="hold"/>
                                        <p:tgtEl>
                                          <p:spTgt spid="10"/>
                                        </p:tgtEl>
                                        <p:attrNameLst>
                                          <p:attrName>ppt_x</p:attrName>
                                          <p:attrName>ppt_y</p:attrName>
                                        </p:attrNameLst>
                                      </p:cBhvr>
                                      <p:rCtr x="0" y="0"/>
                                    </p:animMotion>
                                  </p:childTnLst>
                                </p:cTn>
                              </p:par>
                              <p:par>
                                <p:cTn id="51" presetID="0" presetClass="path" presetSubtype="0" fill="hold" nodeType="withEffect" accel="40000" decel="40000">
                                  <p:stCondLst>
                                    <p:cond delay="0"/>
                                  </p:stCondLst>
                                  <p:childTnLst>
                                    <p:animMotion origin="layout" path="M 0 -0.12 C 0 -0.1444 0 -0.1689 0 -0.1933 E" pathEditMode="relative" rAng="0" ptsTypes="">
                                      <p:cBhvr>
                                        <p:cTn id="52" dur="1833" fill="hold"/>
                                        <p:tgtEl>
                                          <p:spTgt spid="11"/>
                                        </p:tgtEl>
                                        <p:attrNameLst>
                                          <p:attrName>ppt_x</p:attrName>
                                          <p:attrName>ppt_y</p:attrName>
                                        </p:attrNameLst>
                                      </p:cBhvr>
                                      <p:rCtr x="0" y="0"/>
                                    </p:animMotion>
                                  </p:childTnLst>
                                </p:cTn>
                              </p:par>
                              <p:par>
                                <p:cTn id="53" presetID="10" presetClass="exit" presetSubtype="0" fill="hold" nodeType="withEffect">
                                  <p:stCondLst>
                                    <p:cond delay="0"/>
                                  </p:stCondLst>
                                  <p:childTnLst>
                                    <p:animEffect transition="out" filter="fade">
                                      <p:cBhvr>
                                        <p:cTn id="54" dur="300"/>
                                        <p:tgtEl>
                                          <p:spTgt spid="13"/>
                                        </p:tgtEl>
                                      </p:cBhvr>
                                    </p:animEffect>
                                    <p:set>
                                      <p:cBhvr>
                                        <p:cTn id="55" dur="1" fill="hold">
                                          <p:stCondLst>
                                            <p:cond delay="299"/>
                                          </p:stCondLst>
                                        </p:cTn>
                                        <p:tgtEl>
                                          <p:spTgt spid="13"/>
                                        </p:tgtEl>
                                        <p:attrNameLst>
                                          <p:attrName>style.visibility</p:attrName>
                                        </p:attrNameLst>
                                      </p:cBhvr>
                                      <p:to>
                                        <p:strVal val="hidden"/>
                                      </p:to>
                                    </p:set>
                                  </p:childTnLst>
                                </p:cTn>
                              </p:par>
                            </p:childTnLst>
                          </p:cTn>
                        </p:par>
                        <p:par>
                          <p:cTn id="56" fill="hold">
                            <p:stCondLst>
                              <p:cond delay="1833"/>
                            </p:stCondLst>
                            <p:childTnLst>
                              <p:par>
                                <p:cTn id="57" presetID="10" presetClass="entr" presetSubtype="0" fill="hold" nodeType="after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500"/>
                                        <p:tgtEl>
                                          <p:spTgt spid="15"/>
                                        </p:tgtEl>
                                      </p:cBhvr>
                                    </p:animEffect>
                                  </p:childTnLst>
                                </p:cTn>
                              </p:par>
                            </p:childTnLst>
                          </p:cTn>
                        </p:par>
                        <p:par>
                          <p:cTn id="60" fill="hold">
                            <p:stCondLst>
                              <p:cond delay="2333"/>
                            </p:stCondLst>
                            <p:childTnLst>
                              <p:par>
                                <p:cTn id="61" presetID="53" presetClass="entr" presetSubtype="32" fill="hold" grpId="0" nodeType="after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64" dur="380" fill="hold" accel="60000"/>
                                        <p:tgtEl>
                                          <p:spTgt spid="16"/>
                                        </p:tgtEl>
                                        <p:attrNameLst>
                                          <p:attrName>ppt_h</p:attrName>
                                        </p:attrNameLst>
                                      </p:cBhvr>
                                      <p:tavLst>
                                        <p:tav tm="0">
                                          <p:val>
                                            <p:strVal val="#ppt_h*2.2"/>
                                          </p:val>
                                        </p:tav>
                                        <p:tav tm="100000">
                                          <p:val>
                                            <p:strVal val="#ppt_h"/>
                                          </p:val>
                                        </p:tav>
                                      </p:tavLst>
                                    </p:anim>
                                    <p:animEffect transition="in" filter="fade">
                                      <p:cBhvr>
                                        <p:cTn id="65" dur="228"/>
                                        <p:tgtEl>
                                          <p:spTgt spid="16"/>
                                        </p:tgtEl>
                                      </p:cBhvr>
                                    </p:animEffect>
                                  </p:childTnLst>
                                </p:cTn>
                              </p:par>
                            </p:childTnLst>
                          </p:cTn>
                        </p:par>
                      </p:childTnLst>
                    </p:cTn>
                  </p:par>
                  <p:par>
                    <p:cTn id="66" fill="hold">
                      <p:stCondLst>
                        <p:cond delay="indefinite"/>
                      </p:stCondLst>
                      <p:childTnLst>
                        <p:par>
                          <p:cTn id="67" fill="hold">
                            <p:stCondLst>
                              <p:cond delay="0"/>
                            </p:stCondLst>
                            <p:childTnLst>
                              <p:par>
                                <p:cTn id="68" presetID="0" presetClass="path" presetSubtype="0" fill="hold" nodeType="clickEffect" accel="40000" decel="40000">
                                  <p:stCondLst>
                                    <p:cond delay="0"/>
                                  </p:stCondLst>
                                  <p:childTnLst>
                                    <p:animMotion origin="layout" path="M 0 0 C -0.145 0 -0.29 0 -0.435 0 E" pathEditMode="relative" rAng="0" ptsTypes="">
                                      <p:cBhvr>
                                        <p:cTn id="69" dur="3412" fill="hold"/>
                                        <p:tgtEl>
                                          <p:spTgt spid="12"/>
                                        </p:tgtEl>
                                        <p:attrNameLst>
                                          <p:attrName>ppt_x</p:attrName>
                                          <p:attrName>ppt_y</p:attrName>
                                        </p:attrNameLst>
                                      </p:cBhvr>
                                      <p:rCtr x="0" y="0"/>
                                    </p:animMotion>
                                  </p:childTnLst>
                                </p:cTn>
                              </p:par>
                            </p:childTnLst>
                          </p:cTn>
                        </p:par>
                        <p:par>
                          <p:cTn id="70" fill="hold">
                            <p:stCondLst>
                              <p:cond delay="3412"/>
                            </p:stCondLst>
                            <p:childTnLst>
                              <p:par>
                                <p:cTn id="71" presetID="10" presetClass="exit" presetSubtype="0" fill="hold" nodeType="afterEffect">
                                  <p:stCondLst>
                                    <p:cond delay="0"/>
                                  </p:stCondLst>
                                  <p:childTnLst>
                                    <p:animEffect transition="out" filter="fade">
                                      <p:cBhvr>
                                        <p:cTn id="72" dur="350"/>
                                        <p:tgtEl>
                                          <p:spTgt spid="12"/>
                                        </p:tgtEl>
                                      </p:cBhvr>
                                    </p:animEffect>
                                    <p:set>
                                      <p:cBhvr>
                                        <p:cTn id="73" dur="1" fill="hold">
                                          <p:stCondLst>
                                            <p:cond delay="349"/>
                                          </p:stCondLst>
                                        </p:cTn>
                                        <p:tgtEl>
                                          <p:spTgt spid="12"/>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0" presetClass="path" presetSubtype="0" fill="hold" nodeType="clickEffect" accel="50000">
                                  <p:stCondLst>
                                    <p:cond delay="0"/>
                                  </p:stCondLst>
                                  <p:childTnLst>
                                    <p:animMotion origin="layout" path="M 0 -0.1933 C 0 -0.2128 0 -0.2322 0 -0.2517 E" pathEditMode="relative" rAng="0" ptsTypes="">
                                      <p:cBhvr>
                                        <p:cTn id="77" dur="257" fill="hold"/>
                                        <p:tgtEl>
                                          <p:spTgt spid="10"/>
                                        </p:tgtEl>
                                        <p:attrNameLst>
                                          <p:attrName>ppt_x</p:attrName>
                                          <p:attrName>ppt_y</p:attrName>
                                        </p:attrNameLst>
                                      </p:cBhvr>
                                      <p:rCtr x="0" y="0"/>
                                    </p:animMotion>
                                  </p:childTnLst>
                                </p:cTn>
                              </p:par>
                              <p:par>
                                <p:cTn id="78" presetID="0" presetClass="path" presetSubtype="0" fill="hold" nodeType="withEffect" accel="50000">
                                  <p:stCondLst>
                                    <p:cond delay="0"/>
                                  </p:stCondLst>
                                  <p:childTnLst>
                                    <p:animMotion origin="layout" path="M 0 -0.1933 C 0 -0.2128 0 -0.2322 0 -0.2517 E" pathEditMode="relative" rAng="0" ptsTypes="">
                                      <p:cBhvr>
                                        <p:cTn id="79" dur="257" fill="hold"/>
                                        <p:tgtEl>
                                          <p:spTgt spid="11"/>
                                        </p:tgtEl>
                                        <p:attrNameLst>
                                          <p:attrName>ppt_x</p:attrName>
                                          <p:attrName>ppt_y</p:attrName>
                                        </p:attrNameLst>
                                      </p:cBhvr>
                                      <p:rCtr x="0" y="0"/>
                                    </p:animMotion>
                                  </p:childTnLst>
                                </p:cTn>
                              </p:par>
                            </p:childTnLst>
                          </p:cTn>
                        </p:par>
                        <p:par>
                          <p:cTn id="80" fill="hold">
                            <p:stCondLst>
                              <p:cond delay="257"/>
                            </p:stCondLst>
                            <p:childTnLst>
                              <p:par>
                                <p:cTn id="81" presetID="0" presetClass="path" presetSubtype="0" fill="hold" nodeType="afterEffect">
                                  <p:stCondLst>
                                    <p:cond delay="0"/>
                                  </p:stCondLst>
                                  <p:childTnLst>
                                    <p:animMotion origin="layout" path="M 0 -0.2517 C 0 -0.3474 -0.0437 -0.425 -0.0975 -0.425 E" pathEditMode="relative" rAng="0" ptsTypes="">
                                      <p:cBhvr>
                                        <p:cTn id="82" dur="1201" fill="hold"/>
                                        <p:tgtEl>
                                          <p:spTgt spid="10"/>
                                        </p:tgtEl>
                                        <p:attrNameLst>
                                          <p:attrName>ppt_x</p:attrName>
                                          <p:attrName>ppt_y</p:attrName>
                                        </p:attrNameLst>
                                      </p:cBhvr>
                                      <p:rCtr x="0" y="0"/>
                                    </p:animMotion>
                                  </p:childTnLst>
                                </p:cTn>
                              </p:par>
                              <p:par>
                                <p:cTn id="83" presetID="8" presetClass="emph" presetSubtype="0" fill="hold" nodeType="withEffect">
                                  <p:stCondLst>
                                    <p:cond delay="0"/>
                                  </p:stCondLst>
                                  <p:childTnLst>
                                    <p:animRot by="-5400000">
                                      <p:cBhvr>
                                        <p:cTn id="84" dur="1201" fill="hold"/>
                                        <p:tgtEl>
                                          <p:spTgt spid="10"/>
                                        </p:tgtEl>
                                        <p:attrNameLst>
                                          <p:attrName>r</p:attrName>
                                        </p:attrNameLst>
                                      </p:cBhvr>
                                    </p:animRot>
                                  </p:childTnLst>
                                </p:cTn>
                              </p:par>
                              <p:par>
                                <p:cTn id="85" presetID="0" presetClass="path" presetSubtype="0" fill="hold" nodeType="withEffect">
                                  <p:stCondLst>
                                    <p:cond delay="0"/>
                                  </p:stCondLst>
                                  <p:childTnLst>
                                    <p:animMotion origin="layout" path="M 0 -0.2517 C 0 -0.3474 -0.0437 -0.425 -0.0975 -0.425 E" pathEditMode="relative" rAng="0" ptsTypes="">
                                      <p:cBhvr>
                                        <p:cTn id="86" dur="1201" fill="hold"/>
                                        <p:tgtEl>
                                          <p:spTgt spid="11"/>
                                        </p:tgtEl>
                                        <p:attrNameLst>
                                          <p:attrName>ppt_x</p:attrName>
                                          <p:attrName>ppt_y</p:attrName>
                                        </p:attrNameLst>
                                      </p:cBhvr>
                                      <p:rCtr x="0" y="0"/>
                                    </p:animMotion>
                                  </p:childTnLst>
                                </p:cTn>
                              </p:par>
                              <p:par>
                                <p:cTn id="87" presetID="8" presetClass="emph" presetSubtype="0" fill="hold" nodeType="withEffect">
                                  <p:stCondLst>
                                    <p:cond delay="0"/>
                                  </p:stCondLst>
                                  <p:childTnLst>
                                    <p:animRot by="-5400000">
                                      <p:cBhvr>
                                        <p:cTn id="88" dur="1201" fill="hold"/>
                                        <p:tgtEl>
                                          <p:spTgt spid="11"/>
                                        </p:tgtEl>
                                        <p:attrNameLst>
                                          <p:attrName>r</p:attrName>
                                        </p:attrNameLst>
                                      </p:cBhvr>
                                    </p:animRot>
                                  </p:childTnLst>
                                </p:cTn>
                              </p:par>
                            </p:childTnLst>
                          </p:cTn>
                        </p:par>
                        <p:par>
                          <p:cTn id="89" fill="hold">
                            <p:stCondLst>
                              <p:cond delay="1458"/>
                            </p:stCondLst>
                            <p:childTnLst>
                              <p:par>
                                <p:cTn id="90" presetID="0" presetClass="path" presetSubtype="0" fill="hold" nodeType="afterEffect" decel="50000">
                                  <p:stCondLst>
                                    <p:cond delay="0"/>
                                  </p:stCondLst>
                                  <p:childTnLst>
                                    <p:animMotion origin="layout" path="M -0.0975 -0.425 C -0.1325 -0.425 -0.1675 -0.425 -0.2025 -0.425 E" pathEditMode="relative" rAng="0" ptsTypes="">
                                      <p:cBhvr>
                                        <p:cTn id="91" dur="824" fill="hold"/>
                                        <p:tgtEl>
                                          <p:spTgt spid="10"/>
                                        </p:tgtEl>
                                        <p:attrNameLst>
                                          <p:attrName>ppt_x</p:attrName>
                                          <p:attrName>ppt_y</p:attrName>
                                        </p:attrNameLst>
                                      </p:cBhvr>
                                      <p:rCtr x="0" y="0"/>
                                    </p:animMotion>
                                  </p:childTnLst>
                                </p:cTn>
                              </p:par>
                              <p:par>
                                <p:cTn id="92" presetID="0" presetClass="path" presetSubtype="0" fill="hold" nodeType="withEffect" decel="50000">
                                  <p:stCondLst>
                                    <p:cond delay="0"/>
                                  </p:stCondLst>
                                  <p:childTnLst>
                                    <p:animMotion origin="layout" path="M -0.0975 -0.425 C -0.1325 -0.425 -0.1675 -0.425 -0.2025 -0.425 E" pathEditMode="relative" rAng="0" ptsTypes="">
                                      <p:cBhvr>
                                        <p:cTn id="93" dur="824" fill="hold"/>
                                        <p:tgtEl>
                                          <p:spTgt spid="11"/>
                                        </p:tgtEl>
                                        <p:attrNameLst>
                                          <p:attrName>ppt_x</p:attrName>
                                          <p:attrName>ppt_y</p:attrName>
                                        </p:attrNameLst>
                                      </p:cBhvr>
                                      <p:rCtr x="0" y="0"/>
                                    </p:animMotion>
                                  </p:childTnLst>
                                </p:cTn>
                              </p:par>
                            </p:childTnLst>
                          </p:cTn>
                        </p:par>
                        <p:par>
                          <p:cTn id="94" fill="hold">
                            <p:stCondLst>
                              <p:cond delay="2282"/>
                            </p:stCondLst>
                            <p:childTnLst>
                              <p:par>
                                <p:cTn id="95" presetID="10" presetClass="exit" presetSubtype="0" fill="hold" nodeType="afterEffect">
                                  <p:stCondLst>
                                    <p:cond delay="0"/>
                                  </p:stCondLst>
                                  <p:childTnLst>
                                    <p:animEffect transition="out" filter="fade">
                                      <p:cBhvr>
                                        <p:cTn id="96" dur="350"/>
                                        <p:tgtEl>
                                          <p:spTgt spid="10"/>
                                        </p:tgtEl>
                                      </p:cBhvr>
                                    </p:animEffect>
                                    <p:set>
                                      <p:cBhvr>
                                        <p:cTn id="97" dur="1" fill="hold">
                                          <p:stCondLst>
                                            <p:cond delay="349"/>
                                          </p:stCondLst>
                                        </p:cTn>
                                        <p:tgtEl>
                                          <p:spTgt spid="10"/>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1"/>
                                        </p:tgtEl>
                                      </p:cBhvr>
                                    </p:animEffect>
                                    <p:set>
                                      <p:cBhvr>
                                        <p:cTn id="100"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4" grpId="0" animBg="1"/>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21_1"/>
          <p:cNvSpPr txBox="1"/>
          <p:nvPr/>
        </p:nvSpPr>
        <p:spPr>
          <a:xfrm>
            <a:off x="731520" y="1463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2 · EINFAHREN</a:t>
            </a:r>
            <a:endParaRPr lang="en-US" sz="1300" dirty="0"/>
          </a:p>
        </p:txBody>
      </p:sp>
      <p:sp>
        <p:nvSpPr>
          <p:cNvPr id="5" name="e21_2"/>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6000" b="1" dirty="0">
                <a:solidFill>
                  <a:srgbClr val="F5F2EC"/>
                </a:solidFill>
                <a:latin typeface="Cambria" pitchFamily="34" charset="0"/>
                <a:ea typeface="Cambria" pitchFamily="34" charset="-122"/>
                <a:cs typeface="Cambria" pitchFamily="34" charset="-120"/>
              </a:rPr>
              <a:t>Sieht aus wie eine Straße.</a:t>
            </a:r>
            <a:endParaRPr lang="en-US" sz="6000" dirty="0"/>
          </a:p>
        </p:txBody>
      </p:sp>
      <p:sp>
        <p:nvSpPr>
          <p:cNvPr id="6" name="e21_3"/>
          <p:cNvSpPr txBox="1"/>
          <p:nvPr/>
        </p:nvSpPr>
        <p:spPr>
          <a:xfrm>
            <a:off x="731520" y="3200400"/>
            <a:ext cx="10698480" cy="1005840"/>
          </a:xfrm>
          <a:prstGeom prst="rect">
            <a:avLst/>
          </a:prstGeom>
          <a:noFill/>
          <a:ln/>
        </p:spPr>
        <p:txBody>
          <a:bodyPr wrap="square" lIns="0" tIns="0" rIns="0" bIns="0" rtlCol="0" anchor="t"/>
          <a:lstStyle/>
          <a:p>
            <a:pPr algn="ctr" indent="0" marL="0">
              <a:buNone/>
            </a:pPr>
            <a:r>
              <a:rPr lang="en-US" sz="5600" b="1" dirty="0">
                <a:solidFill>
                  <a:srgbClr val="FF7A1A"/>
                </a:solidFill>
                <a:effectLst>
                  <a:glow rad="152400">
                    <a:srgbClr val="FF7A1A">
                      <a:alpha val="35000"/>
                    </a:srgbClr>
                  </a:glow>
                </a:effectLst>
                <a:latin typeface="Cambria" pitchFamily="34" charset="0"/>
                <a:ea typeface="Cambria" pitchFamily="34" charset="-122"/>
                <a:cs typeface="Cambria" pitchFamily="34" charset="-120"/>
              </a:rPr>
              <a:t>Ist aber keine.</a:t>
            </a:r>
            <a:endParaRPr lang="en-US" sz="56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2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900"/>
                                        <p:tgtEl>
                                          <p:spTgt spid="6"/>
                                        </p:tgtEl>
                                      </p:cBhvr>
                                    </p:animEffect>
                                    <p:anim calcmode="lin" valueType="num">
                                      <p:cBhvr additive="base">
                                        <p:cTn id="17"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18"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ACHTUNG, FALLE</a:t>
            </a:r>
            <a:endParaRPr lang="en-US" sz="1300" dirty="0"/>
          </a:p>
        </p:txBody>
      </p:sp>
      <p:sp>
        <p:nvSpPr>
          <p:cNvPr id="6" name="e22_2"/>
          <p:cNvSpPr txBox="1"/>
          <p:nvPr/>
        </p:nvSpPr>
        <p:spPr>
          <a:xfrm>
            <a:off x="685800" y="1188720"/>
            <a:ext cx="6675120" cy="82296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Zwei von rechts. Wer darf?</a:t>
            </a:r>
            <a:endParaRPr lang="en-US" sz="4000" dirty="0"/>
          </a:p>
        </p:txBody>
      </p:sp>
      <p:pic>
        <p:nvPicPr>
          <p:cNvPr id="7" name="e22_3" descr="/tmp/claude-0/-home-user-Fahrlehrer-Kompass-/11378f77-94a8-55e9-a697-0f3efd4c20b9/scratchpad/bau/art/car_du.png">    </p:cNvPr>
          <p:cNvPicPr>
            <a:picLocks noChangeAspect="1"/>
          </p:cNvPicPr>
          <p:nvPr/>
        </p:nvPicPr>
        <p:blipFill>
          <a:blip r:embed="rId2"/>
          <a:stretch>
            <a:fillRect/>
          </a:stretch>
        </p:blipFill>
        <p:spPr>
          <a:xfrm rot="5400000">
            <a:off x="726948" y="3111246"/>
            <a:ext cx="740664" cy="1481328"/>
          </a:xfrm>
          <a:prstGeom prst="rect">
            <a:avLst/>
          </a:prstGeom>
        </p:spPr>
      </p:pic>
      <p:pic>
        <p:nvPicPr>
          <p:cNvPr id="8" name="e22_4" descr="/tmp/claude-0/-home-user-Fahrlehrer-Kompass-/11378f77-94a8-55e9-a697-0f3efd4c20b9/scratchpad/bau/art/car_blau.png">    </p:cNvPr>
          <p:cNvPicPr>
            <a:picLocks noChangeAspect="1"/>
          </p:cNvPicPr>
          <p:nvPr/>
        </p:nvPicPr>
        <p:blipFill>
          <a:blip r:embed="rId3"/>
          <a:stretch>
            <a:fillRect/>
          </a:stretch>
        </p:blipFill>
        <p:spPr>
          <a:xfrm>
            <a:off x="6179058" y="4654296"/>
            <a:ext cx="740664" cy="1481328"/>
          </a:xfrm>
          <a:prstGeom prst="rect">
            <a:avLst/>
          </a:prstGeom>
        </p:spPr>
      </p:pic>
      <p:pic>
        <p:nvPicPr>
          <p:cNvPr id="9" name="e22_5" descr="/tmp/claude-0/-home-user-Fahrlehrer-Kompass-/11378f77-94a8-55e9-a697-0f3efd4c20b9/scratchpad/bau/art/car_rot.png">    </p:cNvPr>
          <p:cNvPicPr>
            <a:picLocks noChangeAspect="1"/>
          </p:cNvPicPr>
          <p:nvPr/>
        </p:nvPicPr>
        <p:blipFill>
          <a:blip r:embed="rId4"/>
          <a:stretch>
            <a:fillRect/>
          </a:stretch>
        </p:blipFill>
        <p:spPr>
          <a:xfrm>
            <a:off x="9322308" y="5065776"/>
            <a:ext cx="740664" cy="1481328"/>
          </a:xfrm>
          <a:prstGeom prst="rect">
            <a:avLst/>
          </a:prstGeom>
        </p:spPr>
      </p:pic>
      <p:pic>
        <p:nvPicPr>
          <p:cNvPr id="10" name="e22_6" descr="/tmp/claude-0/-home-user-Fahrlehrer-Kompass-/11378f77-94a8-55e9-a697-0f3efd4c20b9/scratchpad/bau/art/blink_L.png">    </p:cNvPr>
          <p:cNvPicPr>
            <a:picLocks noChangeAspect="1"/>
          </p:cNvPicPr>
          <p:nvPr/>
        </p:nvPicPr>
        <p:blipFill>
          <a:blip r:embed="rId5"/>
          <a:stretch>
            <a:fillRect/>
          </a:stretch>
        </p:blipFill>
        <p:spPr>
          <a:xfrm>
            <a:off x="6179058" y="4654296"/>
            <a:ext cx="740664" cy="1481328"/>
          </a:xfrm>
          <a:prstGeom prst="rect">
            <a:avLst/>
          </a:prstGeom>
        </p:spPr>
      </p:pic>
      <p:pic>
        <p:nvPicPr>
          <p:cNvPr id="11" name="e22_7" descr="/tmp/claude-0/-home-user-Fahrlehrer-Kompass-/11378f77-94a8-55e9-a697-0f3efd4c20b9/scratchpad/bau/art/blink_L.png">    </p:cNvPr>
          <p:cNvPicPr>
            <a:picLocks noChangeAspect="1"/>
          </p:cNvPicPr>
          <p:nvPr/>
        </p:nvPicPr>
        <p:blipFill>
          <a:blip r:embed="rId6"/>
          <a:stretch>
            <a:fillRect/>
          </a:stretch>
        </p:blipFill>
        <p:spPr>
          <a:xfrm>
            <a:off x="9322308" y="5065776"/>
            <a:ext cx="740664" cy="1481328"/>
          </a:xfrm>
          <a:prstGeom prst="rect">
            <a:avLst/>
          </a:prstGeom>
        </p:spPr>
      </p:pic>
      <p:sp>
        <p:nvSpPr>
          <p:cNvPr id="12" name="e22_8"/>
          <p:cNvSpPr txBox="1"/>
          <p:nvPr/>
        </p:nvSpPr>
        <p:spPr>
          <a:xfrm>
            <a:off x="6896862" y="549554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3" name="e22_9"/>
          <p:cNvSpPr txBox="1"/>
          <p:nvPr/>
        </p:nvSpPr>
        <p:spPr>
          <a:xfrm>
            <a:off x="10040112" y="590702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4" name="e22_10"/>
          <p:cNvSpPr txBox="1"/>
          <p:nvPr/>
        </p:nvSpPr>
        <p:spPr>
          <a:xfrm rot="-180000">
            <a:off x="7589520" y="777240"/>
            <a:ext cx="393192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 zuerst: rechts vor links</a:t>
            </a:r>
            <a:endParaRPr lang="en-US" sz="1900" dirty="0"/>
          </a:p>
        </p:txBody>
      </p:sp>
      <p:sp>
        <p:nvSpPr>
          <p:cNvPr id="15" name="e22_11"/>
          <p:cNvSpPr txBox="1"/>
          <p:nvPr/>
        </p:nvSpPr>
        <p:spPr>
          <a:xfrm>
            <a:off x="3611880" y="6035040"/>
            <a:ext cx="1463040" cy="365760"/>
          </a:xfrm>
          <a:prstGeom prst="rect">
            <a:avLst/>
          </a:prstGeom>
          <a:noFill/>
          <a:ln/>
        </p:spPr>
        <p:txBody>
          <a:bodyPr wrap="square" lIns="0" tIns="0" rIns="0" bIns="0" rtlCol="0" anchor="t"/>
          <a:lstStyle/>
          <a:p>
            <a:pPr algn="r" indent="0" marL="0">
              <a:buNone/>
            </a:pPr>
            <a:r>
              <a:rPr lang="en-US" sz="1700" b="1" dirty="0">
                <a:solidFill>
                  <a:srgbClr val="F5F2EC"/>
                </a:solidFill>
                <a:latin typeface="Calibri" pitchFamily="34" charset="0"/>
                <a:ea typeface="Calibri" pitchFamily="34" charset="-122"/>
                <a:cs typeface="Calibri" pitchFamily="34" charset="-120"/>
              </a:rPr>
              <a:t>Straße</a:t>
            </a:r>
            <a:endParaRPr lang="en-US" sz="1700" dirty="0"/>
          </a:p>
        </p:txBody>
      </p:sp>
      <p:sp>
        <p:nvSpPr>
          <p:cNvPr id="16" name="e22_12"/>
          <p:cNvSpPr txBox="1"/>
          <p:nvPr/>
        </p:nvSpPr>
        <p:spPr>
          <a:xfrm rot="-180000">
            <a:off x="7589520" y="14630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Du zuerst! B fährt ein (§ 10)</a:t>
            </a:r>
            <a:endParaRPr lang="en-US" sz="1900" dirty="0"/>
          </a:p>
        </p:txBody>
      </p:sp>
      <p:sp>
        <p:nvSpPr>
          <p:cNvPr id="17" name="e22_13"/>
          <p:cNvSpPr txBox="1"/>
          <p:nvPr/>
        </p:nvSpPr>
        <p:spPr>
          <a:xfrm>
            <a:off x="10607040" y="4846320"/>
            <a:ext cx="1463040" cy="365760"/>
          </a:xfrm>
          <a:prstGeom prst="rect">
            <a:avLst/>
          </a:prstGeom>
          <a:noFill/>
          <a:ln/>
        </p:spPr>
        <p:txBody>
          <a:bodyPr wrap="square" lIns="0" tIns="0" rIns="0" bIns="0" rtlCol="0" anchor="t"/>
          <a:lstStyle/>
          <a:p>
            <a:pPr algn="l" indent="0" marL="0">
              <a:buNone/>
            </a:pPr>
            <a:r>
              <a:rPr lang="en-US" sz="1700" b="1" dirty="0">
                <a:solidFill>
                  <a:srgbClr val="F5F2EC"/>
                </a:solidFill>
                <a:latin typeface="Calibri" pitchFamily="34" charset="0"/>
                <a:ea typeface="Calibri" pitchFamily="34" charset="-122"/>
                <a:cs typeface="Calibri" pitchFamily="34" charset="-120"/>
              </a:rPr>
              <a:t>Hofeinfahrt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50"/>
                                        <p:tgtEl>
                                          <p:spTgt spid="12"/>
                                        </p:tgtEl>
                                      </p:cBhvr>
                                    </p:animEffect>
                                    <p:anim calcmode="lin" valueType="num">
                                      <p:cBhvr additive="base">
                                        <p:cTn id="18" dur="650" fill="hold" decel="100000"/>
                                        <p:tgtEl>
                                          <p:spTgt spid="1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12"/>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650"/>
                                        <p:tgtEl>
                                          <p:spTgt spid="13"/>
                                        </p:tgtEl>
                                      </p:cBhvr>
                                    </p:animEffect>
                                    <p:anim calcmode="lin" valueType="num">
                                      <p:cBhvr additive="base">
                                        <p:cTn id="23"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13"/>
                                        </p:tgtEl>
                                        <p:attrNameLst>
                                          <p:attrName>ppt_y</p:attrName>
                                        </p:attrNameLst>
                                      </p:cBhvr>
                                      <p:tavLst>
                                        <p:tav tm="0">
                                          <p:val>
                                            <p:strVal val="#ppt_y+.05"/>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50"/>
                                        <p:tgtEl>
                                          <p:spTgt spid="10"/>
                                        </p:tgtEl>
                                      </p:cBhvr>
                                    </p:animEffect>
                                  </p:childTnLst>
                                </p:cTn>
                              </p:par>
                              <p:par>
                                <p:cTn id="28" presetID="35" presetClass="emph" presetSubtype="0" fill="hold" nodeType="withEffect" repeatCount="indefinite">
                                  <p:stCondLst>
                                    <p:cond delay="0"/>
                                  </p:stCondLst>
                                  <p:childTnLst>
                                    <p:anim calcmode="discrete" valueType="str">
                                      <p:cBhvr override="childStyle">
                                        <p:cTn id="29" dur="700"/>
                                        <p:tgtEl>
                                          <p:spTgt spid="10"/>
                                        </p:tgtEl>
                                        <p:attrNameLst>
                                          <p:attrName>style.visibility</p:attrName>
                                        </p:attrNameLst>
                                      </p:cBhvr>
                                      <p:tavLst>
                                        <p:tav tm="0">
                                          <p:val>
                                            <p:strVal val="hidden"/>
                                          </p:val>
                                        </p:tav>
                                        <p:tav tm="50000">
                                          <p:val>
                                            <p:strVal val="visible"/>
                                          </p:val>
                                        </p:tav>
                                      </p:tavLst>
                                    </p:anim>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50"/>
                                        <p:tgtEl>
                                          <p:spTgt spid="11"/>
                                        </p:tgtEl>
                                      </p:cBhvr>
                                    </p:animEffect>
                                  </p:childTnLst>
                                </p:cTn>
                              </p:par>
                              <p:par>
                                <p:cTn id="33" presetID="35" presetClass="emph" presetSubtype="0" fill="hold" nodeType="withEffect" repeatCount="indefinite">
                                  <p:stCondLst>
                                    <p:cond delay="0"/>
                                  </p:stCondLst>
                                  <p:childTnLst>
                                    <p:anim calcmode="discrete" valueType="str">
                                      <p:cBhvr override="childStyle">
                                        <p:cTn id="34"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5" fill="hold">
                      <p:stCondLst>
                        <p:cond delay="indefinite"/>
                      </p:stCondLst>
                      <p:childTnLst>
                        <p:par>
                          <p:cTn id="36" fill="hold">
                            <p:stCondLst>
                              <p:cond delay="0"/>
                            </p:stCondLst>
                            <p:childTnLst>
                              <p:par>
                                <p:cTn id="37" presetID="0" presetClass="path" presetSubtype="0" fill="hold" nodeType="clickEffect" accel="40000" decel="40000">
                                  <p:stCondLst>
                                    <p:cond delay="0"/>
                                  </p:stCondLst>
                                  <p:childTnLst>
                                    <p:animMotion origin="layout" path="M 0 0 C 0.0881 0 0.1763 0 0.2644 0 E" pathEditMode="relative" rAng="0" ptsTypes="">
                                      <p:cBhvr>
                                        <p:cTn id="38" dur="2074" fill="hold"/>
                                        <p:tgtEl>
                                          <p:spTgt spid="7"/>
                                        </p:tgtEl>
                                        <p:attrNameLst>
                                          <p:attrName>ppt_x</p:attrName>
                                          <p:attrName>ppt_y</p:attrName>
                                        </p:attrNameLst>
                                      </p:cBhvr>
                                      <p:rCtr x="0" y="0"/>
                                    </p:animMotion>
                                  </p:childTnLst>
                                </p:cTn>
                              </p:par>
                            </p:childTnLst>
                          </p:cTn>
                        </p:par>
                      </p:childTnLst>
                    </p:cTn>
                  </p:par>
                  <p:par>
                    <p:cTn id="39" fill="hold">
                      <p:stCondLst>
                        <p:cond delay="indefinite"/>
                      </p:stCondLst>
                      <p:childTnLst>
                        <p:par>
                          <p:cTn id="40" fill="hold">
                            <p:stCondLst>
                              <p:cond delay="0"/>
                            </p:stCondLst>
                            <p:childTnLst>
                              <p:par>
                                <p:cTn id="41" presetID="53" presetClass="entr" presetSubtype="32"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4"/>
                                        </p:tgtEl>
                                        <p:attrNameLst>
                                          <p:attrName>ppt_h</p:attrName>
                                        </p:attrNameLst>
                                      </p:cBhvr>
                                      <p:tavLst>
                                        <p:tav tm="0">
                                          <p:val>
                                            <p:strVal val="#ppt_h*2.2"/>
                                          </p:val>
                                        </p:tav>
                                        <p:tav tm="100000">
                                          <p:val>
                                            <p:strVal val="#ppt_h"/>
                                          </p:val>
                                        </p:tav>
                                      </p:tavLst>
                                    </p:anim>
                                    <p:animEffect transition="in" filter="fade">
                                      <p:cBhvr>
                                        <p:cTn id="45" dur="228"/>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childTnLst>
                          </p:cTn>
                        </p:par>
                        <p:par>
                          <p:cTn id="49" fill="hold">
                            <p:stCondLst>
                              <p:cond delay="400"/>
                            </p:stCondLst>
                            <p:childTnLst>
                              <p:par>
                                <p:cTn id="50" presetID="0" presetClass="path" presetSubtype="0" fill="hold" nodeType="afterEffect" accel="50000">
                                  <p:stCondLst>
                                    <p:cond delay="0"/>
                                  </p:stCondLst>
                                  <p:childTnLst>
                                    <p:animMotion origin="layout" path="M 0 0 C 0 -0.0606 0 -0.1211 0 -0.1817 E" pathEditMode="relative" rAng="0" ptsTypes="">
                                      <p:cBhvr>
                                        <p:cTn id="51" dur="801" fill="hold"/>
                                        <p:tgtEl>
                                          <p:spTgt spid="8"/>
                                        </p:tgtEl>
                                        <p:attrNameLst>
                                          <p:attrName>ppt_x</p:attrName>
                                          <p:attrName>ppt_y</p:attrName>
                                        </p:attrNameLst>
                                      </p:cBhvr>
                                      <p:rCtr x="0" y="0"/>
                                    </p:animMotion>
                                  </p:childTnLst>
                                </p:cTn>
                              </p:par>
                              <p:par>
                                <p:cTn id="52" presetID="0" presetClass="path" presetSubtype="0" fill="hold" nodeType="withEffect" accel="50000">
                                  <p:stCondLst>
                                    <p:cond delay="0"/>
                                  </p:stCondLst>
                                  <p:childTnLst>
                                    <p:animMotion origin="layout" path="M 0 0 C 0 -0.0606 0 -0.1211 0 -0.1817 E" pathEditMode="relative" rAng="0" ptsTypes="">
                                      <p:cBhvr>
                                        <p:cTn id="53" dur="801" fill="hold"/>
                                        <p:tgtEl>
                                          <p:spTgt spid="10"/>
                                        </p:tgtEl>
                                        <p:attrNameLst>
                                          <p:attrName>ppt_x</p:attrName>
                                          <p:attrName>ppt_y</p:attrName>
                                        </p:attrNameLst>
                                      </p:cBhvr>
                                      <p:rCtr x="0" y="0"/>
                                    </p:animMotion>
                                  </p:childTnLst>
                                </p:cTn>
                              </p:par>
                            </p:childTnLst>
                          </p:cTn>
                        </p:par>
                        <p:par>
                          <p:cTn id="54" fill="hold">
                            <p:stCondLst>
                              <p:cond delay="1201"/>
                            </p:stCondLst>
                            <p:childTnLst>
                              <p:par>
                                <p:cTn id="55" presetID="0" presetClass="path" presetSubtype="0" fill="hold" nodeType="afterEffect">
                                  <p:stCondLst>
                                    <p:cond delay="0"/>
                                  </p:stCondLst>
                                  <p:childTnLst>
                                    <p:animMotion origin="layout" path="M 0 -0.1817 C 0 -0.2774 -0.0437 -0.355 -0.0975 -0.355 E" pathEditMode="relative" rAng="0" ptsTypes="">
                                      <p:cBhvr>
                                        <p:cTn id="56" dur="1201" fill="hold"/>
                                        <p:tgtEl>
                                          <p:spTgt spid="8"/>
                                        </p:tgtEl>
                                        <p:attrNameLst>
                                          <p:attrName>ppt_x</p:attrName>
                                          <p:attrName>ppt_y</p:attrName>
                                        </p:attrNameLst>
                                      </p:cBhvr>
                                      <p:rCtr x="0" y="0"/>
                                    </p:animMotion>
                                  </p:childTnLst>
                                </p:cTn>
                              </p:par>
                              <p:par>
                                <p:cTn id="57" presetID="8" presetClass="emph" presetSubtype="0" fill="hold" nodeType="withEffect">
                                  <p:stCondLst>
                                    <p:cond delay="0"/>
                                  </p:stCondLst>
                                  <p:childTnLst>
                                    <p:animRot by="-5400000">
                                      <p:cBhvr>
                                        <p:cTn id="58" dur="1201" fill="hold"/>
                                        <p:tgtEl>
                                          <p:spTgt spid="8"/>
                                        </p:tgtEl>
                                        <p:attrNameLst>
                                          <p:attrName>r</p:attrName>
                                        </p:attrNameLst>
                                      </p:cBhvr>
                                    </p:animRot>
                                  </p:childTnLst>
                                </p:cTn>
                              </p:par>
                              <p:par>
                                <p:cTn id="59" presetID="0" presetClass="path" presetSubtype="0" fill="hold" nodeType="withEffect">
                                  <p:stCondLst>
                                    <p:cond delay="0"/>
                                  </p:stCondLst>
                                  <p:childTnLst>
                                    <p:animMotion origin="layout" path="M 0 -0.1817 C 0 -0.2774 -0.0437 -0.355 -0.0975 -0.355 E" pathEditMode="relative" rAng="0" ptsTypes="">
                                      <p:cBhvr>
                                        <p:cTn id="60" dur="1201" fill="hold"/>
                                        <p:tgtEl>
                                          <p:spTgt spid="10"/>
                                        </p:tgtEl>
                                        <p:attrNameLst>
                                          <p:attrName>ppt_x</p:attrName>
                                          <p:attrName>ppt_y</p:attrName>
                                        </p:attrNameLst>
                                      </p:cBhvr>
                                      <p:rCtr x="0" y="0"/>
                                    </p:animMotion>
                                  </p:childTnLst>
                                </p:cTn>
                              </p:par>
                              <p:par>
                                <p:cTn id="61" presetID="8" presetClass="emph" presetSubtype="0" fill="hold" nodeType="withEffect">
                                  <p:stCondLst>
                                    <p:cond delay="0"/>
                                  </p:stCondLst>
                                  <p:childTnLst>
                                    <p:animRot by="-5400000">
                                      <p:cBhvr>
                                        <p:cTn id="62" dur="1201" fill="hold"/>
                                        <p:tgtEl>
                                          <p:spTgt spid="10"/>
                                        </p:tgtEl>
                                        <p:attrNameLst>
                                          <p:attrName>r</p:attrName>
                                        </p:attrNameLst>
                                      </p:cBhvr>
                                    </p:animRot>
                                  </p:childTnLst>
                                </p:cTn>
                              </p:par>
                            </p:childTnLst>
                          </p:cTn>
                        </p:par>
                        <p:par>
                          <p:cTn id="63" fill="hold">
                            <p:stCondLst>
                              <p:cond delay="2402"/>
                            </p:stCondLst>
                            <p:childTnLst>
                              <p:par>
                                <p:cTn id="64" presetID="0" presetClass="path" presetSubtype="0" fill="hold" nodeType="afterEffect" decel="50000">
                                  <p:stCondLst>
                                    <p:cond delay="0"/>
                                  </p:stCondLst>
                                  <p:childTnLst>
                                    <p:animMotion origin="layout" path="M -0.0975 -0.355 C -0.1775 -0.355 -0.2575 -0.355 -0.3375 -0.355 E" pathEditMode="relative" rAng="0" ptsTypes="">
                                      <p:cBhvr>
                                        <p:cTn id="65" dur="1882" fill="hold"/>
                                        <p:tgtEl>
                                          <p:spTgt spid="8"/>
                                        </p:tgtEl>
                                        <p:attrNameLst>
                                          <p:attrName>ppt_x</p:attrName>
                                          <p:attrName>ppt_y</p:attrName>
                                        </p:attrNameLst>
                                      </p:cBhvr>
                                      <p:rCtr x="0" y="0"/>
                                    </p:animMotion>
                                  </p:childTnLst>
                                </p:cTn>
                              </p:par>
                              <p:par>
                                <p:cTn id="66" presetID="0" presetClass="path" presetSubtype="0" fill="hold" nodeType="withEffect" decel="50000">
                                  <p:stCondLst>
                                    <p:cond delay="0"/>
                                  </p:stCondLst>
                                  <p:childTnLst>
                                    <p:animMotion origin="layout" path="M -0.0975 -0.355 C -0.1775 -0.355 -0.2575 -0.355 -0.3375 -0.355 E" pathEditMode="relative" rAng="0" ptsTypes="">
                                      <p:cBhvr>
                                        <p:cTn id="67" dur="1882" fill="hold"/>
                                        <p:tgtEl>
                                          <p:spTgt spid="10"/>
                                        </p:tgtEl>
                                        <p:attrNameLst>
                                          <p:attrName>ppt_x</p:attrName>
                                          <p:attrName>ppt_y</p:attrName>
                                        </p:attrNameLst>
                                      </p:cBhvr>
                                      <p:rCtr x="0" y="0"/>
                                    </p:animMotion>
                                  </p:childTnLst>
                                </p:cTn>
                              </p:par>
                            </p:childTnLst>
                          </p:cTn>
                        </p:par>
                        <p:par>
                          <p:cTn id="68" fill="hold">
                            <p:stCondLst>
                              <p:cond delay="4284"/>
                            </p:stCondLst>
                            <p:childTnLst>
                              <p:par>
                                <p:cTn id="69" presetID="10" presetClass="exit" presetSubtype="0" fill="hold" nodeType="afterEffect">
                                  <p:stCondLst>
                                    <p:cond delay="0"/>
                                  </p:stCondLst>
                                  <p:childTnLst>
                                    <p:animEffect transition="out" filter="fade">
                                      <p:cBhvr>
                                        <p:cTn id="70" dur="350"/>
                                        <p:tgtEl>
                                          <p:spTgt spid="8"/>
                                        </p:tgtEl>
                                      </p:cBhvr>
                                    </p:animEffect>
                                    <p:set>
                                      <p:cBhvr>
                                        <p:cTn id="71" dur="1" fill="hold">
                                          <p:stCondLst>
                                            <p:cond delay="349"/>
                                          </p:stCondLst>
                                        </p:cTn>
                                        <p:tgtEl>
                                          <p:spTgt spid="8"/>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350"/>
                                        <p:tgtEl>
                                          <p:spTgt spid="10"/>
                                        </p:tgtEl>
                                      </p:cBhvr>
                                    </p:animEffect>
                                    <p:set>
                                      <p:cBhvr>
                                        <p:cTn id="74" dur="1" fill="hold">
                                          <p:stCondLst>
                                            <p:cond delay="349"/>
                                          </p:stCondLst>
                                        </p:cTn>
                                        <p:tgtEl>
                                          <p:spTgt spid="1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0" presetClass="path" presetSubtype="0" fill="hold" nodeType="clickEffect" accel="40000" decel="40000">
                                  <p:stCondLst>
                                    <p:cond delay="0"/>
                                  </p:stCondLst>
                                  <p:childTnLst>
                                    <p:animMotion origin="layout" path="M 0.2644 0 C 0.3644 0 0.4644 0 0.5644 0 E" pathEditMode="relative" rAng="0" ptsTypes="">
                                      <p:cBhvr>
                                        <p:cTn id="78" dur="2353" fill="hold"/>
                                        <p:tgtEl>
                                          <p:spTgt spid="7"/>
                                        </p:tgtEl>
                                        <p:attrNameLst>
                                          <p:attrName>ppt_x</p:attrName>
                                          <p:attrName>ppt_y</p:attrName>
                                        </p:attrNameLst>
                                      </p:cBhvr>
                                      <p:rCtr x="0" y="0"/>
                                    </p:animMotion>
                                  </p:childTnLst>
                                </p:cTn>
                              </p:par>
                            </p:childTnLst>
                          </p:cTn>
                        </p:par>
                      </p:childTnLst>
                    </p:cTn>
                  </p:par>
                  <p:par>
                    <p:cTn id="79" fill="hold">
                      <p:stCondLst>
                        <p:cond delay="indefinite"/>
                      </p:stCondLst>
                      <p:childTnLst>
                        <p:par>
                          <p:cTn id="80" fill="hold">
                            <p:stCondLst>
                              <p:cond delay="0"/>
                            </p:stCondLst>
                            <p:childTnLst>
                              <p:par>
                                <p:cTn id="81" presetID="53" presetClass="entr" presetSubtype="32" fill="hold" grpId="0" nodeType="clickEffect">
                                  <p:stCondLst>
                                    <p:cond delay="0"/>
                                  </p:stCondLst>
                                  <p:childTnLst>
                                    <p:set>
                                      <p:cBhvr>
                                        <p:cTn id="82" dur="1" fill="hold">
                                          <p:stCondLst>
                                            <p:cond delay="0"/>
                                          </p:stCondLst>
                                        </p:cTn>
                                        <p:tgtEl>
                                          <p:spTgt spid="16"/>
                                        </p:tgtEl>
                                        <p:attrNameLst>
                                          <p:attrName>style.visibility</p:attrName>
                                        </p:attrNameLst>
                                      </p:cBhvr>
                                      <p:to>
                                        <p:strVal val="visible"/>
                                      </p:to>
                                    </p:set>
                                    <p:anim calcmode="lin" valueType="num">
                                      <p:cBhvr additive="base">
                                        <p:cTn id="83" dur="380" fill="hold" accel="60000"/>
                                        <p:tgtEl>
                                          <p:spTgt spid="16"/>
                                        </p:tgtEl>
                                        <p:attrNameLst>
                                          <p:attrName>ppt_w</p:attrName>
                                        </p:attrNameLst>
                                      </p:cBhvr>
                                      <p:tavLst>
                                        <p:tav tm="0">
                                          <p:val>
                                            <p:strVal val="#ppt_w*2.2"/>
                                          </p:val>
                                        </p:tav>
                                        <p:tav tm="100000">
                                          <p:val>
                                            <p:strVal val="#ppt_w"/>
                                          </p:val>
                                        </p:tav>
                                      </p:tavLst>
                                    </p:anim>
                                    <p:anim calcmode="lin" valueType="num">
                                      <p:cBhvr additive="base">
                                        <p:cTn id="84" dur="380" fill="hold" accel="60000"/>
                                        <p:tgtEl>
                                          <p:spTgt spid="16"/>
                                        </p:tgtEl>
                                        <p:attrNameLst>
                                          <p:attrName>ppt_h</p:attrName>
                                        </p:attrNameLst>
                                      </p:cBhvr>
                                      <p:tavLst>
                                        <p:tav tm="0">
                                          <p:val>
                                            <p:strVal val="#ppt_h*2.2"/>
                                          </p:val>
                                        </p:tav>
                                        <p:tav tm="100000">
                                          <p:val>
                                            <p:strVal val="#ppt_h"/>
                                          </p:val>
                                        </p:tav>
                                      </p:tavLst>
                                    </p:anim>
                                    <p:animEffect transition="in" filter="fade">
                                      <p:cBhvr>
                                        <p:cTn id="85" dur="228"/>
                                        <p:tgtEl>
                                          <p:spTgt spid="1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7"/>
                                        </p:tgtEl>
                                        <p:attrNameLst>
                                          <p:attrName>style.visibility</p:attrName>
                                        </p:attrNameLst>
                                      </p:cBhvr>
                                      <p:to>
                                        <p:strVal val="visible"/>
                                      </p:to>
                                    </p:set>
                                    <p:animEffect transition="in" filter="fade">
                                      <p:cBhvr>
                                        <p:cTn id="88" dur="400"/>
                                        <p:tgtEl>
                                          <p:spTgt spid="17"/>
                                        </p:tgtEl>
                                      </p:cBhvr>
                                    </p:animEffect>
                                  </p:childTnLst>
                                </p:cTn>
                              </p:par>
                            </p:childTnLst>
                          </p:cTn>
                        </p:par>
                      </p:childTnLst>
                    </p:cTn>
                  </p:par>
                  <p:par>
                    <p:cTn id="89" fill="hold">
                      <p:stCondLst>
                        <p:cond delay="indefinite"/>
                      </p:stCondLst>
                      <p:childTnLst>
                        <p:par>
                          <p:cTn id="90" fill="hold">
                            <p:stCondLst>
                              <p:cond delay="0"/>
                            </p:stCondLst>
                            <p:childTnLst>
                              <p:par>
                                <p:cTn id="91" presetID="0" presetClass="path" presetSubtype="0" fill="hold" nodeType="clickEffect" accel="40000" decel="40000">
                                  <p:stCondLst>
                                    <p:cond delay="0"/>
                                  </p:stCondLst>
                                  <p:childTnLst>
                                    <p:animMotion origin="layout" path="M 0.5644 0 C 0.6894 0 0.8144 0 0.9394 0 E" pathEditMode="relative" rAng="0" ptsTypes="">
                                      <p:cBhvr>
                                        <p:cTn id="92" dur="2941" fill="hold"/>
                                        <p:tgtEl>
                                          <p:spTgt spid="7"/>
                                        </p:tgtEl>
                                        <p:attrNameLst>
                                          <p:attrName>ppt_x</p:attrName>
                                          <p:attrName>ppt_y</p:attrName>
                                        </p:attrNameLst>
                                      </p:cBhvr>
                                      <p:rCtr x="0" y="0"/>
                                    </p:animMotion>
                                  </p:childTnLst>
                                </p:cTn>
                              </p:par>
                            </p:childTnLst>
                          </p:cTn>
                        </p:par>
                        <p:par>
                          <p:cTn id="93" fill="hold">
                            <p:stCondLst>
                              <p:cond delay="2941"/>
                            </p:stCondLst>
                            <p:childTnLst>
                              <p:par>
                                <p:cTn id="94" presetID="10" presetClass="exit" presetSubtype="0" fill="hold" nodeType="afterEffect">
                                  <p:stCondLst>
                                    <p:cond delay="0"/>
                                  </p:stCondLst>
                                  <p:childTnLst>
                                    <p:animEffect transition="out" filter="fade">
                                      <p:cBhvr>
                                        <p:cTn id="95" dur="350"/>
                                        <p:tgtEl>
                                          <p:spTgt spid="7"/>
                                        </p:tgtEl>
                                      </p:cBhvr>
                                    </p:animEffect>
                                    <p:set>
                                      <p:cBhvr>
                                        <p:cTn id="96" dur="1" fill="hold">
                                          <p:stCondLst>
                                            <p:cond delay="349"/>
                                          </p:stCondLst>
                                        </p:cTn>
                                        <p:tgtEl>
                                          <p:spTgt spid="7"/>
                                        </p:tgtEl>
                                        <p:attrNameLst>
                                          <p:attrName>style.visibility</p:attrName>
                                        </p:attrNameLst>
                                      </p:cBhvr>
                                      <p:to>
                                        <p:strVal val="hidden"/>
                                      </p:to>
                                    </p:set>
                                  </p:childTnLst>
                                </p:cTn>
                              </p:par>
                            </p:childTnLst>
                          </p:cTn>
                        </p:par>
                        <p:par>
                          <p:cTn id="97" fill="hold">
                            <p:stCondLst>
                              <p:cond delay="3291"/>
                            </p:stCondLst>
                            <p:childTnLst>
                              <p:par>
                                <p:cTn id="98" presetID="0" presetClass="path" presetSubtype="0" fill="hold" nodeType="afterEffect" accel="50000">
                                  <p:stCondLst>
                                    <p:cond delay="0"/>
                                  </p:stCondLst>
                                  <p:childTnLst>
                                    <p:animMotion origin="layout" path="M 0 0 C 0 -0.0806 0 -0.1611 0 -0.2417 E" pathEditMode="relative" rAng="0" ptsTypes="">
                                      <p:cBhvr>
                                        <p:cTn id="99" dur="1066" fill="hold"/>
                                        <p:tgtEl>
                                          <p:spTgt spid="9"/>
                                        </p:tgtEl>
                                        <p:attrNameLst>
                                          <p:attrName>ppt_x</p:attrName>
                                          <p:attrName>ppt_y</p:attrName>
                                        </p:attrNameLst>
                                      </p:cBhvr>
                                      <p:rCtr x="0" y="0"/>
                                    </p:animMotion>
                                  </p:childTnLst>
                                </p:cTn>
                              </p:par>
                              <p:par>
                                <p:cTn id="100" presetID="0" presetClass="path" presetSubtype="0" fill="hold" nodeType="withEffect" accel="50000">
                                  <p:stCondLst>
                                    <p:cond delay="0"/>
                                  </p:stCondLst>
                                  <p:childTnLst>
                                    <p:animMotion origin="layout" path="M 0 0 C 0 -0.0806 0 -0.1611 0 -0.2417 E" pathEditMode="relative" rAng="0" ptsTypes="">
                                      <p:cBhvr>
                                        <p:cTn id="101" dur="1066" fill="hold"/>
                                        <p:tgtEl>
                                          <p:spTgt spid="11"/>
                                        </p:tgtEl>
                                        <p:attrNameLst>
                                          <p:attrName>ppt_x</p:attrName>
                                          <p:attrName>ppt_y</p:attrName>
                                        </p:attrNameLst>
                                      </p:cBhvr>
                                      <p:rCtr x="0" y="0"/>
                                    </p:animMotion>
                                  </p:childTnLst>
                                </p:cTn>
                              </p:par>
                            </p:childTnLst>
                          </p:cTn>
                        </p:par>
                        <p:par>
                          <p:cTn id="102" fill="hold">
                            <p:stCondLst>
                              <p:cond delay="4357"/>
                            </p:stCondLst>
                            <p:childTnLst>
                              <p:par>
                                <p:cTn id="103" presetID="0" presetClass="path" presetSubtype="0" fill="hold" nodeType="afterEffect">
                                  <p:stCondLst>
                                    <p:cond delay="0"/>
                                  </p:stCondLst>
                                  <p:childTnLst>
                                    <p:animMotion origin="layout" path="M 0 -0.2417 C 0 -0.3374 -0.0437 -0.415 -0.0975 -0.415 E" pathEditMode="relative" rAng="0" ptsTypes="">
                                      <p:cBhvr>
                                        <p:cTn id="104" dur="1201" fill="hold"/>
                                        <p:tgtEl>
                                          <p:spTgt spid="9"/>
                                        </p:tgtEl>
                                        <p:attrNameLst>
                                          <p:attrName>ppt_x</p:attrName>
                                          <p:attrName>ppt_y</p:attrName>
                                        </p:attrNameLst>
                                      </p:cBhvr>
                                      <p:rCtr x="0" y="0"/>
                                    </p:animMotion>
                                  </p:childTnLst>
                                </p:cTn>
                              </p:par>
                              <p:par>
                                <p:cTn id="105" presetID="8" presetClass="emph" presetSubtype="0" fill="hold" nodeType="withEffect">
                                  <p:stCondLst>
                                    <p:cond delay="0"/>
                                  </p:stCondLst>
                                  <p:childTnLst>
                                    <p:animRot by="-5400000">
                                      <p:cBhvr>
                                        <p:cTn id="106" dur="1201" fill="hold"/>
                                        <p:tgtEl>
                                          <p:spTgt spid="9"/>
                                        </p:tgtEl>
                                        <p:attrNameLst>
                                          <p:attrName>r</p:attrName>
                                        </p:attrNameLst>
                                      </p:cBhvr>
                                    </p:animRot>
                                  </p:childTnLst>
                                </p:cTn>
                              </p:par>
                              <p:par>
                                <p:cTn id="107" presetID="0" presetClass="path" presetSubtype="0" fill="hold" nodeType="withEffect">
                                  <p:stCondLst>
                                    <p:cond delay="0"/>
                                  </p:stCondLst>
                                  <p:childTnLst>
                                    <p:animMotion origin="layout" path="M 0 -0.2417 C 0 -0.3374 -0.0437 -0.415 -0.0975 -0.415 E" pathEditMode="relative" rAng="0" ptsTypes="">
                                      <p:cBhvr>
                                        <p:cTn id="108" dur="1201" fill="hold"/>
                                        <p:tgtEl>
                                          <p:spTgt spid="11"/>
                                        </p:tgtEl>
                                        <p:attrNameLst>
                                          <p:attrName>ppt_x</p:attrName>
                                          <p:attrName>ppt_y</p:attrName>
                                        </p:attrNameLst>
                                      </p:cBhvr>
                                      <p:rCtr x="0" y="0"/>
                                    </p:animMotion>
                                  </p:childTnLst>
                                </p:cTn>
                              </p:par>
                              <p:par>
                                <p:cTn id="109" presetID="8" presetClass="emph" presetSubtype="0" fill="hold" nodeType="withEffect">
                                  <p:stCondLst>
                                    <p:cond delay="0"/>
                                  </p:stCondLst>
                                  <p:childTnLst>
                                    <p:animRot by="-5400000">
                                      <p:cBhvr>
                                        <p:cTn id="110" dur="1201" fill="hold"/>
                                        <p:tgtEl>
                                          <p:spTgt spid="11"/>
                                        </p:tgtEl>
                                        <p:attrNameLst>
                                          <p:attrName>r</p:attrName>
                                        </p:attrNameLst>
                                      </p:cBhvr>
                                    </p:animRot>
                                  </p:childTnLst>
                                </p:cTn>
                              </p:par>
                            </p:childTnLst>
                          </p:cTn>
                        </p:par>
                        <p:par>
                          <p:cTn id="111" fill="hold">
                            <p:stCondLst>
                              <p:cond delay="5558"/>
                            </p:stCondLst>
                            <p:childTnLst>
                              <p:par>
                                <p:cTn id="112" presetID="0" presetClass="path" presetSubtype="0" fill="hold" nodeType="afterEffect" decel="50000">
                                  <p:stCondLst>
                                    <p:cond delay="0"/>
                                  </p:stCondLst>
                                  <p:childTnLst>
                                    <p:animMotion origin="layout" path="M -0.0975 -0.415 C -0.185 -0.415 -0.2725 -0.415 -0.36 -0.415 E" pathEditMode="relative" rAng="0" ptsTypes="">
                                      <p:cBhvr>
                                        <p:cTn id="113" dur="2059" fill="hold"/>
                                        <p:tgtEl>
                                          <p:spTgt spid="9"/>
                                        </p:tgtEl>
                                        <p:attrNameLst>
                                          <p:attrName>ppt_x</p:attrName>
                                          <p:attrName>ppt_y</p:attrName>
                                        </p:attrNameLst>
                                      </p:cBhvr>
                                      <p:rCtr x="0" y="0"/>
                                    </p:animMotion>
                                  </p:childTnLst>
                                </p:cTn>
                              </p:par>
                              <p:par>
                                <p:cTn id="114" presetID="0" presetClass="path" presetSubtype="0" fill="hold" nodeType="withEffect" decel="50000">
                                  <p:stCondLst>
                                    <p:cond delay="0"/>
                                  </p:stCondLst>
                                  <p:childTnLst>
                                    <p:animMotion origin="layout" path="M -0.0975 -0.415 C -0.185 -0.415 -0.2725 -0.415 -0.36 -0.415 E" pathEditMode="relative" rAng="0" ptsTypes="">
                                      <p:cBhvr>
                                        <p:cTn id="115" dur="2059" fill="hold"/>
                                        <p:tgtEl>
                                          <p:spTgt spid="11"/>
                                        </p:tgtEl>
                                        <p:attrNameLst>
                                          <p:attrName>ppt_x</p:attrName>
                                          <p:attrName>ppt_y</p:attrName>
                                        </p:attrNameLst>
                                      </p:cBhvr>
                                      <p:rCtr x="0" y="0"/>
                                    </p:animMotion>
                                  </p:childTnLst>
                                </p:cTn>
                              </p:par>
                            </p:childTnLst>
                          </p:cTn>
                        </p:par>
                        <p:par>
                          <p:cTn id="116" fill="hold">
                            <p:stCondLst>
                              <p:cond delay="7617"/>
                            </p:stCondLst>
                            <p:childTnLst>
                              <p:par>
                                <p:cTn id="117" presetID="10" presetClass="exit" presetSubtype="0" fill="hold" nodeType="afterEffect">
                                  <p:stCondLst>
                                    <p:cond delay="0"/>
                                  </p:stCondLst>
                                  <p:childTnLst>
                                    <p:animEffect transition="out" filter="fade">
                                      <p:cBhvr>
                                        <p:cTn id="118" dur="350"/>
                                        <p:tgtEl>
                                          <p:spTgt spid="9"/>
                                        </p:tgtEl>
                                      </p:cBhvr>
                                    </p:animEffect>
                                    <p:set>
                                      <p:cBhvr>
                                        <p:cTn id="119" dur="1" fill="hold">
                                          <p:stCondLst>
                                            <p:cond delay="349"/>
                                          </p:stCondLst>
                                        </p:cTn>
                                        <p:tgtEl>
                                          <p:spTgt spid="9"/>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50"/>
                                        <p:tgtEl>
                                          <p:spTgt spid="11"/>
                                        </p:tgtEl>
                                      </p:cBhvr>
                                    </p:animEffect>
                                    <p:set>
                                      <p:cBhvr>
                                        <p:cTn id="122"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animBg="1"/>
      <p:bldP spid="13" grpId="0" animBg="1"/>
      <p:bldP spid="14"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DIE LUPE</a:t>
            </a:r>
            <a:endParaRPr lang="en-US" sz="1300" dirty="0"/>
          </a:p>
        </p:txBody>
      </p:sp>
      <p:sp>
        <p:nvSpPr>
          <p:cNvPr id="6" name="e2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Schau auf den Bordstein</a:t>
            </a:r>
            <a:endParaRPr lang="en-US" sz="4400" dirty="0"/>
          </a:p>
        </p:txBody>
      </p:sp>
      <p:pic>
        <p:nvPicPr>
          <p:cNvPr id="7" name="e23_3" descr="/tmp/claude-0/-home-user-Fahrlehrer-Kompass-/11378f77-94a8-55e9-a697-0f3efd4c20b9/scratchpad/bau/art/curb_section.png">    </p:cNvPr>
          <p:cNvPicPr>
            <a:picLocks noChangeAspect="1"/>
          </p:cNvPicPr>
          <p:nvPr/>
        </p:nvPicPr>
        <p:blipFill>
          <a:blip r:embed="rId2"/>
          <a:stretch>
            <a:fillRect/>
          </a:stretch>
        </p:blipFill>
        <p:spPr>
          <a:xfrm>
            <a:off x="731520" y="2194560"/>
            <a:ext cx="10698480" cy="3922776"/>
          </a:xfrm>
          <a:prstGeom prst="rect">
            <a:avLst/>
          </a:prstGeom>
        </p:spPr>
      </p:pic>
      <p:sp>
        <p:nvSpPr>
          <p:cNvPr id="8" name="e23_4"/>
          <p:cNvSpPr txBox="1"/>
          <p:nvPr/>
        </p:nvSpPr>
        <p:spPr>
          <a:xfrm>
            <a:off x="731520" y="5989320"/>
            <a:ext cx="10698480" cy="502920"/>
          </a:xfrm>
          <a:prstGeom prst="rect">
            <a:avLst/>
          </a:prstGeom>
          <a:noFill/>
          <a:ln/>
        </p:spPr>
        <p:txBody>
          <a:bodyPr wrap="square" lIns="0" tIns="0" rIns="0" bIns="0" rtlCol="0" anchor="t"/>
          <a:lstStyle/>
          <a:p>
            <a:pPr algn="ctr" indent="0" marL="0">
              <a:buNone/>
            </a:pPr>
            <a:r>
              <a:rPr lang="en-US" sz="2400" dirty="0">
                <a:solidFill>
                  <a:srgbClr val="F5F2EC"/>
                </a:solidFill>
                <a:latin typeface="Cambria" pitchFamily="34" charset="0"/>
                <a:ea typeface="Cambria" pitchFamily="34" charset="-122"/>
                <a:cs typeface="Cambria" pitchFamily="34" charset="-120"/>
              </a:rPr>
              <a:t>Gehweg läuft durch, Kante abgesenkt: </a:t>
            </a:r>
            <a:pPr algn="ctr" indent="0" marL="0">
              <a:buNone/>
            </a:pPr>
            <a:r>
              <a:rPr lang="en-US" sz="2400" b="1" dirty="0">
                <a:solidFill>
                  <a:srgbClr val="FF7A1A"/>
                </a:solidFill>
                <a:latin typeface="Cambria" pitchFamily="34" charset="0"/>
                <a:ea typeface="Cambria" pitchFamily="34" charset="-122"/>
                <a:cs typeface="Cambria" pitchFamily="34" charset="-120"/>
              </a:rPr>
              <a:t>Du bist Einfahrer. Alle anderen zuerst.</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900" fill="hold" decel="100000"/>
                                        <p:tgtEl>
                                          <p:spTgt spid="7"/>
                                        </p:tgtEl>
                                        <p:attrNameLst>
                                          <p:attrName>ppt_w</p:attrName>
                                        </p:attrNameLst>
                                      </p:cBhvr>
                                      <p:tavLst>
                                        <p:tav tm="0">
                                          <p:val>
                                            <p:strVal val="#ppt_w*0.6"/>
                                          </p:val>
                                        </p:tav>
                                        <p:tav tm="100000">
                                          <p:val>
                                            <p:strVal val="#ppt_w"/>
                                          </p:val>
                                        </p:tav>
                                      </p:tavLst>
                                    </p:anim>
                                    <p:anim calcmode="lin" valueType="num">
                                      <p:cBhvr additive="base">
                                        <p:cTn id="18" dur="900" fill="hold" decel="100000"/>
                                        <p:tgtEl>
                                          <p:spTgt spid="7"/>
                                        </p:tgtEl>
                                        <p:attrNameLst>
                                          <p:attrName>ppt_h</p:attrName>
                                        </p:attrNameLst>
                                      </p:cBhvr>
                                      <p:tavLst>
                                        <p:tav tm="0">
                                          <p:val>
                                            <p:strVal val="#ppt_h*0.6"/>
                                          </p:val>
                                        </p:tav>
                                        <p:tav tm="100000">
                                          <p:val>
                                            <p:strVal val="#ppt_h"/>
                                          </p:val>
                                        </p:tav>
                                      </p:tavLst>
                                    </p:anim>
                                    <p:animEffect transition="in" filter="fade">
                                      <p:cBhvr>
                                        <p:cTn id="19" dur="9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800"/>
                                        <p:tgtEl>
                                          <p:spTgt spid="8"/>
                                        </p:tgtEl>
                                      </p:cBhvr>
                                    </p:animEffect>
                                    <p:anim calcmode="lin" valueType="num">
                                      <p:cBhvr additive="base">
                                        <p:cTn id="2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8"/>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HÖCHSTE SORGFALT · § 10 STVO</a:t>
            </a:r>
            <a:endParaRPr lang="en-US" sz="1300" dirty="0"/>
          </a:p>
        </p:txBody>
      </p:sp>
      <p:sp>
        <p:nvSpPr>
          <p:cNvPr id="6" name="e24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Wer von hier kommt, lässt alle vor</a:t>
            </a:r>
            <a:endParaRPr lang="en-US" sz="4200" dirty="0"/>
          </a:p>
        </p:txBody>
      </p:sp>
      <p:sp>
        <p:nvSpPr>
          <p:cNvPr id="7" name="e24_3"/>
          <p:cNvSpPr/>
          <p:nvPr/>
        </p:nvSpPr>
        <p:spPr>
          <a:xfrm>
            <a:off x="746608" y="2331720"/>
            <a:ext cx="3429000" cy="1417320"/>
          </a:xfrm>
          <a:prstGeom prst="roundRect">
            <a:avLst>
              <a:gd name="adj" fmla="val 7742"/>
            </a:avLst>
          </a:prstGeom>
          <a:solidFill>
            <a:srgbClr val="12161E"/>
          </a:solidFill>
          <a:ln w="12700">
            <a:solidFill>
              <a:srgbClr val="2A3342"/>
            </a:solidFill>
            <a:prstDash val="solid"/>
          </a:ln>
        </p:spPr>
      </p:sp>
      <p:pic>
        <p:nvPicPr>
          <p:cNvPr id="8" name="e24_4" descr="preencoded.png">    </p:cNvPr>
          <p:cNvPicPr>
            <a:picLocks noChangeAspect="1"/>
          </p:cNvPicPr>
          <p:nvPr/>
        </p:nvPicPr>
        <p:blipFill>
          <a:blip r:embed="rId2"/>
          <a:stretch>
            <a:fillRect/>
          </a:stretch>
        </p:blipFill>
        <p:spPr>
          <a:xfrm>
            <a:off x="975208" y="2715768"/>
            <a:ext cx="640080" cy="640080"/>
          </a:xfrm>
          <a:prstGeom prst="rect">
            <a:avLst/>
          </a:prstGeom>
        </p:spPr>
      </p:pic>
      <p:sp>
        <p:nvSpPr>
          <p:cNvPr id="9" name="e24_5"/>
          <p:cNvSpPr txBox="1"/>
          <p:nvPr/>
        </p:nvSpPr>
        <p:spPr>
          <a:xfrm>
            <a:off x="175244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Grundstück</a:t>
            </a:r>
            <a:endParaRPr lang="en-US" sz="1800" dirty="0"/>
          </a:p>
        </p:txBody>
      </p:sp>
      <p:sp>
        <p:nvSpPr>
          <p:cNvPr id="10" name="e24_6"/>
          <p:cNvSpPr txBox="1"/>
          <p:nvPr/>
        </p:nvSpPr>
        <p:spPr>
          <a:xfrm>
            <a:off x="175244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Parkplatz, Tankstelle, Hof, Garage</a:t>
            </a:r>
            <a:endParaRPr lang="en-US" sz="1500" dirty="0"/>
          </a:p>
        </p:txBody>
      </p:sp>
      <p:sp>
        <p:nvSpPr>
          <p:cNvPr id="11" name="e24_7"/>
          <p:cNvSpPr/>
          <p:nvPr/>
        </p:nvSpPr>
        <p:spPr>
          <a:xfrm>
            <a:off x="4381348" y="2331720"/>
            <a:ext cx="3429000" cy="1417320"/>
          </a:xfrm>
          <a:prstGeom prst="roundRect">
            <a:avLst>
              <a:gd name="adj" fmla="val 7742"/>
            </a:avLst>
          </a:prstGeom>
          <a:solidFill>
            <a:srgbClr val="12161E"/>
          </a:solidFill>
          <a:ln w="12700">
            <a:solidFill>
              <a:srgbClr val="2A3342"/>
            </a:solidFill>
            <a:prstDash val="solid"/>
          </a:ln>
        </p:spPr>
      </p:sp>
      <p:pic>
        <p:nvPicPr>
          <p:cNvPr id="12" name="e24_8" descr="preencoded.png">    </p:cNvPr>
          <p:cNvPicPr>
            <a:picLocks noChangeAspect="1"/>
          </p:cNvPicPr>
          <p:nvPr/>
        </p:nvPicPr>
        <p:blipFill>
          <a:blip r:embed="rId3"/>
          <a:stretch>
            <a:fillRect/>
          </a:stretch>
        </p:blipFill>
        <p:spPr>
          <a:xfrm>
            <a:off x="4609948" y="2715768"/>
            <a:ext cx="640080" cy="640080"/>
          </a:xfrm>
          <a:prstGeom prst="rect">
            <a:avLst/>
          </a:prstGeom>
        </p:spPr>
      </p:pic>
      <p:sp>
        <p:nvSpPr>
          <p:cNvPr id="13" name="e24_9"/>
          <p:cNvSpPr txBox="1"/>
          <p:nvPr/>
        </p:nvSpPr>
        <p:spPr>
          <a:xfrm>
            <a:off x="538718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Abgesenkter Bordstein</a:t>
            </a:r>
            <a:endParaRPr lang="en-US" sz="1800" dirty="0"/>
          </a:p>
        </p:txBody>
      </p:sp>
      <p:sp>
        <p:nvSpPr>
          <p:cNvPr id="14" name="e24_10"/>
          <p:cNvSpPr txBox="1"/>
          <p:nvPr/>
        </p:nvSpPr>
        <p:spPr>
          <a:xfrm>
            <a:off x="538718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Gehweg läuft durch</a:t>
            </a:r>
            <a:endParaRPr lang="en-US" sz="1500" dirty="0"/>
          </a:p>
        </p:txBody>
      </p:sp>
      <p:sp>
        <p:nvSpPr>
          <p:cNvPr id="15" name="e24_11"/>
          <p:cNvSpPr/>
          <p:nvPr/>
        </p:nvSpPr>
        <p:spPr>
          <a:xfrm>
            <a:off x="8016088" y="2331720"/>
            <a:ext cx="3429000" cy="1417320"/>
          </a:xfrm>
          <a:prstGeom prst="roundRect">
            <a:avLst>
              <a:gd name="adj" fmla="val 7742"/>
            </a:avLst>
          </a:prstGeom>
          <a:solidFill>
            <a:srgbClr val="12161E"/>
          </a:solidFill>
          <a:ln w="12700">
            <a:solidFill>
              <a:srgbClr val="2A3342"/>
            </a:solidFill>
            <a:prstDash val="solid"/>
          </a:ln>
        </p:spPr>
      </p:sp>
      <p:pic>
        <p:nvPicPr>
          <p:cNvPr id="16" name="e24_12" descr="Verkehrszeichen 325.2">    </p:cNvPr>
          <p:cNvPicPr>
            <a:picLocks noChangeAspect="1"/>
          </p:cNvPicPr>
          <p:nvPr/>
        </p:nvPicPr>
        <p:blipFill>
          <a:blip r:embed="rId4"/>
          <a:stretch>
            <a:fillRect/>
          </a:stretch>
        </p:blipFill>
        <p:spPr>
          <a:xfrm>
            <a:off x="8198968" y="2715768"/>
            <a:ext cx="753183" cy="502920"/>
          </a:xfrm>
          <a:prstGeom prst="rect">
            <a:avLst/>
          </a:prstGeom>
        </p:spPr>
      </p:pic>
      <p:sp>
        <p:nvSpPr>
          <p:cNvPr id="17" name="e24_13"/>
          <p:cNvSpPr txBox="1"/>
          <p:nvPr/>
        </p:nvSpPr>
        <p:spPr>
          <a:xfrm>
            <a:off x="9021928" y="245973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Verkehrsberuhigter Bereich</a:t>
            </a:r>
            <a:endParaRPr lang="en-US" sz="1800" dirty="0"/>
          </a:p>
        </p:txBody>
      </p:sp>
      <p:sp>
        <p:nvSpPr>
          <p:cNvPr id="18" name="e24_14"/>
          <p:cNvSpPr txBox="1"/>
          <p:nvPr/>
        </p:nvSpPr>
        <p:spPr>
          <a:xfrm>
            <a:off x="9021928" y="315468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beim Verlassen (Zeichen 325.2)</a:t>
            </a:r>
            <a:endParaRPr lang="en-US" sz="1500" dirty="0"/>
          </a:p>
        </p:txBody>
      </p:sp>
      <p:sp>
        <p:nvSpPr>
          <p:cNvPr id="19" name="e24_15"/>
          <p:cNvSpPr/>
          <p:nvPr/>
        </p:nvSpPr>
        <p:spPr>
          <a:xfrm>
            <a:off x="746608" y="3977640"/>
            <a:ext cx="3429000" cy="1417320"/>
          </a:xfrm>
          <a:prstGeom prst="roundRect">
            <a:avLst>
              <a:gd name="adj" fmla="val 7742"/>
            </a:avLst>
          </a:prstGeom>
          <a:solidFill>
            <a:srgbClr val="12161E"/>
          </a:solidFill>
          <a:ln w="12700">
            <a:solidFill>
              <a:srgbClr val="2A3342"/>
            </a:solidFill>
            <a:prstDash val="solid"/>
          </a:ln>
        </p:spPr>
      </p:sp>
      <p:pic>
        <p:nvPicPr>
          <p:cNvPr id="20" name="e24_16" descr="Verkehrszeichen 242.1">    </p:cNvPr>
          <p:cNvPicPr>
            <a:picLocks noChangeAspect="1"/>
          </p:cNvPicPr>
          <p:nvPr/>
        </p:nvPicPr>
        <p:blipFill>
          <a:blip r:embed="rId5"/>
          <a:stretch>
            <a:fillRect/>
          </a:stretch>
        </p:blipFill>
        <p:spPr>
          <a:xfrm>
            <a:off x="929488" y="4361688"/>
            <a:ext cx="502920" cy="502920"/>
          </a:xfrm>
          <a:prstGeom prst="rect">
            <a:avLst/>
          </a:prstGeom>
        </p:spPr>
      </p:pic>
      <p:sp>
        <p:nvSpPr>
          <p:cNvPr id="21" name="e24_17"/>
          <p:cNvSpPr txBox="1"/>
          <p:nvPr/>
        </p:nvSpPr>
        <p:spPr>
          <a:xfrm>
            <a:off x="175244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Fußgängerbereich</a:t>
            </a:r>
            <a:endParaRPr lang="en-US" sz="1800" dirty="0"/>
          </a:p>
        </p:txBody>
      </p:sp>
      <p:sp>
        <p:nvSpPr>
          <p:cNvPr id="22" name="e24_18"/>
          <p:cNvSpPr txBox="1"/>
          <p:nvPr/>
        </p:nvSpPr>
        <p:spPr>
          <a:xfrm>
            <a:off x="175244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z. B. Zeichen 242.1</a:t>
            </a:r>
            <a:endParaRPr lang="en-US" sz="1500" dirty="0"/>
          </a:p>
        </p:txBody>
      </p:sp>
      <p:sp>
        <p:nvSpPr>
          <p:cNvPr id="23" name="e24_19"/>
          <p:cNvSpPr/>
          <p:nvPr/>
        </p:nvSpPr>
        <p:spPr>
          <a:xfrm>
            <a:off x="4381348" y="3977640"/>
            <a:ext cx="3429000" cy="1417320"/>
          </a:xfrm>
          <a:prstGeom prst="roundRect">
            <a:avLst>
              <a:gd name="adj" fmla="val 7742"/>
            </a:avLst>
          </a:prstGeom>
          <a:solidFill>
            <a:srgbClr val="12161E"/>
          </a:solidFill>
          <a:ln w="12700">
            <a:solidFill>
              <a:srgbClr val="2A3342"/>
            </a:solidFill>
            <a:prstDash val="solid"/>
          </a:ln>
        </p:spPr>
      </p:sp>
      <p:pic>
        <p:nvPicPr>
          <p:cNvPr id="24" name="e24_20" descr="preencoded.png">    </p:cNvPr>
          <p:cNvPicPr>
            <a:picLocks noChangeAspect="1"/>
          </p:cNvPicPr>
          <p:nvPr/>
        </p:nvPicPr>
        <p:blipFill>
          <a:blip r:embed="rId6"/>
          <a:stretch>
            <a:fillRect/>
          </a:stretch>
        </p:blipFill>
        <p:spPr>
          <a:xfrm>
            <a:off x="4609948" y="4361688"/>
            <a:ext cx="640080" cy="640080"/>
          </a:xfrm>
          <a:prstGeom prst="rect">
            <a:avLst/>
          </a:prstGeom>
        </p:spPr>
      </p:pic>
      <p:sp>
        <p:nvSpPr>
          <p:cNvPr id="25" name="e24_21"/>
          <p:cNvSpPr txBox="1"/>
          <p:nvPr/>
        </p:nvSpPr>
        <p:spPr>
          <a:xfrm>
            <a:off x="538718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Andere Straßenteile</a:t>
            </a:r>
            <a:endParaRPr lang="en-US" sz="1800" dirty="0"/>
          </a:p>
        </p:txBody>
      </p:sp>
      <p:sp>
        <p:nvSpPr>
          <p:cNvPr id="26" name="e24_22"/>
          <p:cNvSpPr txBox="1"/>
          <p:nvPr/>
        </p:nvSpPr>
        <p:spPr>
          <a:xfrm>
            <a:off x="538718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Parkstreifen, Seitenstreifen</a:t>
            </a:r>
            <a:endParaRPr lang="en-US" sz="1500" dirty="0"/>
          </a:p>
        </p:txBody>
      </p:sp>
      <p:sp>
        <p:nvSpPr>
          <p:cNvPr id="27" name="e24_23"/>
          <p:cNvSpPr/>
          <p:nvPr/>
        </p:nvSpPr>
        <p:spPr>
          <a:xfrm>
            <a:off x="8016088" y="3977640"/>
            <a:ext cx="3429000" cy="1417320"/>
          </a:xfrm>
          <a:prstGeom prst="roundRect">
            <a:avLst>
              <a:gd name="adj" fmla="val 7742"/>
            </a:avLst>
          </a:prstGeom>
          <a:solidFill>
            <a:srgbClr val="12161E"/>
          </a:solidFill>
          <a:ln w="12700">
            <a:solidFill>
              <a:srgbClr val="2A3342"/>
            </a:solidFill>
            <a:prstDash val="solid"/>
          </a:ln>
        </p:spPr>
      </p:sp>
      <p:pic>
        <p:nvPicPr>
          <p:cNvPr id="28" name="e24_24" descr="preencoded.png">    </p:cNvPr>
          <p:cNvPicPr>
            <a:picLocks noChangeAspect="1"/>
          </p:cNvPicPr>
          <p:nvPr/>
        </p:nvPicPr>
        <p:blipFill>
          <a:blip r:embed="rId7"/>
          <a:stretch>
            <a:fillRect/>
          </a:stretch>
        </p:blipFill>
        <p:spPr>
          <a:xfrm>
            <a:off x="8244688" y="4361688"/>
            <a:ext cx="640080" cy="640080"/>
          </a:xfrm>
          <a:prstGeom prst="rect">
            <a:avLst/>
          </a:prstGeom>
        </p:spPr>
      </p:pic>
      <p:sp>
        <p:nvSpPr>
          <p:cNvPr id="29" name="e24_25"/>
          <p:cNvSpPr txBox="1"/>
          <p:nvPr/>
        </p:nvSpPr>
        <p:spPr>
          <a:xfrm>
            <a:off x="9021928" y="4105656"/>
            <a:ext cx="2331720" cy="658368"/>
          </a:xfrm>
          <a:prstGeom prst="rect">
            <a:avLst/>
          </a:prstGeom>
          <a:noFill/>
          <a:ln/>
        </p:spPr>
        <p:txBody>
          <a:bodyPr wrap="square" lIns="0" tIns="0" rIns="0" bIns="0" rtlCol="0" anchor="t"/>
          <a:lstStyle/>
          <a:p>
            <a:pPr algn="l" indent="0" marL="0">
              <a:lnSpc>
                <a:spcPct val="95000"/>
              </a:lnSpc>
              <a:buNone/>
            </a:pPr>
            <a:r>
              <a:rPr lang="en-US" sz="1800" b="1" dirty="0">
                <a:solidFill>
                  <a:srgbClr val="F5F2EC"/>
                </a:solidFill>
                <a:latin typeface="Calibri" pitchFamily="34" charset="0"/>
                <a:ea typeface="Calibri" pitchFamily="34" charset="-122"/>
                <a:cs typeface="Calibri" pitchFamily="34" charset="-120"/>
              </a:rPr>
              <a:t>Anfahren</a:t>
            </a:r>
            <a:endParaRPr lang="en-US" sz="1800" dirty="0"/>
          </a:p>
        </p:txBody>
      </p:sp>
      <p:sp>
        <p:nvSpPr>
          <p:cNvPr id="30" name="e24_26"/>
          <p:cNvSpPr txBox="1"/>
          <p:nvPr/>
        </p:nvSpPr>
        <p:spPr>
          <a:xfrm>
            <a:off x="9021928" y="4800600"/>
            <a:ext cx="2331720" cy="502920"/>
          </a:xfrm>
          <a:prstGeom prst="rect">
            <a:avLst/>
          </a:prstGeom>
          <a:noFill/>
          <a:ln/>
        </p:spPr>
        <p:txBody>
          <a:bodyPr wrap="square" lIns="0" tIns="0" rIns="0" bIns="0" rtlCol="0" anchor="t"/>
          <a:lstStyle/>
          <a:p>
            <a:pPr algn="l" indent="0" marL="0">
              <a:buNone/>
            </a:pPr>
            <a:r>
              <a:rPr lang="en-US" sz="1500" dirty="0">
                <a:solidFill>
                  <a:srgbClr val="A7B0BD"/>
                </a:solidFill>
                <a:latin typeface="Calibri" pitchFamily="34" charset="0"/>
                <a:ea typeface="Calibri" pitchFamily="34" charset="-122"/>
                <a:cs typeface="Calibri" pitchFamily="34" charset="-120"/>
              </a:rPr>
              <a:t>vom Fahrbahnrand</a:t>
            </a:r>
            <a:endParaRPr lang="en-US" sz="1500" dirty="0"/>
          </a:p>
        </p:txBody>
      </p:sp>
      <p:sp>
        <p:nvSpPr>
          <p:cNvPr id="31" name="e24_27"/>
          <p:cNvSpPr txBox="1"/>
          <p:nvPr/>
        </p:nvSpPr>
        <p:spPr>
          <a:xfrm>
            <a:off x="731520" y="5669280"/>
            <a:ext cx="1069848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Immer: </a:t>
            </a:r>
            <a:pPr algn="ctr" indent="0" marL="0">
              <a:buNone/>
            </a:pPr>
            <a:r>
              <a:rPr lang="en-US" sz="2400" b="1" dirty="0">
                <a:solidFill>
                  <a:srgbClr val="FF7A1A"/>
                </a:solidFill>
                <a:latin typeface="Cambria" pitchFamily="34" charset="0"/>
                <a:ea typeface="Cambria" pitchFamily="34" charset="-122"/>
                <a:cs typeface="Cambria" pitchFamily="34" charset="-120"/>
              </a:rPr>
              <a:t>blinken</a:t>
            </a:r>
            <a:pPr algn="ctr" indent="0" marL="0">
              <a:buNone/>
            </a:pPr>
            <a:r>
              <a:rPr lang="en-US" sz="2400" b="1" dirty="0">
                <a:solidFill>
                  <a:srgbClr val="F5F2EC"/>
                </a:solidFill>
                <a:latin typeface="Cambria" pitchFamily="34" charset="0"/>
                <a:ea typeface="Cambria" pitchFamily="34" charset="-122"/>
                <a:cs typeface="Cambria" pitchFamily="34" charset="-120"/>
              </a:rPr>
              <a:t> · niemanden gefährden · notfalls einweisen lassen</a:t>
            </a:r>
            <a:endParaRPr lang="en-US" sz="2400" dirty="0"/>
          </a:p>
        </p:txBody>
      </p:sp>
      <p:sp>
        <p:nvSpPr>
          <p:cNvPr id="32" name="e24_28"/>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Auch wer aus einem Feld- oder Waldweg kommt, hat keine Vorfahrt (§ 8 Abs. 1 Satz 2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650"/>
                                        <p:tgtEl>
                                          <p:spTgt spid="32"/>
                                        </p:tgtEl>
                                      </p:cBhvr>
                                    </p:animEffect>
                                    <p:anim calcmode="lin" valueType="num">
                                      <p:cBhvr additive="base">
                                        <p:cTn id="18" dur="650" fill="hold" decel="100000"/>
                                        <p:tgtEl>
                                          <p:spTgt spid="3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32"/>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400" fill="hold" decel="100000"/>
                                        <p:tgtEl>
                                          <p:spTgt spid="7"/>
                                        </p:tgtEl>
                                        <p:attrNameLst>
                                          <p:attrName>ppt_w</p:attrName>
                                        </p:attrNameLst>
                                      </p:cBhvr>
                                      <p:tavLst>
                                        <p:tav tm="0">
                                          <p:val>
                                            <p:strVal val="0"/>
                                          </p:val>
                                        </p:tav>
                                        <p:tav tm="100000">
                                          <p:val>
                                            <p:strVal val="#ppt_w"/>
                                          </p:val>
                                        </p:tav>
                                      </p:tavLst>
                                    </p:anim>
                                    <p:anim calcmode="lin" valueType="num">
                                      <p:cBhvr additive="base">
                                        <p:cTn id="25" dur="400" fill="hold" decel="100000"/>
                                        <p:tgtEl>
                                          <p:spTgt spid="7"/>
                                        </p:tgtEl>
                                        <p:attrNameLst>
                                          <p:attrName>ppt_h</p:attrName>
                                        </p:attrNameLst>
                                      </p:cBhvr>
                                      <p:tavLst>
                                        <p:tav tm="0">
                                          <p:val>
                                            <p:strVal val="0"/>
                                          </p:val>
                                        </p:tav>
                                        <p:tav tm="100000">
                                          <p:val>
                                            <p:strVal val="#ppt_h"/>
                                          </p:val>
                                        </p:tav>
                                      </p:tavLst>
                                    </p:anim>
                                    <p:animEffect transition="in" filter="fade">
                                      <p:cBhvr>
                                        <p:cTn id="26" dur="400"/>
                                        <p:tgtEl>
                                          <p:spTgt spid="7"/>
                                        </p:tgtEl>
                                      </p:cBhvr>
                                    </p:animEffect>
                                  </p:childTnLst>
                                </p:cTn>
                              </p:par>
                              <p:par>
                                <p:cTn id="27" presetID="10"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400" fill="hold" decel="100000"/>
                                        <p:tgtEl>
                                          <p:spTgt spid="11"/>
                                        </p:tgtEl>
                                        <p:attrNameLst>
                                          <p:attrName>ppt_w</p:attrName>
                                        </p:attrNameLst>
                                      </p:cBhvr>
                                      <p:tavLst>
                                        <p:tav tm="0">
                                          <p:val>
                                            <p:strVal val="0"/>
                                          </p:val>
                                        </p:tav>
                                        <p:tav tm="100000">
                                          <p:val>
                                            <p:strVal val="#ppt_w"/>
                                          </p:val>
                                        </p:tav>
                                      </p:tavLst>
                                    </p:anim>
                                    <p:anim calcmode="lin" valueType="num">
                                      <p:cBhvr additive="base">
                                        <p:cTn id="41" dur="400" fill="hold" decel="100000"/>
                                        <p:tgtEl>
                                          <p:spTgt spid="11"/>
                                        </p:tgtEl>
                                        <p:attrNameLst>
                                          <p:attrName>ppt_h</p:attrName>
                                        </p:attrNameLst>
                                      </p:cBhvr>
                                      <p:tavLst>
                                        <p:tav tm="0">
                                          <p:val>
                                            <p:strVal val="0"/>
                                          </p:val>
                                        </p:tav>
                                        <p:tav tm="100000">
                                          <p:val>
                                            <p:strVal val="#ppt_h"/>
                                          </p:val>
                                        </p:tav>
                                      </p:tavLst>
                                    </p:anim>
                                    <p:animEffect transition="in" filter="fade">
                                      <p:cBhvr>
                                        <p:cTn id="42" dur="400"/>
                                        <p:tgtEl>
                                          <p:spTgt spid="11"/>
                                        </p:tgtEl>
                                      </p:cBhvr>
                                    </p:animEffect>
                                  </p:childTnLst>
                                </p:cTn>
                              </p:par>
                              <p:par>
                                <p:cTn id="43" presetID="10"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3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3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additive="base">
                                        <p:cTn id="56" dur="400" fill="hold" decel="100000"/>
                                        <p:tgtEl>
                                          <p:spTgt spid="15"/>
                                        </p:tgtEl>
                                        <p:attrNameLst>
                                          <p:attrName>ppt_w</p:attrName>
                                        </p:attrNameLst>
                                      </p:cBhvr>
                                      <p:tavLst>
                                        <p:tav tm="0">
                                          <p:val>
                                            <p:strVal val="0"/>
                                          </p:val>
                                        </p:tav>
                                        <p:tav tm="100000">
                                          <p:val>
                                            <p:strVal val="#ppt_w"/>
                                          </p:val>
                                        </p:tav>
                                      </p:tavLst>
                                    </p:anim>
                                    <p:anim calcmode="lin" valueType="num">
                                      <p:cBhvr additive="base">
                                        <p:cTn id="57" dur="400" fill="hold" decel="100000"/>
                                        <p:tgtEl>
                                          <p:spTgt spid="15"/>
                                        </p:tgtEl>
                                        <p:attrNameLst>
                                          <p:attrName>ppt_h</p:attrName>
                                        </p:attrNameLst>
                                      </p:cBhvr>
                                      <p:tavLst>
                                        <p:tav tm="0">
                                          <p:val>
                                            <p:strVal val="0"/>
                                          </p:val>
                                        </p:tav>
                                        <p:tav tm="100000">
                                          <p:val>
                                            <p:strVal val="#ppt_h"/>
                                          </p:val>
                                        </p:tav>
                                      </p:tavLst>
                                    </p:anim>
                                    <p:animEffect transition="in" filter="fade">
                                      <p:cBhvr>
                                        <p:cTn id="58" dur="400"/>
                                        <p:tgtEl>
                                          <p:spTgt spid="15"/>
                                        </p:tgtEl>
                                      </p:cBhvr>
                                    </p:animEffect>
                                  </p:childTnLst>
                                </p:cTn>
                              </p:par>
                              <p:par>
                                <p:cTn id="59" presetID="10" presetClass="entr" presetSubtype="0" fill="hold"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300"/>
                                        <p:tgtEl>
                                          <p:spTgt spid="1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300"/>
                                        <p:tgtEl>
                                          <p:spTgt spid="1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3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400" fill="hold" decel="100000"/>
                                        <p:tgtEl>
                                          <p:spTgt spid="19"/>
                                        </p:tgtEl>
                                        <p:attrNameLst>
                                          <p:attrName>ppt_w</p:attrName>
                                        </p:attrNameLst>
                                      </p:cBhvr>
                                      <p:tavLst>
                                        <p:tav tm="0">
                                          <p:val>
                                            <p:strVal val="0"/>
                                          </p:val>
                                        </p:tav>
                                        <p:tav tm="100000">
                                          <p:val>
                                            <p:strVal val="#ppt_w"/>
                                          </p:val>
                                        </p:tav>
                                      </p:tavLst>
                                    </p:anim>
                                    <p:anim calcmode="lin" valueType="num">
                                      <p:cBhvr additive="base">
                                        <p:cTn id="73" dur="400" fill="hold" decel="100000"/>
                                        <p:tgtEl>
                                          <p:spTgt spid="19"/>
                                        </p:tgtEl>
                                        <p:attrNameLst>
                                          <p:attrName>ppt_h</p:attrName>
                                        </p:attrNameLst>
                                      </p:cBhvr>
                                      <p:tavLst>
                                        <p:tav tm="0">
                                          <p:val>
                                            <p:strVal val="0"/>
                                          </p:val>
                                        </p:tav>
                                        <p:tav tm="100000">
                                          <p:val>
                                            <p:strVal val="#ppt_h"/>
                                          </p:val>
                                        </p:tav>
                                      </p:tavLst>
                                    </p:anim>
                                    <p:animEffect transition="in" filter="fade">
                                      <p:cBhvr>
                                        <p:cTn id="74" dur="400"/>
                                        <p:tgtEl>
                                          <p:spTgt spid="19"/>
                                        </p:tgtEl>
                                      </p:cBhvr>
                                    </p:animEffect>
                                  </p:childTnLst>
                                </p:cTn>
                              </p:par>
                              <p:par>
                                <p:cTn id="75" presetID="10" presetClass="entr" presetSubtype="0" fill="hold"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3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300"/>
                                        <p:tgtEl>
                                          <p:spTgt spid="2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300"/>
                                        <p:tgtEl>
                                          <p:spTgt spid="22"/>
                                        </p:tgtEl>
                                      </p:cBhvr>
                                    </p:animEffect>
                                  </p:childTnLst>
                                </p:cTn>
                              </p:par>
                            </p:childTnLst>
                          </p:cTn>
                        </p:par>
                      </p:childTnLst>
                    </p:cTn>
                  </p:par>
                  <p:par>
                    <p:cTn id="84" fill="hold">
                      <p:stCondLst>
                        <p:cond delay="indefinite"/>
                      </p:stCondLst>
                      <p:childTnLst>
                        <p:par>
                          <p:cTn id="85" fill="hold">
                            <p:stCondLst>
                              <p:cond delay="0"/>
                            </p:stCondLst>
                            <p:childTnLst>
                              <p:par>
                                <p:cTn id="86" presetID="53" presetClass="entr" presetSubtype="16" fill="hold" grpId="0" nodeType="clickEffect">
                                  <p:stCondLst>
                                    <p:cond delay="0"/>
                                  </p:stCondLst>
                                  <p:childTnLst>
                                    <p:set>
                                      <p:cBhvr>
                                        <p:cTn id="87" dur="1" fill="hold">
                                          <p:stCondLst>
                                            <p:cond delay="0"/>
                                          </p:stCondLst>
                                        </p:cTn>
                                        <p:tgtEl>
                                          <p:spTgt spid="23"/>
                                        </p:tgtEl>
                                        <p:attrNameLst>
                                          <p:attrName>style.visibility</p:attrName>
                                        </p:attrNameLst>
                                      </p:cBhvr>
                                      <p:to>
                                        <p:strVal val="visible"/>
                                      </p:to>
                                    </p:set>
                                    <p:anim calcmode="lin" valueType="num">
                                      <p:cBhvr additive="base">
                                        <p:cTn id="88" dur="400" fill="hold" decel="100000"/>
                                        <p:tgtEl>
                                          <p:spTgt spid="23"/>
                                        </p:tgtEl>
                                        <p:attrNameLst>
                                          <p:attrName>ppt_w</p:attrName>
                                        </p:attrNameLst>
                                      </p:cBhvr>
                                      <p:tavLst>
                                        <p:tav tm="0">
                                          <p:val>
                                            <p:strVal val="0"/>
                                          </p:val>
                                        </p:tav>
                                        <p:tav tm="100000">
                                          <p:val>
                                            <p:strVal val="#ppt_w"/>
                                          </p:val>
                                        </p:tav>
                                      </p:tavLst>
                                    </p:anim>
                                    <p:anim calcmode="lin" valueType="num">
                                      <p:cBhvr additive="base">
                                        <p:cTn id="89" dur="400" fill="hold" decel="100000"/>
                                        <p:tgtEl>
                                          <p:spTgt spid="23"/>
                                        </p:tgtEl>
                                        <p:attrNameLst>
                                          <p:attrName>ppt_h</p:attrName>
                                        </p:attrNameLst>
                                      </p:cBhvr>
                                      <p:tavLst>
                                        <p:tav tm="0">
                                          <p:val>
                                            <p:strVal val="0"/>
                                          </p:val>
                                        </p:tav>
                                        <p:tav tm="100000">
                                          <p:val>
                                            <p:strVal val="#ppt_h"/>
                                          </p:val>
                                        </p:tav>
                                      </p:tavLst>
                                    </p:anim>
                                    <p:animEffect transition="in" filter="fade">
                                      <p:cBhvr>
                                        <p:cTn id="90" dur="400"/>
                                        <p:tgtEl>
                                          <p:spTgt spid="23"/>
                                        </p:tgtEl>
                                      </p:cBhvr>
                                    </p:animEffect>
                                  </p:childTnLst>
                                </p:cTn>
                              </p:par>
                              <p:par>
                                <p:cTn id="91" presetID="10" presetClass="entr" presetSubtype="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300"/>
                                        <p:tgtEl>
                                          <p:spTgt spid="2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fade">
                                      <p:cBhvr>
                                        <p:cTn id="96" dur="300"/>
                                        <p:tgtEl>
                                          <p:spTgt spid="25"/>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3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27"/>
                                        </p:tgtEl>
                                        <p:attrNameLst>
                                          <p:attrName>style.visibility</p:attrName>
                                        </p:attrNameLst>
                                      </p:cBhvr>
                                      <p:to>
                                        <p:strVal val="visible"/>
                                      </p:to>
                                    </p:set>
                                    <p:anim calcmode="lin" valueType="num">
                                      <p:cBhvr additive="base">
                                        <p:cTn id="104" dur="400" fill="hold" decel="100000"/>
                                        <p:tgtEl>
                                          <p:spTgt spid="27"/>
                                        </p:tgtEl>
                                        <p:attrNameLst>
                                          <p:attrName>ppt_w</p:attrName>
                                        </p:attrNameLst>
                                      </p:cBhvr>
                                      <p:tavLst>
                                        <p:tav tm="0">
                                          <p:val>
                                            <p:strVal val="0"/>
                                          </p:val>
                                        </p:tav>
                                        <p:tav tm="100000">
                                          <p:val>
                                            <p:strVal val="#ppt_w"/>
                                          </p:val>
                                        </p:tav>
                                      </p:tavLst>
                                    </p:anim>
                                    <p:anim calcmode="lin" valueType="num">
                                      <p:cBhvr additive="base">
                                        <p:cTn id="105" dur="400" fill="hold" decel="100000"/>
                                        <p:tgtEl>
                                          <p:spTgt spid="27"/>
                                        </p:tgtEl>
                                        <p:attrNameLst>
                                          <p:attrName>ppt_h</p:attrName>
                                        </p:attrNameLst>
                                      </p:cBhvr>
                                      <p:tavLst>
                                        <p:tav tm="0">
                                          <p:val>
                                            <p:strVal val="0"/>
                                          </p:val>
                                        </p:tav>
                                        <p:tav tm="100000">
                                          <p:val>
                                            <p:strVal val="#ppt_h"/>
                                          </p:val>
                                        </p:tav>
                                      </p:tavLst>
                                    </p:anim>
                                    <p:animEffect transition="in" filter="fade">
                                      <p:cBhvr>
                                        <p:cTn id="106" dur="400"/>
                                        <p:tgtEl>
                                          <p:spTgt spid="27"/>
                                        </p:tgtEl>
                                      </p:cBhvr>
                                    </p:animEffect>
                                  </p:childTnLst>
                                </p:cTn>
                              </p:par>
                              <p:par>
                                <p:cTn id="107" presetID="10" presetClass="entr" presetSubtype="0" fill="hold" nodeType="withEffect">
                                  <p:stCondLst>
                                    <p:cond delay="0"/>
                                  </p:stCondLst>
                                  <p:childTnLst>
                                    <p:set>
                                      <p:cBhvr>
                                        <p:cTn id="108" dur="1" fill="hold">
                                          <p:stCondLst>
                                            <p:cond delay="0"/>
                                          </p:stCondLst>
                                        </p:cTn>
                                        <p:tgtEl>
                                          <p:spTgt spid="28"/>
                                        </p:tgtEl>
                                        <p:attrNameLst>
                                          <p:attrName>style.visibility</p:attrName>
                                        </p:attrNameLst>
                                      </p:cBhvr>
                                      <p:to>
                                        <p:strVal val="visible"/>
                                      </p:to>
                                    </p:set>
                                    <p:animEffect transition="in" filter="fade">
                                      <p:cBhvr>
                                        <p:cTn id="109" dur="300"/>
                                        <p:tgtEl>
                                          <p:spTgt spid="2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300"/>
                                        <p:tgtEl>
                                          <p:spTgt spid="2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animEffect transition="in" filter="fade">
                                      <p:cBhvr>
                                        <p:cTn id="115" dur="300"/>
                                        <p:tgtEl>
                                          <p:spTgt spid="30"/>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31"/>
                                        </p:tgtEl>
                                        <p:attrNameLst>
                                          <p:attrName>style.visibility</p:attrName>
                                        </p:attrNameLst>
                                      </p:cBhvr>
                                      <p:to>
                                        <p:strVal val="visible"/>
                                      </p:to>
                                    </p:set>
                                    <p:animEffect transition="in" filter="fade">
                                      <p:cBhvr>
                                        <p:cTn id="120" dur="800"/>
                                        <p:tgtEl>
                                          <p:spTgt spid="31"/>
                                        </p:tgtEl>
                                      </p:cBhvr>
                                    </p:animEffect>
                                    <p:anim calcmode="lin" valueType="num">
                                      <p:cBhvr additive="base">
                                        <p:cTn id="121" dur="800" fill="hold" decel="100000"/>
                                        <p:tgtEl>
                                          <p:spTgt spid="31"/>
                                        </p:tgtEl>
                                        <p:attrNameLst>
                                          <p:attrName>ppt_x</p:attrName>
                                        </p:attrNameLst>
                                      </p:cBhvr>
                                      <p:tavLst>
                                        <p:tav tm="0">
                                          <p:val>
                                            <p:strVal val="#ppt_x"/>
                                          </p:val>
                                        </p:tav>
                                        <p:tav tm="100000">
                                          <p:val>
                                            <p:strVal val="#ppt_x"/>
                                          </p:val>
                                        </p:tav>
                                      </p:tavLst>
                                    </p:anim>
                                    <p:anim calcmode="lin" valueType="num">
                                      <p:cBhvr additive="base">
                                        <p:cTn id="122" dur="800" fill="hold" decel="100000"/>
                                        <p:tgtEl>
                                          <p:spTgt spid="31"/>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2"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9" grpId="0" animBg="1"/>
      <p:bldP spid="30" grpId="0" animBg="1"/>
      <p:bldP spid="3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VERKEHRSBERUHIGTER BEREICH</a:t>
            </a:r>
            <a:endParaRPr lang="en-US" sz="1300" dirty="0"/>
          </a:p>
        </p:txBody>
      </p:sp>
      <p:sp>
        <p:nvSpPr>
          <p:cNvPr id="6" name="e25_2"/>
          <p:cNvSpPr txBox="1"/>
          <p:nvPr/>
        </p:nvSpPr>
        <p:spPr>
          <a:xfrm>
            <a:off x="685800" y="1188720"/>
            <a:ext cx="6675120" cy="822960"/>
          </a:xfrm>
          <a:prstGeom prst="rect">
            <a:avLst/>
          </a:prstGeom>
          <a:noFill/>
          <a:ln/>
        </p:spPr>
        <p:txBody>
          <a:bodyPr wrap="square" lIns="0" tIns="0" rIns="0" bIns="0" rtlCol="0" anchor="t"/>
          <a:lstStyle/>
          <a:p>
            <a:pPr algn="l" indent="0" marL="0">
              <a:lnSpc>
                <a:spcPct val="100000"/>
              </a:lnSpc>
              <a:buNone/>
            </a:pPr>
            <a:r>
              <a:rPr lang="en-US" sz="3000" b="1" dirty="0">
                <a:solidFill>
                  <a:srgbClr val="F5F2EC"/>
                </a:solidFill>
                <a:latin typeface="Cambria" pitchFamily="34" charset="0"/>
                <a:ea typeface="Cambria" pitchFamily="34" charset="-122"/>
                <a:cs typeface="Cambria" pitchFamily="34" charset="-120"/>
              </a:rPr>
              <a:t>Raus aus dem verkehrs-</a:t>
            </a:r>
            <a:endParaRPr lang="en-US" sz="3000" dirty="0"/>
          </a:p>
          <a:p>
            <a:pPr algn="l" indent="0" marL="0">
              <a:lnSpc>
                <a:spcPct val="100000"/>
              </a:lnSpc>
              <a:buNone/>
            </a:pPr>
            <a:r>
              <a:rPr lang="en-US" sz="3000" b="1" dirty="0">
                <a:solidFill>
                  <a:srgbClr val="F5F2EC"/>
                </a:solidFill>
                <a:latin typeface="Cambria" pitchFamily="34" charset="0"/>
                <a:ea typeface="Cambria" pitchFamily="34" charset="-122"/>
                <a:cs typeface="Cambria" pitchFamily="34" charset="-120"/>
              </a:rPr>
              <a:t>beruhigten Bereich. Wer darf?</a:t>
            </a:r>
            <a:endParaRPr lang="en-US" sz="3000" dirty="0"/>
          </a:p>
        </p:txBody>
      </p:sp>
      <p:pic>
        <p:nvPicPr>
          <p:cNvPr id="7" name="e25_3" descr="Verkehrszeichen 325.2">    </p:cNvPr>
          <p:cNvPicPr>
            <a:picLocks noChangeAspect="1"/>
          </p:cNvPicPr>
          <p:nvPr/>
        </p:nvPicPr>
        <p:blipFill>
          <a:blip r:embed="rId2"/>
          <a:stretch>
            <a:fillRect/>
          </a:stretch>
        </p:blipFill>
        <p:spPr>
          <a:xfrm>
            <a:off x="9006840" y="4407408"/>
            <a:ext cx="753183" cy="502920"/>
          </a:xfrm>
          <a:prstGeom prst="rect">
            <a:avLst/>
          </a:prstGeom>
        </p:spPr>
      </p:pic>
      <p:pic>
        <p:nvPicPr>
          <p:cNvPr id="8" name="e25_4" descr="/tmp/claude-0/-home-user-Fahrlehrer-Kompass-/11378f77-94a8-55e9-a697-0f3efd4c20b9/scratchpad/bau/art/car_du.png">    </p:cNvPr>
          <p:cNvPicPr>
            <a:picLocks noChangeAspect="1"/>
          </p:cNvPicPr>
          <p:nvPr/>
        </p:nvPicPr>
        <p:blipFill>
          <a:blip r:embed="rId3"/>
          <a:stretch>
            <a:fillRect/>
          </a:stretch>
        </p:blipFill>
        <p:spPr>
          <a:xfrm>
            <a:off x="7562088" y="5202936"/>
            <a:ext cx="740664" cy="1481328"/>
          </a:xfrm>
          <a:prstGeom prst="rect">
            <a:avLst/>
          </a:prstGeom>
        </p:spPr>
      </p:pic>
      <p:pic>
        <p:nvPicPr>
          <p:cNvPr id="9" name="e25_5" descr="/tmp/claude-0/-home-user-Fahrlehrer-Kompass-/11378f77-94a8-55e9-a697-0f3efd4c20b9/scratchpad/bau/art/blink_L.png">    </p:cNvPr>
          <p:cNvPicPr>
            <a:picLocks noChangeAspect="1"/>
          </p:cNvPicPr>
          <p:nvPr/>
        </p:nvPicPr>
        <p:blipFill>
          <a:blip r:embed="rId4"/>
          <a:stretch>
            <a:fillRect/>
          </a:stretch>
        </p:blipFill>
        <p:spPr>
          <a:xfrm>
            <a:off x="7562088" y="5202936"/>
            <a:ext cx="740664" cy="1481328"/>
          </a:xfrm>
          <a:prstGeom prst="rect">
            <a:avLst/>
          </a:prstGeom>
        </p:spPr>
      </p:pic>
      <p:pic>
        <p:nvPicPr>
          <p:cNvPr id="10" name="e25_6" descr="/tmp/claude-0/-home-user-Fahrlehrer-Kompass-/11378f77-94a8-55e9-a697-0f3efd4c20b9/scratchpad/bau/art/car_blau.png">    </p:cNvPr>
          <p:cNvPicPr>
            <a:picLocks noChangeAspect="1"/>
          </p:cNvPicPr>
          <p:nvPr/>
        </p:nvPicPr>
        <p:blipFill>
          <a:blip r:embed="rId5"/>
          <a:stretch>
            <a:fillRect/>
          </a:stretch>
        </p:blipFill>
        <p:spPr>
          <a:xfrm rot="5400000">
            <a:off x="2647188" y="3111246"/>
            <a:ext cx="740664" cy="1481328"/>
          </a:xfrm>
          <a:prstGeom prst="rect">
            <a:avLst/>
          </a:prstGeom>
        </p:spPr>
      </p:pic>
      <p:pic>
        <p:nvPicPr>
          <p:cNvPr id="11" name="e25_7" descr="/tmp/claude-0/-home-user-Fahrlehrer-Kompass-/11378f77-94a8-55e9-a697-0f3efd4c20b9/scratchpad/bau/art/car_rot.png">    </p:cNvPr>
          <p:cNvPicPr>
            <a:picLocks noChangeAspect="1"/>
          </p:cNvPicPr>
          <p:nvPr/>
        </p:nvPicPr>
        <p:blipFill>
          <a:blip r:embed="rId6"/>
          <a:stretch>
            <a:fillRect/>
          </a:stretch>
        </p:blipFill>
        <p:spPr>
          <a:xfrm rot="16200000">
            <a:off x="11151108" y="2219706"/>
            <a:ext cx="740664" cy="1481328"/>
          </a:xfrm>
          <a:prstGeom prst="rect">
            <a:avLst/>
          </a:prstGeom>
        </p:spPr>
      </p:pic>
      <p:pic>
        <p:nvPicPr>
          <p:cNvPr id="12" name="e25_8" descr="/tmp/claude-0/-home-user-Fahrlehrer-Kompass-/11378f77-94a8-55e9-a697-0f3efd4c20b9/scratchpad/bau/art/bike.png">    </p:cNvPr>
          <p:cNvPicPr>
            <a:picLocks noChangeAspect="1"/>
          </p:cNvPicPr>
          <p:nvPr/>
        </p:nvPicPr>
        <p:blipFill>
          <a:blip r:embed="rId7"/>
          <a:stretch>
            <a:fillRect/>
          </a:stretch>
        </p:blipFill>
        <p:spPr>
          <a:xfrm rot="5400000">
            <a:off x="1833372" y="3618738"/>
            <a:ext cx="356616" cy="685800"/>
          </a:xfrm>
          <a:prstGeom prst="rect">
            <a:avLst/>
          </a:prstGeom>
        </p:spPr>
      </p:pic>
      <p:sp>
        <p:nvSpPr>
          <p:cNvPr id="13" name="e25_9"/>
          <p:cNvSpPr txBox="1"/>
          <p:nvPr/>
        </p:nvSpPr>
        <p:spPr>
          <a:xfrm>
            <a:off x="2798064" y="427253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4" name="e25_10"/>
          <p:cNvSpPr txBox="1"/>
          <p:nvPr/>
        </p:nvSpPr>
        <p:spPr>
          <a:xfrm>
            <a:off x="11301984" y="210083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5" name="e25_11"/>
          <p:cNvSpPr txBox="1"/>
          <p:nvPr/>
        </p:nvSpPr>
        <p:spPr>
          <a:xfrm rot="-180000">
            <a:off x="7589520" y="777240"/>
            <a:ext cx="393192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Alle anderen zuerst! (§ 10)</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650"/>
                                        <p:tgtEl>
                                          <p:spTgt spid="13"/>
                                        </p:tgtEl>
                                      </p:cBhvr>
                                    </p:animEffect>
                                    <p:anim calcmode="lin" valueType="num">
                                      <p:cBhvr additive="base">
                                        <p:cTn id="21" dur="650" fill="hold" decel="100000"/>
                                        <p:tgtEl>
                                          <p:spTgt spid="13"/>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13"/>
                                        </p:tgtEl>
                                        <p:attrNameLst>
                                          <p:attrName>ppt_y</p:attrName>
                                        </p:attrNameLst>
                                      </p:cBhvr>
                                      <p:tavLst>
                                        <p:tav tm="0">
                                          <p:val>
                                            <p:strVal val="#ppt_y+.05"/>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50"/>
                                        <p:tgtEl>
                                          <p:spTgt spid="14"/>
                                        </p:tgtEl>
                                      </p:cBhvr>
                                    </p:animEffect>
                                    <p:anim calcmode="lin" valueType="num">
                                      <p:cBhvr additive="base">
                                        <p:cTn id="26"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14"/>
                                        </p:tgtEl>
                                        <p:attrNameLst>
                                          <p:attrName>ppt_y</p:attrName>
                                        </p:attrNameLst>
                                      </p:cBhvr>
                                      <p:tavLst>
                                        <p:tav tm="0">
                                          <p:val>
                                            <p:strVal val="#ppt_y+.05"/>
                                          </p:val>
                                        </p:tav>
                                        <p:tav tm="100000">
                                          <p:val>
                                            <p:strVal val="#ppt_y"/>
                                          </p:val>
                                        </p:tav>
                                      </p:tavLst>
                                    </p:anim>
                                  </p:childTnLst>
                                </p:cTn>
                              </p:par>
                              <p:par>
                                <p:cTn id="28" presetID="10"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50"/>
                                        <p:tgtEl>
                                          <p:spTgt spid="9"/>
                                        </p:tgtEl>
                                      </p:cBhvr>
                                    </p:animEffect>
                                  </p:childTnLst>
                                </p:cTn>
                              </p:par>
                              <p:par>
                                <p:cTn id="31" presetID="35" presetClass="emph" presetSubtype="0" fill="hold" nodeType="withEffect" repeatCount="indefinite">
                                  <p:stCondLst>
                                    <p:cond delay="0"/>
                                  </p:stCondLst>
                                  <p:childTnLst>
                                    <p:anim calcmode="discrete" valueType="str">
                                      <p:cBhvr override="childStyle">
                                        <p:cTn id="32" dur="700"/>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33" fill="hold">
                      <p:stCondLst>
                        <p:cond delay="indefinite"/>
                      </p:stCondLst>
                      <p:childTnLst>
                        <p:par>
                          <p:cTn id="34" fill="hold">
                            <p:stCondLst>
                              <p:cond delay="0"/>
                            </p:stCondLst>
                            <p:childTnLst>
                              <p:par>
                                <p:cTn id="35" presetID="0" presetClass="path" presetSubtype="0" fill="hold" nodeType="clickEffect" accel="40000" decel="40000">
                                  <p:stCondLst>
                                    <p:cond delay="0"/>
                                  </p:stCondLst>
                                  <p:childTnLst>
                                    <p:animMotion origin="layout" path="M 0 0 C 0 -0.0444 0 -0.0889 0 -0.1333 E" pathEditMode="relative" rAng="0" ptsTypes="">
                                      <p:cBhvr>
                                        <p:cTn id="36" dur="588" fill="hold"/>
                                        <p:tgtEl>
                                          <p:spTgt spid="8"/>
                                        </p:tgtEl>
                                        <p:attrNameLst>
                                          <p:attrName>ppt_x</p:attrName>
                                          <p:attrName>ppt_y</p:attrName>
                                        </p:attrNameLst>
                                      </p:cBhvr>
                                      <p:rCtr x="0" y="0"/>
                                    </p:animMotion>
                                  </p:childTnLst>
                                </p:cTn>
                              </p:par>
                              <p:par>
                                <p:cTn id="37" presetID="0" presetClass="path" presetSubtype="0" fill="hold" nodeType="withEffect" accel="40000" decel="40000">
                                  <p:stCondLst>
                                    <p:cond delay="0"/>
                                  </p:stCondLst>
                                  <p:childTnLst>
                                    <p:animMotion origin="layout" path="M 0 0 C 0 -0.0444 0 -0.0889 0 -0.1333 E" pathEditMode="relative" rAng="0" ptsTypes="">
                                      <p:cBhvr>
                                        <p:cTn id="38" dur="588" fill="hold"/>
                                        <p:tgtEl>
                                          <p:spTgt spid="9"/>
                                        </p:tgtEl>
                                        <p:attrNameLst>
                                          <p:attrName>ppt_x</p:attrName>
                                          <p:attrName>ppt_y</p:attrName>
                                        </p:attrNameLst>
                                      </p:cBhvr>
                                      <p:rCtr x="0" y="0"/>
                                    </p:animMotion>
                                  </p:childTnLst>
                                </p:cTn>
                              </p:par>
                            </p:childTnLst>
                          </p:cTn>
                        </p:par>
                      </p:childTnLst>
                    </p:cTn>
                  </p:par>
                  <p:par>
                    <p:cTn id="39" fill="hold">
                      <p:stCondLst>
                        <p:cond delay="indefinite"/>
                      </p:stCondLst>
                      <p:childTnLst>
                        <p:par>
                          <p:cTn id="40" fill="hold">
                            <p:stCondLst>
                              <p:cond delay="0"/>
                            </p:stCondLst>
                            <p:childTnLst>
                              <p:par>
                                <p:cTn id="41" presetID="53" presetClass="entr" presetSubtype="32"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5"/>
                                        </p:tgtEl>
                                        <p:attrNameLst>
                                          <p:attrName>ppt_h</p:attrName>
                                        </p:attrNameLst>
                                      </p:cBhvr>
                                      <p:tavLst>
                                        <p:tav tm="0">
                                          <p:val>
                                            <p:strVal val="#ppt_h*2.2"/>
                                          </p:val>
                                        </p:tav>
                                        <p:tav tm="100000">
                                          <p:val>
                                            <p:strVal val="#ppt_h"/>
                                          </p:val>
                                        </p:tav>
                                      </p:tavLst>
                                    </p:anim>
                                    <p:animEffect transition="in" filter="fade">
                                      <p:cBhvr>
                                        <p:cTn id="45" dur="228"/>
                                        <p:tgtEl>
                                          <p:spTgt spid="15"/>
                                        </p:tgtEl>
                                      </p:cBhvr>
                                    </p:animEffect>
                                  </p:childTnLst>
                                </p:cTn>
                              </p:par>
                            </p:childTnLst>
                          </p:cTn>
                        </p:par>
                        <p:par>
                          <p:cTn id="46" fill="hold">
                            <p:stCondLst>
                              <p:cond delay="380"/>
                            </p:stCondLst>
                            <p:childTnLst>
                              <p:par>
                                <p:cTn id="47" presetID="0" presetClass="path" presetSubtype="0" fill="hold" nodeType="afterEffect" accel="40000" decel="40000">
                                  <p:stCondLst>
                                    <p:cond delay="0"/>
                                  </p:stCondLst>
                                  <p:childTnLst>
                                    <p:animMotion origin="layout" path="M 0 0 C 0.2625 0 0.525 0 0.7875 0 E" pathEditMode="relative" rAng="0" ptsTypes="">
                                      <p:cBhvr>
                                        <p:cTn id="48" dur="6176" fill="hold"/>
                                        <p:tgtEl>
                                          <p:spTgt spid="10"/>
                                        </p:tgtEl>
                                        <p:attrNameLst>
                                          <p:attrName>ppt_x</p:attrName>
                                          <p:attrName>ppt_y</p:attrName>
                                        </p:attrNameLst>
                                      </p:cBhvr>
                                      <p:rCtr x="0" y="0"/>
                                    </p:animMotion>
                                  </p:childTnLst>
                                </p:cTn>
                              </p:par>
                              <p:par>
                                <p:cTn id="49" presetID="0" presetClass="path" presetSubtype="0" fill="hold" nodeType="withEffect" accel="40000" decel="40000">
                                  <p:stCondLst>
                                    <p:cond delay="0"/>
                                  </p:stCondLst>
                                  <p:childTnLst>
                                    <p:animMotion origin="layout" path="M 0 0 C -0.23 0 -0.46 0 -0.69 0 E" pathEditMode="relative" rAng="0" ptsTypes="">
                                      <p:cBhvr>
                                        <p:cTn id="50" dur="5412" fill="hold"/>
                                        <p:tgtEl>
                                          <p:spTgt spid="11"/>
                                        </p:tgtEl>
                                        <p:attrNameLst>
                                          <p:attrName>ppt_x</p:attrName>
                                          <p:attrName>ppt_y</p:attrName>
                                        </p:attrNameLst>
                                      </p:cBhvr>
                                      <p:rCtr x="0" y="0"/>
                                    </p:animMotion>
                                  </p:childTnLst>
                                </p:cTn>
                              </p:par>
                            </p:childTnLst>
                          </p:cTn>
                        </p:par>
                        <p:par>
                          <p:cTn id="51" fill="hold">
                            <p:stCondLst>
                              <p:cond delay="6556"/>
                            </p:stCondLst>
                            <p:childTnLst>
                              <p:par>
                                <p:cTn id="52" presetID="10" presetClass="exit" presetSubtype="0" fill="hold" nodeType="afterEffect">
                                  <p:stCondLst>
                                    <p:cond delay="0"/>
                                  </p:stCondLst>
                                  <p:childTnLst>
                                    <p:animEffect transition="out" filter="fade">
                                      <p:cBhvr>
                                        <p:cTn id="53" dur="350"/>
                                        <p:tgtEl>
                                          <p:spTgt spid="10"/>
                                        </p:tgtEl>
                                      </p:cBhvr>
                                    </p:animEffect>
                                    <p:set>
                                      <p:cBhvr>
                                        <p:cTn id="54" dur="1" fill="hold">
                                          <p:stCondLst>
                                            <p:cond delay="349"/>
                                          </p:stCondLst>
                                        </p:cTn>
                                        <p:tgtEl>
                                          <p:spTgt spid="10"/>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350"/>
                                        <p:tgtEl>
                                          <p:spTgt spid="11"/>
                                        </p:tgtEl>
                                      </p:cBhvr>
                                    </p:animEffect>
                                    <p:set>
                                      <p:cBhvr>
                                        <p:cTn id="57" dur="1" fill="hold">
                                          <p:stCondLst>
                                            <p:cond delay="349"/>
                                          </p:stCondLst>
                                        </p:cTn>
                                        <p:tgtEl>
                                          <p:spTgt spid="11"/>
                                        </p:tgtEl>
                                        <p:attrNameLst>
                                          <p:attrName>style.visibility</p:attrName>
                                        </p:attrNameLst>
                                      </p:cBhvr>
                                      <p:to>
                                        <p:strVal val="hidden"/>
                                      </p:to>
                                    </p:set>
                                  </p:childTnLst>
                                </p:cTn>
                              </p:par>
                            </p:childTnLst>
                          </p:cTn>
                        </p:par>
                        <p:par>
                          <p:cTn id="58" fill="hold">
                            <p:stCondLst>
                              <p:cond delay="6906"/>
                            </p:stCondLst>
                            <p:childTnLst>
                              <p:par>
                                <p:cTn id="59" presetID="0" presetClass="path" presetSubtype="0" fill="hold" nodeType="afterEffect" accel="40000" decel="40000">
                                  <p:stCondLst>
                                    <p:cond delay="0"/>
                                  </p:stCondLst>
                                  <p:childTnLst>
                                    <p:animMotion origin="layout" path="M 0 0 C 0.2875 0 0.575 0 0.8625 0 E" pathEditMode="relative" rAng="0" ptsTypes="">
                                      <p:cBhvr>
                                        <p:cTn id="60" dur="5227" fill="hold"/>
                                        <p:tgtEl>
                                          <p:spTgt spid="12"/>
                                        </p:tgtEl>
                                        <p:attrNameLst>
                                          <p:attrName>ppt_x</p:attrName>
                                          <p:attrName>ppt_y</p:attrName>
                                        </p:attrNameLst>
                                      </p:cBhvr>
                                      <p:rCtr x="0" y="0"/>
                                    </p:animMotion>
                                  </p:childTnLst>
                                </p:cTn>
                              </p:par>
                            </p:childTnLst>
                          </p:cTn>
                        </p:par>
                        <p:par>
                          <p:cTn id="61" fill="hold">
                            <p:stCondLst>
                              <p:cond delay="12133"/>
                            </p:stCondLst>
                            <p:childTnLst>
                              <p:par>
                                <p:cTn id="62" presetID="10" presetClass="exit" presetSubtype="0" fill="hold" nodeType="afterEffect">
                                  <p:stCondLst>
                                    <p:cond delay="0"/>
                                  </p:stCondLst>
                                  <p:childTnLst>
                                    <p:animEffect transition="out" filter="fade">
                                      <p:cBhvr>
                                        <p:cTn id="63" dur="350"/>
                                        <p:tgtEl>
                                          <p:spTgt spid="12"/>
                                        </p:tgtEl>
                                      </p:cBhvr>
                                    </p:animEffect>
                                    <p:set>
                                      <p:cBhvr>
                                        <p:cTn id="64" dur="1" fill="hold">
                                          <p:stCondLst>
                                            <p:cond delay="349"/>
                                          </p:stCondLst>
                                        </p:cTn>
                                        <p:tgtEl>
                                          <p:spTgt spid="12"/>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0" presetClass="path" presetSubtype="0" fill="hold" nodeType="clickEffect" accel="50000">
                                  <p:stCondLst>
                                    <p:cond delay="0"/>
                                  </p:stCondLst>
                                  <p:childTnLst>
                                    <p:animMotion origin="layout" path="M 0 -0.1333 C 0 -0.1761 0 -0.2189 0 -0.2617 E" pathEditMode="relative" rAng="0" ptsTypes="">
                                      <p:cBhvr>
                                        <p:cTn id="68" dur="566" fill="hold"/>
                                        <p:tgtEl>
                                          <p:spTgt spid="8"/>
                                        </p:tgtEl>
                                        <p:attrNameLst>
                                          <p:attrName>ppt_x</p:attrName>
                                          <p:attrName>ppt_y</p:attrName>
                                        </p:attrNameLst>
                                      </p:cBhvr>
                                      <p:rCtr x="0" y="0"/>
                                    </p:animMotion>
                                  </p:childTnLst>
                                </p:cTn>
                              </p:par>
                              <p:par>
                                <p:cTn id="69" presetID="0" presetClass="path" presetSubtype="0" fill="hold" nodeType="withEffect" accel="50000">
                                  <p:stCondLst>
                                    <p:cond delay="0"/>
                                  </p:stCondLst>
                                  <p:childTnLst>
                                    <p:animMotion origin="layout" path="M 0 -0.1333 C 0 -0.1761 0 -0.2189 0 -0.2617 E" pathEditMode="relative" rAng="0" ptsTypes="">
                                      <p:cBhvr>
                                        <p:cTn id="70" dur="566" fill="hold"/>
                                        <p:tgtEl>
                                          <p:spTgt spid="9"/>
                                        </p:tgtEl>
                                        <p:attrNameLst>
                                          <p:attrName>ppt_x</p:attrName>
                                          <p:attrName>ppt_y</p:attrName>
                                        </p:attrNameLst>
                                      </p:cBhvr>
                                      <p:rCtr x="0" y="0"/>
                                    </p:animMotion>
                                  </p:childTnLst>
                                </p:cTn>
                              </p:par>
                            </p:childTnLst>
                          </p:cTn>
                        </p:par>
                        <p:par>
                          <p:cTn id="71" fill="hold">
                            <p:stCondLst>
                              <p:cond delay="566"/>
                            </p:stCondLst>
                            <p:childTnLst>
                              <p:par>
                                <p:cTn id="72" presetID="0" presetClass="path" presetSubtype="0" fill="hold" nodeType="afterEffect">
                                  <p:stCondLst>
                                    <p:cond delay="0"/>
                                  </p:stCondLst>
                                  <p:childTnLst>
                                    <p:animMotion origin="layout" path="M 0 -0.2617 C 0 -0.3574 -0.0437 -0.435 -0.0975 -0.435 E" pathEditMode="relative" rAng="0" ptsTypes="">
                                      <p:cBhvr>
                                        <p:cTn id="73" dur="1201" fill="hold"/>
                                        <p:tgtEl>
                                          <p:spTgt spid="8"/>
                                        </p:tgtEl>
                                        <p:attrNameLst>
                                          <p:attrName>ppt_x</p:attrName>
                                          <p:attrName>ppt_y</p:attrName>
                                        </p:attrNameLst>
                                      </p:cBhvr>
                                      <p:rCtr x="0" y="0"/>
                                    </p:animMotion>
                                  </p:childTnLst>
                                </p:cTn>
                              </p:par>
                              <p:par>
                                <p:cTn id="74" presetID="8" presetClass="emph" presetSubtype="0" fill="hold" nodeType="withEffect">
                                  <p:stCondLst>
                                    <p:cond delay="0"/>
                                  </p:stCondLst>
                                  <p:childTnLst>
                                    <p:animRot by="-5400000">
                                      <p:cBhvr>
                                        <p:cTn id="75" dur="1201" fill="hold"/>
                                        <p:tgtEl>
                                          <p:spTgt spid="8"/>
                                        </p:tgtEl>
                                        <p:attrNameLst>
                                          <p:attrName>r</p:attrName>
                                        </p:attrNameLst>
                                      </p:cBhvr>
                                    </p:animRot>
                                  </p:childTnLst>
                                </p:cTn>
                              </p:par>
                              <p:par>
                                <p:cTn id="76" presetID="0" presetClass="path" presetSubtype="0" fill="hold" nodeType="withEffect">
                                  <p:stCondLst>
                                    <p:cond delay="0"/>
                                  </p:stCondLst>
                                  <p:childTnLst>
                                    <p:animMotion origin="layout" path="M 0 -0.2617 C 0 -0.3574 -0.0437 -0.435 -0.0975 -0.435 E" pathEditMode="relative" rAng="0" ptsTypes="">
                                      <p:cBhvr>
                                        <p:cTn id="77" dur="1201" fill="hold"/>
                                        <p:tgtEl>
                                          <p:spTgt spid="9"/>
                                        </p:tgtEl>
                                        <p:attrNameLst>
                                          <p:attrName>ppt_x</p:attrName>
                                          <p:attrName>ppt_y</p:attrName>
                                        </p:attrNameLst>
                                      </p:cBhvr>
                                      <p:rCtr x="0" y="0"/>
                                    </p:animMotion>
                                  </p:childTnLst>
                                </p:cTn>
                              </p:par>
                              <p:par>
                                <p:cTn id="78" presetID="8" presetClass="emph" presetSubtype="0" fill="hold" nodeType="withEffect">
                                  <p:stCondLst>
                                    <p:cond delay="0"/>
                                  </p:stCondLst>
                                  <p:childTnLst>
                                    <p:animRot by="-5400000">
                                      <p:cBhvr>
                                        <p:cTn id="79" dur="1201" fill="hold"/>
                                        <p:tgtEl>
                                          <p:spTgt spid="9"/>
                                        </p:tgtEl>
                                        <p:attrNameLst>
                                          <p:attrName>r</p:attrName>
                                        </p:attrNameLst>
                                      </p:cBhvr>
                                    </p:animRot>
                                  </p:childTnLst>
                                </p:cTn>
                              </p:par>
                            </p:childTnLst>
                          </p:cTn>
                        </p:par>
                        <p:par>
                          <p:cTn id="80" fill="hold">
                            <p:stCondLst>
                              <p:cond delay="1767"/>
                            </p:stCondLst>
                            <p:childTnLst>
                              <p:par>
                                <p:cTn id="81" presetID="0" presetClass="path" presetSubtype="0" fill="hold" nodeType="afterEffect" decel="50000">
                                  <p:stCondLst>
                                    <p:cond delay="0"/>
                                  </p:stCondLst>
                                  <p:childTnLst>
                                    <p:animMotion origin="layout" path="M -0.0975 -0.435 C -0.1725 -0.435 -0.2475 -0.435 -0.3225 -0.435 E" pathEditMode="relative" rAng="0" ptsTypes="">
                                      <p:cBhvr>
                                        <p:cTn id="82" dur="1765" fill="hold"/>
                                        <p:tgtEl>
                                          <p:spTgt spid="8"/>
                                        </p:tgtEl>
                                        <p:attrNameLst>
                                          <p:attrName>ppt_x</p:attrName>
                                          <p:attrName>ppt_y</p:attrName>
                                        </p:attrNameLst>
                                      </p:cBhvr>
                                      <p:rCtr x="0" y="0"/>
                                    </p:animMotion>
                                  </p:childTnLst>
                                </p:cTn>
                              </p:par>
                              <p:par>
                                <p:cTn id="83" presetID="0" presetClass="path" presetSubtype="0" fill="hold" nodeType="withEffect" decel="50000">
                                  <p:stCondLst>
                                    <p:cond delay="0"/>
                                  </p:stCondLst>
                                  <p:childTnLst>
                                    <p:animMotion origin="layout" path="M -0.0975 -0.435 C -0.1725 -0.435 -0.2475 -0.435 -0.3225 -0.435 E" pathEditMode="relative" rAng="0" ptsTypes="">
                                      <p:cBhvr>
                                        <p:cTn id="84" dur="1765" fill="hold"/>
                                        <p:tgtEl>
                                          <p:spTgt spid="9"/>
                                        </p:tgtEl>
                                        <p:attrNameLst>
                                          <p:attrName>ppt_x</p:attrName>
                                          <p:attrName>ppt_y</p:attrName>
                                        </p:attrNameLst>
                                      </p:cBhvr>
                                      <p:rCtr x="0" y="0"/>
                                    </p:animMotion>
                                  </p:childTnLst>
                                </p:cTn>
                              </p:par>
                            </p:childTnLst>
                          </p:cTn>
                        </p:par>
                        <p:par>
                          <p:cTn id="85" fill="hold">
                            <p:stCondLst>
                              <p:cond delay="3532"/>
                            </p:stCondLst>
                            <p:childTnLst>
                              <p:par>
                                <p:cTn id="86" presetID="10" presetClass="exit" presetSubtype="0" fill="hold" nodeType="afterEffect">
                                  <p:stCondLst>
                                    <p:cond delay="0"/>
                                  </p:stCondLst>
                                  <p:childTnLst>
                                    <p:animEffect transition="out" filter="fade">
                                      <p:cBhvr>
                                        <p:cTn id="87" dur="350"/>
                                        <p:tgtEl>
                                          <p:spTgt spid="8"/>
                                        </p:tgtEl>
                                      </p:cBhvr>
                                    </p:animEffect>
                                    <p:set>
                                      <p:cBhvr>
                                        <p:cTn id="88" dur="1" fill="hold">
                                          <p:stCondLst>
                                            <p:cond delay="349"/>
                                          </p:stCondLst>
                                        </p:cTn>
                                        <p:tgtEl>
                                          <p:spTgt spid="8"/>
                                        </p:tgtEl>
                                        <p:attrNameLst>
                                          <p:attrName>style.visibility</p:attrName>
                                        </p:attrNameLst>
                                      </p:cBhvr>
                                      <p:to>
                                        <p:strVal val="hidden"/>
                                      </p:to>
                                    </p:set>
                                  </p:childTnLst>
                                </p:cTn>
                              </p:par>
                              <p:par>
                                <p:cTn id="89" presetID="10" presetClass="exit" presetSubtype="0" fill="hold" nodeType="withEffect">
                                  <p:stCondLst>
                                    <p:cond delay="0"/>
                                  </p:stCondLst>
                                  <p:childTnLst>
                                    <p:animEffect transition="out" filter="fade">
                                      <p:cBhvr>
                                        <p:cTn id="90" dur="350"/>
                                        <p:tgtEl>
                                          <p:spTgt spid="9"/>
                                        </p:tgtEl>
                                      </p:cBhvr>
                                    </p:animEffect>
                                    <p:set>
                                      <p:cBhvr>
                                        <p:cTn id="91" dur="1" fill="hold">
                                          <p:stCondLst>
                                            <p:cond delay="34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3" grpId="0" animBg="1"/>
      <p:bldP spid="14" grpId="0" animBg="1"/>
      <p:bldP spid="1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MYTHOS ODER FAKT?</a:t>
            </a:r>
            <a:endParaRPr lang="en-US" sz="1300" dirty="0"/>
          </a:p>
        </p:txBody>
      </p:sp>
      <p:sp>
        <p:nvSpPr>
          <p:cNvPr id="6" name="e26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Stimmt das?</a:t>
            </a:r>
            <a:endParaRPr lang="en-US" sz="4600" dirty="0"/>
          </a:p>
        </p:txBody>
      </p:sp>
      <p:sp>
        <p:nvSpPr>
          <p:cNvPr id="7" name="e26_3"/>
          <p:cNvSpPr/>
          <p:nvPr/>
        </p:nvSpPr>
        <p:spPr>
          <a:xfrm>
            <a:off x="731520" y="2286000"/>
            <a:ext cx="10698480" cy="822960"/>
          </a:xfrm>
          <a:prstGeom prst="roundRect">
            <a:avLst>
              <a:gd name="adj" fmla="val 13333"/>
            </a:avLst>
          </a:prstGeom>
          <a:solidFill>
            <a:srgbClr val="12161E"/>
          </a:solidFill>
          <a:ln w="12700">
            <a:solidFill>
              <a:srgbClr val="2A3342"/>
            </a:solidFill>
            <a:prstDash val="solid"/>
          </a:ln>
        </p:spPr>
      </p:sp>
      <p:sp>
        <p:nvSpPr>
          <p:cNvPr id="8" name="e26_4"/>
          <p:cNvSpPr txBox="1"/>
          <p:nvPr/>
        </p:nvSpPr>
        <p:spPr>
          <a:xfrm>
            <a:off x="1005840" y="2359152"/>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Auf dem Supermarkt-Parkplatz gilt rechts vor links.</a:t>
            </a:r>
            <a:endParaRPr lang="en-US" sz="1900" dirty="0"/>
          </a:p>
        </p:txBody>
      </p:sp>
      <p:sp>
        <p:nvSpPr>
          <p:cNvPr id="9" name="e26_5"/>
          <p:cNvSpPr txBox="1"/>
          <p:nvPr/>
        </p:nvSpPr>
        <p:spPr>
          <a:xfrm>
            <a:off x="6309360" y="2340864"/>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Nur wenn die Fahrgassen klar wie Straßen wirken (BGH 2022). Sonst: Rücksicht.</a:t>
            </a:r>
            <a:endParaRPr lang="en-US" sz="1500" dirty="0"/>
          </a:p>
        </p:txBody>
      </p:sp>
      <p:sp>
        <p:nvSpPr>
          <p:cNvPr id="10" name="e26_6"/>
          <p:cNvSpPr txBox="1"/>
          <p:nvPr/>
        </p:nvSpPr>
        <p:spPr>
          <a:xfrm rot="-240000">
            <a:off x="9692640" y="2432304"/>
            <a:ext cx="1600200" cy="530352"/>
          </a:xfrm>
          <a:prstGeom prst="roundRect">
            <a:avLst>
              <a:gd name="adj" fmla="val 34483"/>
            </a:avLst>
          </a:prstGeom>
          <a:solidFill>
            <a:srgbClr val="FF4D4D"/>
          </a:solidFill>
          <a:ln/>
        </p:spPr>
        <p:txBody>
          <a:bodyPr wrap="square" lIns="0" tIns="0" rIns="0" bIns="0" rtlCol="0" anchor="ctr"/>
          <a:lstStyle/>
          <a:p>
            <a:pPr algn="ctr" indent="0" marL="0">
              <a:buNone/>
            </a:pPr>
            <a:r>
              <a:rPr lang="en-US" sz="16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MEIST NICHT</a:t>
            </a:r>
            <a:endParaRPr lang="en-US" sz="1600" dirty="0"/>
          </a:p>
        </p:txBody>
      </p:sp>
      <p:sp>
        <p:nvSpPr>
          <p:cNvPr id="11" name="e26_7"/>
          <p:cNvSpPr/>
          <p:nvPr/>
        </p:nvSpPr>
        <p:spPr>
          <a:xfrm>
            <a:off x="731520" y="3273552"/>
            <a:ext cx="10698480" cy="822960"/>
          </a:xfrm>
          <a:prstGeom prst="roundRect">
            <a:avLst>
              <a:gd name="adj" fmla="val 13333"/>
            </a:avLst>
          </a:prstGeom>
          <a:solidFill>
            <a:srgbClr val="12161E"/>
          </a:solidFill>
          <a:ln w="12700">
            <a:solidFill>
              <a:srgbClr val="2A3342"/>
            </a:solidFill>
            <a:prstDash val="solid"/>
          </a:ln>
        </p:spPr>
      </p:sp>
      <p:sp>
        <p:nvSpPr>
          <p:cNvPr id="12" name="e26_8"/>
          <p:cNvSpPr txBox="1"/>
          <p:nvPr/>
        </p:nvSpPr>
        <p:spPr>
          <a:xfrm>
            <a:off x="1005840" y="3346704"/>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Wer aus einem Feldweg kommt, hat keine Vorfahrt.</a:t>
            </a:r>
            <a:endParaRPr lang="en-US" sz="1900" dirty="0"/>
          </a:p>
        </p:txBody>
      </p:sp>
      <p:sp>
        <p:nvSpPr>
          <p:cNvPr id="13" name="e26_9"/>
          <p:cNvSpPr txBox="1"/>
          <p:nvPr/>
        </p:nvSpPr>
        <p:spPr>
          <a:xfrm>
            <a:off x="6309360" y="3328416"/>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 8 Abs. 1 Satz 2 StVO</a:t>
            </a:r>
            <a:endParaRPr lang="en-US" sz="1500" dirty="0"/>
          </a:p>
        </p:txBody>
      </p:sp>
      <p:sp>
        <p:nvSpPr>
          <p:cNvPr id="14" name="e26_10"/>
          <p:cNvSpPr txBox="1"/>
          <p:nvPr/>
        </p:nvSpPr>
        <p:spPr>
          <a:xfrm rot="-240000">
            <a:off x="9692640" y="3419856"/>
            <a:ext cx="1600200" cy="530352"/>
          </a:xfrm>
          <a:prstGeom prst="roundRect">
            <a:avLst>
              <a:gd name="adj" fmla="val 34483"/>
            </a:avLst>
          </a:prstGeom>
          <a:solidFill>
            <a:srgbClr val="4CAF72"/>
          </a:solidFill>
          <a:ln/>
        </p:spPr>
        <p:txBody>
          <a:bodyPr wrap="square" lIns="0" tIns="0" rIns="0" bIns="0" rtlCol="0" anchor="ctr"/>
          <a:lstStyle/>
          <a:p>
            <a:pPr algn="ctr" indent="0" marL="0">
              <a:buNone/>
            </a:pPr>
            <a:r>
              <a:rPr lang="en-US" sz="16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FAKT</a:t>
            </a:r>
            <a:endParaRPr lang="en-US" sz="1600" dirty="0"/>
          </a:p>
        </p:txBody>
      </p:sp>
      <p:sp>
        <p:nvSpPr>
          <p:cNvPr id="15" name="e26_11"/>
          <p:cNvSpPr/>
          <p:nvPr/>
        </p:nvSpPr>
        <p:spPr>
          <a:xfrm>
            <a:off x="731520" y="4261104"/>
            <a:ext cx="10698480" cy="822960"/>
          </a:xfrm>
          <a:prstGeom prst="roundRect">
            <a:avLst>
              <a:gd name="adj" fmla="val 13333"/>
            </a:avLst>
          </a:prstGeom>
          <a:solidFill>
            <a:srgbClr val="12161E"/>
          </a:solidFill>
          <a:ln w="12700">
            <a:solidFill>
              <a:srgbClr val="2A3342"/>
            </a:solidFill>
            <a:prstDash val="solid"/>
          </a:ln>
        </p:spPr>
      </p:sp>
      <p:sp>
        <p:nvSpPr>
          <p:cNvPr id="16" name="e26_12"/>
          <p:cNvSpPr txBox="1"/>
          <p:nvPr/>
        </p:nvSpPr>
        <p:spPr>
          <a:xfrm>
            <a:off x="1005840" y="4334256"/>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In einer Tempo-30-Zone gilt meist rechts vor links.</a:t>
            </a:r>
            <a:endParaRPr lang="en-US" sz="1900" dirty="0"/>
          </a:p>
        </p:txBody>
      </p:sp>
      <p:sp>
        <p:nvSpPr>
          <p:cNvPr id="17" name="e26_13"/>
          <p:cNvSpPr txBox="1"/>
          <p:nvPr/>
        </p:nvSpPr>
        <p:spPr>
          <a:xfrm>
            <a:off x="6309360" y="4315968"/>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grundsätzlich, § 45 Abs. 1c StVO</a:t>
            </a:r>
            <a:endParaRPr lang="en-US" sz="1500" dirty="0"/>
          </a:p>
        </p:txBody>
      </p:sp>
      <p:sp>
        <p:nvSpPr>
          <p:cNvPr id="18" name="e26_14"/>
          <p:cNvSpPr txBox="1"/>
          <p:nvPr/>
        </p:nvSpPr>
        <p:spPr>
          <a:xfrm rot="-240000">
            <a:off x="9692640" y="4407408"/>
            <a:ext cx="1600200" cy="530352"/>
          </a:xfrm>
          <a:prstGeom prst="roundRect">
            <a:avLst>
              <a:gd name="adj" fmla="val 34483"/>
            </a:avLst>
          </a:prstGeom>
          <a:solidFill>
            <a:srgbClr val="4CAF72"/>
          </a:solidFill>
          <a:ln/>
        </p:spPr>
        <p:txBody>
          <a:bodyPr wrap="square" lIns="0" tIns="0" rIns="0" bIns="0" rtlCol="0" anchor="ctr"/>
          <a:lstStyle/>
          <a:p>
            <a:pPr algn="ctr" indent="0" marL="0">
              <a:buNone/>
            </a:pPr>
            <a:r>
              <a:rPr lang="en-US" sz="16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FAKT</a:t>
            </a:r>
            <a:endParaRPr lang="en-US" sz="1600" dirty="0"/>
          </a:p>
        </p:txBody>
      </p:sp>
      <p:sp>
        <p:nvSpPr>
          <p:cNvPr id="19" name="e26_15"/>
          <p:cNvSpPr/>
          <p:nvPr/>
        </p:nvSpPr>
        <p:spPr>
          <a:xfrm>
            <a:off x="731520" y="5248656"/>
            <a:ext cx="10698480" cy="822960"/>
          </a:xfrm>
          <a:prstGeom prst="roundRect">
            <a:avLst>
              <a:gd name="adj" fmla="val 13333"/>
            </a:avLst>
          </a:prstGeom>
          <a:solidFill>
            <a:srgbClr val="12161E"/>
          </a:solidFill>
          <a:ln w="12700">
            <a:solidFill>
              <a:srgbClr val="2A3342"/>
            </a:solidFill>
            <a:prstDash val="solid"/>
          </a:ln>
        </p:spPr>
      </p:sp>
      <p:sp>
        <p:nvSpPr>
          <p:cNvPr id="20" name="e26_16"/>
          <p:cNvSpPr txBox="1"/>
          <p:nvPr/>
        </p:nvSpPr>
        <p:spPr>
          <a:xfrm>
            <a:off x="1005840" y="5321808"/>
            <a:ext cx="5120640" cy="67665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Aus der Hofeinfahrt muss ich nicht blinken.</a:t>
            </a:r>
            <a:endParaRPr lang="en-US" sz="1900" dirty="0"/>
          </a:p>
        </p:txBody>
      </p:sp>
      <p:sp>
        <p:nvSpPr>
          <p:cNvPr id="21" name="e26_17"/>
          <p:cNvSpPr txBox="1"/>
          <p:nvPr/>
        </p:nvSpPr>
        <p:spPr>
          <a:xfrm>
            <a:off x="6309360" y="5303520"/>
            <a:ext cx="3291840" cy="713232"/>
          </a:xfrm>
          <a:prstGeom prst="rect">
            <a:avLst/>
          </a:prstGeom>
          <a:noFill/>
          <a:ln/>
        </p:spPr>
        <p:txBody>
          <a:bodyPr wrap="square" lIns="0" tIns="0" rIns="0" bIns="0" rtlCol="0" anchor="ctr"/>
          <a:lstStyle/>
          <a:p>
            <a:pPr algn="l" indent="0" marL="0">
              <a:buNone/>
            </a:pPr>
            <a:r>
              <a:rPr lang="en-US" sz="1500" dirty="0">
                <a:solidFill>
                  <a:srgbClr val="A7B0BD"/>
                </a:solidFill>
                <a:latin typeface="Calibri" pitchFamily="34" charset="0"/>
                <a:ea typeface="Calibri" pitchFamily="34" charset="-122"/>
                <a:cs typeface="Calibri" pitchFamily="34" charset="-120"/>
              </a:rPr>
              <a:t>Einfahren heißt blinken (§ 10 StVO).</a:t>
            </a:r>
            <a:endParaRPr lang="en-US" sz="1500" dirty="0"/>
          </a:p>
        </p:txBody>
      </p:sp>
      <p:sp>
        <p:nvSpPr>
          <p:cNvPr id="22" name="e26_18"/>
          <p:cNvSpPr txBox="1"/>
          <p:nvPr/>
        </p:nvSpPr>
        <p:spPr>
          <a:xfrm rot="-240000">
            <a:off x="9692640" y="5394960"/>
            <a:ext cx="1600200" cy="530352"/>
          </a:xfrm>
          <a:prstGeom prst="roundRect">
            <a:avLst>
              <a:gd name="adj" fmla="val 34483"/>
            </a:avLst>
          </a:prstGeom>
          <a:solidFill>
            <a:srgbClr val="FF4D4D"/>
          </a:solidFill>
          <a:ln/>
        </p:spPr>
        <p:txBody>
          <a:bodyPr wrap="square" lIns="0" tIns="0" rIns="0" bIns="0" rtlCol="0" anchor="ctr"/>
          <a:lstStyle/>
          <a:p>
            <a:pPr algn="ctr" indent="0" marL="0">
              <a:buNone/>
            </a:pPr>
            <a:r>
              <a:rPr lang="en-US" sz="16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MYTHOS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00"/>
                                        <p:tgtEl>
                                          <p:spTgt spid="9"/>
                                        </p:tgtEl>
                                      </p:cBhvr>
                                    </p:animEffect>
                                  </p:childTnLst>
                                </p:cTn>
                              </p:par>
                              <p:par>
                                <p:cTn id="29" presetID="53" presetClass="entr" presetSubtype="32"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380" fill="hold" accel="60000"/>
                                        <p:tgtEl>
                                          <p:spTgt spid="10"/>
                                        </p:tgtEl>
                                        <p:attrNameLst>
                                          <p:attrName>ppt_w</p:attrName>
                                        </p:attrNameLst>
                                      </p:cBhvr>
                                      <p:tavLst>
                                        <p:tav tm="0">
                                          <p:val>
                                            <p:strVal val="#ppt_w*2.2"/>
                                          </p:val>
                                        </p:tav>
                                        <p:tav tm="100000">
                                          <p:val>
                                            <p:strVal val="#ppt_w"/>
                                          </p:val>
                                        </p:tav>
                                      </p:tavLst>
                                    </p:anim>
                                    <p:anim calcmode="lin" valueType="num">
                                      <p:cBhvr additive="base">
                                        <p:cTn id="32" dur="380" fill="hold" accel="60000"/>
                                        <p:tgtEl>
                                          <p:spTgt spid="10"/>
                                        </p:tgtEl>
                                        <p:attrNameLst>
                                          <p:attrName>ppt_h</p:attrName>
                                        </p:attrNameLst>
                                      </p:cBhvr>
                                      <p:tavLst>
                                        <p:tav tm="0">
                                          <p:val>
                                            <p:strVal val="#ppt_h*2.2"/>
                                          </p:val>
                                        </p:tav>
                                        <p:tav tm="100000">
                                          <p:val>
                                            <p:strVal val="#ppt_h"/>
                                          </p:val>
                                        </p:tav>
                                      </p:tavLst>
                                    </p:anim>
                                    <p:animEffect transition="in" filter="fade">
                                      <p:cBhvr>
                                        <p:cTn id="33" dur="228"/>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39" dur="600" fill="hold"/>
                                        <p:tgtEl>
                                          <p:spTgt spid="11"/>
                                        </p:tgtEl>
                                        <p:attrNameLst>
                                          <p:attrName>ppt_y</p:attrName>
                                        </p:attrNameLst>
                                      </p:cBhvr>
                                      <p:tavLst>
                                        <p:tav tm="0">
                                          <p:val>
                                            <p:strVal val="#ppt_y"/>
                                          </p:val>
                                        </p:tav>
                                        <p:tav tm="100000">
                                          <p:val>
                                            <p:strVal val="#ppt_y"/>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4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00"/>
                                        <p:tgtEl>
                                          <p:spTgt spid="13"/>
                                        </p:tgtEl>
                                      </p:cBhvr>
                                    </p:animEffect>
                                  </p:childTnLst>
                                </p:cTn>
                              </p:par>
                              <p:par>
                                <p:cTn id="48" presetID="53" presetClass="entr" presetSubtype="32"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51" dur="380" fill="hold" accel="60000"/>
                                        <p:tgtEl>
                                          <p:spTgt spid="14"/>
                                        </p:tgtEl>
                                        <p:attrNameLst>
                                          <p:attrName>ppt_h</p:attrName>
                                        </p:attrNameLst>
                                      </p:cBhvr>
                                      <p:tavLst>
                                        <p:tav tm="0">
                                          <p:val>
                                            <p:strVal val="#ppt_h*2.2"/>
                                          </p:val>
                                        </p:tav>
                                        <p:tav tm="100000">
                                          <p:val>
                                            <p:strVal val="#ppt_h"/>
                                          </p:val>
                                        </p:tav>
                                      </p:tavLst>
                                    </p:anim>
                                    <p:animEffect transition="in" filter="fade">
                                      <p:cBhvr>
                                        <p:cTn id="52" dur="228"/>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58" dur="600" fill="hold"/>
                                        <p:tgtEl>
                                          <p:spTgt spid="15"/>
                                        </p:tgtEl>
                                        <p:attrNameLst>
                                          <p:attrName>ppt_y</p:attrName>
                                        </p:attrNameLst>
                                      </p:cBhvr>
                                      <p:tavLst>
                                        <p:tav tm="0">
                                          <p:val>
                                            <p:strVal val="#ppt_y"/>
                                          </p:val>
                                        </p:tav>
                                        <p:tav tm="100000">
                                          <p:val>
                                            <p:strVal val="#ppt_y"/>
                                          </p:val>
                                        </p:tav>
                                      </p:tavLst>
                                    </p:anim>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4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300"/>
                                        <p:tgtEl>
                                          <p:spTgt spid="17"/>
                                        </p:tgtEl>
                                      </p:cBhvr>
                                    </p:animEffect>
                                  </p:childTnLst>
                                </p:cTn>
                              </p:par>
                              <p:par>
                                <p:cTn id="67" presetID="53" presetClass="entr" presetSubtype="32"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70" dur="380" fill="hold" accel="60000"/>
                                        <p:tgtEl>
                                          <p:spTgt spid="18"/>
                                        </p:tgtEl>
                                        <p:attrNameLst>
                                          <p:attrName>ppt_h</p:attrName>
                                        </p:attrNameLst>
                                      </p:cBhvr>
                                      <p:tavLst>
                                        <p:tav tm="0">
                                          <p:val>
                                            <p:strVal val="#ppt_h*2.2"/>
                                          </p:val>
                                        </p:tav>
                                        <p:tav tm="100000">
                                          <p:val>
                                            <p:strVal val="#ppt_h"/>
                                          </p:val>
                                        </p:tav>
                                      </p:tavLst>
                                    </p:anim>
                                    <p:animEffect transition="in" filter="fade">
                                      <p:cBhvr>
                                        <p:cTn id="71" dur="228"/>
                                        <p:tgtEl>
                                          <p:spTgt spid="18"/>
                                        </p:tgtEl>
                                      </p:cBhvr>
                                    </p:animEffect>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additive="base">
                                        <p:cTn id="76" dur="600" fill="hold" decel="100000"/>
                                        <p:tgtEl>
                                          <p:spTgt spid="19"/>
                                        </p:tgtEl>
                                        <p:attrNameLst>
                                          <p:attrName>ppt_x</p:attrName>
                                        </p:attrNameLst>
                                      </p:cBhvr>
                                      <p:tavLst>
                                        <p:tav tm="0">
                                          <p:val>
                                            <p:strVal val="0-#ppt_w/2"/>
                                          </p:val>
                                        </p:tav>
                                        <p:tav tm="100000">
                                          <p:val>
                                            <p:strVal val="#ppt_x"/>
                                          </p:val>
                                        </p:tav>
                                      </p:tavLst>
                                    </p:anim>
                                    <p:anim calcmode="lin" valueType="num">
                                      <p:cBhvr additive="base">
                                        <p:cTn id="77" dur="600" fill="hold"/>
                                        <p:tgtEl>
                                          <p:spTgt spid="19"/>
                                        </p:tgtEl>
                                        <p:attrNameLst>
                                          <p:attrName>ppt_y</p:attrName>
                                        </p:attrNameLst>
                                      </p:cBhvr>
                                      <p:tavLst>
                                        <p:tav tm="0">
                                          <p:val>
                                            <p:strVal val="#ppt_y"/>
                                          </p:val>
                                        </p:tav>
                                        <p:tav tm="100000">
                                          <p:val>
                                            <p:strVal val="#ppt_y"/>
                                          </p:val>
                                        </p:tav>
                                      </p:tavLst>
                                    </p:anim>
                                  </p:childTnLst>
                                </p:cTn>
                              </p:par>
                              <p:par>
                                <p:cTn id="78" presetID="10" presetClass="entr" presetSubtype="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fade">
                                      <p:cBhvr>
                                        <p:cTn id="80" dur="400"/>
                                        <p:tgtEl>
                                          <p:spTgt spid="20"/>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300"/>
                                        <p:tgtEl>
                                          <p:spTgt spid="21"/>
                                        </p:tgtEl>
                                      </p:cBhvr>
                                    </p:animEffect>
                                  </p:childTnLst>
                                </p:cTn>
                              </p:par>
                              <p:par>
                                <p:cTn id="86" presetID="53" presetClass="entr" presetSubtype="32"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89" dur="380" fill="hold" accel="60000"/>
                                        <p:tgtEl>
                                          <p:spTgt spid="22"/>
                                        </p:tgtEl>
                                        <p:attrNameLst>
                                          <p:attrName>ppt_h</p:attrName>
                                        </p:attrNameLst>
                                      </p:cBhvr>
                                      <p:tavLst>
                                        <p:tav tm="0">
                                          <p:val>
                                            <p:strVal val="#ppt_h*2.2"/>
                                          </p:val>
                                        </p:tav>
                                        <p:tav tm="100000">
                                          <p:val>
                                            <p:strVal val="#ppt_h"/>
                                          </p:val>
                                        </p:tav>
                                      </p:tavLst>
                                    </p:anim>
                                    <p:animEffect transition="in" filter="fade">
                                      <p:cBhvr>
                                        <p:cTn id="90" dur="228"/>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27_1"/>
          <p:cNvSpPr txBox="1"/>
          <p:nvPr/>
        </p:nvSpPr>
        <p:spPr>
          <a:xfrm>
            <a:off x="731520" y="82296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3 · VERKEHRSZEICHEN</a:t>
            </a:r>
            <a:endParaRPr lang="en-US" sz="1300" dirty="0"/>
          </a:p>
        </p:txBody>
      </p:sp>
      <p:sp>
        <p:nvSpPr>
          <p:cNvPr id="5" name="e27_2"/>
          <p:cNvSpPr txBox="1"/>
          <p:nvPr/>
        </p:nvSpPr>
        <p:spPr>
          <a:xfrm>
            <a:off x="731520" y="1188720"/>
            <a:ext cx="10698480" cy="1005840"/>
          </a:xfrm>
          <a:prstGeom prst="rect">
            <a:avLst/>
          </a:prstGeom>
          <a:noFill/>
          <a:ln/>
        </p:spPr>
        <p:txBody>
          <a:bodyPr wrap="square" lIns="0" tIns="0" rIns="0" bIns="0" rtlCol="0" anchor="t"/>
          <a:lstStyle/>
          <a:p>
            <a:pPr algn="ctr" indent="0" marL="0">
              <a:lnSpc>
                <a:spcPct val="95000"/>
              </a:lnSpc>
              <a:buNone/>
            </a:pPr>
            <a:r>
              <a:rPr lang="en-US" sz="5600" b="1" dirty="0">
                <a:solidFill>
                  <a:srgbClr val="F5F2EC"/>
                </a:solidFill>
                <a:latin typeface="Cambria" pitchFamily="34" charset="0"/>
                <a:ea typeface="Cambria" pitchFamily="34" charset="-122"/>
                <a:cs typeface="Cambria" pitchFamily="34" charset="-120"/>
              </a:rPr>
              <a:t>Die Form verrät es</a:t>
            </a:r>
            <a:endParaRPr lang="en-US" sz="5600" dirty="0"/>
          </a:p>
        </p:txBody>
      </p:sp>
      <p:pic>
        <p:nvPicPr>
          <p:cNvPr id="6" name="e27_3" descr="Verkehrszeichen 205">    </p:cNvPr>
          <p:cNvPicPr>
            <a:picLocks noChangeAspect="1"/>
          </p:cNvPicPr>
          <p:nvPr/>
        </p:nvPicPr>
        <p:blipFill>
          <a:blip r:embed="rId2"/>
          <a:stretch>
            <a:fillRect/>
          </a:stretch>
        </p:blipFill>
        <p:spPr>
          <a:xfrm>
            <a:off x="1691640" y="2560320"/>
            <a:ext cx="2497618" cy="2194560"/>
          </a:xfrm>
          <a:prstGeom prst="rect">
            <a:avLst/>
          </a:prstGeom>
        </p:spPr>
      </p:pic>
      <p:pic>
        <p:nvPicPr>
          <p:cNvPr id="7" name="e27_4" descr="Verkehrszeichen 206">    </p:cNvPr>
          <p:cNvPicPr>
            <a:picLocks noChangeAspect="1"/>
          </p:cNvPicPr>
          <p:nvPr/>
        </p:nvPicPr>
        <p:blipFill>
          <a:blip r:embed="rId3"/>
          <a:stretch>
            <a:fillRect/>
          </a:stretch>
        </p:blipFill>
        <p:spPr>
          <a:xfrm>
            <a:off x="7086600" y="2560320"/>
            <a:ext cx="2194560" cy="2194560"/>
          </a:xfrm>
          <a:prstGeom prst="rect">
            <a:avLst/>
          </a:prstGeom>
        </p:spPr>
      </p:pic>
      <p:sp>
        <p:nvSpPr>
          <p:cNvPr id="8" name="e27_5"/>
          <p:cNvSpPr txBox="1"/>
          <p:nvPr/>
        </p:nvSpPr>
        <p:spPr>
          <a:xfrm>
            <a:off x="1143000" y="4846320"/>
            <a:ext cx="3657600" cy="457200"/>
          </a:xfrm>
          <a:prstGeom prst="rect">
            <a:avLst/>
          </a:prstGeom>
          <a:noFill/>
          <a:ln/>
        </p:spPr>
        <p:txBody>
          <a:bodyPr wrap="square" lIns="0" tIns="0" rIns="0" bIns="0" rtlCol="0" anchor="t"/>
          <a:lstStyle/>
          <a:p>
            <a:pPr algn="ctr" indent="0" marL="0">
              <a:buNone/>
            </a:pPr>
            <a:r>
              <a:rPr lang="en-US" sz="2000" b="1" dirty="0">
                <a:solidFill>
                  <a:srgbClr val="F5F2EC"/>
                </a:solidFill>
                <a:latin typeface="Calibri" pitchFamily="34" charset="0"/>
                <a:ea typeface="Calibri" pitchFamily="34" charset="-122"/>
                <a:cs typeface="Calibri" pitchFamily="34" charset="-120"/>
              </a:rPr>
              <a:t>Vorfahrt gewähren</a:t>
            </a:r>
            <a:endParaRPr lang="en-US" sz="2000" dirty="0"/>
          </a:p>
        </p:txBody>
      </p:sp>
      <p:sp>
        <p:nvSpPr>
          <p:cNvPr id="9" name="e27_6"/>
          <p:cNvSpPr txBox="1"/>
          <p:nvPr/>
        </p:nvSpPr>
        <p:spPr>
          <a:xfrm>
            <a:off x="6355080" y="4846320"/>
            <a:ext cx="3657600" cy="457200"/>
          </a:xfrm>
          <a:prstGeom prst="rect">
            <a:avLst/>
          </a:prstGeom>
          <a:noFill/>
          <a:ln/>
        </p:spPr>
        <p:txBody>
          <a:bodyPr wrap="square" lIns="0" tIns="0" rIns="0" bIns="0" rtlCol="0" anchor="t"/>
          <a:lstStyle/>
          <a:p>
            <a:pPr algn="ctr" indent="0" marL="0">
              <a:buNone/>
            </a:pPr>
            <a:r>
              <a:rPr lang="en-US" sz="2000" b="1" dirty="0">
                <a:solidFill>
                  <a:srgbClr val="F5F2EC"/>
                </a:solidFill>
                <a:latin typeface="Calibri" pitchFamily="34" charset="0"/>
                <a:ea typeface="Calibri" pitchFamily="34" charset="-122"/>
                <a:cs typeface="Calibri" pitchFamily="34" charset="-120"/>
              </a:rPr>
              <a:t>Halt. Vorfahrt gewähren</a:t>
            </a:r>
            <a:endParaRPr lang="en-US" sz="2000" dirty="0"/>
          </a:p>
        </p:txBody>
      </p:sp>
      <p:sp>
        <p:nvSpPr>
          <p:cNvPr id="10" name="e27_7"/>
          <p:cNvSpPr/>
          <p:nvPr/>
        </p:nvSpPr>
        <p:spPr>
          <a:xfrm rot="10800000">
            <a:off x="4251960" y="2926080"/>
            <a:ext cx="1051560" cy="914400"/>
          </a:xfrm>
          <a:prstGeom prst="triangle">
            <a:avLst/>
          </a:prstGeom>
          <a:solidFill>
            <a:srgbClr val="6E7888"/>
          </a:solidFill>
          <a:ln/>
        </p:spPr>
      </p:sp>
      <p:sp>
        <p:nvSpPr>
          <p:cNvPr id="11" name="e27_8"/>
          <p:cNvSpPr/>
          <p:nvPr/>
        </p:nvSpPr>
        <p:spPr>
          <a:xfrm>
            <a:off x="9555480" y="2926080"/>
            <a:ext cx="960120" cy="960120"/>
          </a:xfrm>
          <a:prstGeom prst="octagon">
            <a:avLst/>
          </a:prstGeom>
          <a:solidFill>
            <a:srgbClr val="6E7888"/>
          </a:solidFill>
          <a:ln/>
        </p:spPr>
      </p:sp>
      <p:sp>
        <p:nvSpPr>
          <p:cNvPr id="12" name="e27_9"/>
          <p:cNvSpPr txBox="1"/>
          <p:nvPr/>
        </p:nvSpPr>
        <p:spPr>
          <a:xfrm>
            <a:off x="3931920" y="3931920"/>
            <a:ext cx="169164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von hinten</a:t>
            </a:r>
            <a:endParaRPr lang="en-US" sz="1600" dirty="0"/>
          </a:p>
        </p:txBody>
      </p:sp>
      <p:sp>
        <p:nvSpPr>
          <p:cNvPr id="13" name="e27_10"/>
          <p:cNvSpPr txBox="1"/>
          <p:nvPr/>
        </p:nvSpPr>
        <p:spPr>
          <a:xfrm>
            <a:off x="9189720" y="3931920"/>
            <a:ext cx="1691640" cy="365760"/>
          </a:xfrm>
          <a:prstGeom prst="rect">
            <a:avLst/>
          </a:prstGeom>
          <a:noFill/>
          <a:ln/>
        </p:spPr>
        <p:txBody>
          <a:bodyPr wrap="square" lIns="0" tIns="0" rIns="0" bIns="0" rtlCol="0" anchor="t"/>
          <a:lstStyle/>
          <a:p>
            <a:pPr algn="ctr" indent="0" marL="0">
              <a:buNone/>
            </a:pPr>
            <a:r>
              <a:rPr lang="en-US" sz="1600" i="1" dirty="0">
                <a:solidFill>
                  <a:srgbClr val="A7B0BD"/>
                </a:solidFill>
                <a:latin typeface="Calibri" pitchFamily="34" charset="0"/>
                <a:ea typeface="Calibri" pitchFamily="34" charset="-122"/>
                <a:cs typeface="Calibri" pitchFamily="34" charset="-120"/>
              </a:rPr>
              <a:t>von hinten</a:t>
            </a:r>
            <a:endParaRPr lang="en-US" sz="1600" dirty="0"/>
          </a:p>
        </p:txBody>
      </p:sp>
      <p:sp>
        <p:nvSpPr>
          <p:cNvPr id="14" name="e27_11"/>
          <p:cNvSpPr txBox="1"/>
          <p:nvPr/>
        </p:nvSpPr>
        <p:spPr>
          <a:xfrm>
            <a:off x="731520" y="5577840"/>
            <a:ext cx="10698480" cy="457200"/>
          </a:xfrm>
          <a:prstGeom prst="rect">
            <a:avLst/>
          </a:prstGeom>
          <a:noFill/>
          <a:ln/>
        </p:spPr>
        <p:txBody>
          <a:bodyPr wrap="square" lIns="0" tIns="0" rIns="0" bIns="0" rtlCol="0" anchor="t"/>
          <a:lstStyle/>
          <a:p>
            <a:pPr algn="ctr" indent="0" marL="0">
              <a:buNone/>
            </a:pPr>
            <a:r>
              <a:rPr lang="en-US" sz="2200" i="1" dirty="0">
                <a:solidFill>
                  <a:srgbClr val="FF7A1A"/>
                </a:solidFill>
                <a:latin typeface="Cambria" pitchFamily="34" charset="0"/>
                <a:ea typeface="Cambria" pitchFamily="34" charset="-122"/>
                <a:cs typeface="Cambria" pitchFamily="34" charset="-120"/>
              </a:rPr>
              <a:t>Diese Formen gibt es nur einmal. Du erkennst sie auch von hinten oder mit Schnee darauf.</a:t>
            </a:r>
            <a:endParaRPr lang="en-US" sz="22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600"/>
                                        <p:tgtEl>
                                          <p:spTgt spid="5"/>
                                        </p:tgtEl>
                                      </p:cBhvr>
                                    </p:animEffect>
                                  </p:childTnLst>
                                </p:cTn>
                              </p:par>
                            </p:childTnLst>
                          </p:cTn>
                        </p:par>
                        <p:par>
                          <p:cTn id="12" fill="hold">
                            <p:stCondLst>
                              <p:cond delay="1200"/>
                            </p:stCondLst>
                            <p:childTnLst>
                              <p:par>
                                <p:cTn id="13" presetID="53" presetClass="entr" presetSubtype="16"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600" fill="hold" decel="100000"/>
                                        <p:tgtEl>
                                          <p:spTgt spid="6"/>
                                        </p:tgtEl>
                                        <p:attrNameLst>
                                          <p:attrName>ppt_w</p:attrName>
                                        </p:attrNameLst>
                                      </p:cBhvr>
                                      <p:tavLst>
                                        <p:tav tm="0">
                                          <p:val>
                                            <p:strVal val="0"/>
                                          </p:val>
                                        </p:tav>
                                        <p:tav tm="100000">
                                          <p:val>
                                            <p:strVal val="#ppt_w"/>
                                          </p:val>
                                        </p:tav>
                                      </p:tavLst>
                                    </p:anim>
                                    <p:anim calcmode="lin" valueType="num">
                                      <p:cBhvr additive="base">
                                        <p:cTn id="16" dur="600" fill="hold" decel="100000"/>
                                        <p:tgtEl>
                                          <p:spTgt spid="6"/>
                                        </p:tgtEl>
                                        <p:attrNameLst>
                                          <p:attrName>ppt_h</p:attrName>
                                        </p:attrNameLst>
                                      </p:cBhvr>
                                      <p:tavLst>
                                        <p:tav tm="0">
                                          <p:val>
                                            <p:strVal val="0"/>
                                          </p:val>
                                        </p:tav>
                                        <p:tav tm="100000">
                                          <p:val>
                                            <p:strVal val="#ppt_h"/>
                                          </p:val>
                                        </p:tav>
                                      </p:tavLst>
                                    </p:anim>
                                    <p:animEffect transition="in" filter="fade">
                                      <p:cBhvr>
                                        <p:cTn id="17" dur="600"/>
                                        <p:tgtEl>
                                          <p:spTgt spid="6"/>
                                        </p:tgtEl>
                                      </p:cBhvr>
                                    </p:animEffect>
                                  </p:childTnLst>
                                </p:cTn>
                              </p:par>
                            </p:childTnLst>
                          </p:cTn>
                        </p:par>
                        <p:par>
                          <p:cTn id="18" fill="hold">
                            <p:stCondLst>
                              <p:cond delay="1800"/>
                            </p:stCondLst>
                            <p:childTnLst>
                              <p:par>
                                <p:cTn id="19" presetID="53" presetClass="entr" presetSubtype="16"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600" fill="hold" decel="100000"/>
                                        <p:tgtEl>
                                          <p:spTgt spid="7"/>
                                        </p:tgtEl>
                                        <p:attrNameLst>
                                          <p:attrName>ppt_w</p:attrName>
                                        </p:attrNameLst>
                                      </p:cBhvr>
                                      <p:tavLst>
                                        <p:tav tm="0">
                                          <p:val>
                                            <p:strVal val="0"/>
                                          </p:val>
                                        </p:tav>
                                        <p:tav tm="100000">
                                          <p:val>
                                            <p:strVal val="#ppt_w"/>
                                          </p:val>
                                        </p:tav>
                                      </p:tavLst>
                                    </p:anim>
                                    <p:anim calcmode="lin" valueType="num">
                                      <p:cBhvr additive="base">
                                        <p:cTn id="22" dur="600" fill="hold" decel="100000"/>
                                        <p:tgtEl>
                                          <p:spTgt spid="7"/>
                                        </p:tgtEl>
                                        <p:attrNameLst>
                                          <p:attrName>ppt_h</p:attrName>
                                        </p:attrNameLst>
                                      </p:cBhvr>
                                      <p:tavLst>
                                        <p:tav tm="0">
                                          <p:val>
                                            <p:strVal val="0"/>
                                          </p:val>
                                        </p:tav>
                                        <p:tav tm="100000">
                                          <p:val>
                                            <p:strVal val="#ppt_h"/>
                                          </p:val>
                                        </p:tav>
                                      </p:tavLst>
                                    </p:anim>
                                    <p:animEffect transition="in" filter="fade">
                                      <p:cBhvr>
                                        <p:cTn id="23" dur="6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800"/>
                                        <p:tgtEl>
                                          <p:spTgt spid="8"/>
                                        </p:tgtEl>
                                      </p:cBhvr>
                                    </p:animEffect>
                                    <p:anim calcmode="lin" valueType="num">
                                      <p:cBhvr additive="base">
                                        <p:cTn id="29"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0" dur="800" fill="hold" decel="100000"/>
                                        <p:tgtEl>
                                          <p:spTgt spid="8"/>
                                        </p:tgtEl>
                                        <p:attrNameLst>
                                          <p:attrName>ppt_y</p:attrName>
                                        </p:attrNameLst>
                                      </p:cBhvr>
                                      <p:tavLst>
                                        <p:tav tm="0">
                                          <p:val>
                                            <p:strVal val="#ppt_y+.1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800"/>
                                        <p:tgtEl>
                                          <p:spTgt spid="9"/>
                                        </p:tgtEl>
                                      </p:cBhvr>
                                    </p:animEffect>
                                    <p:anim calcmode="lin" valueType="num">
                                      <p:cBhvr additive="base">
                                        <p:cTn id="34"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35" dur="8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700" fill="hold"/>
                                        <p:tgtEl>
                                          <p:spTgt spid="10"/>
                                        </p:tgtEl>
                                        <p:attrNameLst>
                                          <p:attrName>ppt_x</p:attrName>
                                        </p:attrNameLst>
                                      </p:cBhvr>
                                      <p:tavLst>
                                        <p:tav tm="0">
                                          <p:val>
                                            <p:strVal val="#ppt_x"/>
                                          </p:val>
                                        </p:tav>
                                        <p:tav tm="100000">
                                          <p:val>
                                            <p:strVal val="#ppt_x"/>
                                          </p:val>
                                        </p:tav>
                                      </p:tavLst>
                                    </p:anim>
                                    <p:anim calcmode="lin" valueType="num">
                                      <p:cBhvr additive="base">
                                        <p:cTn id="41" dur="700" fill="hold" decel="100000"/>
                                        <p:tgtEl>
                                          <p:spTgt spid="10"/>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decel="100000"/>
                                        <p:tgtEl>
                                          <p:spTgt spid="11"/>
                                        </p:tgtEl>
                                        <p:attrNameLst>
                                          <p:attrName>ppt_y</p:attrName>
                                        </p:attrNameLst>
                                      </p:cBhvr>
                                      <p:tavLst>
                                        <p:tav tm="0">
                                          <p:val>
                                            <p:strVal val="1+#ppt_h/2"/>
                                          </p:val>
                                        </p:tav>
                                        <p:tav tm="100000">
                                          <p:val>
                                            <p:strVal val="#ppt_y"/>
                                          </p:val>
                                        </p:tav>
                                      </p:tavLst>
                                    </p:anim>
                                  </p:childTnLst>
                                </p:cTn>
                              </p:par>
                            </p:childTnLst>
                          </p:cTn>
                        </p:par>
                        <p:par>
                          <p:cTn id="46" fill="hold">
                            <p:stCondLst>
                              <p:cond delay="700"/>
                            </p:stCondLst>
                            <p:childTnLst>
                              <p:par>
                                <p:cTn id="47" presetID="10" presetClass="entr" presetSubtype="0" fill="hold" grpId="0"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600"/>
                                        <p:tgtEl>
                                          <p:spTgt spid="1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600"/>
                                        <p:tgtEl>
                                          <p:spTgt spid="13"/>
                                        </p:tgtEl>
                                      </p:cBhvr>
                                    </p:animEffect>
                                  </p:childTnLst>
                                </p:cTn>
                              </p:par>
                            </p:childTnLst>
                          </p:cTn>
                        </p:par>
                        <p:par>
                          <p:cTn id="53" fill="hold">
                            <p:stCondLst>
                              <p:cond delay="1300"/>
                            </p:stCondLst>
                            <p:childTnLst>
                              <p:par>
                                <p:cTn id="54" presetID="10" presetClass="entr" presetSubtype="0"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DIE ZEICHEN</a:t>
            </a:r>
            <a:endParaRPr lang="en-US" sz="1300" dirty="0"/>
          </a:p>
        </p:txBody>
      </p:sp>
      <p:sp>
        <p:nvSpPr>
          <p:cNvPr id="6" name="e2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Vorfahrt haben, Vorfahrt geben</a:t>
            </a:r>
            <a:endParaRPr lang="en-US" sz="4200" dirty="0"/>
          </a:p>
        </p:txBody>
      </p:sp>
      <p:sp>
        <p:nvSpPr>
          <p:cNvPr id="7" name="e28_3"/>
          <p:cNvSpPr txBox="1"/>
          <p:nvPr/>
        </p:nvSpPr>
        <p:spPr>
          <a:xfrm>
            <a:off x="731520" y="2240280"/>
            <a:ext cx="5212080" cy="365760"/>
          </a:xfrm>
          <a:prstGeom prst="rect">
            <a:avLst/>
          </a:prstGeom>
          <a:noFill/>
          <a:ln/>
        </p:spPr>
        <p:txBody>
          <a:bodyPr wrap="square" lIns="0" tIns="0" rIns="0" bIns="0" rtlCol="0" anchor="t"/>
          <a:lstStyle/>
          <a:p>
            <a:pPr algn="l" indent="0" marL="0">
              <a:buNone/>
            </a:pPr>
            <a:r>
              <a:rPr lang="en-US" sz="1500" b="1" spc="400" kern="0" dirty="0">
                <a:solidFill>
                  <a:srgbClr val="4CAF72"/>
                </a:solidFill>
                <a:latin typeface="Calibri" pitchFamily="34" charset="0"/>
                <a:ea typeface="Calibri" pitchFamily="34" charset="-122"/>
                <a:cs typeface="Calibri" pitchFamily="34" charset="-120"/>
              </a:rPr>
              <a:t>DU HAST VORFAHRT</a:t>
            </a:r>
            <a:endParaRPr lang="en-US" sz="1500" dirty="0"/>
          </a:p>
        </p:txBody>
      </p:sp>
      <p:sp>
        <p:nvSpPr>
          <p:cNvPr id="8" name="e28_4"/>
          <p:cNvSpPr txBox="1"/>
          <p:nvPr/>
        </p:nvSpPr>
        <p:spPr>
          <a:xfrm>
            <a:off x="6263640" y="2240280"/>
            <a:ext cx="5212080" cy="365760"/>
          </a:xfrm>
          <a:prstGeom prst="rect">
            <a:avLst/>
          </a:prstGeom>
          <a:noFill/>
          <a:ln/>
        </p:spPr>
        <p:txBody>
          <a:bodyPr wrap="square" lIns="0" tIns="0" rIns="0" bIns="0" rtlCol="0" anchor="t"/>
          <a:lstStyle/>
          <a:p>
            <a:pPr algn="l" indent="0" marL="0">
              <a:buNone/>
            </a:pPr>
            <a:r>
              <a:rPr lang="en-US" sz="1500" b="1" spc="400" kern="0" dirty="0">
                <a:solidFill>
                  <a:srgbClr val="FF4D4D"/>
                </a:solidFill>
                <a:latin typeface="Calibri" pitchFamily="34" charset="0"/>
                <a:ea typeface="Calibri" pitchFamily="34" charset="-122"/>
                <a:cs typeface="Calibri" pitchFamily="34" charset="-120"/>
              </a:rPr>
              <a:t>DU MUSST WARTEN</a:t>
            </a:r>
            <a:endParaRPr lang="en-US" sz="1500" dirty="0"/>
          </a:p>
        </p:txBody>
      </p:sp>
      <p:sp>
        <p:nvSpPr>
          <p:cNvPr id="9" name="e28_5"/>
          <p:cNvSpPr/>
          <p:nvPr/>
        </p:nvSpPr>
        <p:spPr>
          <a:xfrm>
            <a:off x="731520" y="2697480"/>
            <a:ext cx="5212080" cy="987552"/>
          </a:xfrm>
          <a:prstGeom prst="roundRect">
            <a:avLst>
              <a:gd name="adj" fmla="val 11111"/>
            </a:avLst>
          </a:prstGeom>
          <a:solidFill>
            <a:srgbClr val="12161E"/>
          </a:solidFill>
          <a:ln w="12700">
            <a:solidFill>
              <a:srgbClr val="2A3342"/>
            </a:solidFill>
            <a:prstDash val="solid"/>
          </a:ln>
        </p:spPr>
      </p:sp>
      <p:pic>
        <p:nvPicPr>
          <p:cNvPr id="10" name="e28_6" descr="Verkehrszeichen 301">    </p:cNvPr>
          <p:cNvPicPr>
            <a:picLocks noChangeAspect="1"/>
          </p:cNvPicPr>
          <p:nvPr/>
        </p:nvPicPr>
        <p:blipFill>
          <a:blip r:embed="rId2"/>
          <a:stretch>
            <a:fillRect/>
          </a:stretch>
        </p:blipFill>
        <p:spPr>
          <a:xfrm>
            <a:off x="914400" y="2825496"/>
            <a:ext cx="832539" cy="731520"/>
          </a:xfrm>
          <a:prstGeom prst="rect">
            <a:avLst/>
          </a:prstGeom>
        </p:spPr>
      </p:pic>
      <p:sp>
        <p:nvSpPr>
          <p:cNvPr id="11" name="e28_7"/>
          <p:cNvSpPr txBox="1"/>
          <p:nvPr/>
        </p:nvSpPr>
        <p:spPr>
          <a:xfrm>
            <a:off x="1965960" y="2807208"/>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a:t>
            </a:r>
            <a:endParaRPr lang="en-US" sz="2000" dirty="0"/>
          </a:p>
        </p:txBody>
      </p:sp>
      <p:sp>
        <p:nvSpPr>
          <p:cNvPr id="12" name="e28_8"/>
          <p:cNvSpPr txBox="1"/>
          <p:nvPr/>
        </p:nvSpPr>
        <p:spPr>
          <a:xfrm>
            <a:off x="1965960" y="3209544"/>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nur an der nächsten Kreuzung</a:t>
            </a:r>
            <a:endParaRPr lang="en-US" sz="1600" dirty="0"/>
          </a:p>
        </p:txBody>
      </p:sp>
      <p:sp>
        <p:nvSpPr>
          <p:cNvPr id="13" name="e28_9"/>
          <p:cNvSpPr/>
          <p:nvPr/>
        </p:nvSpPr>
        <p:spPr>
          <a:xfrm>
            <a:off x="731520" y="3813048"/>
            <a:ext cx="5212080" cy="987552"/>
          </a:xfrm>
          <a:prstGeom prst="roundRect">
            <a:avLst>
              <a:gd name="adj" fmla="val 11111"/>
            </a:avLst>
          </a:prstGeom>
          <a:solidFill>
            <a:srgbClr val="12161E"/>
          </a:solidFill>
          <a:ln w="12700">
            <a:solidFill>
              <a:srgbClr val="2A3342"/>
            </a:solidFill>
            <a:prstDash val="solid"/>
          </a:ln>
        </p:spPr>
      </p:sp>
      <p:pic>
        <p:nvPicPr>
          <p:cNvPr id="14" name="e28_10" descr="Verkehrszeichen 306">    </p:cNvPr>
          <p:cNvPicPr>
            <a:picLocks noChangeAspect="1"/>
          </p:cNvPicPr>
          <p:nvPr/>
        </p:nvPicPr>
        <p:blipFill>
          <a:blip r:embed="rId3"/>
          <a:stretch>
            <a:fillRect/>
          </a:stretch>
        </p:blipFill>
        <p:spPr>
          <a:xfrm>
            <a:off x="914400" y="3941064"/>
            <a:ext cx="731520" cy="731520"/>
          </a:xfrm>
          <a:prstGeom prst="rect">
            <a:avLst/>
          </a:prstGeom>
        </p:spPr>
      </p:pic>
      <p:sp>
        <p:nvSpPr>
          <p:cNvPr id="15" name="e28_11"/>
          <p:cNvSpPr txBox="1"/>
          <p:nvPr/>
        </p:nvSpPr>
        <p:spPr>
          <a:xfrm>
            <a:off x="1965960" y="3922776"/>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Vorfahrtstraße</a:t>
            </a:r>
            <a:endParaRPr lang="en-US" sz="2000" dirty="0"/>
          </a:p>
        </p:txBody>
      </p:sp>
      <p:sp>
        <p:nvSpPr>
          <p:cNvPr id="16" name="e28_12"/>
          <p:cNvSpPr txBox="1"/>
          <p:nvPr/>
        </p:nvSpPr>
        <p:spPr>
          <a:xfrm>
            <a:off x="1965960" y="4325112"/>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bis 205, 206 oder 307</a:t>
            </a:r>
            <a:endParaRPr lang="en-US" sz="1600" dirty="0"/>
          </a:p>
        </p:txBody>
      </p:sp>
      <p:sp>
        <p:nvSpPr>
          <p:cNvPr id="17" name="e28_13"/>
          <p:cNvSpPr/>
          <p:nvPr/>
        </p:nvSpPr>
        <p:spPr>
          <a:xfrm>
            <a:off x="731520" y="4928616"/>
            <a:ext cx="5212080" cy="987552"/>
          </a:xfrm>
          <a:prstGeom prst="roundRect">
            <a:avLst>
              <a:gd name="adj" fmla="val 11111"/>
            </a:avLst>
          </a:prstGeom>
          <a:solidFill>
            <a:srgbClr val="12161E"/>
          </a:solidFill>
          <a:ln w="12700">
            <a:solidFill>
              <a:srgbClr val="2A3342"/>
            </a:solidFill>
            <a:prstDash val="solid"/>
          </a:ln>
        </p:spPr>
      </p:sp>
      <p:pic>
        <p:nvPicPr>
          <p:cNvPr id="18" name="e28_14" descr="Verkehrszeichen 307">    </p:cNvPr>
          <p:cNvPicPr>
            <a:picLocks noChangeAspect="1"/>
          </p:cNvPicPr>
          <p:nvPr/>
        </p:nvPicPr>
        <p:blipFill>
          <a:blip r:embed="rId4"/>
          <a:stretch>
            <a:fillRect/>
          </a:stretch>
        </p:blipFill>
        <p:spPr>
          <a:xfrm>
            <a:off x="914400" y="5056632"/>
            <a:ext cx="731520" cy="731520"/>
          </a:xfrm>
          <a:prstGeom prst="rect">
            <a:avLst/>
          </a:prstGeom>
        </p:spPr>
      </p:pic>
      <p:sp>
        <p:nvSpPr>
          <p:cNvPr id="19" name="e28_15"/>
          <p:cNvSpPr txBox="1"/>
          <p:nvPr/>
        </p:nvSpPr>
        <p:spPr>
          <a:xfrm>
            <a:off x="1965960" y="5038344"/>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Ende der Vorfahrtstraße</a:t>
            </a:r>
            <a:endParaRPr lang="en-US" sz="2000" dirty="0"/>
          </a:p>
        </p:txBody>
      </p:sp>
      <p:sp>
        <p:nvSpPr>
          <p:cNvPr id="20" name="e28_16"/>
          <p:cNvSpPr/>
          <p:nvPr/>
        </p:nvSpPr>
        <p:spPr>
          <a:xfrm>
            <a:off x="6263640" y="2697480"/>
            <a:ext cx="5212080" cy="987552"/>
          </a:xfrm>
          <a:prstGeom prst="roundRect">
            <a:avLst>
              <a:gd name="adj" fmla="val 11111"/>
            </a:avLst>
          </a:prstGeom>
          <a:solidFill>
            <a:srgbClr val="12161E"/>
          </a:solidFill>
          <a:ln w="12700">
            <a:solidFill>
              <a:srgbClr val="2A3342"/>
            </a:solidFill>
            <a:prstDash val="solid"/>
          </a:ln>
        </p:spPr>
      </p:sp>
      <p:pic>
        <p:nvPicPr>
          <p:cNvPr id="21" name="e28_17" descr="Verkehrszeichen 205">    </p:cNvPr>
          <p:cNvPicPr>
            <a:picLocks noChangeAspect="1"/>
          </p:cNvPicPr>
          <p:nvPr/>
        </p:nvPicPr>
        <p:blipFill>
          <a:blip r:embed="rId5"/>
          <a:stretch>
            <a:fillRect/>
          </a:stretch>
        </p:blipFill>
        <p:spPr>
          <a:xfrm>
            <a:off x="6446520" y="2825496"/>
            <a:ext cx="832539" cy="731520"/>
          </a:xfrm>
          <a:prstGeom prst="rect">
            <a:avLst/>
          </a:prstGeom>
        </p:spPr>
      </p:pic>
      <p:sp>
        <p:nvSpPr>
          <p:cNvPr id="22" name="e28_18"/>
          <p:cNvSpPr txBox="1"/>
          <p:nvPr/>
        </p:nvSpPr>
        <p:spPr>
          <a:xfrm>
            <a:off x="7498080" y="2807208"/>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Vorfahrt gewähren</a:t>
            </a:r>
            <a:endParaRPr lang="en-US" sz="2000" dirty="0"/>
          </a:p>
        </p:txBody>
      </p:sp>
      <p:sp>
        <p:nvSpPr>
          <p:cNvPr id="23" name="e28_19"/>
          <p:cNvSpPr txBox="1"/>
          <p:nvPr/>
        </p:nvSpPr>
        <p:spPr>
          <a:xfrm>
            <a:off x="7498080" y="3209544"/>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warten, wenn nötig</a:t>
            </a:r>
            <a:endParaRPr lang="en-US" sz="1600" dirty="0"/>
          </a:p>
        </p:txBody>
      </p:sp>
      <p:sp>
        <p:nvSpPr>
          <p:cNvPr id="24" name="e28_20"/>
          <p:cNvSpPr/>
          <p:nvPr/>
        </p:nvSpPr>
        <p:spPr>
          <a:xfrm>
            <a:off x="6263640" y="3813048"/>
            <a:ext cx="5212080" cy="987552"/>
          </a:xfrm>
          <a:prstGeom prst="roundRect">
            <a:avLst>
              <a:gd name="adj" fmla="val 11111"/>
            </a:avLst>
          </a:prstGeom>
          <a:solidFill>
            <a:srgbClr val="12161E"/>
          </a:solidFill>
          <a:ln w="12700">
            <a:solidFill>
              <a:srgbClr val="2A3342"/>
            </a:solidFill>
            <a:prstDash val="solid"/>
          </a:ln>
        </p:spPr>
      </p:sp>
      <p:pic>
        <p:nvPicPr>
          <p:cNvPr id="25" name="e28_21" descr="Verkehrszeichen 206">    </p:cNvPr>
          <p:cNvPicPr>
            <a:picLocks noChangeAspect="1"/>
          </p:cNvPicPr>
          <p:nvPr/>
        </p:nvPicPr>
        <p:blipFill>
          <a:blip r:embed="rId6"/>
          <a:stretch>
            <a:fillRect/>
          </a:stretch>
        </p:blipFill>
        <p:spPr>
          <a:xfrm>
            <a:off x="6446520" y="3941064"/>
            <a:ext cx="731520" cy="731520"/>
          </a:xfrm>
          <a:prstGeom prst="rect">
            <a:avLst/>
          </a:prstGeom>
        </p:spPr>
      </p:pic>
      <p:sp>
        <p:nvSpPr>
          <p:cNvPr id="26" name="e28_22"/>
          <p:cNvSpPr txBox="1"/>
          <p:nvPr/>
        </p:nvSpPr>
        <p:spPr>
          <a:xfrm>
            <a:off x="7498080" y="3922776"/>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Halt. Vorfahrt gewähren</a:t>
            </a:r>
            <a:endParaRPr lang="en-US" sz="2000" dirty="0"/>
          </a:p>
        </p:txBody>
      </p:sp>
      <p:sp>
        <p:nvSpPr>
          <p:cNvPr id="27" name="e28_23"/>
          <p:cNvSpPr txBox="1"/>
          <p:nvPr/>
        </p:nvSpPr>
        <p:spPr>
          <a:xfrm>
            <a:off x="7498080" y="4325112"/>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immer anhalten</a:t>
            </a:r>
            <a:endParaRPr lang="en-US" sz="1600" dirty="0"/>
          </a:p>
        </p:txBody>
      </p:sp>
      <p:sp>
        <p:nvSpPr>
          <p:cNvPr id="28" name="e28_24"/>
          <p:cNvSpPr/>
          <p:nvPr/>
        </p:nvSpPr>
        <p:spPr>
          <a:xfrm>
            <a:off x="6263640" y="4928616"/>
            <a:ext cx="5212080" cy="987552"/>
          </a:xfrm>
          <a:prstGeom prst="roundRect">
            <a:avLst>
              <a:gd name="adj" fmla="val 11111"/>
            </a:avLst>
          </a:prstGeom>
          <a:solidFill>
            <a:srgbClr val="12161E"/>
          </a:solidFill>
          <a:ln w="12700">
            <a:solidFill>
              <a:srgbClr val="2A3342"/>
            </a:solidFill>
            <a:prstDash val="solid"/>
          </a:ln>
        </p:spPr>
      </p:sp>
      <p:pic>
        <p:nvPicPr>
          <p:cNvPr id="29" name="e28_25" descr="Verkehrszeichen 102">    </p:cNvPr>
          <p:cNvPicPr>
            <a:picLocks noChangeAspect="1"/>
          </p:cNvPicPr>
          <p:nvPr/>
        </p:nvPicPr>
        <p:blipFill>
          <a:blip r:embed="rId7"/>
          <a:stretch>
            <a:fillRect/>
          </a:stretch>
        </p:blipFill>
        <p:spPr>
          <a:xfrm>
            <a:off x="6446520" y="5056632"/>
            <a:ext cx="832539" cy="731520"/>
          </a:xfrm>
          <a:prstGeom prst="rect">
            <a:avLst/>
          </a:prstGeom>
        </p:spPr>
      </p:pic>
      <p:sp>
        <p:nvSpPr>
          <p:cNvPr id="30" name="e28_26"/>
          <p:cNvSpPr txBox="1"/>
          <p:nvPr/>
        </p:nvSpPr>
        <p:spPr>
          <a:xfrm>
            <a:off x="7498080" y="5038344"/>
            <a:ext cx="3840480" cy="411480"/>
          </a:xfrm>
          <a:prstGeom prst="rect">
            <a:avLst/>
          </a:prstGeom>
          <a:noFill/>
          <a:ln/>
        </p:spPr>
        <p:txBody>
          <a:bodyPr wrap="square" lIns="0" tIns="0" rIns="0" bIns="0" rtlCol="0" anchor="t"/>
          <a:lstStyle/>
          <a:p>
            <a:pPr algn="l" indent="0" marL="0">
              <a:buNone/>
            </a:pPr>
            <a:r>
              <a:rPr lang="en-US" sz="2000" b="1" dirty="0">
                <a:solidFill>
                  <a:srgbClr val="F5F2EC"/>
                </a:solidFill>
                <a:latin typeface="Calibri" pitchFamily="34" charset="0"/>
                <a:ea typeface="Calibri" pitchFamily="34" charset="-122"/>
                <a:cs typeface="Calibri" pitchFamily="34" charset="-120"/>
              </a:rPr>
              <a:t>Kreuzung</a:t>
            </a:r>
            <a:endParaRPr lang="en-US" sz="2000" dirty="0"/>
          </a:p>
        </p:txBody>
      </p:sp>
      <p:sp>
        <p:nvSpPr>
          <p:cNvPr id="31" name="e28_27"/>
          <p:cNvSpPr txBox="1"/>
          <p:nvPr/>
        </p:nvSpPr>
        <p:spPr>
          <a:xfrm>
            <a:off x="7498080" y="5440680"/>
            <a:ext cx="3840480" cy="36576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Vorfahrt von rechts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42"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650"/>
                                        <p:tgtEl>
                                          <p:spTgt spid="8"/>
                                        </p:tgtEl>
                                      </p:cBhvr>
                                    </p:animEffect>
                                    <p:anim calcmode="lin" valueType="num">
                                      <p:cBhvr additive="base">
                                        <p:cTn id="23" dur="650" fill="hold" decel="100000"/>
                                        <p:tgtEl>
                                          <p:spTgt spid="8"/>
                                        </p:tgtEl>
                                        <p:attrNameLst>
                                          <p:attrName>ppt_x</p:attrName>
                                        </p:attrNameLst>
                                      </p:cBhvr>
                                      <p:tavLst>
                                        <p:tav tm="0">
                                          <p:val>
                                            <p:strVal val="#ppt_x"/>
                                          </p:val>
                                        </p:tav>
                                        <p:tav tm="100000">
                                          <p:val>
                                            <p:strVal val="#ppt_x"/>
                                          </p:val>
                                        </p:tav>
                                      </p:tavLst>
                                    </p:anim>
                                    <p:anim calcmode="lin" valueType="num">
                                      <p:cBhvr additive="base">
                                        <p:cTn id="24" dur="650" fill="hold" decel="100000"/>
                                        <p:tgtEl>
                                          <p:spTgt spid="8"/>
                                        </p:tgtEl>
                                        <p:attrNameLst>
                                          <p:attrName>ppt_y</p:attrName>
                                        </p:attrNameLst>
                                      </p:cBhvr>
                                      <p:tavLst>
                                        <p:tav tm="0">
                                          <p:val>
                                            <p:strVal val="#ppt_y+.05"/>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decel="100000"/>
                                        <p:tgtEl>
                                          <p:spTgt spid="9"/>
                                        </p:tgtEl>
                                        <p:attrNameLst>
                                          <p:attrName>ppt_y</p:attrName>
                                        </p:attrNameLst>
                                      </p:cBhvr>
                                      <p:tavLst>
                                        <p:tav tm="0">
                                          <p:val>
                                            <p:strVal val="1+#ppt_h/2"/>
                                          </p:val>
                                        </p:tav>
                                        <p:tav tm="100000">
                                          <p:val>
                                            <p:strVal val="#ppt_y"/>
                                          </p:val>
                                        </p:tav>
                                      </p:tavLst>
                                    </p:anim>
                                  </p:childTnLst>
                                </p:cTn>
                              </p:par>
                              <p:par>
                                <p:cTn id="31" presetID="53" presetClass="entr" presetSubtype="16"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350" fill="hold" decel="100000"/>
                                        <p:tgtEl>
                                          <p:spTgt spid="10"/>
                                        </p:tgtEl>
                                        <p:attrNameLst>
                                          <p:attrName>ppt_w</p:attrName>
                                        </p:attrNameLst>
                                      </p:cBhvr>
                                      <p:tavLst>
                                        <p:tav tm="0">
                                          <p:val>
                                            <p:strVal val="0"/>
                                          </p:val>
                                        </p:tav>
                                        <p:tav tm="100000">
                                          <p:val>
                                            <p:strVal val="#ppt_w"/>
                                          </p:val>
                                        </p:tav>
                                      </p:tavLst>
                                    </p:anim>
                                    <p:anim calcmode="lin" valueType="num">
                                      <p:cBhvr additive="base">
                                        <p:cTn id="34" dur="350" fill="hold" decel="100000"/>
                                        <p:tgtEl>
                                          <p:spTgt spid="10"/>
                                        </p:tgtEl>
                                        <p:attrNameLst>
                                          <p:attrName>ppt_h</p:attrName>
                                        </p:attrNameLst>
                                      </p:cBhvr>
                                      <p:tavLst>
                                        <p:tav tm="0">
                                          <p:val>
                                            <p:strVal val="0"/>
                                          </p:val>
                                        </p:tav>
                                        <p:tav tm="100000">
                                          <p:val>
                                            <p:strVal val="#ppt_h"/>
                                          </p:val>
                                        </p:tav>
                                      </p:tavLst>
                                    </p:anim>
                                    <p:animEffect transition="in" filter="fade">
                                      <p:cBhvr>
                                        <p:cTn id="35" dur="35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450"/>
                                        <p:tgtEl>
                                          <p:spTgt spid="11"/>
                                        </p:tgtEl>
                                      </p:cBhvr>
                                    </p:animEffect>
                                    <p:anim calcmode="lin" valueType="num">
                                      <p:cBhvr additive="base">
                                        <p:cTn id="41" dur="450" fill="hold" decel="100000"/>
                                        <p:tgtEl>
                                          <p:spTgt spid="11"/>
                                        </p:tgtEl>
                                        <p:attrNameLst>
                                          <p:attrName>ppt_x</p:attrName>
                                        </p:attrNameLst>
                                      </p:cBhvr>
                                      <p:tavLst>
                                        <p:tav tm="0">
                                          <p:val>
                                            <p:strVal val="#ppt_x"/>
                                          </p:val>
                                        </p:tav>
                                        <p:tav tm="100000">
                                          <p:val>
                                            <p:strVal val="#ppt_x"/>
                                          </p:val>
                                        </p:tav>
                                      </p:tavLst>
                                    </p:anim>
                                    <p:anim calcmode="lin" valueType="num">
                                      <p:cBhvr additive="base">
                                        <p:cTn id="42" dur="450" fill="hold" decel="100000"/>
                                        <p:tgtEl>
                                          <p:spTgt spid="11"/>
                                        </p:tgtEl>
                                        <p:attrNameLst>
                                          <p:attrName>ppt_y</p:attrName>
                                        </p:attrNameLst>
                                      </p:cBhvr>
                                      <p:tavLst>
                                        <p:tav tm="0">
                                          <p:val>
                                            <p:strVal val="#ppt_y+.18"/>
                                          </p:val>
                                        </p:tav>
                                        <p:tav tm="100000">
                                          <p:val>
                                            <p:strVal val="#ppt_y"/>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450"/>
                                        <p:tgtEl>
                                          <p:spTgt spid="12"/>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500" fill="hold"/>
                                        <p:tgtEl>
                                          <p:spTgt spid="13"/>
                                        </p:tgtEl>
                                        <p:attrNameLst>
                                          <p:attrName>ppt_x</p:attrName>
                                        </p:attrNameLst>
                                      </p:cBhvr>
                                      <p:tavLst>
                                        <p:tav tm="0">
                                          <p:val>
                                            <p:strVal val="#ppt_x"/>
                                          </p:val>
                                        </p:tav>
                                        <p:tav tm="100000">
                                          <p:val>
                                            <p:strVal val="#ppt_x"/>
                                          </p:val>
                                        </p:tav>
                                      </p:tavLst>
                                    </p:anim>
                                    <p:anim calcmode="lin" valueType="num">
                                      <p:cBhvr additive="base">
                                        <p:cTn id="51" dur="500" fill="hold" decel="100000"/>
                                        <p:tgtEl>
                                          <p:spTgt spid="13"/>
                                        </p:tgtEl>
                                        <p:attrNameLst>
                                          <p:attrName>ppt_y</p:attrName>
                                        </p:attrNameLst>
                                      </p:cBhvr>
                                      <p:tavLst>
                                        <p:tav tm="0">
                                          <p:val>
                                            <p:strVal val="1+#ppt_h/2"/>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50" fill="hold" decel="100000"/>
                                        <p:tgtEl>
                                          <p:spTgt spid="14"/>
                                        </p:tgtEl>
                                        <p:attrNameLst>
                                          <p:attrName>ppt_w</p:attrName>
                                        </p:attrNameLst>
                                      </p:cBhvr>
                                      <p:tavLst>
                                        <p:tav tm="0">
                                          <p:val>
                                            <p:strVal val="0"/>
                                          </p:val>
                                        </p:tav>
                                        <p:tav tm="100000">
                                          <p:val>
                                            <p:strVal val="#ppt_w"/>
                                          </p:val>
                                        </p:tav>
                                      </p:tavLst>
                                    </p:anim>
                                    <p:anim calcmode="lin" valueType="num">
                                      <p:cBhvr additive="base">
                                        <p:cTn id="55" dur="350" fill="hold" decel="100000"/>
                                        <p:tgtEl>
                                          <p:spTgt spid="14"/>
                                        </p:tgtEl>
                                        <p:attrNameLst>
                                          <p:attrName>ppt_h</p:attrName>
                                        </p:attrNameLst>
                                      </p:cBhvr>
                                      <p:tavLst>
                                        <p:tav tm="0">
                                          <p:val>
                                            <p:strVal val="0"/>
                                          </p:val>
                                        </p:tav>
                                        <p:tav tm="100000">
                                          <p:val>
                                            <p:strVal val="#ppt_h"/>
                                          </p:val>
                                        </p:tav>
                                      </p:tavLst>
                                    </p:anim>
                                    <p:animEffect transition="in" filter="fade">
                                      <p:cBhvr>
                                        <p:cTn id="56" dur="35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45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ppt_x"/>
                                          </p:val>
                                        </p:tav>
                                        <p:tav tm="100000">
                                          <p:val>
                                            <p:strVal val="#ppt_x"/>
                                          </p:val>
                                        </p:tav>
                                      </p:tavLst>
                                    </p:anim>
                                    <p:anim calcmode="lin" valueType="num">
                                      <p:cBhvr additive="base">
                                        <p:cTn id="72" dur="500" fill="hold" decel="100000"/>
                                        <p:tgtEl>
                                          <p:spTgt spid="17"/>
                                        </p:tgtEl>
                                        <p:attrNameLst>
                                          <p:attrName>ppt_y</p:attrName>
                                        </p:attrNameLst>
                                      </p:cBhvr>
                                      <p:tavLst>
                                        <p:tav tm="0">
                                          <p:val>
                                            <p:strVal val="1+#ppt_h/2"/>
                                          </p:val>
                                        </p:tav>
                                        <p:tav tm="100000">
                                          <p:val>
                                            <p:strVal val="#ppt_y"/>
                                          </p:val>
                                        </p:tav>
                                      </p:tavLst>
                                    </p:anim>
                                  </p:childTnLst>
                                </p:cTn>
                              </p:par>
                              <p:par>
                                <p:cTn id="73" presetID="53" presetClass="entr" presetSubtype="16" fill="hold"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350" fill="hold" decel="100000"/>
                                        <p:tgtEl>
                                          <p:spTgt spid="18"/>
                                        </p:tgtEl>
                                        <p:attrNameLst>
                                          <p:attrName>ppt_w</p:attrName>
                                        </p:attrNameLst>
                                      </p:cBhvr>
                                      <p:tavLst>
                                        <p:tav tm="0">
                                          <p:val>
                                            <p:strVal val="0"/>
                                          </p:val>
                                        </p:tav>
                                        <p:tav tm="100000">
                                          <p:val>
                                            <p:strVal val="#ppt_w"/>
                                          </p:val>
                                        </p:tav>
                                      </p:tavLst>
                                    </p:anim>
                                    <p:anim calcmode="lin" valueType="num">
                                      <p:cBhvr additive="base">
                                        <p:cTn id="76" dur="350" fill="hold" decel="100000"/>
                                        <p:tgtEl>
                                          <p:spTgt spid="18"/>
                                        </p:tgtEl>
                                        <p:attrNameLst>
                                          <p:attrName>ppt_h</p:attrName>
                                        </p:attrNameLst>
                                      </p:cBhvr>
                                      <p:tavLst>
                                        <p:tav tm="0">
                                          <p:val>
                                            <p:strVal val="0"/>
                                          </p:val>
                                        </p:tav>
                                        <p:tav tm="100000">
                                          <p:val>
                                            <p:strVal val="#ppt_h"/>
                                          </p:val>
                                        </p:tav>
                                      </p:tavLst>
                                    </p:anim>
                                    <p:animEffect transition="in" filter="fade">
                                      <p:cBhvr>
                                        <p:cTn id="77" dur="35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50"/>
                                        <p:tgtEl>
                                          <p:spTgt spid="19"/>
                                        </p:tgtEl>
                                      </p:cBhvr>
                                    </p:animEffect>
                                    <p:anim calcmode="lin" valueType="num">
                                      <p:cBhvr additive="base">
                                        <p:cTn id="83" dur="450" fill="hold" decel="100000"/>
                                        <p:tgtEl>
                                          <p:spTgt spid="19"/>
                                        </p:tgtEl>
                                        <p:attrNameLst>
                                          <p:attrName>ppt_x</p:attrName>
                                        </p:attrNameLst>
                                      </p:cBhvr>
                                      <p:tavLst>
                                        <p:tav tm="0">
                                          <p:val>
                                            <p:strVal val="#ppt_x"/>
                                          </p:val>
                                        </p:tav>
                                        <p:tav tm="100000">
                                          <p:val>
                                            <p:strVal val="#ppt_x"/>
                                          </p:val>
                                        </p:tav>
                                      </p:tavLst>
                                    </p:anim>
                                    <p:anim calcmode="lin" valueType="num">
                                      <p:cBhvr additive="base">
                                        <p:cTn id="84" dur="450" fill="hold" decel="100000"/>
                                        <p:tgtEl>
                                          <p:spTgt spid="19"/>
                                        </p:tgtEl>
                                        <p:attrNameLst>
                                          <p:attrName>ppt_y</p:attrName>
                                        </p:attrNameLst>
                                      </p:cBhvr>
                                      <p:tavLst>
                                        <p:tav tm="0">
                                          <p:val>
                                            <p:strVal val="#ppt_y+.18"/>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decel="100000"/>
                                        <p:tgtEl>
                                          <p:spTgt spid="20"/>
                                        </p:tgtEl>
                                        <p:attrNameLst>
                                          <p:attrName>ppt_y</p:attrName>
                                        </p:attrNameLst>
                                      </p:cBhvr>
                                      <p:tavLst>
                                        <p:tav tm="0">
                                          <p:val>
                                            <p:strVal val="1+#ppt_h/2"/>
                                          </p:val>
                                        </p:tav>
                                        <p:tav tm="100000">
                                          <p:val>
                                            <p:strVal val="#ppt_y"/>
                                          </p:val>
                                        </p:tav>
                                      </p:tavLst>
                                    </p:anim>
                                  </p:childTnLst>
                                </p:cTn>
                              </p:par>
                              <p:par>
                                <p:cTn id="91" presetID="53" presetClass="entr" presetSubtype="16"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350" fill="hold" decel="100000"/>
                                        <p:tgtEl>
                                          <p:spTgt spid="21"/>
                                        </p:tgtEl>
                                        <p:attrNameLst>
                                          <p:attrName>ppt_w</p:attrName>
                                        </p:attrNameLst>
                                      </p:cBhvr>
                                      <p:tavLst>
                                        <p:tav tm="0">
                                          <p:val>
                                            <p:strVal val="0"/>
                                          </p:val>
                                        </p:tav>
                                        <p:tav tm="100000">
                                          <p:val>
                                            <p:strVal val="#ppt_w"/>
                                          </p:val>
                                        </p:tav>
                                      </p:tavLst>
                                    </p:anim>
                                    <p:anim calcmode="lin" valueType="num">
                                      <p:cBhvr additive="base">
                                        <p:cTn id="94" dur="350" fill="hold" decel="100000"/>
                                        <p:tgtEl>
                                          <p:spTgt spid="21"/>
                                        </p:tgtEl>
                                        <p:attrNameLst>
                                          <p:attrName>ppt_h</p:attrName>
                                        </p:attrNameLst>
                                      </p:cBhvr>
                                      <p:tavLst>
                                        <p:tav tm="0">
                                          <p:val>
                                            <p:strVal val="0"/>
                                          </p:val>
                                        </p:tav>
                                        <p:tav tm="100000">
                                          <p:val>
                                            <p:strVal val="#ppt_h"/>
                                          </p:val>
                                        </p:tav>
                                      </p:tavLst>
                                    </p:anim>
                                    <p:animEffect transition="in" filter="fade">
                                      <p:cBhvr>
                                        <p:cTn id="95" dur="35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fade">
                                      <p:cBhvr>
                                        <p:cTn id="100" dur="450"/>
                                        <p:tgtEl>
                                          <p:spTgt spid="22"/>
                                        </p:tgtEl>
                                      </p:cBhvr>
                                    </p:animEffect>
                                    <p:anim calcmode="lin" valueType="num">
                                      <p:cBhvr additive="base">
                                        <p:cTn id="101"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102" dur="450" fill="hold" decel="100000"/>
                                        <p:tgtEl>
                                          <p:spTgt spid="22"/>
                                        </p:tgtEl>
                                        <p:attrNameLst>
                                          <p:attrName>ppt_y</p:attrName>
                                        </p:attrNameLst>
                                      </p:cBhvr>
                                      <p:tavLst>
                                        <p:tav tm="0">
                                          <p:val>
                                            <p:strVal val="#ppt_y+.18"/>
                                          </p:val>
                                        </p:tav>
                                        <p:tav tm="100000">
                                          <p:val>
                                            <p:strVal val="#ppt_y"/>
                                          </p:val>
                                        </p:tav>
                                      </p:tavLst>
                                    </p:anim>
                                  </p:childTnLst>
                                </p:cTn>
                              </p:par>
                              <p:par>
                                <p:cTn id="103" presetID="10" presetClass="entr" presetSubtype="0" fill="hold" grpId="0" nodeType="with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450"/>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ppt_x</p:attrName>
                                        </p:attrNameLst>
                                      </p:cBhvr>
                                      <p:tavLst>
                                        <p:tav tm="0">
                                          <p:val>
                                            <p:strVal val="#ppt_x"/>
                                          </p:val>
                                        </p:tav>
                                        <p:tav tm="100000">
                                          <p:val>
                                            <p:strVal val="#ppt_x"/>
                                          </p:val>
                                        </p:tav>
                                      </p:tavLst>
                                    </p:anim>
                                    <p:anim calcmode="lin" valueType="num">
                                      <p:cBhvr additive="base">
                                        <p:cTn id="111" dur="500" fill="hold" decel="100000"/>
                                        <p:tgtEl>
                                          <p:spTgt spid="24"/>
                                        </p:tgtEl>
                                        <p:attrNameLst>
                                          <p:attrName>ppt_y</p:attrName>
                                        </p:attrNameLst>
                                      </p:cBhvr>
                                      <p:tavLst>
                                        <p:tav tm="0">
                                          <p:val>
                                            <p:strVal val="1+#ppt_h/2"/>
                                          </p:val>
                                        </p:tav>
                                        <p:tav tm="100000">
                                          <p:val>
                                            <p:strVal val="#ppt_y"/>
                                          </p:val>
                                        </p:tav>
                                      </p:tavLst>
                                    </p:anim>
                                  </p:childTnLst>
                                </p:cTn>
                              </p:par>
                              <p:par>
                                <p:cTn id="112" presetID="53" presetClass="entr" presetSubtype="16" fill="hold" nodeType="withEffect">
                                  <p:stCondLst>
                                    <p:cond delay="0"/>
                                  </p:stCondLst>
                                  <p:childTnLst>
                                    <p:set>
                                      <p:cBhvr>
                                        <p:cTn id="113" dur="1" fill="hold">
                                          <p:stCondLst>
                                            <p:cond delay="0"/>
                                          </p:stCondLst>
                                        </p:cTn>
                                        <p:tgtEl>
                                          <p:spTgt spid="25"/>
                                        </p:tgtEl>
                                        <p:attrNameLst>
                                          <p:attrName>style.visibility</p:attrName>
                                        </p:attrNameLst>
                                      </p:cBhvr>
                                      <p:to>
                                        <p:strVal val="visible"/>
                                      </p:to>
                                    </p:set>
                                    <p:anim calcmode="lin" valueType="num">
                                      <p:cBhvr additive="base">
                                        <p:cTn id="114" dur="350" fill="hold" decel="100000"/>
                                        <p:tgtEl>
                                          <p:spTgt spid="25"/>
                                        </p:tgtEl>
                                        <p:attrNameLst>
                                          <p:attrName>ppt_w</p:attrName>
                                        </p:attrNameLst>
                                      </p:cBhvr>
                                      <p:tavLst>
                                        <p:tav tm="0">
                                          <p:val>
                                            <p:strVal val="0"/>
                                          </p:val>
                                        </p:tav>
                                        <p:tav tm="100000">
                                          <p:val>
                                            <p:strVal val="#ppt_w"/>
                                          </p:val>
                                        </p:tav>
                                      </p:tavLst>
                                    </p:anim>
                                    <p:anim calcmode="lin" valueType="num">
                                      <p:cBhvr additive="base">
                                        <p:cTn id="115" dur="350" fill="hold" decel="100000"/>
                                        <p:tgtEl>
                                          <p:spTgt spid="25"/>
                                        </p:tgtEl>
                                        <p:attrNameLst>
                                          <p:attrName>ppt_h</p:attrName>
                                        </p:attrNameLst>
                                      </p:cBhvr>
                                      <p:tavLst>
                                        <p:tav tm="0">
                                          <p:val>
                                            <p:strVal val="0"/>
                                          </p:val>
                                        </p:tav>
                                        <p:tav tm="100000">
                                          <p:val>
                                            <p:strVal val="#ppt_h"/>
                                          </p:val>
                                        </p:tav>
                                      </p:tavLst>
                                    </p:anim>
                                    <p:animEffect transition="in" filter="fade">
                                      <p:cBhvr>
                                        <p:cTn id="116" dur="350"/>
                                        <p:tgtEl>
                                          <p:spTgt spid="25"/>
                                        </p:tgtEl>
                                      </p:cBhvr>
                                    </p:animEffect>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450"/>
                                        <p:tgtEl>
                                          <p:spTgt spid="26"/>
                                        </p:tgtEl>
                                      </p:cBhvr>
                                    </p:animEffect>
                                    <p:anim calcmode="lin" valueType="num">
                                      <p:cBhvr additive="base">
                                        <p:cTn id="122" dur="450" fill="hold" decel="100000"/>
                                        <p:tgtEl>
                                          <p:spTgt spid="26"/>
                                        </p:tgtEl>
                                        <p:attrNameLst>
                                          <p:attrName>ppt_x</p:attrName>
                                        </p:attrNameLst>
                                      </p:cBhvr>
                                      <p:tavLst>
                                        <p:tav tm="0">
                                          <p:val>
                                            <p:strVal val="#ppt_x"/>
                                          </p:val>
                                        </p:tav>
                                        <p:tav tm="100000">
                                          <p:val>
                                            <p:strVal val="#ppt_x"/>
                                          </p:val>
                                        </p:tav>
                                      </p:tavLst>
                                    </p:anim>
                                    <p:anim calcmode="lin" valueType="num">
                                      <p:cBhvr additive="base">
                                        <p:cTn id="123" dur="450" fill="hold" decel="100000"/>
                                        <p:tgtEl>
                                          <p:spTgt spid="26"/>
                                        </p:tgtEl>
                                        <p:attrNameLst>
                                          <p:attrName>ppt_y</p:attrName>
                                        </p:attrNameLst>
                                      </p:cBhvr>
                                      <p:tavLst>
                                        <p:tav tm="0">
                                          <p:val>
                                            <p:strVal val="#ppt_y+.18"/>
                                          </p:val>
                                        </p:tav>
                                        <p:tav tm="100000">
                                          <p:val>
                                            <p:strVal val="#ppt_y"/>
                                          </p:val>
                                        </p:tav>
                                      </p:tavLst>
                                    </p:anim>
                                  </p:childTnLst>
                                </p:cTn>
                              </p:par>
                              <p:par>
                                <p:cTn id="124" presetID="10" presetClass="entr" presetSubtype="0" fill="hold" grpId="0" nodeType="with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450"/>
                                        <p:tgtEl>
                                          <p:spTgt spid="27"/>
                                        </p:tgtEl>
                                      </p:cBhvr>
                                    </p:animEffect>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grpId="0" nodeType="clickEffect">
                                  <p:stCondLst>
                                    <p:cond delay="0"/>
                                  </p:stCondLst>
                                  <p:childTnLst>
                                    <p:set>
                                      <p:cBhvr>
                                        <p:cTn id="130" dur="1" fill="hold">
                                          <p:stCondLst>
                                            <p:cond delay="0"/>
                                          </p:stCondLst>
                                        </p:cTn>
                                        <p:tgtEl>
                                          <p:spTgt spid="28"/>
                                        </p:tgtEl>
                                        <p:attrNameLst>
                                          <p:attrName>style.visibility</p:attrName>
                                        </p:attrNameLst>
                                      </p:cBhvr>
                                      <p:to>
                                        <p:strVal val="visible"/>
                                      </p:to>
                                    </p:set>
                                    <p:anim calcmode="lin" valueType="num">
                                      <p:cBhvr additive="base">
                                        <p:cTn id="131" dur="500" fill="hold"/>
                                        <p:tgtEl>
                                          <p:spTgt spid="28"/>
                                        </p:tgtEl>
                                        <p:attrNameLst>
                                          <p:attrName>ppt_x</p:attrName>
                                        </p:attrNameLst>
                                      </p:cBhvr>
                                      <p:tavLst>
                                        <p:tav tm="0">
                                          <p:val>
                                            <p:strVal val="#ppt_x"/>
                                          </p:val>
                                        </p:tav>
                                        <p:tav tm="100000">
                                          <p:val>
                                            <p:strVal val="#ppt_x"/>
                                          </p:val>
                                        </p:tav>
                                      </p:tavLst>
                                    </p:anim>
                                    <p:anim calcmode="lin" valueType="num">
                                      <p:cBhvr additive="base">
                                        <p:cTn id="132" dur="500" fill="hold" decel="100000"/>
                                        <p:tgtEl>
                                          <p:spTgt spid="28"/>
                                        </p:tgtEl>
                                        <p:attrNameLst>
                                          <p:attrName>ppt_y</p:attrName>
                                        </p:attrNameLst>
                                      </p:cBhvr>
                                      <p:tavLst>
                                        <p:tav tm="0">
                                          <p:val>
                                            <p:strVal val="1+#ppt_h/2"/>
                                          </p:val>
                                        </p:tav>
                                        <p:tav tm="100000">
                                          <p:val>
                                            <p:strVal val="#ppt_y"/>
                                          </p:val>
                                        </p:tav>
                                      </p:tavLst>
                                    </p:anim>
                                  </p:childTnLst>
                                </p:cTn>
                              </p:par>
                              <p:par>
                                <p:cTn id="133" presetID="53" presetClass="entr" presetSubtype="16" fill="hold" nodeType="withEffect">
                                  <p:stCondLst>
                                    <p:cond delay="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350" fill="hold" decel="100000"/>
                                        <p:tgtEl>
                                          <p:spTgt spid="29"/>
                                        </p:tgtEl>
                                        <p:attrNameLst>
                                          <p:attrName>ppt_w</p:attrName>
                                        </p:attrNameLst>
                                      </p:cBhvr>
                                      <p:tavLst>
                                        <p:tav tm="0">
                                          <p:val>
                                            <p:strVal val="0"/>
                                          </p:val>
                                        </p:tav>
                                        <p:tav tm="100000">
                                          <p:val>
                                            <p:strVal val="#ppt_w"/>
                                          </p:val>
                                        </p:tav>
                                      </p:tavLst>
                                    </p:anim>
                                    <p:anim calcmode="lin" valueType="num">
                                      <p:cBhvr additive="base">
                                        <p:cTn id="136" dur="350" fill="hold" decel="100000"/>
                                        <p:tgtEl>
                                          <p:spTgt spid="29"/>
                                        </p:tgtEl>
                                        <p:attrNameLst>
                                          <p:attrName>ppt_h</p:attrName>
                                        </p:attrNameLst>
                                      </p:cBhvr>
                                      <p:tavLst>
                                        <p:tav tm="0">
                                          <p:val>
                                            <p:strVal val="0"/>
                                          </p:val>
                                        </p:tav>
                                        <p:tav tm="100000">
                                          <p:val>
                                            <p:strVal val="#ppt_h"/>
                                          </p:val>
                                        </p:tav>
                                      </p:tavLst>
                                    </p:anim>
                                    <p:animEffect transition="in" filter="fade">
                                      <p:cBhvr>
                                        <p:cTn id="137" dur="350"/>
                                        <p:tgtEl>
                                          <p:spTgt spid="29"/>
                                        </p:tgtEl>
                                      </p:cBhvr>
                                    </p:animEffect>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grpId="0" nodeType="click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450"/>
                                        <p:tgtEl>
                                          <p:spTgt spid="30"/>
                                        </p:tgtEl>
                                      </p:cBhvr>
                                    </p:animEffect>
                                    <p:anim calcmode="lin" valueType="num">
                                      <p:cBhvr additive="base">
                                        <p:cTn id="143" dur="450" fill="hold" decel="100000"/>
                                        <p:tgtEl>
                                          <p:spTgt spid="30"/>
                                        </p:tgtEl>
                                        <p:attrNameLst>
                                          <p:attrName>ppt_x</p:attrName>
                                        </p:attrNameLst>
                                      </p:cBhvr>
                                      <p:tavLst>
                                        <p:tav tm="0">
                                          <p:val>
                                            <p:strVal val="#ppt_x"/>
                                          </p:val>
                                        </p:tav>
                                        <p:tav tm="100000">
                                          <p:val>
                                            <p:strVal val="#ppt_x"/>
                                          </p:val>
                                        </p:tav>
                                      </p:tavLst>
                                    </p:anim>
                                    <p:anim calcmode="lin" valueType="num">
                                      <p:cBhvr additive="base">
                                        <p:cTn id="144" dur="450" fill="hold" decel="100000"/>
                                        <p:tgtEl>
                                          <p:spTgt spid="30"/>
                                        </p:tgtEl>
                                        <p:attrNameLst>
                                          <p:attrName>ppt_y</p:attrName>
                                        </p:attrNameLst>
                                      </p:cBhvr>
                                      <p:tavLst>
                                        <p:tav tm="0">
                                          <p:val>
                                            <p:strVal val="#ppt_y+.18"/>
                                          </p:val>
                                        </p:tav>
                                        <p:tav tm="100000">
                                          <p:val>
                                            <p:strVal val="#ppt_y"/>
                                          </p:val>
                                        </p:tav>
                                      </p:tavLst>
                                    </p:anim>
                                  </p:childTnLst>
                                </p:cTn>
                              </p:par>
                              <p:par>
                                <p:cTn id="145" presetID="10" presetClass="entr" presetSubtype="0" fill="hold" grpId="0" nodeType="withEffect">
                                  <p:stCondLst>
                                    <p:cond delay="0"/>
                                  </p:stCondLst>
                                  <p:childTnLst>
                                    <p:set>
                                      <p:cBhvr>
                                        <p:cTn id="146" dur="1" fill="hold">
                                          <p:stCondLst>
                                            <p:cond delay="0"/>
                                          </p:stCondLst>
                                        </p:cTn>
                                        <p:tgtEl>
                                          <p:spTgt spid="31"/>
                                        </p:tgtEl>
                                        <p:attrNameLst>
                                          <p:attrName>style.visibility</p:attrName>
                                        </p:attrNameLst>
                                      </p:cBhvr>
                                      <p:to>
                                        <p:strVal val="visible"/>
                                      </p:to>
                                    </p:set>
                                    <p:animEffect transition="in" filter="fade">
                                      <p:cBhvr>
                                        <p:cTn id="147"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2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ZEICHEN 206</a:t>
            </a:r>
            <a:endParaRPr lang="en-US" sz="1300" dirty="0"/>
          </a:p>
        </p:txBody>
      </p:sp>
      <p:sp>
        <p:nvSpPr>
          <p:cNvPr id="6" name="e29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Stopp heißt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Stopp.</a:t>
            </a:r>
            <a:endParaRPr lang="en-US" sz="5200" dirty="0"/>
          </a:p>
        </p:txBody>
      </p:sp>
      <p:sp>
        <p:nvSpPr>
          <p:cNvPr id="7" name="e29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Anhalten, auch wenn alles frei ist.</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Die Räder stehen still. Rollen reicht nicht.</a:t>
            </a:r>
            <a:endParaRPr lang="en-US" sz="1900" dirty="0"/>
          </a:p>
        </p:txBody>
      </p:sp>
      <p:sp>
        <p:nvSpPr>
          <p:cNvPr id="8" name="e29_4"/>
          <p:cNvSpPr/>
          <p:nvPr/>
        </p:nvSpPr>
        <p:spPr>
          <a:xfrm>
            <a:off x="7863840" y="4430268"/>
            <a:ext cx="891540" cy="64008"/>
          </a:xfrm>
          <a:prstGeom prst="rect">
            <a:avLst/>
          </a:prstGeom>
          <a:solidFill>
            <a:srgbClr val="D9DEE5"/>
          </a:solidFill>
          <a:ln/>
        </p:spPr>
      </p:sp>
      <p:pic>
        <p:nvPicPr>
          <p:cNvPr id="9" name="e29_5" descr="Verkehrszeichen 206">    </p:cNvPr>
          <p:cNvPicPr>
            <a:picLocks noChangeAspect="1"/>
          </p:cNvPicPr>
          <p:nvPr/>
        </p:nvPicPr>
        <p:blipFill>
          <a:blip r:embed="rId2"/>
          <a:stretch>
            <a:fillRect/>
          </a:stretch>
        </p:blipFill>
        <p:spPr>
          <a:xfrm>
            <a:off x="8865108" y="4549140"/>
            <a:ext cx="502920" cy="502920"/>
          </a:xfrm>
          <a:prstGeom prst="rect">
            <a:avLst/>
          </a:prstGeom>
        </p:spPr>
      </p:pic>
      <p:pic>
        <p:nvPicPr>
          <p:cNvPr id="10" name="e29_6" descr="/tmp/claude-0/-home-user-Fahrlehrer-Kompass-/11378f77-94a8-55e9-a697-0f3efd4c20b9/scratchpad/bau/art/car_du.png">    </p:cNvPr>
          <p:cNvPicPr>
            <a:picLocks noChangeAspect="1"/>
          </p:cNvPicPr>
          <p:nvPr/>
        </p:nvPicPr>
        <p:blipFill>
          <a:blip r:embed="rId3"/>
          <a:stretch>
            <a:fillRect/>
          </a:stretch>
        </p:blipFill>
        <p:spPr>
          <a:xfrm>
            <a:off x="7939278" y="5294376"/>
            <a:ext cx="740664" cy="1481328"/>
          </a:xfrm>
          <a:prstGeom prst="rect">
            <a:avLst/>
          </a:prstGeom>
        </p:spPr>
      </p:pic>
      <p:pic>
        <p:nvPicPr>
          <p:cNvPr id="11" name="e29_7" descr="/tmp/claude-0/-home-user-Fahrlehrer-Kompass-/11378f77-94a8-55e9-a697-0f3efd4c20b9/scratchpad/bau/art/blink_R.png">    </p:cNvPr>
          <p:cNvPicPr>
            <a:picLocks noChangeAspect="1"/>
          </p:cNvPicPr>
          <p:nvPr/>
        </p:nvPicPr>
        <p:blipFill>
          <a:blip r:embed="rId4"/>
          <a:stretch>
            <a:fillRect/>
          </a:stretch>
        </p:blipFill>
        <p:spPr>
          <a:xfrm>
            <a:off x="7939278" y="5294376"/>
            <a:ext cx="740664" cy="1481328"/>
          </a:xfrm>
          <a:prstGeom prst="rect">
            <a:avLst/>
          </a:prstGeom>
        </p:spPr>
      </p:pic>
      <p:pic>
        <p:nvPicPr>
          <p:cNvPr id="12" name="e29_8" descr="/tmp/claude-0/-home-user-Fahrlehrer-Kompass-/11378f77-94a8-55e9-a697-0f3efd4c20b9/scratchpad/bau/art/car_weiss.png">    </p:cNvPr>
          <p:cNvPicPr>
            <a:picLocks noChangeAspect="1"/>
          </p:cNvPicPr>
          <p:nvPr/>
        </p:nvPicPr>
        <p:blipFill>
          <a:blip r:embed="rId5"/>
          <a:stretch>
            <a:fillRect/>
          </a:stretch>
        </p:blipFill>
        <p:spPr>
          <a:xfrm rot="5400000">
            <a:off x="5847588" y="3134106"/>
            <a:ext cx="740664" cy="1481328"/>
          </a:xfrm>
          <a:prstGeom prst="rect">
            <a:avLst/>
          </a:prstGeom>
        </p:spPr>
      </p:pic>
      <p:pic>
        <p:nvPicPr>
          <p:cNvPr id="13" name="e29_9" descr="/tmp/claude-0/-home-user-Fahrlehrer-Kompass-/11378f77-94a8-55e9-a697-0f3efd4c20b9/scratchpad/bau/art/brake.png">    </p:cNvPr>
          <p:cNvPicPr>
            <a:picLocks noChangeAspect="1"/>
          </p:cNvPicPr>
          <p:nvPr/>
        </p:nvPicPr>
        <p:blipFill>
          <a:blip r:embed="rId6"/>
          <a:stretch>
            <a:fillRect/>
          </a:stretch>
        </p:blipFill>
        <p:spPr>
          <a:xfrm>
            <a:off x="7939278" y="4448556"/>
            <a:ext cx="740664" cy="1481328"/>
          </a:xfrm>
          <a:prstGeom prst="rect">
            <a:avLst/>
          </a:prstGeom>
        </p:spPr>
      </p:pic>
      <p:sp>
        <p:nvSpPr>
          <p:cNvPr id="14" name="e29_10"/>
          <p:cNvSpPr txBox="1"/>
          <p:nvPr/>
        </p:nvSpPr>
        <p:spPr>
          <a:xfrm rot="-180000">
            <a:off x="731520" y="4343400"/>
            <a:ext cx="347472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Räder stehen still!</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50"/>
                                        <p:tgtEl>
                                          <p:spTgt spid="11"/>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accel="40000" decel="40000">
                                  <p:stCondLst>
                                    <p:cond delay="0"/>
                                  </p:stCondLst>
                                  <p:childTnLst>
                                    <p:animMotion origin="layout" path="M 0 0 C 0 -0.0411 0 -0.0822 0 -0.1233 E" pathEditMode="relative" rAng="0" ptsTypes="">
                                      <p:cBhvr>
                                        <p:cTn id="34" dur="925" fill="hold"/>
                                        <p:tgtEl>
                                          <p:spTgt spid="10"/>
                                        </p:tgtEl>
                                        <p:attrNameLst>
                                          <p:attrName>ppt_x</p:attrName>
                                          <p:attrName>ppt_y</p:attrName>
                                        </p:attrNameLst>
                                      </p:cBhvr>
                                      <p:rCtr x="0" y="0"/>
                                    </p:animMotion>
                                  </p:childTnLst>
                                </p:cTn>
                              </p:par>
                              <p:par>
                                <p:cTn id="35" presetID="0" presetClass="path" presetSubtype="0" fill="hold" nodeType="withEffect" accel="40000" decel="40000">
                                  <p:stCondLst>
                                    <p:cond delay="0"/>
                                  </p:stCondLst>
                                  <p:childTnLst>
                                    <p:animMotion origin="layout" path="M 0 0 C 0 -0.0411 0 -0.0822 0 -0.1233 E" pathEditMode="relative" rAng="0" ptsTypes="">
                                      <p:cBhvr>
                                        <p:cTn id="36" dur="925" fill="hold"/>
                                        <p:tgtEl>
                                          <p:spTgt spid="11"/>
                                        </p:tgtEl>
                                        <p:attrNameLst>
                                          <p:attrName>ppt_x</p:attrName>
                                          <p:attrName>ppt_y</p:attrName>
                                        </p:attrNameLst>
                                      </p:cBhvr>
                                      <p:rCtr x="0" y="0"/>
                                    </p:animMotion>
                                  </p:childTnLst>
                                </p:cTn>
                              </p:par>
                            </p:childTnLst>
                          </p:cTn>
                        </p:par>
                        <p:par>
                          <p:cTn id="37" fill="hold">
                            <p:stCondLst>
                              <p:cond delay="925"/>
                            </p:stCondLst>
                            <p:childTnLst>
                              <p:par>
                                <p:cTn id="38" presetID="10" presetClass="entr" presetSubtype="0"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50"/>
                                        <p:tgtEl>
                                          <p:spTgt spid="13"/>
                                        </p:tgtEl>
                                      </p:cBhvr>
                                    </p:animEffect>
                                  </p:childTnLst>
                                </p:cTn>
                              </p:par>
                              <p:par>
                                <p:cTn id="41" presetID="53" presetClass="entr" presetSubtype="32"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44" dur="380" fill="hold" accel="60000"/>
                                        <p:tgtEl>
                                          <p:spTgt spid="14"/>
                                        </p:tgtEl>
                                        <p:attrNameLst>
                                          <p:attrName>ppt_h</p:attrName>
                                        </p:attrNameLst>
                                      </p:cBhvr>
                                      <p:tavLst>
                                        <p:tav tm="0">
                                          <p:val>
                                            <p:strVal val="#ppt_h*2.2"/>
                                          </p:val>
                                        </p:tav>
                                        <p:tav tm="100000">
                                          <p:val>
                                            <p:strVal val="#ppt_h"/>
                                          </p:val>
                                        </p:tav>
                                      </p:tavLst>
                                    </p:anim>
                                    <p:animEffect transition="in" filter="fade">
                                      <p:cBhvr>
                                        <p:cTn id="45" dur="228"/>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0" presetClass="path" presetSubtype="0" fill="hold" nodeType="clickEffect" accel="40000" decel="40000">
                                  <p:stCondLst>
                                    <p:cond delay="0"/>
                                  </p:stCondLst>
                                  <p:childTnLst>
                                    <p:animMotion origin="layout" path="M 0 0 C 0.175 0 0.35 0 0.525 0 E" pathEditMode="relative" rAng="0" ptsTypes="">
                                      <p:cBhvr>
                                        <p:cTn id="49" dur="4118" fill="hold"/>
                                        <p:tgtEl>
                                          <p:spTgt spid="12"/>
                                        </p:tgtEl>
                                        <p:attrNameLst>
                                          <p:attrName>ppt_x</p:attrName>
                                          <p:attrName>ppt_y</p:attrName>
                                        </p:attrNameLst>
                                      </p:cBhvr>
                                      <p:rCtr x="0" y="0"/>
                                    </p:animMotion>
                                  </p:childTnLst>
                                </p:cTn>
                              </p:par>
                            </p:childTnLst>
                          </p:cTn>
                        </p:par>
                        <p:par>
                          <p:cTn id="50" fill="hold">
                            <p:stCondLst>
                              <p:cond delay="4118"/>
                            </p:stCondLst>
                            <p:childTnLst>
                              <p:par>
                                <p:cTn id="51" presetID="10" presetClass="exit" presetSubtype="0" fill="hold" nodeType="afterEffect">
                                  <p:stCondLst>
                                    <p:cond delay="0"/>
                                  </p:stCondLst>
                                  <p:childTnLst>
                                    <p:animEffect transition="out" filter="fade">
                                      <p:cBhvr>
                                        <p:cTn id="52" dur="350"/>
                                        <p:tgtEl>
                                          <p:spTgt spid="12"/>
                                        </p:tgtEl>
                                      </p:cBhvr>
                                    </p:animEffect>
                                    <p:set>
                                      <p:cBhvr>
                                        <p:cTn id="53" dur="1" fill="hold">
                                          <p:stCondLst>
                                            <p:cond delay="349"/>
                                          </p:stCondLst>
                                        </p:cTn>
                                        <p:tgtEl>
                                          <p:spTgt spid="12"/>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nodeType="clickEffect">
                                  <p:stCondLst>
                                    <p:cond delay="0"/>
                                  </p:stCondLst>
                                  <p:childTnLst>
                                    <p:animEffect transition="out" filter="fade">
                                      <p:cBhvr>
                                        <p:cTn id="57" dur="200"/>
                                        <p:tgtEl>
                                          <p:spTgt spid="13"/>
                                        </p:tgtEl>
                                      </p:cBhvr>
                                    </p:animEffect>
                                    <p:set>
                                      <p:cBhvr>
                                        <p:cTn id="58" dur="1" fill="hold">
                                          <p:stCondLst>
                                            <p:cond delay="199"/>
                                          </p:stCondLst>
                                        </p:cTn>
                                        <p:tgtEl>
                                          <p:spTgt spid="13"/>
                                        </p:tgtEl>
                                        <p:attrNameLst>
                                          <p:attrName>style.visibility</p:attrName>
                                        </p:attrNameLst>
                                      </p:cBhvr>
                                      <p:to>
                                        <p:strVal val="hidden"/>
                                      </p:to>
                                    </p:set>
                                  </p:childTnLst>
                                </p:cTn>
                              </p:par>
                              <p:par>
                                <p:cTn id="59" presetID="0" presetClass="path" presetSubtype="0" fill="hold" nodeType="withEffect" accel="50000">
                                  <p:stCondLst>
                                    <p:cond delay="0"/>
                                  </p:stCondLst>
                                  <p:childTnLst>
                                    <p:animMotion origin="layout" path="M 0 -0.1233 C 0 -0.1517 0 -0.18 0 -0.2083 E" pathEditMode="relative" rAng="0" ptsTypes="">
                                      <p:cBhvr>
                                        <p:cTn id="60" dur="375" fill="hold"/>
                                        <p:tgtEl>
                                          <p:spTgt spid="10"/>
                                        </p:tgtEl>
                                        <p:attrNameLst>
                                          <p:attrName>ppt_x</p:attrName>
                                          <p:attrName>ppt_y</p:attrName>
                                        </p:attrNameLst>
                                      </p:cBhvr>
                                      <p:rCtr x="0" y="0"/>
                                    </p:animMotion>
                                  </p:childTnLst>
                                </p:cTn>
                              </p:par>
                              <p:par>
                                <p:cTn id="61" presetID="0" presetClass="path" presetSubtype="0" fill="hold" nodeType="withEffect" accel="50000">
                                  <p:stCondLst>
                                    <p:cond delay="0"/>
                                  </p:stCondLst>
                                  <p:childTnLst>
                                    <p:animMotion origin="layout" path="M 0 -0.1233 C 0 -0.1517 0 -0.18 0 -0.2083 E" pathEditMode="relative" rAng="0" ptsTypes="">
                                      <p:cBhvr>
                                        <p:cTn id="62" dur="375" fill="hold"/>
                                        <p:tgtEl>
                                          <p:spTgt spid="11"/>
                                        </p:tgtEl>
                                        <p:attrNameLst>
                                          <p:attrName>ppt_x</p:attrName>
                                          <p:attrName>ppt_y</p:attrName>
                                        </p:attrNameLst>
                                      </p:cBhvr>
                                      <p:rCtr x="0" y="0"/>
                                    </p:animMotion>
                                  </p:childTnLst>
                                </p:cTn>
                              </p:par>
                            </p:childTnLst>
                          </p:cTn>
                        </p:par>
                        <p:par>
                          <p:cTn id="63" fill="hold">
                            <p:stCondLst>
                              <p:cond delay="375"/>
                            </p:stCondLst>
                            <p:childTnLst>
                              <p:par>
                                <p:cTn id="64" presetID="0" presetClass="path" presetSubtype="0" fill="hold" nodeType="afterEffect">
                                  <p:stCondLst>
                                    <p:cond delay="0"/>
                                  </p:stCondLst>
                                  <p:childTnLst>
                                    <p:animMotion origin="layout" path="M 0 -0.2083 C 0 -0.2672 0.0269 -0.315 0.06 -0.315 E" pathEditMode="relative" rAng="0" ptsTypes="">
                                      <p:cBhvr>
                                        <p:cTn id="65" dur="739" fill="hold"/>
                                        <p:tgtEl>
                                          <p:spTgt spid="10"/>
                                        </p:tgtEl>
                                        <p:attrNameLst>
                                          <p:attrName>ppt_x</p:attrName>
                                          <p:attrName>ppt_y</p:attrName>
                                        </p:attrNameLst>
                                      </p:cBhvr>
                                      <p:rCtr x="0" y="0"/>
                                    </p:animMotion>
                                  </p:childTnLst>
                                </p:cTn>
                              </p:par>
                              <p:par>
                                <p:cTn id="66" presetID="8" presetClass="emph" presetSubtype="0" fill="hold" nodeType="withEffect">
                                  <p:stCondLst>
                                    <p:cond delay="0"/>
                                  </p:stCondLst>
                                  <p:childTnLst>
                                    <p:animRot by="5400000">
                                      <p:cBhvr>
                                        <p:cTn id="67" dur="739" fill="hold"/>
                                        <p:tgtEl>
                                          <p:spTgt spid="10"/>
                                        </p:tgtEl>
                                        <p:attrNameLst>
                                          <p:attrName>r</p:attrName>
                                        </p:attrNameLst>
                                      </p:cBhvr>
                                    </p:animRot>
                                  </p:childTnLst>
                                </p:cTn>
                              </p:par>
                              <p:par>
                                <p:cTn id="68" presetID="0" presetClass="path" presetSubtype="0" fill="hold" nodeType="withEffect">
                                  <p:stCondLst>
                                    <p:cond delay="0"/>
                                  </p:stCondLst>
                                  <p:childTnLst>
                                    <p:animMotion origin="layout" path="M 0 -0.2083 C 0 -0.2672 0.0269 -0.315 0.06 -0.315 E" pathEditMode="relative" rAng="0" ptsTypes="">
                                      <p:cBhvr>
                                        <p:cTn id="69" dur="739" fill="hold"/>
                                        <p:tgtEl>
                                          <p:spTgt spid="11"/>
                                        </p:tgtEl>
                                        <p:attrNameLst>
                                          <p:attrName>ppt_x</p:attrName>
                                          <p:attrName>ppt_y</p:attrName>
                                        </p:attrNameLst>
                                      </p:cBhvr>
                                      <p:rCtr x="0" y="0"/>
                                    </p:animMotion>
                                  </p:childTnLst>
                                </p:cTn>
                              </p:par>
                              <p:par>
                                <p:cTn id="70" presetID="8" presetClass="emph" presetSubtype="0" fill="hold" nodeType="withEffect">
                                  <p:stCondLst>
                                    <p:cond delay="0"/>
                                  </p:stCondLst>
                                  <p:childTnLst>
                                    <p:animRot by="5400000">
                                      <p:cBhvr>
                                        <p:cTn id="71" dur="739" fill="hold"/>
                                        <p:tgtEl>
                                          <p:spTgt spid="11"/>
                                        </p:tgtEl>
                                        <p:attrNameLst>
                                          <p:attrName>r</p:attrName>
                                        </p:attrNameLst>
                                      </p:cBhvr>
                                    </p:animRot>
                                  </p:childTnLst>
                                </p:cTn>
                              </p:par>
                            </p:childTnLst>
                          </p:cTn>
                        </p:par>
                        <p:par>
                          <p:cTn id="72" fill="hold">
                            <p:stCondLst>
                              <p:cond delay="1114"/>
                            </p:stCondLst>
                            <p:childTnLst>
                              <p:par>
                                <p:cTn id="73" presetID="0" presetClass="path" presetSubtype="0" fill="hold" nodeType="afterEffect" decel="50000">
                                  <p:stCondLst>
                                    <p:cond delay="0"/>
                                  </p:stCondLst>
                                  <p:childTnLst>
                                    <p:animMotion origin="layout" path="M 0.06 -0.315 C 0.14 -0.315 0.22 -0.315 0.3 -0.315 E" pathEditMode="relative" rAng="0" ptsTypes="">
                                      <p:cBhvr>
                                        <p:cTn id="74" dur="1882" fill="hold"/>
                                        <p:tgtEl>
                                          <p:spTgt spid="10"/>
                                        </p:tgtEl>
                                        <p:attrNameLst>
                                          <p:attrName>ppt_x</p:attrName>
                                          <p:attrName>ppt_y</p:attrName>
                                        </p:attrNameLst>
                                      </p:cBhvr>
                                      <p:rCtr x="0" y="0"/>
                                    </p:animMotion>
                                  </p:childTnLst>
                                </p:cTn>
                              </p:par>
                              <p:par>
                                <p:cTn id="75" presetID="0" presetClass="path" presetSubtype="0" fill="hold" nodeType="withEffect" decel="50000">
                                  <p:stCondLst>
                                    <p:cond delay="0"/>
                                  </p:stCondLst>
                                  <p:childTnLst>
                                    <p:animMotion origin="layout" path="M 0.06 -0.315 C 0.14 -0.315 0.22 -0.315 0.3 -0.315 E" pathEditMode="relative" rAng="0" ptsTypes="">
                                      <p:cBhvr>
                                        <p:cTn id="76" dur="1882" fill="hold"/>
                                        <p:tgtEl>
                                          <p:spTgt spid="11"/>
                                        </p:tgtEl>
                                        <p:attrNameLst>
                                          <p:attrName>ppt_x</p:attrName>
                                          <p:attrName>ppt_y</p:attrName>
                                        </p:attrNameLst>
                                      </p:cBhvr>
                                      <p:rCtr x="0" y="0"/>
                                    </p:animMotion>
                                  </p:childTnLst>
                                </p:cTn>
                              </p:par>
                            </p:childTnLst>
                          </p:cTn>
                        </p:par>
                        <p:par>
                          <p:cTn id="77" fill="hold">
                            <p:stCondLst>
                              <p:cond delay="2996"/>
                            </p:stCondLst>
                            <p:childTnLst>
                              <p:par>
                                <p:cTn id="78" presetID="10" presetClass="exit" presetSubtype="0" fill="hold" nodeType="afterEffect">
                                  <p:stCondLst>
                                    <p:cond delay="0"/>
                                  </p:stCondLst>
                                  <p:childTnLst>
                                    <p:animEffect transition="out" filter="fade">
                                      <p:cBhvr>
                                        <p:cTn id="79" dur="350"/>
                                        <p:tgtEl>
                                          <p:spTgt spid="10"/>
                                        </p:tgtEl>
                                      </p:cBhvr>
                                    </p:animEffect>
                                    <p:set>
                                      <p:cBhvr>
                                        <p:cTn id="80" dur="1" fill="hold">
                                          <p:stCondLst>
                                            <p:cond delay="349"/>
                                          </p:stCondLst>
                                        </p:cTn>
                                        <p:tgtEl>
                                          <p:spTgt spid="10"/>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350"/>
                                        <p:tgtEl>
                                          <p:spTgt spid="11"/>
                                        </p:tgtEl>
                                      </p:cBhvr>
                                    </p:animEffect>
                                    <p:set>
                                      <p:cBhvr>
                                        <p:cTn id="83" dur="1" fill="hold">
                                          <p:stCondLst>
                                            <p:cond delay="34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WENN EINER NICHT SCHAUT</a:t>
            </a:r>
            <a:endParaRPr lang="en-US" sz="1300" dirty="0"/>
          </a:p>
        </p:txBody>
      </p:sp>
      <p:sp>
        <p:nvSpPr>
          <p:cNvPr id="6" name="e30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Was passiert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dann?</a:t>
            </a:r>
            <a:endParaRPr lang="en-US" sz="5200" dirty="0"/>
          </a:p>
        </p:txBody>
      </p:sp>
      <p:pic>
        <p:nvPicPr>
          <p:cNvPr id="7" name="e30_3" descr="Verkehrszeichen 306">    </p:cNvPr>
          <p:cNvPicPr>
            <a:picLocks noChangeAspect="1"/>
          </p:cNvPicPr>
          <p:nvPr/>
        </p:nvPicPr>
        <p:blipFill>
          <a:blip r:embed="rId2"/>
          <a:stretch>
            <a:fillRect/>
          </a:stretch>
        </p:blipFill>
        <p:spPr>
          <a:xfrm>
            <a:off x="9340596" y="4503420"/>
            <a:ext cx="457200" cy="457200"/>
          </a:xfrm>
          <a:prstGeom prst="rect">
            <a:avLst/>
          </a:prstGeom>
        </p:spPr>
      </p:pic>
      <p:pic>
        <p:nvPicPr>
          <p:cNvPr id="8" name="e30_4" descr="Verkehrszeichen 205">    </p:cNvPr>
          <p:cNvPicPr>
            <a:picLocks noChangeAspect="1"/>
          </p:cNvPicPr>
          <p:nvPr/>
        </p:nvPicPr>
        <p:blipFill>
          <a:blip r:embed="rId3"/>
          <a:stretch>
            <a:fillRect/>
          </a:stretch>
        </p:blipFill>
        <p:spPr>
          <a:xfrm>
            <a:off x="8938260" y="1970532"/>
            <a:ext cx="520337" cy="457200"/>
          </a:xfrm>
          <a:prstGeom prst="rect">
            <a:avLst/>
          </a:prstGeom>
        </p:spPr>
      </p:pic>
      <p:pic>
        <p:nvPicPr>
          <p:cNvPr id="9" name="e30_5" descr="/tmp/claude-0/-home-user-Fahrlehrer-Kompass-/11378f77-94a8-55e9-a697-0f3efd4c20b9/scratchpad/bau/art/car_du.png">    </p:cNvPr>
          <p:cNvPicPr>
            <a:picLocks noChangeAspect="1"/>
          </p:cNvPicPr>
          <p:nvPr/>
        </p:nvPicPr>
        <p:blipFill>
          <a:blip r:embed="rId4"/>
          <a:stretch>
            <a:fillRect/>
          </a:stretch>
        </p:blipFill>
        <p:spPr>
          <a:xfrm>
            <a:off x="7939278" y="4334256"/>
            <a:ext cx="740664" cy="1481328"/>
          </a:xfrm>
          <a:prstGeom prst="rect">
            <a:avLst/>
          </a:prstGeom>
        </p:spPr>
      </p:pic>
      <p:pic>
        <p:nvPicPr>
          <p:cNvPr id="10" name="e30_6" descr="/tmp/claude-0/-home-user-Fahrlehrer-Kompass-/11378f77-94a8-55e9-a697-0f3efd4c20b9/scratchpad/bau/art/car_blau.png">    </p:cNvPr>
          <p:cNvPicPr>
            <a:picLocks noChangeAspect="1"/>
          </p:cNvPicPr>
          <p:nvPr/>
        </p:nvPicPr>
        <p:blipFill>
          <a:blip r:embed="rId5"/>
          <a:stretch>
            <a:fillRect/>
          </a:stretch>
        </p:blipFill>
        <p:spPr>
          <a:xfrm rot="16200000">
            <a:off x="9139428" y="2242566"/>
            <a:ext cx="740664" cy="1481328"/>
          </a:xfrm>
          <a:prstGeom prst="rect">
            <a:avLst/>
          </a:prstGeom>
        </p:spPr>
      </p:pic>
      <p:sp>
        <p:nvSpPr>
          <p:cNvPr id="11" name="e30_7"/>
          <p:cNvSpPr txBox="1"/>
          <p:nvPr/>
        </p:nvSpPr>
        <p:spPr>
          <a:xfrm>
            <a:off x="9610344" y="2196846"/>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pic>
        <p:nvPicPr>
          <p:cNvPr id="12" name="e30_8" descr="/tmp/claude-0/-home-user-Fahrlehrer-Kompass-/11378f77-94a8-55e9-a697-0f3efd4c20b9/scratchpad/bau/art/ov_crash.png">    </p:cNvPr>
          <p:cNvPicPr>
            <a:picLocks noChangeAspect="1"/>
          </p:cNvPicPr>
          <p:nvPr/>
        </p:nvPicPr>
        <p:blipFill>
          <a:blip r:embed="rId6"/>
          <a:stretch>
            <a:fillRect/>
          </a:stretch>
        </p:blipFill>
        <p:spPr>
          <a:xfrm>
            <a:off x="8001000" y="2606040"/>
            <a:ext cx="1005840" cy="1005840"/>
          </a:xfrm>
          <a:prstGeom prst="rect">
            <a:avLst/>
          </a:prstGeom>
        </p:spPr>
      </p:pic>
      <p:sp>
        <p:nvSpPr>
          <p:cNvPr id="13" name="e30_9"/>
          <p:cNvSpPr/>
          <p:nvPr/>
        </p:nvSpPr>
        <p:spPr>
          <a:xfrm>
            <a:off x="0" y="0"/>
            <a:ext cx="12191695" cy="6858000"/>
          </a:xfrm>
          <a:prstGeom prst="rect">
            <a:avLst/>
          </a:prstGeom>
          <a:solidFill>
            <a:srgbClr val="FF1E1E">
              <a:alpha val="45000"/>
            </a:srgbClr>
          </a:solidFill>
          <a:ln/>
        </p:spPr>
      </p:sp>
      <p:sp>
        <p:nvSpPr>
          <p:cNvPr id="14" name="e30_10"/>
          <p:cNvSpPr/>
          <p:nvPr/>
        </p:nvSpPr>
        <p:spPr>
          <a:xfrm>
            <a:off x="731520" y="3154680"/>
            <a:ext cx="4480560" cy="548640"/>
          </a:xfrm>
          <a:prstGeom prst="roundRect">
            <a:avLst>
              <a:gd name="adj" fmla="val 16667"/>
            </a:avLst>
          </a:prstGeom>
          <a:solidFill>
            <a:srgbClr val="12161E"/>
          </a:solidFill>
          <a:ln w="12700">
            <a:solidFill>
              <a:srgbClr val="3A2A2A"/>
            </a:solidFill>
            <a:prstDash val="solid"/>
          </a:ln>
        </p:spPr>
      </p:sp>
      <p:sp>
        <p:nvSpPr>
          <p:cNvPr id="15" name="e30_11"/>
          <p:cNvSpPr txBox="1"/>
          <p:nvPr/>
        </p:nvSpPr>
        <p:spPr>
          <a:xfrm>
            <a:off x="914400" y="3154680"/>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Vorfahrt missachtet</a:t>
            </a:r>
            <a:endParaRPr lang="en-US" sz="1700" dirty="0"/>
          </a:p>
        </p:txBody>
      </p:sp>
      <p:sp>
        <p:nvSpPr>
          <p:cNvPr id="16" name="e30_12"/>
          <p:cNvSpPr txBox="1"/>
          <p:nvPr/>
        </p:nvSpPr>
        <p:spPr>
          <a:xfrm>
            <a:off x="3108960" y="3154680"/>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25 €</a:t>
            </a:r>
            <a:endParaRPr lang="en-US" sz="1800" dirty="0"/>
          </a:p>
        </p:txBody>
      </p:sp>
      <p:sp>
        <p:nvSpPr>
          <p:cNvPr id="17" name="e30_13"/>
          <p:cNvSpPr/>
          <p:nvPr/>
        </p:nvSpPr>
        <p:spPr>
          <a:xfrm>
            <a:off x="731520" y="3813048"/>
            <a:ext cx="4480560" cy="548640"/>
          </a:xfrm>
          <a:prstGeom prst="roundRect">
            <a:avLst>
              <a:gd name="adj" fmla="val 16667"/>
            </a:avLst>
          </a:prstGeom>
          <a:solidFill>
            <a:srgbClr val="12161E"/>
          </a:solidFill>
          <a:ln w="12700">
            <a:solidFill>
              <a:srgbClr val="3A2A2A"/>
            </a:solidFill>
            <a:prstDash val="solid"/>
          </a:ln>
        </p:spPr>
      </p:sp>
      <p:sp>
        <p:nvSpPr>
          <p:cNvPr id="18" name="e30_14"/>
          <p:cNvSpPr txBox="1"/>
          <p:nvPr/>
        </p:nvSpPr>
        <p:spPr>
          <a:xfrm>
            <a:off x="914400" y="3813048"/>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mit Gefährdung</a:t>
            </a:r>
            <a:endParaRPr lang="en-US" sz="1700" dirty="0"/>
          </a:p>
        </p:txBody>
      </p:sp>
      <p:sp>
        <p:nvSpPr>
          <p:cNvPr id="19" name="e30_15"/>
          <p:cNvSpPr txBox="1"/>
          <p:nvPr/>
        </p:nvSpPr>
        <p:spPr>
          <a:xfrm>
            <a:off x="3108960" y="3813048"/>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100 € + 1 Punkt</a:t>
            </a:r>
            <a:endParaRPr lang="en-US" sz="1800" dirty="0"/>
          </a:p>
        </p:txBody>
      </p:sp>
      <p:sp>
        <p:nvSpPr>
          <p:cNvPr id="20" name="e30_16"/>
          <p:cNvSpPr/>
          <p:nvPr/>
        </p:nvSpPr>
        <p:spPr>
          <a:xfrm>
            <a:off x="731520" y="4471416"/>
            <a:ext cx="4480560" cy="548640"/>
          </a:xfrm>
          <a:prstGeom prst="roundRect">
            <a:avLst>
              <a:gd name="adj" fmla="val 16667"/>
            </a:avLst>
          </a:prstGeom>
          <a:solidFill>
            <a:srgbClr val="12161E"/>
          </a:solidFill>
          <a:ln w="12700">
            <a:solidFill>
              <a:srgbClr val="3A2A2A"/>
            </a:solidFill>
            <a:prstDash val="solid"/>
          </a:ln>
        </p:spPr>
      </p:sp>
      <p:sp>
        <p:nvSpPr>
          <p:cNvPr id="21" name="e30_17"/>
          <p:cNvSpPr txBox="1"/>
          <p:nvPr/>
        </p:nvSpPr>
        <p:spPr>
          <a:xfrm>
            <a:off x="914400" y="4471416"/>
            <a:ext cx="2286000" cy="548640"/>
          </a:xfrm>
          <a:prstGeom prst="rect">
            <a:avLst/>
          </a:prstGeom>
          <a:noFill/>
          <a:ln/>
        </p:spPr>
        <p:txBody>
          <a:bodyPr wrap="square" lIns="0" tIns="0" rIns="0" bIns="0" rtlCol="0" anchor="ctr"/>
          <a:lstStyle/>
          <a:p>
            <a:pPr algn="l" indent="0" marL="0">
              <a:buNone/>
            </a:pPr>
            <a:r>
              <a:rPr lang="en-US" sz="1700" dirty="0">
                <a:solidFill>
                  <a:srgbClr val="F5F2EC"/>
                </a:solidFill>
                <a:latin typeface="Calibri" pitchFamily="34" charset="0"/>
                <a:ea typeface="Calibri" pitchFamily="34" charset="-122"/>
                <a:cs typeface="Calibri" pitchFamily="34" charset="-120"/>
              </a:rPr>
              <a:t>mit Sachschaden</a:t>
            </a:r>
            <a:endParaRPr lang="en-US" sz="1700" dirty="0"/>
          </a:p>
        </p:txBody>
      </p:sp>
      <p:sp>
        <p:nvSpPr>
          <p:cNvPr id="22" name="e30_18"/>
          <p:cNvSpPr txBox="1"/>
          <p:nvPr/>
        </p:nvSpPr>
        <p:spPr>
          <a:xfrm>
            <a:off x="3108960" y="4471416"/>
            <a:ext cx="1965960" cy="548640"/>
          </a:xfrm>
          <a:prstGeom prst="rect">
            <a:avLst/>
          </a:prstGeom>
          <a:noFill/>
          <a:ln/>
        </p:spPr>
        <p:txBody>
          <a:bodyPr wrap="square" lIns="0" tIns="0" rIns="0" bIns="0" rtlCol="0" anchor="ctr"/>
          <a:lstStyle/>
          <a:p>
            <a:pPr algn="r" indent="0" marL="0">
              <a:buNone/>
            </a:pPr>
            <a:r>
              <a:rPr lang="en-US" sz="1800" b="1" dirty="0">
                <a:solidFill>
                  <a:srgbClr val="FF4D4D"/>
                </a:solidFill>
                <a:latin typeface="Calibri" pitchFamily="34" charset="0"/>
                <a:ea typeface="Calibri" pitchFamily="34" charset="-122"/>
                <a:cs typeface="Calibri" pitchFamily="34" charset="-120"/>
              </a:rPr>
              <a:t>120 € + 1 Punkt</a:t>
            </a:r>
            <a:endParaRPr lang="en-US" sz="1800" dirty="0"/>
          </a:p>
        </p:txBody>
      </p:sp>
      <p:sp>
        <p:nvSpPr>
          <p:cNvPr id="23" name="e30_19"/>
          <p:cNvSpPr txBox="1"/>
          <p:nvPr/>
        </p:nvSpPr>
        <p:spPr>
          <a:xfrm>
            <a:off x="731520" y="5212080"/>
            <a:ext cx="4480560" cy="68580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Probezeit: </a:t>
            </a:r>
            <a:pPr algn="l" indent="0" marL="0">
              <a:buNone/>
            </a:pPr>
            <a:r>
              <a:rPr lang="en-US" sz="1600" dirty="0">
                <a:solidFill>
                  <a:srgbClr val="F5F2EC"/>
                </a:solidFill>
                <a:latin typeface="Calibri" pitchFamily="34" charset="0"/>
                <a:ea typeface="Calibri" pitchFamily="34" charset="-122"/>
                <a:cs typeface="Calibri" pitchFamily="34" charset="-120"/>
              </a:rPr>
              <a:t>mit Punkt ein A-Verstoß → Aufbauseminar, +2 Jahre</a:t>
            </a:r>
            <a:endParaRPr lang="en-US" sz="1600" dirty="0"/>
          </a:p>
        </p:txBody>
      </p:sp>
      <p:sp>
        <p:nvSpPr>
          <p:cNvPr id="24" name="e30_20"/>
          <p:cNvSpPr txBox="1"/>
          <p:nvPr/>
        </p:nvSpPr>
        <p:spPr>
          <a:xfrm>
            <a:off x="731520" y="6035040"/>
            <a:ext cx="457200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Bußgeldkatalog (BKatV), Stand 2026 · § 2a StVG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42"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650"/>
                                        <p:tgtEl>
                                          <p:spTgt spid="11"/>
                                        </p:tgtEl>
                                      </p:cBhvr>
                                    </p:animEffect>
                                    <p:anim calcmode="lin" valueType="num">
                                      <p:cBhvr additive="base">
                                        <p:cTn id="24" dur="650" fill="hold" decel="100000"/>
                                        <p:tgtEl>
                                          <p:spTgt spid="11"/>
                                        </p:tgtEl>
                                        <p:attrNameLst>
                                          <p:attrName>ppt_x</p:attrName>
                                        </p:attrNameLst>
                                      </p:cBhvr>
                                      <p:tavLst>
                                        <p:tav tm="0">
                                          <p:val>
                                            <p:strVal val="#ppt_x"/>
                                          </p:val>
                                        </p:tav>
                                        <p:tav tm="100000">
                                          <p:val>
                                            <p:strVal val="#ppt_x"/>
                                          </p:val>
                                        </p:tav>
                                      </p:tavLst>
                                    </p:anim>
                                    <p:anim calcmode="lin" valueType="num">
                                      <p:cBhvr additive="base">
                                        <p:cTn id="25" dur="650" fill="hold" decel="100000"/>
                                        <p:tgtEl>
                                          <p:spTgt spid="11"/>
                                        </p:tgtEl>
                                        <p:attrNameLst>
                                          <p:attrName>ppt_y</p:attrName>
                                        </p:attrNameLst>
                                      </p:cBhvr>
                                      <p:tavLst>
                                        <p:tav tm="0">
                                          <p:val>
                                            <p:strVal val="#ppt_y+.05"/>
                                          </p:val>
                                        </p:tav>
                                        <p:tav tm="100000">
                                          <p:val>
                                            <p:strVal val="#ppt_y"/>
                                          </p:val>
                                        </p:tav>
                                      </p:tavLst>
                                    </p:anim>
                                  </p:childTnLst>
                                </p:cTn>
                              </p:par>
                              <p:par>
                                <p:cTn id="26" presetID="42" presetClass="entr" presetSubtype="0" fill="hold" grpId="0" nodeType="withEffect">
                                  <p:stCondLst>
                                    <p:cond delay="275"/>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650"/>
                                        <p:tgtEl>
                                          <p:spTgt spid="24"/>
                                        </p:tgtEl>
                                      </p:cBhvr>
                                    </p:animEffect>
                                    <p:anim calcmode="lin" valueType="num">
                                      <p:cBhvr additive="base">
                                        <p:cTn id="29" dur="650" fill="hold" decel="100000"/>
                                        <p:tgtEl>
                                          <p:spTgt spid="24"/>
                                        </p:tgtEl>
                                        <p:attrNameLst>
                                          <p:attrName>ppt_x</p:attrName>
                                        </p:attrNameLst>
                                      </p:cBhvr>
                                      <p:tavLst>
                                        <p:tav tm="0">
                                          <p:val>
                                            <p:strVal val="#ppt_x"/>
                                          </p:val>
                                        </p:tav>
                                        <p:tav tm="100000">
                                          <p:val>
                                            <p:strVal val="#ppt_x"/>
                                          </p:val>
                                        </p:tav>
                                      </p:tavLst>
                                    </p:anim>
                                    <p:anim calcmode="lin" valueType="num">
                                      <p:cBhvr additive="base">
                                        <p:cTn id="30" dur="650" fill="hold" decel="100000"/>
                                        <p:tgtEl>
                                          <p:spTgt spid="24"/>
                                        </p:tgtEl>
                                        <p:attrNameLst>
                                          <p:attrName>ppt_y</p:attrName>
                                        </p:attrNameLst>
                                      </p:cBhvr>
                                      <p:tavLst>
                                        <p:tav tm="0">
                                          <p:val>
                                            <p:strVal val="#ppt_y+.05"/>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0" presetClass="path" presetSubtype="0" fill="hold" nodeType="clickEffect">
                                  <p:stCondLst>
                                    <p:cond delay="0"/>
                                  </p:stCondLst>
                                  <p:childTnLst>
                                    <p:animMotion origin="layout" path="M 0 0 C 0 -0.0684 0 -0.1369 0 -0.2053 E" pathEditMode="relative" rAng="0" ptsTypes="">
                                      <p:cBhvr>
                                        <p:cTn id="34" dur="1100" fill="hold"/>
                                        <p:tgtEl>
                                          <p:spTgt spid="9"/>
                                        </p:tgtEl>
                                        <p:attrNameLst>
                                          <p:attrName>ppt_x</p:attrName>
                                          <p:attrName>ppt_y</p:attrName>
                                        </p:attrNameLst>
                                      </p:cBhvr>
                                      <p:rCtr x="0" y="0"/>
                                    </p:animMotion>
                                  </p:childTnLst>
                                </p:cTn>
                              </p:par>
                              <p:par>
                                <p:cTn id="35" presetID="0" presetClass="path" presetSubtype="0" fill="hold" nodeType="withEffect">
                                  <p:stCondLst>
                                    <p:cond delay="0"/>
                                  </p:stCondLst>
                                  <p:childTnLst>
                                    <p:animMotion origin="layout" path="M 0 0 C -0.0113 0 -0.0225 0 -0.0338 0 E" pathEditMode="relative" rAng="0" ptsTypes="">
                                      <p:cBhvr>
                                        <p:cTn id="36" dur="1098" fill="hold"/>
                                        <p:tgtEl>
                                          <p:spTgt spid="10"/>
                                        </p:tgtEl>
                                        <p:attrNameLst>
                                          <p:attrName>ppt_x</p:attrName>
                                          <p:attrName>ppt_y</p:attrName>
                                        </p:attrNameLst>
                                      </p:cBhvr>
                                      <p:rCtr x="0" y="0"/>
                                    </p:animMotion>
                                  </p:childTnLst>
                                </p:cTn>
                              </p:par>
                            </p:childTnLst>
                          </p:cTn>
                        </p:par>
                        <p:par>
                          <p:cTn id="37" fill="hold">
                            <p:stCondLst>
                              <p:cond delay="1100"/>
                            </p:stCondLst>
                            <p:childTnLst>
                              <p:par>
                                <p:cTn id="38" presetID="53" presetClass="entr" presetSubtype="32"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300" fill="hold" accel="60000"/>
                                        <p:tgtEl>
                                          <p:spTgt spid="12"/>
                                        </p:tgtEl>
                                        <p:attrNameLst>
                                          <p:attrName>ppt_w</p:attrName>
                                        </p:attrNameLst>
                                      </p:cBhvr>
                                      <p:tavLst>
                                        <p:tav tm="0">
                                          <p:val>
                                            <p:strVal val="#ppt_w*2.2"/>
                                          </p:val>
                                        </p:tav>
                                        <p:tav tm="100000">
                                          <p:val>
                                            <p:strVal val="#ppt_w"/>
                                          </p:val>
                                        </p:tav>
                                      </p:tavLst>
                                    </p:anim>
                                    <p:anim calcmode="lin" valueType="num">
                                      <p:cBhvr additive="base">
                                        <p:cTn id="41" dur="300" fill="hold" accel="60000"/>
                                        <p:tgtEl>
                                          <p:spTgt spid="12"/>
                                        </p:tgtEl>
                                        <p:attrNameLst>
                                          <p:attrName>ppt_h</p:attrName>
                                        </p:attrNameLst>
                                      </p:cBhvr>
                                      <p:tavLst>
                                        <p:tav tm="0">
                                          <p:val>
                                            <p:strVal val="#ppt_h*2.2"/>
                                          </p:val>
                                        </p:tav>
                                        <p:tav tm="100000">
                                          <p:val>
                                            <p:strVal val="#ppt_h"/>
                                          </p:val>
                                        </p:tav>
                                      </p:tavLst>
                                    </p:anim>
                                    <p:animEffect transition="in" filter="fade">
                                      <p:cBhvr>
                                        <p:cTn id="42" dur="18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20"/>
                                        <p:tgtEl>
                                          <p:spTgt spid="13"/>
                                        </p:tgtEl>
                                      </p:cBhvr>
                                    </p:animEffect>
                                  </p:childTnLst>
                                </p:cTn>
                              </p:par>
                            </p:childTnLst>
                          </p:cTn>
                        </p:par>
                        <p:par>
                          <p:cTn id="46" fill="hold">
                            <p:stCondLst>
                              <p:cond delay="1400"/>
                            </p:stCondLst>
                            <p:childTnLst>
                              <p:par>
                                <p:cTn id="47" presetID="10" presetClass="exit" presetSubtype="0" fill="hold" grpId="1" nodeType="afterEffect">
                                  <p:stCondLst>
                                    <p:cond delay="0"/>
                                  </p:stCondLst>
                                  <p:childTnLst>
                                    <p:animEffect transition="out" filter="fade">
                                      <p:cBhvr>
                                        <p:cTn id="48" dur="700"/>
                                        <p:tgtEl>
                                          <p:spTgt spid="13"/>
                                        </p:tgtEl>
                                      </p:cBhvr>
                                    </p:animEffect>
                                    <p:set>
                                      <p:cBhvr>
                                        <p:cTn id="49" dur="1" fill="hold">
                                          <p:stCondLst>
                                            <p:cond delay="699"/>
                                          </p:stCondLst>
                                        </p:cTn>
                                        <p:tgtEl>
                                          <p:spTgt spid="13"/>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8" fill="hold" grpId="0" nodeType="click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50" fill="hold" decel="100000"/>
                                        <p:tgtEl>
                                          <p:spTgt spid="14"/>
                                        </p:tgtEl>
                                        <p:attrNameLst>
                                          <p:attrName>ppt_x</p:attrName>
                                        </p:attrNameLst>
                                      </p:cBhvr>
                                      <p:tavLst>
                                        <p:tav tm="0">
                                          <p:val>
                                            <p:strVal val="0-#ppt_w/2"/>
                                          </p:val>
                                        </p:tav>
                                        <p:tav tm="100000">
                                          <p:val>
                                            <p:strVal val="#ppt_x"/>
                                          </p:val>
                                        </p:tav>
                                      </p:tavLst>
                                    </p:anim>
                                    <p:anim calcmode="lin" valueType="num">
                                      <p:cBhvr additive="base">
                                        <p:cTn id="55" dur="450" fill="hold"/>
                                        <p:tgtEl>
                                          <p:spTgt spid="14"/>
                                        </p:tgtEl>
                                        <p:attrNameLst>
                                          <p:attrName>ppt_y</p:attrName>
                                        </p:attrNameLst>
                                      </p:cBhvr>
                                      <p:tavLst>
                                        <p:tav tm="0">
                                          <p:val>
                                            <p:strVal val="#ppt_y"/>
                                          </p:val>
                                        </p:tav>
                                        <p:tav tm="100000">
                                          <p:val>
                                            <p:strVal val="#ppt_y"/>
                                          </p:val>
                                        </p:tav>
                                      </p:tavLst>
                                    </p:anim>
                                  </p:childTnLst>
                                </p:cTn>
                              </p:par>
                              <p:par>
                                <p:cTn id="56" presetID="10"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300"/>
                                        <p:tgtEl>
                                          <p:spTgt spid="1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3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450" fill="hold" decel="100000"/>
                                        <p:tgtEl>
                                          <p:spTgt spid="17"/>
                                        </p:tgtEl>
                                        <p:attrNameLst>
                                          <p:attrName>ppt_x</p:attrName>
                                        </p:attrNameLst>
                                      </p:cBhvr>
                                      <p:tavLst>
                                        <p:tav tm="0">
                                          <p:val>
                                            <p:strVal val="0-#ppt_w/2"/>
                                          </p:val>
                                        </p:tav>
                                        <p:tav tm="100000">
                                          <p:val>
                                            <p:strVal val="#ppt_x"/>
                                          </p:val>
                                        </p:tav>
                                      </p:tavLst>
                                    </p:anim>
                                    <p:anim calcmode="lin" valueType="num">
                                      <p:cBhvr additive="base">
                                        <p:cTn id="67" dur="450" fill="hold"/>
                                        <p:tgtEl>
                                          <p:spTgt spid="17"/>
                                        </p:tgtEl>
                                        <p:attrNameLst>
                                          <p:attrName>ppt_y</p:attrName>
                                        </p:attrNameLst>
                                      </p:cBhvr>
                                      <p:tavLst>
                                        <p:tav tm="0">
                                          <p:val>
                                            <p:strVal val="#ppt_y"/>
                                          </p:val>
                                        </p:tav>
                                        <p:tav tm="100000">
                                          <p:val>
                                            <p:strVal val="#ppt_y"/>
                                          </p:val>
                                        </p:tav>
                                      </p:tavLst>
                                    </p:anim>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450" fill="hold" decel="100000"/>
                                        <p:tgtEl>
                                          <p:spTgt spid="20"/>
                                        </p:tgtEl>
                                        <p:attrNameLst>
                                          <p:attrName>ppt_x</p:attrName>
                                        </p:attrNameLst>
                                      </p:cBhvr>
                                      <p:tavLst>
                                        <p:tav tm="0">
                                          <p:val>
                                            <p:strVal val="0-#ppt_w/2"/>
                                          </p:val>
                                        </p:tav>
                                        <p:tav tm="100000">
                                          <p:val>
                                            <p:strVal val="#ppt_x"/>
                                          </p:val>
                                        </p:tav>
                                      </p:tavLst>
                                    </p:anim>
                                    <p:anim calcmode="lin" valueType="num">
                                      <p:cBhvr additive="base">
                                        <p:cTn id="79" dur="450" fill="hold"/>
                                        <p:tgtEl>
                                          <p:spTgt spid="20"/>
                                        </p:tgtEl>
                                        <p:attrNameLst>
                                          <p:attrName>ppt_y</p:attrName>
                                        </p:attrNameLst>
                                      </p:cBhvr>
                                      <p:tavLst>
                                        <p:tav tm="0">
                                          <p:val>
                                            <p:strVal val="#ppt_y"/>
                                          </p:val>
                                        </p:tav>
                                        <p:tav tm="100000">
                                          <p:val>
                                            <p:strVal val="#ppt_y"/>
                                          </p:val>
                                        </p:tav>
                                      </p:tavLst>
                                    </p:anim>
                                  </p:childTnLst>
                                </p:cTn>
                              </p:par>
                              <p:par>
                                <p:cTn id="80" presetID="10" presetClass="entr" presetSubtype="0"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300"/>
                                        <p:tgtEl>
                                          <p:spTgt spid="2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300"/>
                                        <p:tgtEl>
                                          <p:spTgt spid="22"/>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24" grpId="0" animBg="1"/>
      <p:bldP spid="13" grpId="0" animBg="1"/>
      <p:bldP spid="13" grpId="1"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KAPITEL 4</a:t>
            </a:r>
            <a:endParaRPr lang="en-US" sz="1300" dirty="0"/>
          </a:p>
        </p:txBody>
      </p:sp>
      <p:sp>
        <p:nvSpPr>
          <p:cNvPr id="6" name="e31_2"/>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Abknickende</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Vorfahrt</a:t>
            </a:r>
            <a:endParaRPr lang="en-US" sz="5200" dirty="0"/>
          </a:p>
        </p:txBody>
      </p:sp>
      <p:pic>
        <p:nvPicPr>
          <p:cNvPr id="7" name="e31_3" descr="Verkehrszeichen 306">    </p:cNvPr>
          <p:cNvPicPr>
            <a:picLocks noChangeAspect="1"/>
          </p:cNvPicPr>
          <p:nvPr/>
        </p:nvPicPr>
        <p:blipFill>
          <a:blip r:embed="rId2"/>
          <a:stretch>
            <a:fillRect/>
          </a:stretch>
        </p:blipFill>
        <p:spPr>
          <a:xfrm>
            <a:off x="731520" y="3246120"/>
            <a:ext cx="1097280" cy="1097280"/>
          </a:xfrm>
          <a:prstGeom prst="rect">
            <a:avLst/>
          </a:prstGeom>
        </p:spPr>
      </p:pic>
      <p:pic>
        <p:nvPicPr>
          <p:cNvPr id="8" name="e31_4" descr="Zusatzzeichen Verlauf der Vorfahrtstraße, nachgezeichnet">    </p:cNvPr>
          <p:cNvPicPr>
            <a:picLocks noChangeAspect="1"/>
          </p:cNvPicPr>
          <p:nvPr/>
        </p:nvPicPr>
        <p:blipFill>
          <a:blip r:embed="rId3"/>
          <a:stretch>
            <a:fillRect/>
          </a:stretch>
        </p:blipFill>
        <p:spPr>
          <a:xfrm>
            <a:off x="731520" y="4434840"/>
            <a:ext cx="1426464" cy="1097280"/>
          </a:xfrm>
          <a:prstGeom prst="rect">
            <a:avLst/>
          </a:prstGeom>
        </p:spPr>
      </p:pic>
      <p:sp>
        <p:nvSpPr>
          <p:cNvPr id="9" name="e31_5"/>
          <p:cNvSpPr txBox="1"/>
          <p:nvPr/>
        </p:nvSpPr>
        <p:spPr>
          <a:xfrm>
            <a:off x="2377440" y="4389120"/>
            <a:ext cx="3108960" cy="1188720"/>
          </a:xfrm>
          <a:prstGeom prst="rect">
            <a:avLst/>
          </a:prstGeom>
          <a:noFill/>
          <a:ln/>
        </p:spPr>
        <p:txBody>
          <a:bodyPr wrap="square" lIns="0" tIns="0" rIns="0" bIns="0" rtlCol="0" anchor="t"/>
          <a:lstStyle/>
          <a:p>
            <a:pPr algn="l" indent="0" marL="0">
              <a:lnSpc>
                <a:spcPct val="115000"/>
              </a:lnSpc>
              <a:buNone/>
            </a:pPr>
            <a:r>
              <a:rPr lang="en-US" sz="1700" b="1" dirty="0">
                <a:solidFill>
                  <a:srgbClr val="F5F2EC"/>
                </a:solidFill>
                <a:latin typeface="Calibri" pitchFamily="34" charset="0"/>
                <a:ea typeface="Calibri" pitchFamily="34" charset="-122"/>
                <a:cs typeface="Calibri" pitchFamily="34" charset="-120"/>
              </a:rPr>
              <a:t>Dick</a:t>
            </a:r>
            <a:pPr algn="l" indent="0" marL="0">
              <a:lnSpc>
                <a:spcPct val="115000"/>
              </a:lnSpc>
              <a:buNone/>
            </a:pPr>
            <a:r>
              <a:rPr lang="en-US" sz="1700" dirty="0">
                <a:solidFill>
                  <a:srgbClr val="A7B0BD"/>
                </a:solidFill>
                <a:latin typeface="Calibri" pitchFamily="34" charset="0"/>
                <a:ea typeface="Calibri" pitchFamily="34" charset="-122"/>
                <a:cs typeface="Calibri" pitchFamily="34" charset="-120"/>
              </a:rPr>
              <a:t> = Vorfahrtstraße
</a:t>
            </a:r>
            <a:pPr algn="l" indent="0" marL="0">
              <a:lnSpc>
                <a:spcPct val="115000"/>
              </a:lnSpc>
              <a:buNone/>
            </a:pPr>
            <a:r>
              <a:rPr lang="en-US" sz="1700" b="1" dirty="0">
                <a:solidFill>
                  <a:srgbClr val="F5F2EC"/>
                </a:solidFill>
                <a:latin typeface="Calibri" pitchFamily="34" charset="0"/>
                <a:ea typeface="Calibri" pitchFamily="34" charset="-122"/>
                <a:cs typeface="Calibri" pitchFamily="34" charset="-120"/>
              </a:rPr>
              <a:t>Dünn</a:t>
            </a:r>
            <a:pPr algn="l" indent="0" marL="0">
              <a:lnSpc>
                <a:spcPct val="115000"/>
              </a:lnSpc>
              <a:buNone/>
            </a:pPr>
            <a:r>
              <a:rPr lang="en-US" sz="1700" dirty="0">
                <a:solidFill>
                  <a:srgbClr val="A7B0BD"/>
                </a:solidFill>
                <a:latin typeface="Calibri" pitchFamily="34" charset="0"/>
                <a:ea typeface="Calibri" pitchFamily="34" charset="-122"/>
                <a:cs typeface="Calibri" pitchFamily="34" charset="-120"/>
              </a:rPr>
              <a:t> = Nebenstraßen
</a:t>
            </a:r>
            <a:pPr algn="l" indent="0" marL="0">
              <a:lnSpc>
                <a:spcPct val="115000"/>
              </a:lnSpc>
              <a:buNone/>
            </a:pPr>
            <a:r>
              <a:rPr lang="en-US" sz="1700" b="1" dirty="0">
                <a:solidFill>
                  <a:srgbClr val="FF7A1A"/>
                </a:solidFill>
                <a:latin typeface="Calibri" pitchFamily="34" charset="0"/>
                <a:ea typeface="Calibri" pitchFamily="34" charset="-122"/>
                <a:cs typeface="Calibri" pitchFamily="34" charset="-120"/>
              </a:rPr>
              <a:t>Du</a:t>
            </a:r>
            <a:pPr algn="l" indent="0" marL="0">
              <a:lnSpc>
                <a:spcPct val="115000"/>
              </a:lnSpc>
              <a:buNone/>
            </a:pPr>
            <a:r>
              <a:rPr lang="en-US" sz="1700" dirty="0">
                <a:solidFill>
                  <a:srgbClr val="A7B0BD"/>
                </a:solidFill>
                <a:latin typeface="Calibri" pitchFamily="34" charset="0"/>
                <a:ea typeface="Calibri" pitchFamily="34" charset="-122"/>
                <a:cs typeface="Calibri" pitchFamily="34" charset="-120"/>
              </a:rPr>
              <a:t> kommst immer von unten.</a:t>
            </a:r>
            <a:endParaRPr lang="en-US" sz="1700" dirty="0"/>
          </a:p>
        </p:txBody>
      </p:sp>
      <p:pic>
        <p:nvPicPr>
          <p:cNvPr id="10" name="e31_6" descr="/tmp/claude-0/-home-user-Fahrlehrer-Kompass-/11378f77-94a8-55e9-a697-0f3efd4c20b9/scratchpad/bau/art/ov_abk.pn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53" presetClass="entr" presetSubtype="16"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decel="100000"/>
                                        <p:tgtEl>
                                          <p:spTgt spid="7"/>
                                        </p:tgtEl>
                                        <p:attrNameLst>
                                          <p:attrName>ppt_w</p:attrName>
                                        </p:attrNameLst>
                                      </p:cBhvr>
                                      <p:tavLst>
                                        <p:tav tm="0">
                                          <p:val>
                                            <p:strVal val="0"/>
                                          </p:val>
                                        </p:tav>
                                        <p:tav tm="100000">
                                          <p:val>
                                            <p:strVal val="#ppt_w"/>
                                          </p:val>
                                        </p:tav>
                                      </p:tavLst>
                                    </p:anim>
                                    <p:anim calcmode="lin" valueType="num">
                                      <p:cBhvr additive="base">
                                        <p:cTn id="18" dur="500" fill="hold" decel="100000"/>
                                        <p:tgtEl>
                                          <p:spTgt spid="7"/>
                                        </p:tgtEl>
                                        <p:attrNameLst>
                                          <p:attrName>ppt_h</p:attrName>
                                        </p:attrNameLst>
                                      </p:cBhvr>
                                      <p:tavLst>
                                        <p:tav tm="0">
                                          <p:val>
                                            <p:strVal val="0"/>
                                          </p:val>
                                        </p:tav>
                                        <p:tav tm="100000">
                                          <p:val>
                                            <p:strVal val="#ppt_h"/>
                                          </p:val>
                                        </p:tav>
                                      </p:tavLst>
                                    </p:anim>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decel="100000"/>
                                        <p:tgtEl>
                                          <p:spTgt spid="8"/>
                                        </p:tgtEl>
                                        <p:attrNameLst>
                                          <p:attrName>ppt_w</p:attrName>
                                        </p:attrNameLst>
                                      </p:cBhvr>
                                      <p:tavLst>
                                        <p:tav tm="0">
                                          <p:val>
                                            <p:strVal val="0"/>
                                          </p:val>
                                        </p:tav>
                                        <p:tav tm="100000">
                                          <p:val>
                                            <p:strVal val="#ppt_w"/>
                                          </p:val>
                                        </p:tav>
                                      </p:tavLst>
                                    </p:anim>
                                    <p:anim calcmode="lin" valueType="num">
                                      <p:cBhvr additive="base">
                                        <p:cTn id="25" dur="500" fill="hold" decel="100000"/>
                                        <p:tgtEl>
                                          <p:spTgt spid="8"/>
                                        </p:tgtEl>
                                        <p:attrNameLst>
                                          <p:attrName>ppt_h</p:attrName>
                                        </p:attrNameLst>
                                      </p:cBhvr>
                                      <p:tavLst>
                                        <p:tav tm="0">
                                          <p:val>
                                            <p:strVal val="0"/>
                                          </p:val>
                                        </p:tav>
                                        <p:tav tm="100000">
                                          <p:val>
                                            <p:strVal val="#ppt_h"/>
                                          </p:val>
                                        </p:tav>
                                      </p:tavLst>
                                    </p:anim>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800"/>
                                        <p:tgtEl>
                                          <p:spTgt spid="9"/>
                                        </p:tgtEl>
                                      </p:cBhvr>
                                    </p:animEffect>
                                    <p:anim calcmode="lin" valueType="num">
                                      <p:cBhvr additive="base">
                                        <p:cTn id="32"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33" dur="800" fill="hold" decel="100000"/>
                                        <p:tgtEl>
                                          <p:spTgt spid="9"/>
                                        </p:tgtEl>
                                        <p:attrNameLst>
                                          <p:attrName>ppt_y</p:attrName>
                                        </p:attrNameLst>
                                      </p:cBhvr>
                                      <p:tavLst>
                                        <p:tav tm="0">
                                          <p:val>
                                            <p:strVal val="#ppt_y+.18"/>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12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DREI REGELN</a:t>
            </a:r>
            <a:endParaRPr lang="en-US" sz="1300" dirty="0"/>
          </a:p>
        </p:txBody>
      </p:sp>
      <p:sp>
        <p:nvSpPr>
          <p:cNvPr id="6" name="e32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So klappt der Knick</a:t>
            </a:r>
            <a:endParaRPr lang="en-US" sz="4600" dirty="0"/>
          </a:p>
        </p:txBody>
      </p:sp>
      <p:sp>
        <p:nvSpPr>
          <p:cNvPr id="7" name="e32_3"/>
          <p:cNvSpPr/>
          <p:nvPr/>
        </p:nvSpPr>
        <p:spPr>
          <a:xfrm>
            <a:off x="731520" y="2377440"/>
            <a:ext cx="10698480" cy="1005840"/>
          </a:xfrm>
          <a:prstGeom prst="roundRect">
            <a:avLst>
              <a:gd name="adj" fmla="val 10909"/>
            </a:avLst>
          </a:prstGeom>
          <a:solidFill>
            <a:srgbClr val="12161E"/>
          </a:solidFill>
          <a:ln w="12700">
            <a:solidFill>
              <a:srgbClr val="2A3342"/>
            </a:solidFill>
            <a:prstDash val="solid"/>
          </a:ln>
        </p:spPr>
      </p:sp>
      <p:sp>
        <p:nvSpPr>
          <p:cNvPr id="8" name="e32_4"/>
          <p:cNvSpPr txBox="1"/>
          <p:nvPr/>
        </p:nvSpPr>
        <p:spPr>
          <a:xfrm>
            <a:off x="960120" y="2560320"/>
            <a:ext cx="640080" cy="640080"/>
          </a:xfrm>
          <a:prstGeom prst="ellipse">
            <a:avLst/>
          </a:prstGeom>
          <a:solidFill>
            <a:srgbClr val="FF7A1A"/>
          </a:solidFill>
          <a:ln/>
        </p:spPr>
        <p:txBody>
          <a:bodyPr wrap="square" lIns="0" tIns="0" rIns="0" bIns="0" rtlCol="0" anchor="ctr"/>
          <a:lstStyle/>
          <a:p>
            <a:pPr algn="ctr" indent="0" marL="0">
              <a:buNone/>
            </a:pPr>
            <a:r>
              <a:rPr lang="en-US" sz="2800" b="1" dirty="0">
                <a:solidFill>
                  <a:srgbClr val="1A0E05"/>
                </a:solidFill>
                <a:latin typeface="Cambria" pitchFamily="34" charset="0"/>
                <a:ea typeface="Cambria" pitchFamily="34" charset="-122"/>
                <a:cs typeface="Cambria" pitchFamily="34" charset="-120"/>
              </a:rPr>
              <a:t>1</a:t>
            </a:r>
            <a:endParaRPr lang="en-US" sz="2800" dirty="0"/>
          </a:p>
        </p:txBody>
      </p:sp>
      <p:sp>
        <p:nvSpPr>
          <p:cNvPr id="9" name="e32_5"/>
          <p:cNvSpPr txBox="1"/>
          <p:nvPr/>
        </p:nvSpPr>
        <p:spPr>
          <a:xfrm>
            <a:off x="1874520" y="2468880"/>
            <a:ext cx="9326880" cy="45720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Dem Knick folgen = blinken</a:t>
            </a:r>
            <a:endParaRPr lang="en-US" sz="2300" dirty="0"/>
          </a:p>
        </p:txBody>
      </p:sp>
      <p:sp>
        <p:nvSpPr>
          <p:cNvPr id="10" name="e32_6"/>
          <p:cNvSpPr txBox="1"/>
          <p:nvPr/>
        </p:nvSpPr>
        <p:spPr>
          <a:xfrm>
            <a:off x="1874520" y="2907792"/>
            <a:ext cx="9326880" cy="384048"/>
          </a:xfrm>
          <a:prstGeom prst="rect">
            <a:avLst/>
          </a:prstGeom>
          <a:noFill/>
          <a:ln/>
        </p:spPr>
        <p:txBody>
          <a:bodyPr wrap="square" lIns="0" tIns="0" rIns="0" bIns="0" rtlCol="0" anchor="t"/>
          <a:lstStyle/>
          <a:p>
            <a:pPr algn="l" indent="0" marL="0">
              <a:buNone/>
            </a:pPr>
            <a:r>
              <a:rPr lang="en-US" sz="1700" dirty="0">
                <a:solidFill>
                  <a:srgbClr val="A7B0BD"/>
                </a:solidFill>
                <a:latin typeface="Calibri" pitchFamily="34" charset="0"/>
                <a:ea typeface="Calibri" pitchFamily="34" charset="-122"/>
                <a:cs typeface="Calibri" pitchFamily="34" charset="-120"/>
              </a:rPr>
              <a:t>Du änderst die Richtung. Also Blinker setzen.</a:t>
            </a:r>
            <a:endParaRPr lang="en-US" sz="1700" dirty="0"/>
          </a:p>
        </p:txBody>
      </p:sp>
      <p:sp>
        <p:nvSpPr>
          <p:cNvPr id="11" name="e32_7"/>
          <p:cNvSpPr/>
          <p:nvPr/>
        </p:nvSpPr>
        <p:spPr>
          <a:xfrm>
            <a:off x="731520" y="3566160"/>
            <a:ext cx="10698480" cy="1005840"/>
          </a:xfrm>
          <a:prstGeom prst="roundRect">
            <a:avLst>
              <a:gd name="adj" fmla="val 10909"/>
            </a:avLst>
          </a:prstGeom>
          <a:solidFill>
            <a:srgbClr val="12161E"/>
          </a:solidFill>
          <a:ln w="12700">
            <a:solidFill>
              <a:srgbClr val="2A3342"/>
            </a:solidFill>
            <a:prstDash val="solid"/>
          </a:ln>
        </p:spPr>
      </p:sp>
      <p:sp>
        <p:nvSpPr>
          <p:cNvPr id="12" name="e32_8"/>
          <p:cNvSpPr txBox="1"/>
          <p:nvPr/>
        </p:nvSpPr>
        <p:spPr>
          <a:xfrm>
            <a:off x="960120" y="3749040"/>
            <a:ext cx="640080" cy="640080"/>
          </a:xfrm>
          <a:prstGeom prst="ellipse">
            <a:avLst/>
          </a:prstGeom>
          <a:solidFill>
            <a:srgbClr val="FF7A1A"/>
          </a:solidFill>
          <a:ln/>
        </p:spPr>
        <p:txBody>
          <a:bodyPr wrap="square" lIns="0" tIns="0" rIns="0" bIns="0" rtlCol="0" anchor="ctr"/>
          <a:lstStyle/>
          <a:p>
            <a:pPr algn="ctr" indent="0" marL="0">
              <a:buNone/>
            </a:pPr>
            <a:r>
              <a:rPr lang="en-US" sz="2800" b="1" dirty="0">
                <a:solidFill>
                  <a:srgbClr val="1A0E05"/>
                </a:solidFill>
                <a:latin typeface="Cambria" pitchFamily="34" charset="0"/>
                <a:ea typeface="Cambria" pitchFamily="34" charset="-122"/>
                <a:cs typeface="Cambria" pitchFamily="34" charset="-120"/>
              </a:rPr>
              <a:t>2</a:t>
            </a:r>
            <a:endParaRPr lang="en-US" sz="2800" dirty="0"/>
          </a:p>
        </p:txBody>
      </p:sp>
      <p:sp>
        <p:nvSpPr>
          <p:cNvPr id="13" name="e32_9"/>
          <p:cNvSpPr txBox="1"/>
          <p:nvPr/>
        </p:nvSpPr>
        <p:spPr>
          <a:xfrm>
            <a:off x="1874520" y="3657600"/>
            <a:ext cx="9326880" cy="45720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Auf der Vorfahrtstraße untereinander</a:t>
            </a:r>
            <a:endParaRPr lang="en-US" sz="2300" dirty="0"/>
          </a:p>
        </p:txBody>
      </p:sp>
      <p:sp>
        <p:nvSpPr>
          <p:cNvPr id="14" name="e32_10"/>
          <p:cNvSpPr txBox="1"/>
          <p:nvPr/>
        </p:nvSpPr>
        <p:spPr>
          <a:xfrm>
            <a:off x="1874520" y="4096512"/>
            <a:ext cx="9326880" cy="384048"/>
          </a:xfrm>
          <a:prstGeom prst="rect">
            <a:avLst/>
          </a:prstGeom>
          <a:noFill/>
          <a:ln/>
        </p:spPr>
        <p:txBody>
          <a:bodyPr wrap="square" lIns="0" tIns="0" rIns="0" bIns="0" rtlCol="0" anchor="t"/>
          <a:lstStyle/>
          <a:p>
            <a:pPr algn="l" indent="0" marL="0">
              <a:buNone/>
            </a:pPr>
            <a:r>
              <a:rPr lang="en-US" sz="1700" dirty="0">
                <a:solidFill>
                  <a:srgbClr val="A7B0BD"/>
                </a:solidFill>
                <a:latin typeface="Calibri" pitchFamily="34" charset="0"/>
                <a:ea typeface="Calibri" pitchFamily="34" charset="-122"/>
                <a:cs typeface="Calibri" pitchFamily="34" charset="-120"/>
              </a:rPr>
              <a:t>Es gelten die Abbiegeregeln, z. B. Gegenverkehr beachten.</a:t>
            </a:r>
            <a:endParaRPr lang="en-US" sz="1700" dirty="0"/>
          </a:p>
        </p:txBody>
      </p:sp>
      <p:sp>
        <p:nvSpPr>
          <p:cNvPr id="15" name="e32_11"/>
          <p:cNvSpPr/>
          <p:nvPr/>
        </p:nvSpPr>
        <p:spPr>
          <a:xfrm>
            <a:off x="731520" y="4754880"/>
            <a:ext cx="10698480" cy="1005840"/>
          </a:xfrm>
          <a:prstGeom prst="roundRect">
            <a:avLst>
              <a:gd name="adj" fmla="val 10909"/>
            </a:avLst>
          </a:prstGeom>
          <a:solidFill>
            <a:srgbClr val="12161E"/>
          </a:solidFill>
          <a:ln w="12700">
            <a:solidFill>
              <a:srgbClr val="2A3342"/>
            </a:solidFill>
            <a:prstDash val="solid"/>
          </a:ln>
        </p:spPr>
      </p:sp>
      <p:sp>
        <p:nvSpPr>
          <p:cNvPr id="16" name="e32_12"/>
          <p:cNvSpPr txBox="1"/>
          <p:nvPr/>
        </p:nvSpPr>
        <p:spPr>
          <a:xfrm>
            <a:off x="960120" y="4937760"/>
            <a:ext cx="640080" cy="640080"/>
          </a:xfrm>
          <a:prstGeom prst="ellipse">
            <a:avLst/>
          </a:prstGeom>
          <a:solidFill>
            <a:srgbClr val="FF7A1A"/>
          </a:solidFill>
          <a:ln/>
        </p:spPr>
        <p:txBody>
          <a:bodyPr wrap="square" lIns="0" tIns="0" rIns="0" bIns="0" rtlCol="0" anchor="ctr"/>
          <a:lstStyle/>
          <a:p>
            <a:pPr algn="ctr" indent="0" marL="0">
              <a:buNone/>
            </a:pPr>
            <a:r>
              <a:rPr lang="en-US" sz="2800" b="1" dirty="0">
                <a:solidFill>
                  <a:srgbClr val="1A0E05"/>
                </a:solidFill>
                <a:latin typeface="Cambria" pitchFamily="34" charset="0"/>
                <a:ea typeface="Cambria" pitchFamily="34" charset="-122"/>
                <a:cs typeface="Cambria" pitchFamily="34" charset="-120"/>
              </a:rPr>
              <a:t>3</a:t>
            </a:r>
            <a:endParaRPr lang="en-US" sz="2800" dirty="0"/>
          </a:p>
        </p:txBody>
      </p:sp>
      <p:sp>
        <p:nvSpPr>
          <p:cNvPr id="17" name="e32_13"/>
          <p:cNvSpPr txBox="1"/>
          <p:nvPr/>
        </p:nvSpPr>
        <p:spPr>
          <a:xfrm>
            <a:off x="1874520" y="4846320"/>
            <a:ext cx="9326880" cy="45720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Auf den Nebenstraßen untereinander</a:t>
            </a:r>
            <a:endParaRPr lang="en-US" sz="2300" dirty="0"/>
          </a:p>
        </p:txBody>
      </p:sp>
      <p:sp>
        <p:nvSpPr>
          <p:cNvPr id="18" name="e32_14"/>
          <p:cNvSpPr txBox="1"/>
          <p:nvPr/>
        </p:nvSpPr>
        <p:spPr>
          <a:xfrm>
            <a:off x="1874520" y="5285232"/>
            <a:ext cx="9326880" cy="384048"/>
          </a:xfrm>
          <a:prstGeom prst="rect">
            <a:avLst/>
          </a:prstGeom>
          <a:noFill/>
          <a:ln/>
        </p:spPr>
        <p:txBody>
          <a:bodyPr wrap="square" lIns="0" tIns="0" rIns="0" bIns="0" rtlCol="0" anchor="t"/>
          <a:lstStyle/>
          <a:p>
            <a:pPr algn="l" indent="0" marL="0">
              <a:buNone/>
            </a:pPr>
            <a:r>
              <a:rPr lang="en-US" sz="1700" dirty="0">
                <a:solidFill>
                  <a:srgbClr val="A7B0BD"/>
                </a:solidFill>
                <a:latin typeface="Calibri" pitchFamily="34" charset="0"/>
                <a:ea typeface="Calibri" pitchFamily="34" charset="-122"/>
                <a:cs typeface="Calibri" pitchFamily="34" charset="-120"/>
              </a:rPr>
              <a:t>Es gilt rechts vor links.</a:t>
            </a:r>
            <a:endParaRPr lang="en-US" sz="1700" dirty="0"/>
          </a:p>
        </p:txBody>
      </p:sp>
      <p:sp>
        <p:nvSpPr>
          <p:cNvPr id="19" name="e32_15"/>
          <p:cNvSpPr txBox="1"/>
          <p:nvPr/>
        </p:nvSpPr>
        <p:spPr>
          <a:xfrm>
            <a:off x="731520" y="6035040"/>
            <a:ext cx="10698480" cy="365760"/>
          </a:xfrm>
          <a:prstGeom prst="rect">
            <a:avLst/>
          </a:prstGeom>
          <a:noFill/>
          <a:ln/>
        </p:spPr>
        <p:txBody>
          <a:bodyPr wrap="square" lIns="0" tIns="0" rIns="0" bIns="0" rtlCol="0" anchor="t"/>
          <a:lstStyle/>
          <a:p>
            <a:pPr algn="ctr" indent="0" marL="0">
              <a:lnSpc>
                <a:spcPct val="108000"/>
              </a:lnSpc>
              <a:buNone/>
            </a:pPr>
            <a:r>
              <a:rPr lang="en-US" sz="1700" i="1" dirty="0">
                <a:solidFill>
                  <a:srgbClr val="A7B0BD"/>
                </a:solidFill>
                <a:latin typeface="Calibri" pitchFamily="34" charset="0"/>
                <a:ea typeface="Calibri" pitchFamily="34" charset="-122"/>
                <a:cs typeface="Calibri" pitchFamily="34" charset="-120"/>
              </a:rPr>
              <a:t>Geradeaus aus der Vorfahrtstraße raus? Nicht blinken, du lenkst ja nicht.</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600" fill="hold" decel="100000"/>
                                        <p:tgtEl>
                                          <p:spTgt spid="7"/>
                                        </p:tgtEl>
                                        <p:attrNameLst>
                                          <p:attrName>ppt_x</p:attrName>
                                        </p:attrNameLst>
                                      </p:cBhvr>
                                      <p:tavLst>
                                        <p:tav tm="0">
                                          <p:val>
                                            <p:strVal val="0-#ppt_w/2"/>
                                          </p:val>
                                        </p:tav>
                                        <p:tav tm="100000">
                                          <p:val>
                                            <p:strVal val="#ppt_x"/>
                                          </p:val>
                                        </p:tav>
                                      </p:tavLst>
                                    </p:anim>
                                    <p:anim calcmode="lin" valueType="num">
                                      <p:cBhvr additive="base">
                                        <p:cTn id="20" dur="600" fill="hold"/>
                                        <p:tgtEl>
                                          <p:spTgt spid="7"/>
                                        </p:tgtEl>
                                        <p:attrNameLst>
                                          <p:attrName>ppt_y</p:attrName>
                                        </p:attrNameLst>
                                      </p:cBhvr>
                                      <p:tavLst>
                                        <p:tav tm="0">
                                          <p:val>
                                            <p:strVal val="#ppt_y"/>
                                          </p:val>
                                        </p:tav>
                                        <p:tav tm="100000">
                                          <p:val>
                                            <p:strVal val="#ppt_y"/>
                                          </p:val>
                                        </p:tav>
                                      </p:tavLst>
                                    </p:anim>
                                  </p:childTnLst>
                                </p:cTn>
                              </p:par>
                              <p:par>
                                <p:cTn id="21" presetID="53" presetClass="entr" presetSubtype="16"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300" fill="hold" decel="100000"/>
                                        <p:tgtEl>
                                          <p:spTgt spid="8"/>
                                        </p:tgtEl>
                                        <p:attrNameLst>
                                          <p:attrName>ppt_w</p:attrName>
                                        </p:attrNameLst>
                                      </p:cBhvr>
                                      <p:tavLst>
                                        <p:tav tm="0">
                                          <p:val>
                                            <p:strVal val="0"/>
                                          </p:val>
                                        </p:tav>
                                        <p:tav tm="100000">
                                          <p:val>
                                            <p:strVal val="#ppt_w"/>
                                          </p:val>
                                        </p:tav>
                                      </p:tavLst>
                                    </p:anim>
                                    <p:anim calcmode="lin" valueType="num">
                                      <p:cBhvr additive="base">
                                        <p:cTn id="24" dur="300" fill="hold" decel="100000"/>
                                        <p:tgtEl>
                                          <p:spTgt spid="8"/>
                                        </p:tgtEl>
                                        <p:attrNameLst>
                                          <p:attrName>ppt_h</p:attrName>
                                        </p:attrNameLst>
                                      </p:cBhvr>
                                      <p:tavLst>
                                        <p:tav tm="0">
                                          <p:val>
                                            <p:strVal val="0"/>
                                          </p:val>
                                        </p:tav>
                                        <p:tav tm="100000">
                                          <p:val>
                                            <p:strVal val="#ppt_h"/>
                                          </p:val>
                                        </p:tav>
                                      </p:tavLst>
                                    </p:anim>
                                    <p:animEffect transition="in" filter="fade">
                                      <p:cBhvr>
                                        <p:cTn id="25" dur="3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00"/>
                                        <p:tgtEl>
                                          <p:spTgt spid="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3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600" fill="hold" decel="100000"/>
                                        <p:tgtEl>
                                          <p:spTgt spid="11"/>
                                        </p:tgtEl>
                                        <p:attrNameLst>
                                          <p:attrName>ppt_x</p:attrName>
                                        </p:attrNameLst>
                                      </p:cBhvr>
                                      <p:tavLst>
                                        <p:tav tm="0">
                                          <p:val>
                                            <p:strVal val="0-#ppt_w/2"/>
                                          </p:val>
                                        </p:tav>
                                        <p:tav tm="100000">
                                          <p:val>
                                            <p:strVal val="#ppt_x"/>
                                          </p:val>
                                        </p:tav>
                                      </p:tavLst>
                                    </p:anim>
                                    <p:anim calcmode="lin" valueType="num">
                                      <p:cBhvr additive="base">
                                        <p:cTn id="37" dur="600" fill="hold"/>
                                        <p:tgtEl>
                                          <p:spTgt spid="11"/>
                                        </p:tgtEl>
                                        <p:attrNameLst>
                                          <p:attrName>ppt_y</p:attrName>
                                        </p:attrNameLst>
                                      </p:cBhvr>
                                      <p:tavLst>
                                        <p:tav tm="0">
                                          <p:val>
                                            <p:strVal val="#ppt_y"/>
                                          </p:val>
                                        </p:tav>
                                        <p:tav tm="100000">
                                          <p:val>
                                            <p:strVal val="#ppt_y"/>
                                          </p:val>
                                        </p:tav>
                                      </p:tavLst>
                                    </p:anim>
                                  </p:childTnLst>
                                </p:cTn>
                              </p:par>
                              <p:par>
                                <p:cTn id="38" presetID="53" presetClass="entr" presetSubtype="16"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300" fill="hold" decel="100000"/>
                                        <p:tgtEl>
                                          <p:spTgt spid="12"/>
                                        </p:tgtEl>
                                        <p:attrNameLst>
                                          <p:attrName>ppt_w</p:attrName>
                                        </p:attrNameLst>
                                      </p:cBhvr>
                                      <p:tavLst>
                                        <p:tav tm="0">
                                          <p:val>
                                            <p:strVal val="0"/>
                                          </p:val>
                                        </p:tav>
                                        <p:tav tm="100000">
                                          <p:val>
                                            <p:strVal val="#ppt_w"/>
                                          </p:val>
                                        </p:tav>
                                      </p:tavLst>
                                    </p:anim>
                                    <p:anim calcmode="lin" valueType="num">
                                      <p:cBhvr additive="base">
                                        <p:cTn id="41" dur="300" fill="hold" decel="100000"/>
                                        <p:tgtEl>
                                          <p:spTgt spid="12"/>
                                        </p:tgtEl>
                                        <p:attrNameLst>
                                          <p:attrName>ppt_h</p:attrName>
                                        </p:attrNameLst>
                                      </p:cBhvr>
                                      <p:tavLst>
                                        <p:tav tm="0">
                                          <p:val>
                                            <p:strVal val="0"/>
                                          </p:val>
                                        </p:tav>
                                        <p:tav tm="100000">
                                          <p:val>
                                            <p:strVal val="#ppt_h"/>
                                          </p:val>
                                        </p:tav>
                                      </p:tavLst>
                                    </p:anim>
                                    <p:animEffect transition="in" filter="fade">
                                      <p:cBhvr>
                                        <p:cTn id="42" dur="300"/>
                                        <p:tgtEl>
                                          <p:spTgt spid="1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300"/>
                                        <p:tgtEl>
                                          <p:spTgt spid="1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3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600" fill="hold" decel="100000"/>
                                        <p:tgtEl>
                                          <p:spTgt spid="15"/>
                                        </p:tgtEl>
                                        <p:attrNameLst>
                                          <p:attrName>ppt_x</p:attrName>
                                        </p:attrNameLst>
                                      </p:cBhvr>
                                      <p:tavLst>
                                        <p:tav tm="0">
                                          <p:val>
                                            <p:strVal val="0-#ppt_w/2"/>
                                          </p:val>
                                        </p:tav>
                                        <p:tav tm="100000">
                                          <p:val>
                                            <p:strVal val="#ppt_x"/>
                                          </p:val>
                                        </p:tav>
                                      </p:tavLst>
                                    </p:anim>
                                    <p:anim calcmode="lin" valueType="num">
                                      <p:cBhvr additive="base">
                                        <p:cTn id="54" dur="600" fill="hold"/>
                                        <p:tgtEl>
                                          <p:spTgt spid="15"/>
                                        </p:tgtEl>
                                        <p:attrNameLst>
                                          <p:attrName>ppt_y</p:attrName>
                                        </p:attrNameLst>
                                      </p:cBhvr>
                                      <p:tavLst>
                                        <p:tav tm="0">
                                          <p:val>
                                            <p:strVal val="#ppt_y"/>
                                          </p:val>
                                        </p:tav>
                                        <p:tav tm="100000">
                                          <p:val>
                                            <p:strVal val="#ppt_y"/>
                                          </p:val>
                                        </p:tav>
                                      </p:tavLst>
                                    </p:anim>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300" fill="hold" decel="100000"/>
                                        <p:tgtEl>
                                          <p:spTgt spid="16"/>
                                        </p:tgtEl>
                                        <p:attrNameLst>
                                          <p:attrName>ppt_w</p:attrName>
                                        </p:attrNameLst>
                                      </p:cBhvr>
                                      <p:tavLst>
                                        <p:tav tm="0">
                                          <p:val>
                                            <p:strVal val="0"/>
                                          </p:val>
                                        </p:tav>
                                        <p:tav tm="100000">
                                          <p:val>
                                            <p:strVal val="#ppt_w"/>
                                          </p:val>
                                        </p:tav>
                                      </p:tavLst>
                                    </p:anim>
                                    <p:anim calcmode="lin" valueType="num">
                                      <p:cBhvr additive="base">
                                        <p:cTn id="58" dur="300" fill="hold" decel="100000"/>
                                        <p:tgtEl>
                                          <p:spTgt spid="16"/>
                                        </p:tgtEl>
                                        <p:attrNameLst>
                                          <p:attrName>ppt_h</p:attrName>
                                        </p:attrNameLst>
                                      </p:cBhvr>
                                      <p:tavLst>
                                        <p:tav tm="0">
                                          <p:val>
                                            <p:strVal val="0"/>
                                          </p:val>
                                        </p:tav>
                                        <p:tav tm="100000">
                                          <p:val>
                                            <p:strVal val="#ppt_h"/>
                                          </p:val>
                                        </p:tav>
                                      </p:tavLst>
                                    </p:anim>
                                    <p:animEffect transition="in" filter="fade">
                                      <p:cBhvr>
                                        <p:cTn id="59" dur="300"/>
                                        <p:tgtEl>
                                          <p:spTgt spid="16"/>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300"/>
                                        <p:tgtEl>
                                          <p:spTgt spid="1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3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ABKNICKENDE VORFAHRT</a:t>
            </a:r>
            <a:endParaRPr lang="en-US" sz="1300" dirty="0"/>
          </a:p>
        </p:txBody>
      </p:sp>
      <p:sp>
        <p:nvSpPr>
          <p:cNvPr id="6" name="e33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Dem Knick</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folgen</a:t>
            </a:r>
            <a:endParaRPr lang="en-US" sz="5200" dirty="0"/>
          </a:p>
        </p:txBody>
      </p:sp>
      <p:sp>
        <p:nvSpPr>
          <p:cNvPr id="7" name="e33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und A folgen dem Knick.</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B will geradeaus. Wer fährt?</a:t>
            </a:r>
            <a:endParaRPr lang="en-US" sz="1900" dirty="0"/>
          </a:p>
        </p:txBody>
      </p:sp>
      <p:pic>
        <p:nvPicPr>
          <p:cNvPr id="8" name="e33_4"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9" name="e33_5"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10" name="e33_6" descr="Zusatzzeichen Verlauf der Vorfahrtstraße">    </p:cNvPr>
          <p:cNvPicPr>
            <a:picLocks noChangeAspect="1"/>
          </p:cNvPicPr>
          <p:nvPr/>
        </p:nvPicPr>
        <p:blipFill>
          <a:blip r:embed="rId4"/>
          <a:stretch>
            <a:fillRect/>
          </a:stretch>
        </p:blipFill>
        <p:spPr>
          <a:xfrm>
            <a:off x="9313164" y="4997196"/>
            <a:ext cx="594360" cy="457200"/>
          </a:xfrm>
          <a:prstGeom prst="rect">
            <a:avLst/>
          </a:prstGeom>
        </p:spPr>
      </p:pic>
      <p:pic>
        <p:nvPicPr>
          <p:cNvPr id="11" name="e33_7" descr="Verkehrszeichen 306">    </p:cNvPr>
          <p:cNvPicPr>
            <a:picLocks noChangeAspect="1"/>
          </p:cNvPicPr>
          <p:nvPr/>
        </p:nvPicPr>
        <p:blipFill>
          <a:blip r:embed="rId5"/>
          <a:stretch>
            <a:fillRect/>
          </a:stretch>
        </p:blipFill>
        <p:spPr>
          <a:xfrm>
            <a:off x="6332220" y="4430268"/>
            <a:ext cx="457200" cy="457200"/>
          </a:xfrm>
          <a:prstGeom prst="rect">
            <a:avLst/>
          </a:prstGeom>
        </p:spPr>
      </p:pic>
      <p:pic>
        <p:nvPicPr>
          <p:cNvPr id="12" name="e33_8" descr="/tmp/claude-0/-home-user-Fahrlehrer-Kompass-/11378f77-94a8-55e9-a697-0f3efd4c20b9/scratchpad/bau/art/zz_SW.png">    </p:cNvPr>
          <p:cNvPicPr>
            <a:picLocks noChangeAspect="1"/>
          </p:cNvPicPr>
          <p:nvPr/>
        </p:nvPicPr>
        <p:blipFill>
          <a:blip r:embed="rId6"/>
          <a:stretch>
            <a:fillRect/>
          </a:stretch>
        </p:blipFill>
        <p:spPr>
          <a:xfrm>
            <a:off x="6195060" y="4924044"/>
            <a:ext cx="594360" cy="457200"/>
          </a:xfrm>
          <a:prstGeom prst="rect">
            <a:avLst/>
          </a:prstGeom>
        </p:spPr>
      </p:pic>
      <p:pic>
        <p:nvPicPr>
          <p:cNvPr id="13" name="e33_9" descr="Verkehrszeichen 205">    </p:cNvPr>
          <p:cNvPicPr>
            <a:picLocks noChangeAspect="1"/>
          </p:cNvPicPr>
          <p:nvPr/>
        </p:nvPicPr>
        <p:blipFill>
          <a:blip r:embed="rId7"/>
          <a:stretch>
            <a:fillRect/>
          </a:stretch>
        </p:blipFill>
        <p:spPr>
          <a:xfrm>
            <a:off x="6342235" y="1897380"/>
            <a:ext cx="520337" cy="457200"/>
          </a:xfrm>
          <a:prstGeom prst="rect">
            <a:avLst/>
          </a:prstGeom>
        </p:spPr>
      </p:pic>
      <p:pic>
        <p:nvPicPr>
          <p:cNvPr id="14" name="e33_10" descr="Verkehrszeichen 205">    </p:cNvPr>
          <p:cNvPicPr>
            <a:picLocks noChangeAspect="1"/>
          </p:cNvPicPr>
          <p:nvPr/>
        </p:nvPicPr>
        <p:blipFill>
          <a:blip r:embed="rId8"/>
          <a:stretch>
            <a:fillRect/>
          </a:stretch>
        </p:blipFill>
        <p:spPr>
          <a:xfrm>
            <a:off x="8938260" y="1970532"/>
            <a:ext cx="520337" cy="457200"/>
          </a:xfrm>
          <a:prstGeom prst="rect">
            <a:avLst/>
          </a:prstGeom>
        </p:spPr>
      </p:pic>
      <p:pic>
        <p:nvPicPr>
          <p:cNvPr id="15" name="e33_11" descr="/tmp/claude-0/-home-user-Fahrlehrer-Kompass-/11378f77-94a8-55e9-a697-0f3efd4c20b9/scratchpad/bau/art/car_du.png">    </p:cNvPr>
          <p:cNvPicPr>
            <a:picLocks noChangeAspect="1"/>
          </p:cNvPicPr>
          <p:nvPr/>
        </p:nvPicPr>
        <p:blipFill>
          <a:blip r:embed="rId9"/>
          <a:stretch>
            <a:fillRect/>
          </a:stretch>
        </p:blipFill>
        <p:spPr>
          <a:xfrm>
            <a:off x="7939278" y="4334256"/>
            <a:ext cx="740664" cy="1481328"/>
          </a:xfrm>
          <a:prstGeom prst="rect">
            <a:avLst/>
          </a:prstGeom>
        </p:spPr>
      </p:pic>
      <p:pic>
        <p:nvPicPr>
          <p:cNvPr id="16" name="e33_12" descr="/tmp/claude-0/-home-user-Fahrlehrer-Kompass-/11378f77-94a8-55e9-a697-0f3efd4c20b9/scratchpad/bau/art/car_blau.png">    </p:cNvPr>
          <p:cNvPicPr>
            <a:picLocks noChangeAspect="1"/>
          </p:cNvPicPr>
          <p:nvPr/>
        </p:nvPicPr>
        <p:blipFill>
          <a:blip r:embed="rId10"/>
          <a:stretch>
            <a:fillRect/>
          </a:stretch>
        </p:blipFill>
        <p:spPr>
          <a:xfrm rot="5400000">
            <a:off x="5847588" y="3134106"/>
            <a:ext cx="740664" cy="1481328"/>
          </a:xfrm>
          <a:prstGeom prst="rect">
            <a:avLst/>
          </a:prstGeom>
        </p:spPr>
      </p:pic>
      <p:pic>
        <p:nvPicPr>
          <p:cNvPr id="17" name="e33_13" descr="/tmp/claude-0/-home-user-Fahrlehrer-Kompass-/11378f77-94a8-55e9-a697-0f3efd4c20b9/scratchpad/bau/art/car_rot.png">    </p:cNvPr>
          <p:cNvPicPr>
            <a:picLocks noChangeAspect="1"/>
          </p:cNvPicPr>
          <p:nvPr/>
        </p:nvPicPr>
        <p:blipFill>
          <a:blip r:embed="rId11"/>
          <a:stretch>
            <a:fillRect/>
          </a:stretch>
        </p:blipFill>
        <p:spPr>
          <a:xfrm rot="16200000">
            <a:off x="9139428" y="2242566"/>
            <a:ext cx="740664" cy="1481328"/>
          </a:xfrm>
          <a:prstGeom prst="rect">
            <a:avLst/>
          </a:prstGeom>
        </p:spPr>
      </p:pic>
      <p:pic>
        <p:nvPicPr>
          <p:cNvPr id="18" name="e33_14" descr="/tmp/claude-0/-home-user-Fahrlehrer-Kompass-/11378f77-94a8-55e9-a697-0f3efd4c20b9/scratchpad/bau/art/blink_L.png">    </p:cNvPr>
          <p:cNvPicPr>
            <a:picLocks noChangeAspect="1"/>
          </p:cNvPicPr>
          <p:nvPr/>
        </p:nvPicPr>
        <p:blipFill>
          <a:blip r:embed="rId12"/>
          <a:stretch>
            <a:fillRect/>
          </a:stretch>
        </p:blipFill>
        <p:spPr>
          <a:xfrm>
            <a:off x="7939278" y="4334256"/>
            <a:ext cx="740664" cy="1481328"/>
          </a:xfrm>
          <a:prstGeom prst="rect">
            <a:avLst/>
          </a:prstGeom>
        </p:spPr>
      </p:pic>
      <p:pic>
        <p:nvPicPr>
          <p:cNvPr id="19" name="e33_15" descr="/tmp/claude-0/-home-user-Fahrlehrer-Kompass-/11378f77-94a8-55e9-a697-0f3efd4c20b9/scratchpad/bau/art/blink_R.png">    </p:cNvPr>
          <p:cNvPicPr>
            <a:picLocks noChangeAspect="1"/>
          </p:cNvPicPr>
          <p:nvPr/>
        </p:nvPicPr>
        <p:blipFill>
          <a:blip r:embed="rId13"/>
          <a:stretch>
            <a:fillRect/>
          </a:stretch>
        </p:blipFill>
        <p:spPr>
          <a:xfrm rot="5400000">
            <a:off x="5847588" y="3134106"/>
            <a:ext cx="740664" cy="1481328"/>
          </a:xfrm>
          <a:prstGeom prst="rect">
            <a:avLst/>
          </a:prstGeom>
        </p:spPr>
      </p:pic>
      <p:sp>
        <p:nvSpPr>
          <p:cNvPr id="20" name="e33_16"/>
          <p:cNvSpPr txBox="1"/>
          <p:nvPr/>
        </p:nvSpPr>
        <p:spPr>
          <a:xfrm>
            <a:off x="5678424" y="4222242"/>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1" name="e33_17"/>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22" name="e33_18"/>
          <p:cNvSpPr txBox="1"/>
          <p:nvPr/>
        </p:nvSpPr>
        <p:spPr>
          <a:xfrm rot="-180000">
            <a:off x="731520" y="4434840"/>
            <a:ext cx="384048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B wartet: Nebenstraße</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42" presetClass="entr" presetSubtype="0" fill="hold" grpId="0" nodeType="withEffect">
                                  <p:stCondLst>
                                    <p:cond delay="55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650"/>
                                        <p:tgtEl>
                                          <p:spTgt spid="20"/>
                                        </p:tgtEl>
                                      </p:cBhvr>
                                    </p:animEffect>
                                    <p:anim calcmode="lin" valueType="num">
                                      <p:cBhvr additive="base">
                                        <p:cTn id="44"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45" dur="650" fill="hold" decel="100000"/>
                                        <p:tgtEl>
                                          <p:spTgt spid="20"/>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605"/>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650"/>
                                        <p:tgtEl>
                                          <p:spTgt spid="21"/>
                                        </p:tgtEl>
                                      </p:cBhvr>
                                    </p:animEffect>
                                    <p:anim calcmode="lin" valueType="num">
                                      <p:cBhvr additive="base">
                                        <p:cTn id="49"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50" dur="650" fill="hold" decel="100000"/>
                                        <p:tgtEl>
                                          <p:spTgt spid="21"/>
                                        </p:tgtEl>
                                        <p:attrNameLst>
                                          <p:attrName>ppt_y</p:attrName>
                                        </p:attrNameLst>
                                      </p:cBhvr>
                                      <p:tavLst>
                                        <p:tav tm="0">
                                          <p:val>
                                            <p:strVal val="#ppt_y+.05"/>
                                          </p:val>
                                        </p:tav>
                                        <p:tav tm="100000">
                                          <p:val>
                                            <p:strVal val="#ppt_y"/>
                                          </p:val>
                                        </p:tav>
                                      </p:tavLst>
                                    </p:anim>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150"/>
                                        <p:tgtEl>
                                          <p:spTgt spid="18"/>
                                        </p:tgtEl>
                                      </p:cBhvr>
                                    </p:animEffect>
                                  </p:childTnLst>
                                </p:cTn>
                              </p:par>
                              <p:par>
                                <p:cTn id="54" presetID="35" presetClass="emph" presetSubtype="0" fill="hold" nodeType="withEffect" repeatCount="indefinite">
                                  <p:stCondLst>
                                    <p:cond delay="0"/>
                                  </p:stCondLst>
                                  <p:childTnLst>
                                    <p:anim calcmode="discrete" valueType="str">
                                      <p:cBhvr override="childStyle">
                                        <p:cTn id="55" dur="700"/>
                                        <p:tgtEl>
                                          <p:spTgt spid="18"/>
                                        </p:tgtEl>
                                        <p:attrNameLst>
                                          <p:attrName>style.visibility</p:attrName>
                                        </p:attrNameLst>
                                      </p:cBhvr>
                                      <p:tavLst>
                                        <p:tav tm="0">
                                          <p:val>
                                            <p:strVal val="hidden"/>
                                          </p:val>
                                        </p:tav>
                                        <p:tav tm="50000">
                                          <p:val>
                                            <p:strVal val="visible"/>
                                          </p:val>
                                        </p:tav>
                                      </p:tavLst>
                                    </p:anim>
                                  </p:childTnLst>
                                </p:cTn>
                              </p:par>
                              <p:par>
                                <p:cTn id="56" presetID="10" presetClass="entr" presetSubtype="0" fill="hold"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150"/>
                                        <p:tgtEl>
                                          <p:spTgt spid="19"/>
                                        </p:tgtEl>
                                      </p:cBhvr>
                                    </p:animEffect>
                                  </p:childTnLst>
                                </p:cTn>
                              </p:par>
                              <p:par>
                                <p:cTn id="59" presetID="35" presetClass="emph" presetSubtype="0" fill="hold" nodeType="withEffect" repeatCount="indefinite">
                                  <p:stCondLst>
                                    <p:cond delay="0"/>
                                  </p:stCondLst>
                                  <p:childTnLst>
                                    <p:anim calcmode="discrete" valueType="str">
                                      <p:cBhvr override="childStyle">
                                        <p:cTn id="60" dur="700"/>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61" fill="hold">
                      <p:stCondLst>
                        <p:cond delay="indefinite"/>
                      </p:stCondLst>
                      <p:childTnLst>
                        <p:par>
                          <p:cTn id="62" fill="hold">
                            <p:stCondLst>
                              <p:cond delay="0"/>
                            </p:stCondLst>
                            <p:childTnLst>
                              <p:par>
                                <p:cTn id="63" presetID="0" presetClass="path" presetSubtype="0" fill="hold" nodeType="clickEffect" accel="50000">
                                  <p:stCondLst>
                                    <p:cond delay="0"/>
                                  </p:stCondLst>
                                  <p:childTnLst>
                                    <p:animMotion origin="layout" path="M 0 0 C 0 -0.0439 0 -0.0878 0 -0.1317 E" pathEditMode="relative" rAng="0" ptsTypes="">
                                      <p:cBhvr>
                                        <p:cTn id="64" dur="581" fill="hold"/>
                                        <p:tgtEl>
                                          <p:spTgt spid="15"/>
                                        </p:tgtEl>
                                        <p:attrNameLst>
                                          <p:attrName>ppt_x</p:attrName>
                                          <p:attrName>ppt_y</p:attrName>
                                        </p:attrNameLst>
                                      </p:cBhvr>
                                      <p:rCtr x="0" y="0"/>
                                    </p:animMotion>
                                  </p:childTnLst>
                                </p:cTn>
                              </p:par>
                              <p:par>
                                <p:cTn id="65" presetID="0" presetClass="path" presetSubtype="0" fill="hold" nodeType="withEffect" accel="50000">
                                  <p:stCondLst>
                                    <p:cond delay="0"/>
                                  </p:stCondLst>
                                  <p:childTnLst>
                                    <p:animMotion origin="layout" path="M 0 0 C 0 -0.0439 0 -0.0878 0 -0.1317 E" pathEditMode="relative" rAng="0" ptsTypes="">
                                      <p:cBhvr>
                                        <p:cTn id="66" dur="581" fill="hold"/>
                                        <p:tgtEl>
                                          <p:spTgt spid="18"/>
                                        </p:tgtEl>
                                        <p:attrNameLst>
                                          <p:attrName>ppt_x</p:attrName>
                                          <p:attrName>ppt_y</p:attrName>
                                        </p:attrNameLst>
                                      </p:cBhvr>
                                      <p:rCtr x="0" y="0"/>
                                    </p:animMotion>
                                  </p:childTnLst>
                                </p:cTn>
                              </p:par>
                              <p:par>
                                <p:cTn id="67" presetID="0" presetClass="path" presetSubtype="0" fill="hold" nodeType="withEffect" accel="50000">
                                  <p:stCondLst>
                                    <p:cond delay="0"/>
                                  </p:stCondLst>
                                  <p:childTnLst>
                                    <p:animMotion origin="layout" path="M 0 0 C 0.0128 0 0.0256 0 0.0384 0 E" pathEditMode="relative" rAng="0" ptsTypes="">
                                      <p:cBhvr>
                                        <p:cTn id="68" dur="301" fill="hold"/>
                                        <p:tgtEl>
                                          <p:spTgt spid="16"/>
                                        </p:tgtEl>
                                        <p:attrNameLst>
                                          <p:attrName>ppt_x</p:attrName>
                                          <p:attrName>ppt_y</p:attrName>
                                        </p:attrNameLst>
                                      </p:cBhvr>
                                      <p:rCtr x="0" y="0"/>
                                    </p:animMotion>
                                  </p:childTnLst>
                                </p:cTn>
                              </p:par>
                              <p:par>
                                <p:cTn id="69" presetID="0" presetClass="path" presetSubtype="0" fill="hold" nodeType="withEffect" accel="50000">
                                  <p:stCondLst>
                                    <p:cond delay="0"/>
                                  </p:stCondLst>
                                  <p:childTnLst>
                                    <p:animMotion origin="layout" path="M 0 0 C 0.0128 0 0.0256 0 0.0384 0 E" pathEditMode="relative" rAng="0" ptsTypes="">
                                      <p:cBhvr>
                                        <p:cTn id="70" dur="301" fill="hold"/>
                                        <p:tgtEl>
                                          <p:spTgt spid="19"/>
                                        </p:tgtEl>
                                        <p:attrNameLst>
                                          <p:attrName>ppt_x</p:attrName>
                                          <p:attrName>ppt_y</p:attrName>
                                        </p:attrNameLst>
                                      </p:cBhvr>
                                      <p:rCtr x="0" y="0"/>
                                    </p:animMotion>
                                  </p:childTnLst>
                                </p:cTn>
                              </p:par>
                            </p:childTnLst>
                          </p:cTn>
                        </p:par>
                        <p:par>
                          <p:cTn id="71" fill="hold">
                            <p:stCondLst>
                              <p:cond delay="581"/>
                            </p:stCondLst>
                            <p:childTnLst>
                              <p:par>
                                <p:cTn id="72" presetID="0" presetClass="path" presetSubtype="0" fill="hold" nodeType="afterEffect">
                                  <p:stCondLst>
                                    <p:cond delay="0"/>
                                  </p:stCondLst>
                                  <p:childTnLst>
                                    <p:animMotion origin="layout" path="M 0 -0.1317 C 0 -0.2274 -0.0437 -0.305 -0.0975 -0.305 E" pathEditMode="relative" rAng="0" ptsTypes="">
                                      <p:cBhvr>
                                        <p:cTn id="73" dur="1201" fill="hold"/>
                                        <p:tgtEl>
                                          <p:spTgt spid="15"/>
                                        </p:tgtEl>
                                        <p:attrNameLst>
                                          <p:attrName>ppt_x</p:attrName>
                                          <p:attrName>ppt_y</p:attrName>
                                        </p:attrNameLst>
                                      </p:cBhvr>
                                      <p:rCtr x="0" y="0"/>
                                    </p:animMotion>
                                  </p:childTnLst>
                                </p:cTn>
                              </p:par>
                              <p:par>
                                <p:cTn id="74" presetID="8" presetClass="emph" presetSubtype="0" fill="hold" nodeType="withEffect">
                                  <p:stCondLst>
                                    <p:cond delay="0"/>
                                  </p:stCondLst>
                                  <p:childTnLst>
                                    <p:animRot by="-5400000">
                                      <p:cBhvr>
                                        <p:cTn id="75" dur="1201" fill="hold"/>
                                        <p:tgtEl>
                                          <p:spTgt spid="15"/>
                                        </p:tgtEl>
                                        <p:attrNameLst>
                                          <p:attrName>r</p:attrName>
                                        </p:attrNameLst>
                                      </p:cBhvr>
                                    </p:animRot>
                                  </p:childTnLst>
                                </p:cTn>
                              </p:par>
                              <p:par>
                                <p:cTn id="76" presetID="0" presetClass="path" presetSubtype="0" fill="hold" nodeType="withEffect">
                                  <p:stCondLst>
                                    <p:cond delay="0"/>
                                  </p:stCondLst>
                                  <p:childTnLst>
                                    <p:animMotion origin="layout" path="M 0 -0.1317 C 0 -0.2274 -0.0437 -0.305 -0.0975 -0.305 E" pathEditMode="relative" rAng="0" ptsTypes="">
                                      <p:cBhvr>
                                        <p:cTn id="77" dur="1201" fill="hold"/>
                                        <p:tgtEl>
                                          <p:spTgt spid="18"/>
                                        </p:tgtEl>
                                        <p:attrNameLst>
                                          <p:attrName>ppt_x</p:attrName>
                                          <p:attrName>ppt_y</p:attrName>
                                        </p:attrNameLst>
                                      </p:cBhvr>
                                      <p:rCtr x="0" y="0"/>
                                    </p:animMotion>
                                  </p:childTnLst>
                                </p:cTn>
                              </p:par>
                              <p:par>
                                <p:cTn id="78" presetID="8" presetClass="emph" presetSubtype="0" fill="hold" nodeType="withEffect">
                                  <p:stCondLst>
                                    <p:cond delay="0"/>
                                  </p:stCondLst>
                                  <p:childTnLst>
                                    <p:animRot by="-5400000">
                                      <p:cBhvr>
                                        <p:cTn id="79" dur="1201" fill="hold"/>
                                        <p:tgtEl>
                                          <p:spTgt spid="18"/>
                                        </p:tgtEl>
                                        <p:attrNameLst>
                                          <p:attrName>r</p:attrName>
                                        </p:attrNameLst>
                                      </p:cBhvr>
                                    </p:animRot>
                                  </p:childTnLst>
                                </p:cTn>
                              </p:par>
                              <p:par>
                                <p:cTn id="80" presetID="0" presetClass="path" presetSubtype="0" fill="hold" nodeType="withEffect">
                                  <p:stCondLst>
                                    <p:cond delay="0"/>
                                  </p:stCondLst>
                                  <p:childTnLst>
                                    <p:animMotion origin="layout" path="M 0.0384 0 C 0.0716 0 0.0984 0.0478 0.0984 0.1067 E" pathEditMode="relative" rAng="0" ptsTypes="">
                                      <p:cBhvr>
                                        <p:cTn id="81" dur="739" fill="hold"/>
                                        <p:tgtEl>
                                          <p:spTgt spid="16"/>
                                        </p:tgtEl>
                                        <p:attrNameLst>
                                          <p:attrName>ppt_x</p:attrName>
                                          <p:attrName>ppt_y</p:attrName>
                                        </p:attrNameLst>
                                      </p:cBhvr>
                                      <p:rCtr x="0" y="0"/>
                                    </p:animMotion>
                                  </p:childTnLst>
                                </p:cTn>
                              </p:par>
                              <p:par>
                                <p:cTn id="82" presetID="8" presetClass="emph" presetSubtype="0" fill="hold" nodeType="withEffect">
                                  <p:stCondLst>
                                    <p:cond delay="0"/>
                                  </p:stCondLst>
                                  <p:childTnLst>
                                    <p:animRot by="5400000">
                                      <p:cBhvr>
                                        <p:cTn id="83" dur="739" fill="hold"/>
                                        <p:tgtEl>
                                          <p:spTgt spid="16"/>
                                        </p:tgtEl>
                                        <p:attrNameLst>
                                          <p:attrName>r</p:attrName>
                                        </p:attrNameLst>
                                      </p:cBhvr>
                                    </p:animRot>
                                  </p:childTnLst>
                                </p:cTn>
                              </p:par>
                              <p:par>
                                <p:cTn id="84" presetID="0" presetClass="path" presetSubtype="0" fill="hold" nodeType="withEffect">
                                  <p:stCondLst>
                                    <p:cond delay="0"/>
                                  </p:stCondLst>
                                  <p:childTnLst>
                                    <p:animMotion origin="layout" path="M 0.0384 0 C 0.0716 0 0.0984 0.0478 0.0984 0.1067 E" pathEditMode="relative" rAng="0" ptsTypes="">
                                      <p:cBhvr>
                                        <p:cTn id="85" dur="739" fill="hold"/>
                                        <p:tgtEl>
                                          <p:spTgt spid="19"/>
                                        </p:tgtEl>
                                        <p:attrNameLst>
                                          <p:attrName>ppt_x</p:attrName>
                                          <p:attrName>ppt_y</p:attrName>
                                        </p:attrNameLst>
                                      </p:cBhvr>
                                      <p:rCtr x="0" y="0"/>
                                    </p:animMotion>
                                  </p:childTnLst>
                                </p:cTn>
                              </p:par>
                              <p:par>
                                <p:cTn id="86" presetID="8" presetClass="emph" presetSubtype="0" fill="hold" nodeType="withEffect">
                                  <p:stCondLst>
                                    <p:cond delay="0"/>
                                  </p:stCondLst>
                                  <p:childTnLst>
                                    <p:animRot by="5400000">
                                      <p:cBhvr>
                                        <p:cTn id="87" dur="739" fill="hold"/>
                                        <p:tgtEl>
                                          <p:spTgt spid="19"/>
                                        </p:tgtEl>
                                        <p:attrNameLst>
                                          <p:attrName>r</p:attrName>
                                        </p:attrNameLst>
                                      </p:cBhvr>
                                    </p:animRot>
                                  </p:childTnLst>
                                </p:cTn>
                              </p:par>
                            </p:childTnLst>
                          </p:cTn>
                        </p:par>
                        <p:par>
                          <p:cTn id="88" fill="hold">
                            <p:stCondLst>
                              <p:cond delay="1782"/>
                            </p:stCondLst>
                            <p:childTnLst>
                              <p:par>
                                <p:cTn id="89" presetID="0" presetClass="path" presetSubtype="0" fill="hold" nodeType="afterEffect" decel="50000">
                                  <p:stCondLst>
                                    <p:cond delay="0"/>
                                  </p:stCondLst>
                                  <p:childTnLst>
                                    <p:animMotion origin="layout" path="M -0.0975 -0.305 C -0.1375 -0.305 -0.1775 -0.305 -0.2175 -0.305 E" pathEditMode="relative" rAng="0" ptsTypes="">
                                      <p:cBhvr>
                                        <p:cTn id="90" dur="941" fill="hold"/>
                                        <p:tgtEl>
                                          <p:spTgt spid="15"/>
                                        </p:tgtEl>
                                        <p:attrNameLst>
                                          <p:attrName>ppt_x</p:attrName>
                                          <p:attrName>ppt_y</p:attrName>
                                        </p:attrNameLst>
                                      </p:cBhvr>
                                      <p:rCtr x="0" y="0"/>
                                    </p:animMotion>
                                  </p:childTnLst>
                                </p:cTn>
                              </p:par>
                              <p:par>
                                <p:cTn id="91" presetID="0" presetClass="path" presetSubtype="0" fill="hold" nodeType="withEffect" decel="50000">
                                  <p:stCondLst>
                                    <p:cond delay="0"/>
                                  </p:stCondLst>
                                  <p:childTnLst>
                                    <p:animMotion origin="layout" path="M -0.0975 -0.305 C -0.1375 -0.305 -0.1775 -0.305 -0.2175 -0.305 E" pathEditMode="relative" rAng="0" ptsTypes="">
                                      <p:cBhvr>
                                        <p:cTn id="92" dur="941" fill="hold"/>
                                        <p:tgtEl>
                                          <p:spTgt spid="18"/>
                                        </p:tgtEl>
                                        <p:attrNameLst>
                                          <p:attrName>ppt_x</p:attrName>
                                          <p:attrName>ppt_y</p:attrName>
                                        </p:attrNameLst>
                                      </p:cBhvr>
                                      <p:rCtr x="0" y="0"/>
                                    </p:animMotion>
                                  </p:childTnLst>
                                </p:cTn>
                              </p:par>
                              <p:par>
                                <p:cTn id="93" presetID="0" presetClass="path" presetSubtype="0" fill="hold" nodeType="withEffect" decel="50000">
                                  <p:stCondLst>
                                    <p:cond delay="0"/>
                                  </p:stCondLst>
                                  <p:childTnLst>
                                    <p:animMotion origin="layout" path="M 0.0984 0.1067 C 0.0984 0.24 0.0984 0.3733 0.0984 0.5067 E" pathEditMode="relative" rAng="0" ptsTypes="">
                                      <p:cBhvr>
                                        <p:cTn id="94" dur="1765" fill="hold"/>
                                        <p:tgtEl>
                                          <p:spTgt spid="16"/>
                                        </p:tgtEl>
                                        <p:attrNameLst>
                                          <p:attrName>ppt_x</p:attrName>
                                          <p:attrName>ppt_y</p:attrName>
                                        </p:attrNameLst>
                                      </p:cBhvr>
                                      <p:rCtr x="0" y="0"/>
                                    </p:animMotion>
                                  </p:childTnLst>
                                </p:cTn>
                              </p:par>
                              <p:par>
                                <p:cTn id="95" presetID="0" presetClass="path" presetSubtype="0" fill="hold" nodeType="withEffect" decel="50000">
                                  <p:stCondLst>
                                    <p:cond delay="0"/>
                                  </p:stCondLst>
                                  <p:childTnLst>
                                    <p:animMotion origin="layout" path="M 0.0984 0.1067 C 0.0984 0.24 0.0984 0.3733 0.0984 0.5067 E" pathEditMode="relative" rAng="0" ptsTypes="">
                                      <p:cBhvr>
                                        <p:cTn id="96" dur="1765" fill="hold"/>
                                        <p:tgtEl>
                                          <p:spTgt spid="19"/>
                                        </p:tgtEl>
                                        <p:attrNameLst>
                                          <p:attrName>ppt_x</p:attrName>
                                          <p:attrName>ppt_y</p:attrName>
                                        </p:attrNameLst>
                                      </p:cBhvr>
                                      <p:rCtr x="0" y="0"/>
                                    </p:animMotion>
                                  </p:childTnLst>
                                </p:cTn>
                              </p:par>
                            </p:childTnLst>
                          </p:cTn>
                        </p:par>
                        <p:par>
                          <p:cTn id="97" fill="hold">
                            <p:stCondLst>
                              <p:cond delay="3547"/>
                            </p:stCondLst>
                            <p:childTnLst>
                              <p:par>
                                <p:cTn id="98" presetID="10" presetClass="exit" presetSubtype="0" fill="hold" nodeType="afterEffect">
                                  <p:stCondLst>
                                    <p:cond delay="0"/>
                                  </p:stCondLst>
                                  <p:childTnLst>
                                    <p:animEffect transition="out" filter="fade">
                                      <p:cBhvr>
                                        <p:cTn id="99" dur="350"/>
                                        <p:tgtEl>
                                          <p:spTgt spid="15"/>
                                        </p:tgtEl>
                                      </p:cBhvr>
                                    </p:animEffect>
                                    <p:set>
                                      <p:cBhvr>
                                        <p:cTn id="100" dur="1" fill="hold">
                                          <p:stCondLst>
                                            <p:cond delay="349"/>
                                          </p:stCondLst>
                                        </p:cTn>
                                        <p:tgtEl>
                                          <p:spTgt spid="15"/>
                                        </p:tgtEl>
                                        <p:attrNameLst>
                                          <p:attrName>style.visibility</p:attrName>
                                        </p:attrNameLst>
                                      </p:cBhvr>
                                      <p:to>
                                        <p:strVal val="hidden"/>
                                      </p:to>
                                    </p:set>
                                  </p:childTnLst>
                                </p:cTn>
                              </p:par>
                              <p:par>
                                <p:cTn id="101" presetID="10" presetClass="exit" presetSubtype="0" fill="hold" nodeType="withEffect">
                                  <p:stCondLst>
                                    <p:cond delay="0"/>
                                  </p:stCondLst>
                                  <p:childTnLst>
                                    <p:animEffect transition="out" filter="fade">
                                      <p:cBhvr>
                                        <p:cTn id="102" dur="350"/>
                                        <p:tgtEl>
                                          <p:spTgt spid="18"/>
                                        </p:tgtEl>
                                      </p:cBhvr>
                                    </p:animEffect>
                                    <p:set>
                                      <p:cBhvr>
                                        <p:cTn id="103" dur="1" fill="hold">
                                          <p:stCondLst>
                                            <p:cond delay="349"/>
                                          </p:stCondLst>
                                        </p:cTn>
                                        <p:tgtEl>
                                          <p:spTgt spid="18"/>
                                        </p:tgtEl>
                                        <p:attrNameLst>
                                          <p:attrName>style.visibility</p:attrName>
                                        </p:attrNameLst>
                                      </p:cBhvr>
                                      <p:to>
                                        <p:strVal val="hidden"/>
                                      </p:to>
                                    </p:set>
                                  </p:childTnLst>
                                </p:cTn>
                              </p:par>
                              <p:par>
                                <p:cTn id="104" presetID="10" presetClass="exit" presetSubtype="0" fill="hold" nodeType="withEffect">
                                  <p:stCondLst>
                                    <p:cond delay="0"/>
                                  </p:stCondLst>
                                  <p:childTnLst>
                                    <p:animEffect transition="out" filter="fade">
                                      <p:cBhvr>
                                        <p:cTn id="105" dur="350"/>
                                        <p:tgtEl>
                                          <p:spTgt spid="16"/>
                                        </p:tgtEl>
                                      </p:cBhvr>
                                    </p:animEffect>
                                    <p:set>
                                      <p:cBhvr>
                                        <p:cTn id="106" dur="1" fill="hold">
                                          <p:stCondLst>
                                            <p:cond delay="349"/>
                                          </p:stCondLst>
                                        </p:cTn>
                                        <p:tgtEl>
                                          <p:spTgt spid="16"/>
                                        </p:tgtEl>
                                        <p:attrNameLst>
                                          <p:attrName>style.visibility</p:attrName>
                                        </p:attrNameLst>
                                      </p:cBhvr>
                                      <p:to>
                                        <p:strVal val="hidden"/>
                                      </p:to>
                                    </p:set>
                                  </p:childTnLst>
                                </p:cTn>
                              </p:par>
                              <p:par>
                                <p:cTn id="107" presetID="10" presetClass="exit" presetSubtype="0" fill="hold" nodeType="withEffect">
                                  <p:stCondLst>
                                    <p:cond delay="0"/>
                                  </p:stCondLst>
                                  <p:childTnLst>
                                    <p:animEffect transition="out" filter="fade">
                                      <p:cBhvr>
                                        <p:cTn id="108" dur="350"/>
                                        <p:tgtEl>
                                          <p:spTgt spid="19"/>
                                        </p:tgtEl>
                                      </p:cBhvr>
                                    </p:animEffect>
                                    <p:set>
                                      <p:cBhvr>
                                        <p:cTn id="109" dur="1" fill="hold">
                                          <p:stCondLst>
                                            <p:cond delay="349"/>
                                          </p:stCondLst>
                                        </p:cTn>
                                        <p:tgtEl>
                                          <p:spTgt spid="19"/>
                                        </p:tgtEl>
                                        <p:attrNameLst>
                                          <p:attrName>style.visibility</p:attrName>
                                        </p:attrNameLst>
                                      </p:cBhvr>
                                      <p:to>
                                        <p:strVal val="hidden"/>
                                      </p:to>
                                    </p:set>
                                  </p:childTnLst>
                                </p:cTn>
                              </p:par>
                            </p:childTnLst>
                          </p:cTn>
                        </p:par>
                        <p:par>
                          <p:cTn id="110" fill="hold">
                            <p:stCondLst>
                              <p:cond delay="3897"/>
                            </p:stCondLst>
                            <p:childTnLst>
                              <p:par>
                                <p:cTn id="111" presetID="53" presetClass="entr" presetSubtype="32" fill="hold" grpId="0" nodeType="afterEffect">
                                  <p:stCondLst>
                                    <p:cond delay="0"/>
                                  </p:stCondLst>
                                  <p:childTnLst>
                                    <p:set>
                                      <p:cBhvr>
                                        <p:cTn id="112" dur="1" fill="hold">
                                          <p:stCondLst>
                                            <p:cond delay="0"/>
                                          </p:stCondLst>
                                        </p:cTn>
                                        <p:tgtEl>
                                          <p:spTgt spid="22"/>
                                        </p:tgtEl>
                                        <p:attrNameLst>
                                          <p:attrName>style.visibility</p:attrName>
                                        </p:attrNameLst>
                                      </p:cBhvr>
                                      <p:to>
                                        <p:strVal val="visible"/>
                                      </p:to>
                                    </p:set>
                                    <p:anim calcmode="lin" valueType="num">
                                      <p:cBhvr additive="base">
                                        <p:cTn id="113"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114" dur="380" fill="hold" accel="60000"/>
                                        <p:tgtEl>
                                          <p:spTgt spid="22"/>
                                        </p:tgtEl>
                                        <p:attrNameLst>
                                          <p:attrName>ppt_h</p:attrName>
                                        </p:attrNameLst>
                                      </p:cBhvr>
                                      <p:tavLst>
                                        <p:tav tm="0">
                                          <p:val>
                                            <p:strVal val="#ppt_h*2.2"/>
                                          </p:val>
                                        </p:tav>
                                        <p:tav tm="100000">
                                          <p:val>
                                            <p:strVal val="#ppt_h"/>
                                          </p:val>
                                        </p:tav>
                                      </p:tavLst>
                                    </p:anim>
                                    <p:animEffect transition="in" filter="fade">
                                      <p:cBhvr>
                                        <p:cTn id="115" dur="228"/>
                                        <p:tgtEl>
                                          <p:spTgt spid="22"/>
                                        </p:tgtEl>
                                      </p:cBhvr>
                                    </p:animEffect>
                                  </p:childTnLst>
                                </p:cTn>
                              </p:par>
                            </p:childTnLst>
                          </p:cTn>
                        </p:par>
                      </p:childTnLst>
                    </p:cTn>
                  </p:par>
                  <p:par>
                    <p:cTn id="116" fill="hold">
                      <p:stCondLst>
                        <p:cond delay="indefinite"/>
                      </p:stCondLst>
                      <p:childTnLst>
                        <p:par>
                          <p:cTn id="117" fill="hold">
                            <p:stCondLst>
                              <p:cond delay="0"/>
                            </p:stCondLst>
                            <p:childTnLst>
                              <p:par>
                                <p:cTn id="118" presetID="0" presetClass="path" presetSubtype="0" fill="hold" nodeType="clickEffect" accel="40000" decel="40000">
                                  <p:stCondLst>
                                    <p:cond delay="0"/>
                                  </p:stCondLst>
                                  <p:childTnLst>
                                    <p:animMotion origin="layout" path="M 0 0 C -0.09 0 -0.18 0 -0.27 0 E" pathEditMode="relative" rAng="0" ptsTypes="">
                                      <p:cBhvr>
                                        <p:cTn id="119" dur="2118" fill="hold"/>
                                        <p:tgtEl>
                                          <p:spTgt spid="17"/>
                                        </p:tgtEl>
                                        <p:attrNameLst>
                                          <p:attrName>ppt_x</p:attrName>
                                          <p:attrName>ppt_y</p:attrName>
                                        </p:attrNameLst>
                                      </p:cBhvr>
                                      <p:rCtr x="0" y="0"/>
                                    </p:animMotion>
                                  </p:childTnLst>
                                </p:cTn>
                              </p:par>
                            </p:childTnLst>
                          </p:cTn>
                        </p:par>
                        <p:par>
                          <p:cTn id="120" fill="hold">
                            <p:stCondLst>
                              <p:cond delay="2118"/>
                            </p:stCondLst>
                            <p:childTnLst>
                              <p:par>
                                <p:cTn id="121" presetID="10" presetClass="exit" presetSubtype="0" fill="hold" nodeType="afterEffect">
                                  <p:stCondLst>
                                    <p:cond delay="0"/>
                                  </p:stCondLst>
                                  <p:childTnLst>
                                    <p:animEffect transition="out" filter="fade">
                                      <p:cBhvr>
                                        <p:cTn id="122" dur="350"/>
                                        <p:tgtEl>
                                          <p:spTgt spid="17"/>
                                        </p:tgtEl>
                                      </p:cBhvr>
                                    </p:animEffect>
                                    <p:set>
                                      <p:cBhvr>
                                        <p:cTn id="123" dur="1" fill="hold">
                                          <p:stCondLst>
                                            <p:cond delay="34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0" grpId="0" animBg="1"/>
      <p:bldP spid="21" grpId="0" animBg="1"/>
      <p:bldP spid="2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RUNDE 5 VON 5</a:t>
            </a:r>
            <a:endParaRPr lang="en-US" sz="1300" dirty="0"/>
          </a:p>
        </p:txBody>
      </p:sp>
      <p:sp>
        <p:nvSpPr>
          <p:cNvPr id="6" name="e34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fährt</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zuerst?</a:t>
            </a:r>
            <a:endParaRPr lang="en-US" sz="5200" dirty="0"/>
          </a:p>
        </p:txBody>
      </p:sp>
      <p:sp>
        <p:nvSpPr>
          <p:cNvPr id="7" name="e34_3"/>
          <p:cNvSpPr txBox="1"/>
          <p:nvPr/>
        </p:nvSpPr>
        <p:spPr>
          <a:xfrm>
            <a:off x="731520" y="3108960"/>
            <a:ext cx="4023360" cy="1005840"/>
          </a:xfrm>
          <a:prstGeom prst="rect">
            <a:avLst/>
          </a:prstGeom>
          <a:noFill/>
          <a:ln/>
        </p:spPr>
        <p:txBody>
          <a:bodyPr wrap="square" lIns="0" tIns="0" rIns="0" bIns="0" rtlCol="0" anchor="t"/>
          <a:lstStyle/>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C folgt dem Knick nach rechts.</a:t>
            </a:r>
            <a:endParaRPr lang="en-US" sz="1800" dirty="0"/>
          </a:p>
          <a:p>
            <a:pPr algn="l" indent="0" marL="0">
              <a:lnSpc>
                <a:spcPct val="112000"/>
              </a:lnSpc>
              <a:buNone/>
            </a:pPr>
            <a:r>
              <a:rPr lang="en-US" sz="1800" dirty="0">
                <a:solidFill>
                  <a:srgbClr val="A7B0BD"/>
                </a:solidFill>
                <a:latin typeface="Calibri" pitchFamily="34" charset="0"/>
                <a:ea typeface="Calibri" pitchFamily="34" charset="-122"/>
                <a:cs typeface="Calibri" pitchFamily="34" charset="-120"/>
              </a:rPr>
              <a:t>A und B wollen geradeaus.</a:t>
            </a:r>
            <a:endParaRPr lang="en-US" sz="1800" dirty="0"/>
          </a:p>
        </p:txBody>
      </p:sp>
      <p:pic>
        <p:nvPicPr>
          <p:cNvPr id="8" name="e34_4"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9" name="e34_5"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10" name="e34_6" descr="Zusatzzeichen Verlauf der Vorfahrtstraße">    </p:cNvPr>
          <p:cNvPicPr>
            <a:picLocks noChangeAspect="1"/>
          </p:cNvPicPr>
          <p:nvPr/>
        </p:nvPicPr>
        <p:blipFill>
          <a:blip r:embed="rId4"/>
          <a:stretch>
            <a:fillRect/>
          </a:stretch>
        </p:blipFill>
        <p:spPr>
          <a:xfrm>
            <a:off x="9313164" y="4997196"/>
            <a:ext cx="594360" cy="457200"/>
          </a:xfrm>
          <a:prstGeom prst="rect">
            <a:avLst/>
          </a:prstGeom>
        </p:spPr>
      </p:pic>
      <p:pic>
        <p:nvPicPr>
          <p:cNvPr id="11" name="e34_7" descr="Verkehrszeichen 306">    </p:cNvPr>
          <p:cNvPicPr>
            <a:picLocks noChangeAspect="1"/>
          </p:cNvPicPr>
          <p:nvPr/>
        </p:nvPicPr>
        <p:blipFill>
          <a:blip r:embed="rId5"/>
          <a:stretch>
            <a:fillRect/>
          </a:stretch>
        </p:blipFill>
        <p:spPr>
          <a:xfrm>
            <a:off x="6332220" y="4430268"/>
            <a:ext cx="457200" cy="457200"/>
          </a:xfrm>
          <a:prstGeom prst="rect">
            <a:avLst/>
          </a:prstGeom>
        </p:spPr>
      </p:pic>
      <p:pic>
        <p:nvPicPr>
          <p:cNvPr id="12" name="e34_8" descr="/tmp/claude-0/-home-user-Fahrlehrer-Kompass-/11378f77-94a8-55e9-a697-0f3efd4c20b9/scratchpad/bau/art/zz_SW.png">    </p:cNvPr>
          <p:cNvPicPr>
            <a:picLocks noChangeAspect="1"/>
          </p:cNvPicPr>
          <p:nvPr/>
        </p:nvPicPr>
        <p:blipFill>
          <a:blip r:embed="rId6"/>
          <a:stretch>
            <a:fillRect/>
          </a:stretch>
        </p:blipFill>
        <p:spPr>
          <a:xfrm>
            <a:off x="6195060" y="4924044"/>
            <a:ext cx="594360" cy="457200"/>
          </a:xfrm>
          <a:prstGeom prst="rect">
            <a:avLst/>
          </a:prstGeom>
        </p:spPr>
      </p:pic>
      <p:pic>
        <p:nvPicPr>
          <p:cNvPr id="13" name="e34_9" descr="Verkehrszeichen 205">    </p:cNvPr>
          <p:cNvPicPr>
            <a:picLocks noChangeAspect="1"/>
          </p:cNvPicPr>
          <p:nvPr/>
        </p:nvPicPr>
        <p:blipFill>
          <a:blip r:embed="rId7"/>
          <a:stretch>
            <a:fillRect/>
          </a:stretch>
        </p:blipFill>
        <p:spPr>
          <a:xfrm>
            <a:off x="6342235" y="1897380"/>
            <a:ext cx="520337" cy="457200"/>
          </a:xfrm>
          <a:prstGeom prst="rect">
            <a:avLst/>
          </a:prstGeom>
        </p:spPr>
      </p:pic>
      <p:pic>
        <p:nvPicPr>
          <p:cNvPr id="14" name="e34_10" descr="Verkehrszeichen 205">    </p:cNvPr>
          <p:cNvPicPr>
            <a:picLocks noChangeAspect="1"/>
          </p:cNvPicPr>
          <p:nvPr/>
        </p:nvPicPr>
        <p:blipFill>
          <a:blip r:embed="rId8"/>
          <a:stretch>
            <a:fillRect/>
          </a:stretch>
        </p:blipFill>
        <p:spPr>
          <a:xfrm>
            <a:off x="8938260" y="1970532"/>
            <a:ext cx="520337" cy="457200"/>
          </a:xfrm>
          <a:prstGeom prst="rect">
            <a:avLst/>
          </a:prstGeom>
        </p:spPr>
      </p:pic>
      <p:pic>
        <p:nvPicPr>
          <p:cNvPr id="15" name="e34_11" descr="/tmp/claude-0/-home-user-Fahrlehrer-Kompass-/11378f77-94a8-55e9-a697-0f3efd4c20b9/scratchpad/bau/art/car_blau.png">    </p:cNvPr>
          <p:cNvPicPr>
            <a:picLocks noChangeAspect="1"/>
          </p:cNvPicPr>
          <p:nvPr/>
        </p:nvPicPr>
        <p:blipFill>
          <a:blip r:embed="rId9"/>
          <a:stretch>
            <a:fillRect/>
          </a:stretch>
        </p:blipFill>
        <p:spPr>
          <a:xfrm rot="10800000">
            <a:off x="7047738" y="1042416"/>
            <a:ext cx="740664" cy="1481328"/>
          </a:xfrm>
          <a:prstGeom prst="rect">
            <a:avLst/>
          </a:prstGeom>
        </p:spPr>
      </p:pic>
      <p:pic>
        <p:nvPicPr>
          <p:cNvPr id="16" name="e34_12" descr="/tmp/claude-0/-home-user-Fahrlehrer-Kompass-/11378f77-94a8-55e9-a697-0f3efd4c20b9/scratchpad/bau/art/car_rot.png">    </p:cNvPr>
          <p:cNvPicPr>
            <a:picLocks noChangeAspect="1"/>
          </p:cNvPicPr>
          <p:nvPr/>
        </p:nvPicPr>
        <p:blipFill>
          <a:blip r:embed="rId10"/>
          <a:stretch>
            <a:fillRect/>
          </a:stretch>
        </p:blipFill>
        <p:spPr>
          <a:xfrm rot="16200000">
            <a:off x="9139428" y="2242566"/>
            <a:ext cx="740664" cy="1481328"/>
          </a:xfrm>
          <a:prstGeom prst="rect">
            <a:avLst/>
          </a:prstGeom>
        </p:spPr>
      </p:pic>
      <p:pic>
        <p:nvPicPr>
          <p:cNvPr id="17" name="e34_13" descr="/tmp/claude-0/-home-user-Fahrlehrer-Kompass-/11378f77-94a8-55e9-a697-0f3efd4c20b9/scratchpad/bau/art/car_gruen.png">    </p:cNvPr>
          <p:cNvPicPr>
            <a:picLocks noChangeAspect="1"/>
          </p:cNvPicPr>
          <p:nvPr/>
        </p:nvPicPr>
        <p:blipFill>
          <a:blip r:embed="rId11"/>
          <a:stretch>
            <a:fillRect/>
          </a:stretch>
        </p:blipFill>
        <p:spPr>
          <a:xfrm rot="5400000">
            <a:off x="5847588" y="3134106"/>
            <a:ext cx="740664" cy="1481328"/>
          </a:xfrm>
          <a:prstGeom prst="rect">
            <a:avLst/>
          </a:prstGeom>
        </p:spPr>
      </p:pic>
      <p:pic>
        <p:nvPicPr>
          <p:cNvPr id="18" name="e34_14" descr="/tmp/claude-0/-home-user-Fahrlehrer-Kompass-/11378f77-94a8-55e9-a697-0f3efd4c20b9/scratchpad/bau/art/blink_R.png">    </p:cNvPr>
          <p:cNvPicPr>
            <a:picLocks noChangeAspect="1"/>
          </p:cNvPicPr>
          <p:nvPr/>
        </p:nvPicPr>
        <p:blipFill>
          <a:blip r:embed="rId12"/>
          <a:stretch>
            <a:fillRect/>
          </a:stretch>
        </p:blipFill>
        <p:spPr>
          <a:xfrm rot="5400000">
            <a:off x="5847588" y="3134106"/>
            <a:ext cx="740664" cy="1481328"/>
          </a:xfrm>
          <a:prstGeom prst="rect">
            <a:avLst/>
          </a:prstGeom>
        </p:spPr>
      </p:pic>
      <p:sp>
        <p:nvSpPr>
          <p:cNvPr id="19" name="e34_15"/>
          <p:cNvSpPr txBox="1"/>
          <p:nvPr/>
        </p:nvSpPr>
        <p:spPr>
          <a:xfrm>
            <a:off x="6631686" y="124358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0" name="e34_16"/>
          <p:cNvSpPr txBox="1"/>
          <p:nvPr/>
        </p:nvSpPr>
        <p:spPr>
          <a:xfrm>
            <a:off x="9610344" y="2196846"/>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21" name="e34_17"/>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22" name="e34_18"/>
          <p:cNvSpPr txBox="1"/>
          <p:nvPr/>
        </p:nvSpPr>
        <p:spPr>
          <a:xfrm>
            <a:off x="731520" y="4434840"/>
            <a:ext cx="3291840" cy="457200"/>
          </a:xfrm>
          <a:prstGeom prst="roundRect">
            <a:avLst>
              <a:gd name="adj" fmla="val 50000"/>
            </a:avLst>
          </a:prstGeom>
          <a:solidFill>
            <a:srgbClr val="FF7A1A"/>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Abstimmen: A · B · C ?</a:t>
            </a:r>
            <a:endParaRPr lang="en-US" sz="1800" dirty="0"/>
          </a:p>
        </p:txBody>
      </p:sp>
      <p:sp>
        <p:nvSpPr>
          <p:cNvPr id="23" name="e34_19"/>
          <p:cNvSpPr txBox="1"/>
          <p:nvPr/>
        </p:nvSpPr>
        <p:spPr>
          <a:xfrm>
            <a:off x="5029200" y="4167378"/>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24" name="e34_20"/>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25" name="e34_21"/>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6" name="e34_22"/>
          <p:cNvSpPr txBox="1"/>
          <p:nvPr/>
        </p:nvSpPr>
        <p:spPr>
          <a:xfrm>
            <a:off x="731520" y="5074920"/>
            <a:ext cx="4572000" cy="1005840"/>
          </a:xfrm>
          <a:prstGeom prst="roundRect">
            <a:avLst>
              <a:gd name="adj" fmla="val 9091"/>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700" dirty="0">
                <a:solidFill>
                  <a:srgbClr val="F5F2EC"/>
                </a:solidFill>
                <a:latin typeface="Calibri" pitchFamily="34" charset="0"/>
                <a:ea typeface="Calibri" pitchFamily="34" charset="-122"/>
                <a:cs typeface="Calibri" pitchFamily="34" charset="-120"/>
              </a:rPr>
              <a:t>C ist auf der Vorfahrtstraße. A und B sind auf Nebenstraßen: rechts vor links, A kommt für B von rechts.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42" presetClass="entr" presetSubtype="0" fill="hold" grpId="0" nodeType="withEffect">
                                  <p:stCondLst>
                                    <p:cond delay="55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650"/>
                                        <p:tgtEl>
                                          <p:spTgt spid="19"/>
                                        </p:tgtEl>
                                      </p:cBhvr>
                                    </p:animEffect>
                                    <p:anim calcmode="lin" valueType="num">
                                      <p:cBhvr additive="base">
                                        <p:cTn id="44" dur="650" fill="hold" decel="100000"/>
                                        <p:tgtEl>
                                          <p:spTgt spid="19"/>
                                        </p:tgtEl>
                                        <p:attrNameLst>
                                          <p:attrName>ppt_x</p:attrName>
                                        </p:attrNameLst>
                                      </p:cBhvr>
                                      <p:tavLst>
                                        <p:tav tm="0">
                                          <p:val>
                                            <p:strVal val="#ppt_x"/>
                                          </p:val>
                                        </p:tav>
                                        <p:tav tm="100000">
                                          <p:val>
                                            <p:strVal val="#ppt_x"/>
                                          </p:val>
                                        </p:tav>
                                      </p:tavLst>
                                    </p:anim>
                                    <p:anim calcmode="lin" valueType="num">
                                      <p:cBhvr additive="base">
                                        <p:cTn id="45" dur="650" fill="hold" decel="100000"/>
                                        <p:tgtEl>
                                          <p:spTgt spid="19"/>
                                        </p:tgtEl>
                                        <p:attrNameLst>
                                          <p:attrName>ppt_y</p:attrName>
                                        </p:attrNameLst>
                                      </p:cBhvr>
                                      <p:tavLst>
                                        <p:tav tm="0">
                                          <p:val>
                                            <p:strVal val="#ppt_y+.05"/>
                                          </p:val>
                                        </p:tav>
                                        <p:tav tm="100000">
                                          <p:val>
                                            <p:strVal val="#ppt_y"/>
                                          </p:val>
                                        </p:tav>
                                      </p:tavLst>
                                    </p:anim>
                                  </p:childTnLst>
                                </p:cTn>
                              </p:par>
                              <p:par>
                                <p:cTn id="46" presetID="42" presetClass="entr" presetSubtype="0" fill="hold" grpId="0" nodeType="withEffect">
                                  <p:stCondLst>
                                    <p:cond delay="605"/>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650"/>
                                        <p:tgtEl>
                                          <p:spTgt spid="20"/>
                                        </p:tgtEl>
                                      </p:cBhvr>
                                    </p:animEffect>
                                    <p:anim calcmode="lin" valueType="num">
                                      <p:cBhvr additive="base">
                                        <p:cTn id="49" dur="650" fill="hold" decel="100000"/>
                                        <p:tgtEl>
                                          <p:spTgt spid="20"/>
                                        </p:tgtEl>
                                        <p:attrNameLst>
                                          <p:attrName>ppt_x</p:attrName>
                                        </p:attrNameLst>
                                      </p:cBhvr>
                                      <p:tavLst>
                                        <p:tav tm="0">
                                          <p:val>
                                            <p:strVal val="#ppt_x"/>
                                          </p:val>
                                        </p:tav>
                                        <p:tav tm="100000">
                                          <p:val>
                                            <p:strVal val="#ppt_x"/>
                                          </p:val>
                                        </p:tav>
                                      </p:tavLst>
                                    </p:anim>
                                    <p:anim calcmode="lin" valueType="num">
                                      <p:cBhvr additive="base">
                                        <p:cTn id="50" dur="650" fill="hold" decel="100000"/>
                                        <p:tgtEl>
                                          <p:spTgt spid="20"/>
                                        </p:tgtEl>
                                        <p:attrNameLst>
                                          <p:attrName>ppt_y</p:attrName>
                                        </p:attrNameLst>
                                      </p:cBhvr>
                                      <p:tavLst>
                                        <p:tav tm="0">
                                          <p:val>
                                            <p:strVal val="#ppt_y+.05"/>
                                          </p:val>
                                        </p:tav>
                                        <p:tav tm="100000">
                                          <p:val>
                                            <p:strVal val="#ppt_y"/>
                                          </p:val>
                                        </p:tav>
                                      </p:tavLst>
                                    </p:anim>
                                  </p:childTnLst>
                                </p:cTn>
                              </p:par>
                              <p:par>
                                <p:cTn id="51" presetID="42" presetClass="entr" presetSubtype="0" fill="hold" grpId="0" nodeType="withEffect">
                                  <p:stCondLst>
                                    <p:cond delay="65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650"/>
                                        <p:tgtEl>
                                          <p:spTgt spid="21"/>
                                        </p:tgtEl>
                                      </p:cBhvr>
                                    </p:animEffect>
                                    <p:anim calcmode="lin" valueType="num">
                                      <p:cBhvr additive="base">
                                        <p:cTn id="54"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55" dur="650" fill="hold" decel="100000"/>
                                        <p:tgtEl>
                                          <p:spTgt spid="21"/>
                                        </p:tgtEl>
                                        <p:attrNameLst>
                                          <p:attrName>ppt_y</p:attrName>
                                        </p:attrNameLst>
                                      </p:cBhvr>
                                      <p:tavLst>
                                        <p:tav tm="0">
                                          <p:val>
                                            <p:strVal val="#ppt_y+.05"/>
                                          </p:val>
                                        </p:tav>
                                        <p:tav tm="100000">
                                          <p:val>
                                            <p:strVal val="#ppt_y"/>
                                          </p:val>
                                        </p:tav>
                                      </p:tavLst>
                                    </p:anim>
                                  </p:childTnLst>
                                </p:cTn>
                              </p:par>
                              <p:par>
                                <p:cTn id="56" presetID="10" presetClass="entr" presetSubtype="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150"/>
                                        <p:tgtEl>
                                          <p:spTgt spid="18"/>
                                        </p:tgtEl>
                                      </p:cBhvr>
                                    </p:animEffect>
                                  </p:childTnLst>
                                </p:cTn>
                              </p:par>
                              <p:par>
                                <p:cTn id="59" presetID="35" presetClass="emph" presetSubtype="0" fill="hold" nodeType="withEffect" repeatCount="indefinite">
                                  <p:stCondLst>
                                    <p:cond delay="0"/>
                                  </p:stCondLst>
                                  <p:childTnLst>
                                    <p:anim calcmode="discrete" valueType="str">
                                      <p:cBhvr override="childStyle">
                                        <p:cTn id="60" dur="700"/>
                                        <p:tgtEl>
                                          <p:spTgt spid="18"/>
                                        </p:tgtEl>
                                        <p:attrNameLst>
                                          <p:attrName>style.visibility</p:attrName>
                                        </p:attrNameLst>
                                      </p:cBhvr>
                                      <p:tavLst>
                                        <p:tav tm="0">
                                          <p:val>
                                            <p:strVal val="hidden"/>
                                          </p:val>
                                        </p:tav>
                                        <p:tav tm="50000">
                                          <p:val>
                                            <p:strVal val="visible"/>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22"/>
                                        </p:tgtEl>
                                        <p:attrNameLst>
                                          <p:attrName>style.visibility</p:attrName>
                                        </p:attrNameLst>
                                      </p:cBhvr>
                                      <p:to>
                                        <p:strVal val="visible"/>
                                      </p:to>
                                    </p:set>
                                    <p:anim calcmode="lin" valueType="num">
                                      <p:cBhvr additive="base">
                                        <p:cTn id="65" dur="380" fill="hold" accel="60000"/>
                                        <p:tgtEl>
                                          <p:spTgt spid="22"/>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22"/>
                                        </p:tgtEl>
                                        <p:attrNameLst>
                                          <p:attrName>ppt_h</p:attrName>
                                        </p:attrNameLst>
                                      </p:cBhvr>
                                      <p:tavLst>
                                        <p:tav tm="0">
                                          <p:val>
                                            <p:strVal val="#ppt_h*2.2"/>
                                          </p:val>
                                        </p:tav>
                                        <p:tav tm="100000">
                                          <p:val>
                                            <p:strVal val="#ppt_h"/>
                                          </p:val>
                                        </p:tav>
                                      </p:tavLst>
                                    </p:anim>
                                    <p:animEffect transition="in" filter="fade">
                                      <p:cBhvr>
                                        <p:cTn id="67" dur="228"/>
                                        <p:tgtEl>
                                          <p:spTgt spid="22"/>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32"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 calcmode="lin" valueType="num">
                                      <p:cBhvr additive="base">
                                        <p:cTn id="72"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73" dur="380" fill="hold" accel="60000"/>
                                        <p:tgtEl>
                                          <p:spTgt spid="23"/>
                                        </p:tgtEl>
                                        <p:attrNameLst>
                                          <p:attrName>ppt_h</p:attrName>
                                        </p:attrNameLst>
                                      </p:cBhvr>
                                      <p:tavLst>
                                        <p:tav tm="0">
                                          <p:val>
                                            <p:strVal val="#ppt_h*2.2"/>
                                          </p:val>
                                        </p:tav>
                                        <p:tav tm="100000">
                                          <p:val>
                                            <p:strVal val="#ppt_h"/>
                                          </p:val>
                                        </p:tav>
                                      </p:tavLst>
                                    </p:anim>
                                    <p:animEffect transition="in" filter="fade">
                                      <p:cBhvr>
                                        <p:cTn id="74" dur="228"/>
                                        <p:tgtEl>
                                          <p:spTgt spid="23"/>
                                        </p:tgtEl>
                                      </p:cBhvr>
                                    </p:animEffect>
                                  </p:childTnLst>
                                </p:cTn>
                              </p:par>
                            </p:childTnLst>
                          </p:cTn>
                        </p:par>
                        <p:par>
                          <p:cTn id="75" fill="hold">
                            <p:stCondLst>
                              <p:cond delay="380"/>
                            </p:stCondLst>
                            <p:childTnLst>
                              <p:par>
                                <p:cTn id="76" presetID="0" presetClass="path" presetSubtype="0" fill="hold" nodeType="afterEffect" accel="50000">
                                  <p:stCondLst>
                                    <p:cond delay="0"/>
                                  </p:stCondLst>
                                  <p:childTnLst>
                                    <p:animMotion origin="layout" path="M 0 0 C 0.0128 0 0.0256 0 0.0384 0 E" pathEditMode="relative" rAng="0" ptsTypes="">
                                      <p:cBhvr>
                                        <p:cTn id="77" dur="301" fill="hold"/>
                                        <p:tgtEl>
                                          <p:spTgt spid="17"/>
                                        </p:tgtEl>
                                        <p:attrNameLst>
                                          <p:attrName>ppt_x</p:attrName>
                                          <p:attrName>ppt_y</p:attrName>
                                        </p:attrNameLst>
                                      </p:cBhvr>
                                      <p:rCtr x="0" y="0"/>
                                    </p:animMotion>
                                  </p:childTnLst>
                                </p:cTn>
                              </p:par>
                              <p:par>
                                <p:cTn id="78" presetID="0" presetClass="path" presetSubtype="0" fill="hold" nodeType="withEffect" accel="50000">
                                  <p:stCondLst>
                                    <p:cond delay="0"/>
                                  </p:stCondLst>
                                  <p:childTnLst>
                                    <p:animMotion origin="layout" path="M 0 0 C 0.0128 0 0.0256 0 0.0384 0 E" pathEditMode="relative" rAng="0" ptsTypes="">
                                      <p:cBhvr>
                                        <p:cTn id="79" dur="301" fill="hold"/>
                                        <p:tgtEl>
                                          <p:spTgt spid="18"/>
                                        </p:tgtEl>
                                        <p:attrNameLst>
                                          <p:attrName>ppt_x</p:attrName>
                                          <p:attrName>ppt_y</p:attrName>
                                        </p:attrNameLst>
                                      </p:cBhvr>
                                      <p:rCtr x="0" y="0"/>
                                    </p:animMotion>
                                  </p:childTnLst>
                                </p:cTn>
                              </p:par>
                            </p:childTnLst>
                          </p:cTn>
                        </p:par>
                        <p:par>
                          <p:cTn id="80" fill="hold">
                            <p:stCondLst>
                              <p:cond delay="681"/>
                            </p:stCondLst>
                            <p:childTnLst>
                              <p:par>
                                <p:cTn id="81" presetID="0" presetClass="path" presetSubtype="0" fill="hold" nodeType="afterEffect">
                                  <p:stCondLst>
                                    <p:cond delay="0"/>
                                  </p:stCondLst>
                                  <p:childTnLst>
                                    <p:animMotion origin="layout" path="M 0.0384 0 C 0.0716 0 0.0984 0.0478 0.0984 0.1067 E" pathEditMode="relative" rAng="0" ptsTypes="">
                                      <p:cBhvr>
                                        <p:cTn id="82" dur="739" fill="hold"/>
                                        <p:tgtEl>
                                          <p:spTgt spid="17"/>
                                        </p:tgtEl>
                                        <p:attrNameLst>
                                          <p:attrName>ppt_x</p:attrName>
                                          <p:attrName>ppt_y</p:attrName>
                                        </p:attrNameLst>
                                      </p:cBhvr>
                                      <p:rCtr x="0" y="0"/>
                                    </p:animMotion>
                                  </p:childTnLst>
                                </p:cTn>
                              </p:par>
                              <p:par>
                                <p:cTn id="83" presetID="8" presetClass="emph" presetSubtype="0" fill="hold" nodeType="withEffect">
                                  <p:stCondLst>
                                    <p:cond delay="0"/>
                                  </p:stCondLst>
                                  <p:childTnLst>
                                    <p:animRot by="5400000">
                                      <p:cBhvr>
                                        <p:cTn id="84" dur="739" fill="hold"/>
                                        <p:tgtEl>
                                          <p:spTgt spid="17"/>
                                        </p:tgtEl>
                                        <p:attrNameLst>
                                          <p:attrName>r</p:attrName>
                                        </p:attrNameLst>
                                      </p:cBhvr>
                                    </p:animRot>
                                  </p:childTnLst>
                                </p:cTn>
                              </p:par>
                              <p:par>
                                <p:cTn id="85" presetID="0" presetClass="path" presetSubtype="0" fill="hold" nodeType="withEffect">
                                  <p:stCondLst>
                                    <p:cond delay="0"/>
                                  </p:stCondLst>
                                  <p:childTnLst>
                                    <p:animMotion origin="layout" path="M 0.0384 0 C 0.0716 0 0.0984 0.0478 0.0984 0.1067 E" pathEditMode="relative" rAng="0" ptsTypes="">
                                      <p:cBhvr>
                                        <p:cTn id="86" dur="739" fill="hold"/>
                                        <p:tgtEl>
                                          <p:spTgt spid="18"/>
                                        </p:tgtEl>
                                        <p:attrNameLst>
                                          <p:attrName>ppt_x</p:attrName>
                                          <p:attrName>ppt_y</p:attrName>
                                        </p:attrNameLst>
                                      </p:cBhvr>
                                      <p:rCtr x="0" y="0"/>
                                    </p:animMotion>
                                  </p:childTnLst>
                                </p:cTn>
                              </p:par>
                              <p:par>
                                <p:cTn id="87" presetID="8" presetClass="emph" presetSubtype="0" fill="hold" nodeType="withEffect">
                                  <p:stCondLst>
                                    <p:cond delay="0"/>
                                  </p:stCondLst>
                                  <p:childTnLst>
                                    <p:animRot by="5400000">
                                      <p:cBhvr>
                                        <p:cTn id="88" dur="739" fill="hold"/>
                                        <p:tgtEl>
                                          <p:spTgt spid="18"/>
                                        </p:tgtEl>
                                        <p:attrNameLst>
                                          <p:attrName>r</p:attrName>
                                        </p:attrNameLst>
                                      </p:cBhvr>
                                    </p:animRot>
                                  </p:childTnLst>
                                </p:cTn>
                              </p:par>
                            </p:childTnLst>
                          </p:cTn>
                        </p:par>
                        <p:par>
                          <p:cTn id="89" fill="hold">
                            <p:stCondLst>
                              <p:cond delay="1420"/>
                            </p:stCondLst>
                            <p:childTnLst>
                              <p:par>
                                <p:cTn id="90" presetID="0" presetClass="path" presetSubtype="0" fill="hold" nodeType="afterEffect" decel="50000">
                                  <p:stCondLst>
                                    <p:cond delay="0"/>
                                  </p:stCondLst>
                                  <p:childTnLst>
                                    <p:animMotion origin="layout" path="M 0.0984 0.1067 C 0.0984 0.2489 0.0984 0.3911 0.0984 0.5333 E" pathEditMode="relative" rAng="0" ptsTypes="">
                                      <p:cBhvr>
                                        <p:cTn id="91" dur="1882" fill="hold"/>
                                        <p:tgtEl>
                                          <p:spTgt spid="17"/>
                                        </p:tgtEl>
                                        <p:attrNameLst>
                                          <p:attrName>ppt_x</p:attrName>
                                          <p:attrName>ppt_y</p:attrName>
                                        </p:attrNameLst>
                                      </p:cBhvr>
                                      <p:rCtr x="0" y="0"/>
                                    </p:animMotion>
                                  </p:childTnLst>
                                </p:cTn>
                              </p:par>
                              <p:par>
                                <p:cTn id="92" presetID="0" presetClass="path" presetSubtype="0" fill="hold" nodeType="withEffect" decel="50000">
                                  <p:stCondLst>
                                    <p:cond delay="0"/>
                                  </p:stCondLst>
                                  <p:childTnLst>
                                    <p:animMotion origin="layout" path="M 0.0984 0.1067 C 0.0984 0.2489 0.0984 0.3911 0.0984 0.5333 E" pathEditMode="relative" rAng="0" ptsTypes="">
                                      <p:cBhvr>
                                        <p:cTn id="93" dur="1882" fill="hold"/>
                                        <p:tgtEl>
                                          <p:spTgt spid="18"/>
                                        </p:tgtEl>
                                        <p:attrNameLst>
                                          <p:attrName>ppt_x</p:attrName>
                                          <p:attrName>ppt_y</p:attrName>
                                        </p:attrNameLst>
                                      </p:cBhvr>
                                      <p:rCtr x="0" y="0"/>
                                    </p:animMotion>
                                  </p:childTnLst>
                                </p:cTn>
                              </p:par>
                            </p:childTnLst>
                          </p:cTn>
                        </p:par>
                        <p:par>
                          <p:cTn id="94" fill="hold">
                            <p:stCondLst>
                              <p:cond delay="3302"/>
                            </p:stCondLst>
                            <p:childTnLst>
                              <p:par>
                                <p:cTn id="95" presetID="10" presetClass="exit" presetSubtype="0" fill="hold" nodeType="afterEffect">
                                  <p:stCondLst>
                                    <p:cond delay="0"/>
                                  </p:stCondLst>
                                  <p:childTnLst>
                                    <p:animEffect transition="out" filter="fade">
                                      <p:cBhvr>
                                        <p:cTn id="96" dur="350"/>
                                        <p:tgtEl>
                                          <p:spTgt spid="17"/>
                                        </p:tgtEl>
                                      </p:cBhvr>
                                    </p:animEffect>
                                    <p:set>
                                      <p:cBhvr>
                                        <p:cTn id="97" dur="1" fill="hold">
                                          <p:stCondLst>
                                            <p:cond delay="349"/>
                                          </p:stCondLst>
                                        </p:cTn>
                                        <p:tgtEl>
                                          <p:spTgt spid="17"/>
                                        </p:tgtEl>
                                        <p:attrNameLst>
                                          <p:attrName>style.visibility</p:attrName>
                                        </p:attrNameLst>
                                      </p:cBhvr>
                                      <p:to>
                                        <p:strVal val="hidden"/>
                                      </p:to>
                                    </p:set>
                                  </p:childTnLst>
                                </p:cTn>
                              </p:par>
                              <p:par>
                                <p:cTn id="98" presetID="10" presetClass="exit" presetSubtype="0" fill="hold" nodeType="withEffect">
                                  <p:stCondLst>
                                    <p:cond delay="0"/>
                                  </p:stCondLst>
                                  <p:childTnLst>
                                    <p:animEffect transition="out" filter="fade">
                                      <p:cBhvr>
                                        <p:cTn id="99" dur="350"/>
                                        <p:tgtEl>
                                          <p:spTgt spid="18"/>
                                        </p:tgtEl>
                                      </p:cBhvr>
                                    </p:animEffect>
                                    <p:set>
                                      <p:cBhvr>
                                        <p:cTn id="100" dur="1" fill="hold">
                                          <p:stCondLst>
                                            <p:cond delay="349"/>
                                          </p:stCondLst>
                                        </p:cTn>
                                        <p:tgtEl>
                                          <p:spTgt spid="18"/>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3" presetClass="entr" presetSubtype="32" fill="hold" grpId="0" nodeType="click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106" dur="380" fill="hold" accel="60000"/>
                                        <p:tgtEl>
                                          <p:spTgt spid="24"/>
                                        </p:tgtEl>
                                        <p:attrNameLst>
                                          <p:attrName>ppt_h</p:attrName>
                                        </p:attrNameLst>
                                      </p:cBhvr>
                                      <p:tavLst>
                                        <p:tav tm="0">
                                          <p:val>
                                            <p:strVal val="#ppt_h*2.2"/>
                                          </p:val>
                                        </p:tav>
                                        <p:tav tm="100000">
                                          <p:val>
                                            <p:strVal val="#ppt_h"/>
                                          </p:val>
                                        </p:tav>
                                      </p:tavLst>
                                    </p:anim>
                                    <p:animEffect transition="in" filter="fade">
                                      <p:cBhvr>
                                        <p:cTn id="107" dur="228"/>
                                        <p:tgtEl>
                                          <p:spTgt spid="24"/>
                                        </p:tgtEl>
                                      </p:cBhvr>
                                    </p:animEffect>
                                  </p:childTnLst>
                                </p:cTn>
                              </p:par>
                            </p:childTnLst>
                          </p:cTn>
                        </p:par>
                        <p:par>
                          <p:cTn id="108" fill="hold">
                            <p:stCondLst>
                              <p:cond delay="380"/>
                            </p:stCondLst>
                            <p:childTnLst>
                              <p:par>
                                <p:cTn id="109" presetID="0" presetClass="path" presetSubtype="0" fill="hold" nodeType="afterEffect" accel="40000" decel="40000">
                                  <p:stCondLst>
                                    <p:cond delay="0"/>
                                  </p:stCondLst>
                                  <p:childTnLst>
                                    <p:animMotion origin="layout" path="M 0 0 C 0 0.2222 0 0.4444 0 0.6667 E" pathEditMode="relative" rAng="0" ptsTypes="">
                                      <p:cBhvr>
                                        <p:cTn id="110" dur="2941" fill="hold"/>
                                        <p:tgtEl>
                                          <p:spTgt spid="15"/>
                                        </p:tgtEl>
                                        <p:attrNameLst>
                                          <p:attrName>ppt_x</p:attrName>
                                          <p:attrName>ppt_y</p:attrName>
                                        </p:attrNameLst>
                                      </p:cBhvr>
                                      <p:rCtr x="0" y="0"/>
                                    </p:animMotion>
                                  </p:childTnLst>
                                </p:cTn>
                              </p:par>
                            </p:childTnLst>
                          </p:cTn>
                        </p:par>
                        <p:par>
                          <p:cTn id="111" fill="hold">
                            <p:stCondLst>
                              <p:cond delay="3321"/>
                            </p:stCondLst>
                            <p:childTnLst>
                              <p:par>
                                <p:cTn id="112" presetID="10" presetClass="exit" presetSubtype="0" fill="hold" nodeType="afterEffect">
                                  <p:stCondLst>
                                    <p:cond delay="0"/>
                                  </p:stCondLst>
                                  <p:childTnLst>
                                    <p:animEffect transition="out" filter="fade">
                                      <p:cBhvr>
                                        <p:cTn id="113" dur="350"/>
                                        <p:tgtEl>
                                          <p:spTgt spid="15"/>
                                        </p:tgtEl>
                                      </p:cBhvr>
                                    </p:animEffect>
                                    <p:set>
                                      <p:cBhvr>
                                        <p:cTn id="114" dur="1" fill="hold">
                                          <p:stCondLst>
                                            <p:cond delay="349"/>
                                          </p:stCondLst>
                                        </p:cTn>
                                        <p:tgtEl>
                                          <p:spTgt spid="15"/>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53" presetClass="entr" presetSubtype="32" fill="hold" grpId="0" nodeType="clickEffect">
                                  <p:stCondLst>
                                    <p:cond delay="0"/>
                                  </p:stCondLst>
                                  <p:childTnLst>
                                    <p:set>
                                      <p:cBhvr>
                                        <p:cTn id="118" dur="1" fill="hold">
                                          <p:stCondLst>
                                            <p:cond delay="0"/>
                                          </p:stCondLst>
                                        </p:cTn>
                                        <p:tgtEl>
                                          <p:spTgt spid="25"/>
                                        </p:tgtEl>
                                        <p:attrNameLst>
                                          <p:attrName>style.visibility</p:attrName>
                                        </p:attrNameLst>
                                      </p:cBhvr>
                                      <p:to>
                                        <p:strVal val="visible"/>
                                      </p:to>
                                    </p:set>
                                    <p:anim calcmode="lin" valueType="num">
                                      <p:cBhvr additive="base">
                                        <p:cTn id="119" dur="380" fill="hold" accel="60000"/>
                                        <p:tgtEl>
                                          <p:spTgt spid="25"/>
                                        </p:tgtEl>
                                        <p:attrNameLst>
                                          <p:attrName>ppt_w</p:attrName>
                                        </p:attrNameLst>
                                      </p:cBhvr>
                                      <p:tavLst>
                                        <p:tav tm="0">
                                          <p:val>
                                            <p:strVal val="#ppt_w*2.2"/>
                                          </p:val>
                                        </p:tav>
                                        <p:tav tm="100000">
                                          <p:val>
                                            <p:strVal val="#ppt_w"/>
                                          </p:val>
                                        </p:tav>
                                      </p:tavLst>
                                    </p:anim>
                                    <p:anim calcmode="lin" valueType="num">
                                      <p:cBhvr additive="base">
                                        <p:cTn id="120" dur="380" fill="hold" accel="60000"/>
                                        <p:tgtEl>
                                          <p:spTgt spid="25"/>
                                        </p:tgtEl>
                                        <p:attrNameLst>
                                          <p:attrName>ppt_h</p:attrName>
                                        </p:attrNameLst>
                                      </p:cBhvr>
                                      <p:tavLst>
                                        <p:tav tm="0">
                                          <p:val>
                                            <p:strVal val="#ppt_h*2.2"/>
                                          </p:val>
                                        </p:tav>
                                        <p:tav tm="100000">
                                          <p:val>
                                            <p:strVal val="#ppt_h"/>
                                          </p:val>
                                        </p:tav>
                                      </p:tavLst>
                                    </p:anim>
                                    <p:animEffect transition="in" filter="fade">
                                      <p:cBhvr>
                                        <p:cTn id="121" dur="228"/>
                                        <p:tgtEl>
                                          <p:spTgt spid="25"/>
                                        </p:tgtEl>
                                      </p:cBhvr>
                                    </p:animEffect>
                                  </p:childTnLst>
                                </p:cTn>
                              </p:par>
                            </p:childTnLst>
                          </p:cTn>
                        </p:par>
                        <p:par>
                          <p:cTn id="122" fill="hold">
                            <p:stCondLst>
                              <p:cond delay="380"/>
                            </p:stCondLst>
                            <p:childTnLst>
                              <p:par>
                                <p:cTn id="123" presetID="0" presetClass="path" presetSubtype="0" fill="hold" nodeType="afterEffect" accel="40000" decel="40000">
                                  <p:stCondLst>
                                    <p:cond delay="0"/>
                                  </p:stCondLst>
                                  <p:childTnLst>
                                    <p:animMotion origin="layout" path="M 0 0 C -0.09 0 -0.18 0 -0.27 0 E" pathEditMode="relative" rAng="0" ptsTypes="">
                                      <p:cBhvr>
                                        <p:cTn id="124" dur="2118" fill="hold"/>
                                        <p:tgtEl>
                                          <p:spTgt spid="16"/>
                                        </p:tgtEl>
                                        <p:attrNameLst>
                                          <p:attrName>ppt_x</p:attrName>
                                          <p:attrName>ppt_y</p:attrName>
                                        </p:attrNameLst>
                                      </p:cBhvr>
                                      <p:rCtr x="0" y="0"/>
                                    </p:animMotion>
                                  </p:childTnLst>
                                </p:cTn>
                              </p:par>
                            </p:childTnLst>
                          </p:cTn>
                        </p:par>
                        <p:par>
                          <p:cTn id="125" fill="hold">
                            <p:stCondLst>
                              <p:cond delay="2498"/>
                            </p:stCondLst>
                            <p:childTnLst>
                              <p:par>
                                <p:cTn id="126" presetID="10" presetClass="exit" presetSubtype="0" fill="hold" nodeType="afterEffect">
                                  <p:stCondLst>
                                    <p:cond delay="0"/>
                                  </p:stCondLst>
                                  <p:childTnLst>
                                    <p:animEffect transition="out" filter="fade">
                                      <p:cBhvr>
                                        <p:cTn id="127" dur="350"/>
                                        <p:tgtEl>
                                          <p:spTgt spid="16"/>
                                        </p:tgtEl>
                                      </p:cBhvr>
                                    </p:animEffect>
                                    <p:set>
                                      <p:cBhvr>
                                        <p:cTn id="128" dur="1" fill="hold">
                                          <p:stCondLst>
                                            <p:cond delay="349"/>
                                          </p:stCondLst>
                                        </p:cTn>
                                        <p:tgtEl>
                                          <p:spTgt spid="16"/>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26"/>
                                        </p:tgtEl>
                                        <p:attrNameLst>
                                          <p:attrName>style.visibility</p:attrName>
                                        </p:attrNameLst>
                                      </p:cBhvr>
                                      <p:to>
                                        <p:strVal val="visible"/>
                                      </p:to>
                                    </p:set>
                                    <p:animEffect transition="in" filter="fade">
                                      <p:cBhvr>
                                        <p:cTn id="133" dur="600"/>
                                        <p:tgtEl>
                                          <p:spTgt spid="26"/>
                                        </p:tgtEl>
                                      </p:cBhvr>
                                    </p:animEffect>
                                    <p:anim calcmode="lin" valueType="num">
                                      <p:cBhvr additive="base">
                                        <p:cTn id="134" dur="600" fill="hold" decel="100000"/>
                                        <p:tgtEl>
                                          <p:spTgt spid="26"/>
                                        </p:tgtEl>
                                        <p:attrNameLst>
                                          <p:attrName>ppt_x</p:attrName>
                                        </p:attrNameLst>
                                      </p:cBhvr>
                                      <p:tavLst>
                                        <p:tav tm="0">
                                          <p:val>
                                            <p:strVal val="#ppt_x"/>
                                          </p:val>
                                        </p:tav>
                                        <p:tav tm="100000">
                                          <p:val>
                                            <p:strVal val="#ppt_x"/>
                                          </p:val>
                                        </p:tav>
                                      </p:tavLst>
                                    </p:anim>
                                    <p:anim calcmode="lin" valueType="num">
                                      <p:cBhvr additive="base">
                                        <p:cTn id="135" dur="600" fill="hold" decel="100000"/>
                                        <p:tgtEl>
                                          <p:spTgt spid="2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KAPITEL 5</a:t>
            </a:r>
            <a:endParaRPr lang="en-US" sz="1300" dirty="0"/>
          </a:p>
        </p:txBody>
      </p:sp>
      <p:sp>
        <p:nvSpPr>
          <p:cNvPr id="6" name="e35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Der Kreis-</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verkehr</a:t>
            </a:r>
            <a:endParaRPr lang="en-US" sz="5200" dirty="0"/>
          </a:p>
        </p:txBody>
      </p:sp>
      <p:pic>
        <p:nvPicPr>
          <p:cNvPr id="7" name="e35_3" descr="Verkehrszeichen 215">    </p:cNvPr>
          <p:cNvPicPr>
            <a:picLocks noChangeAspect="1"/>
          </p:cNvPicPr>
          <p:nvPr/>
        </p:nvPicPr>
        <p:blipFill>
          <a:blip r:embed="rId2"/>
          <a:stretch>
            <a:fillRect/>
          </a:stretch>
        </p:blipFill>
        <p:spPr>
          <a:xfrm>
            <a:off x="8919972" y="5413248"/>
            <a:ext cx="457200" cy="457200"/>
          </a:xfrm>
          <a:prstGeom prst="rect">
            <a:avLst/>
          </a:prstGeom>
        </p:spPr>
      </p:pic>
      <p:pic>
        <p:nvPicPr>
          <p:cNvPr id="8" name="e35_4" descr="Verkehrszeichen 205">    </p:cNvPr>
          <p:cNvPicPr>
            <a:picLocks noChangeAspect="1"/>
          </p:cNvPicPr>
          <p:nvPr/>
        </p:nvPicPr>
        <p:blipFill>
          <a:blip r:embed="rId3"/>
          <a:stretch>
            <a:fillRect/>
          </a:stretch>
        </p:blipFill>
        <p:spPr>
          <a:xfrm>
            <a:off x="8919972" y="5916168"/>
            <a:ext cx="520337" cy="457200"/>
          </a:xfrm>
          <a:prstGeom prst="rect">
            <a:avLst/>
          </a:prstGeom>
        </p:spPr>
      </p:pic>
      <p:sp>
        <p:nvSpPr>
          <p:cNvPr id="9" name="e35_5"/>
          <p:cNvSpPr txBox="1"/>
          <p:nvPr/>
        </p:nvSpPr>
        <p:spPr>
          <a:xfrm>
            <a:off x="731520" y="3108960"/>
            <a:ext cx="4023360" cy="82296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Du willst geradeaus raus.</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Wer fährt zuerst? Wann blinkst du?</a:t>
            </a:r>
            <a:endParaRPr lang="en-US" sz="1900" dirty="0"/>
          </a:p>
        </p:txBody>
      </p:sp>
      <p:pic>
        <p:nvPicPr>
          <p:cNvPr id="10" name="e35_6" descr="/tmp/claude-0/-home-user-Fahrlehrer-Kompass-/11378f77-94a8-55e9-a697-0f3efd4c20b9/scratchpad/bau/art/car_du.png">    </p:cNvPr>
          <p:cNvPicPr>
            <a:picLocks noChangeAspect="1"/>
          </p:cNvPicPr>
          <p:nvPr/>
        </p:nvPicPr>
        <p:blipFill>
          <a:blip r:embed="rId4"/>
          <a:stretch>
            <a:fillRect/>
          </a:stretch>
        </p:blipFill>
        <p:spPr>
          <a:xfrm>
            <a:off x="8193481" y="5811926"/>
            <a:ext cx="543154" cy="1086307"/>
          </a:xfrm>
          <a:prstGeom prst="rect">
            <a:avLst/>
          </a:prstGeom>
        </p:spPr>
      </p:pic>
      <p:pic>
        <p:nvPicPr>
          <p:cNvPr id="11" name="e35_7" descr="/tmp/claude-0/-home-user-Fahrlehrer-Kompass-/11378f77-94a8-55e9-a697-0f3efd4c20b9/scratchpad/bau/art/car_blau.png">    </p:cNvPr>
          <p:cNvPicPr>
            <a:picLocks noChangeAspect="1"/>
          </p:cNvPicPr>
          <p:nvPr/>
        </p:nvPicPr>
        <p:blipFill>
          <a:blip r:embed="rId5"/>
          <a:stretch>
            <a:fillRect/>
          </a:stretch>
        </p:blipFill>
        <p:spPr>
          <a:xfrm rot="10800000">
            <a:off x="6604711" y="2885846"/>
            <a:ext cx="543154" cy="1086307"/>
          </a:xfrm>
          <a:prstGeom prst="rect">
            <a:avLst/>
          </a:prstGeom>
        </p:spPr>
      </p:pic>
      <p:pic>
        <p:nvPicPr>
          <p:cNvPr id="12" name="e35_8" descr="/tmp/claude-0/-home-user-Fahrlehrer-Kompass-/11378f77-94a8-55e9-a697-0f3efd4c20b9/scratchpad/bau/art/ped.png">    </p:cNvPr>
          <p:cNvPicPr>
            <a:picLocks noChangeAspect="1"/>
          </p:cNvPicPr>
          <p:nvPr/>
        </p:nvPicPr>
        <p:blipFill>
          <a:blip r:embed="rId6"/>
          <a:stretch>
            <a:fillRect/>
          </a:stretch>
        </p:blipFill>
        <p:spPr>
          <a:xfrm rot="5400000">
            <a:off x="7013448" y="5337810"/>
            <a:ext cx="301752" cy="260604"/>
          </a:xfrm>
          <a:prstGeom prst="rect">
            <a:avLst/>
          </a:prstGeom>
        </p:spPr>
      </p:pic>
      <p:pic>
        <p:nvPicPr>
          <p:cNvPr id="13" name="e35_9" descr="/tmp/claude-0/-home-user-Fahrlehrer-Kompass-/11378f77-94a8-55e9-a697-0f3efd4c20b9/scratchpad/bau/art/blink_R.png">    </p:cNvPr>
          <p:cNvPicPr>
            <a:picLocks noChangeAspect="1"/>
          </p:cNvPicPr>
          <p:nvPr/>
        </p:nvPicPr>
        <p:blipFill>
          <a:blip r:embed="rId7"/>
          <a:stretch>
            <a:fillRect/>
          </a:stretch>
        </p:blipFill>
        <p:spPr>
          <a:xfrm rot="10800000">
            <a:off x="6604711" y="2885846"/>
            <a:ext cx="543154" cy="1086307"/>
          </a:xfrm>
          <a:prstGeom prst="rect">
            <a:avLst/>
          </a:prstGeom>
        </p:spPr>
      </p:pic>
      <p:sp>
        <p:nvSpPr>
          <p:cNvPr id="14" name="e35_10"/>
          <p:cNvSpPr txBox="1"/>
          <p:nvPr/>
        </p:nvSpPr>
        <p:spPr>
          <a:xfrm rot="-180000">
            <a:off x="731520" y="4023360"/>
            <a:ext cx="384048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19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Warten: Kreis und Zebrastreifen</a:t>
            </a:r>
            <a:endParaRPr lang="en-US" sz="1900" dirty="0"/>
          </a:p>
        </p:txBody>
      </p:sp>
      <p:sp>
        <p:nvSpPr>
          <p:cNvPr id="15" name="e35_11"/>
          <p:cNvSpPr txBox="1"/>
          <p:nvPr/>
        </p:nvSpPr>
        <p:spPr>
          <a:xfrm rot="-180000">
            <a:off x="731520" y="470916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Rein: kein Blinker</a:t>
            </a:r>
            <a:endParaRPr lang="en-US" sz="2200" dirty="0"/>
          </a:p>
        </p:txBody>
      </p:sp>
      <p:pic>
        <p:nvPicPr>
          <p:cNvPr id="16" name="e35_12" descr="/tmp/claude-0/-home-user-Fahrlehrer-Kompass-/11378f77-94a8-55e9-a697-0f3efd4c20b9/scratchpad/bau/art/blink_R.png">    </p:cNvPr>
          <p:cNvPicPr>
            <a:picLocks noChangeAspect="1"/>
          </p:cNvPicPr>
          <p:nvPr/>
        </p:nvPicPr>
        <p:blipFill>
          <a:blip r:embed="rId8"/>
          <a:stretch>
            <a:fillRect/>
          </a:stretch>
        </p:blipFill>
        <p:spPr>
          <a:xfrm>
            <a:off x="9128455" y="2885741"/>
            <a:ext cx="543154" cy="1086307"/>
          </a:xfrm>
          <a:prstGeom prst="rect">
            <a:avLst/>
          </a:prstGeom>
        </p:spPr>
      </p:pic>
      <p:sp>
        <p:nvSpPr>
          <p:cNvPr id="17" name="e35_13"/>
          <p:cNvSpPr txBox="1"/>
          <p:nvPr/>
        </p:nvSpPr>
        <p:spPr>
          <a:xfrm rot="-180000">
            <a:off x="731520" y="5394960"/>
            <a:ext cx="329184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Raus: rechts blinken</a:t>
            </a:r>
            <a:endParaRPr lang="en-US" sz="2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42"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650"/>
                                        <p:tgtEl>
                                          <p:spTgt spid="9"/>
                                        </p:tgtEl>
                                      </p:cBhvr>
                                    </p:animEffect>
                                    <p:anim calcmode="lin" valueType="num">
                                      <p:cBhvr additive="base">
                                        <p:cTn id="24" dur="650" fill="hold" decel="100000"/>
                                        <p:tgtEl>
                                          <p:spTgt spid="9"/>
                                        </p:tgtEl>
                                        <p:attrNameLst>
                                          <p:attrName>ppt_x</p:attrName>
                                        </p:attrNameLst>
                                      </p:cBhvr>
                                      <p:tavLst>
                                        <p:tav tm="0">
                                          <p:val>
                                            <p:strVal val="#ppt_x"/>
                                          </p:val>
                                        </p:tav>
                                        <p:tav tm="100000">
                                          <p:val>
                                            <p:strVal val="#ppt_x"/>
                                          </p:val>
                                        </p:tav>
                                      </p:tavLst>
                                    </p:anim>
                                    <p:anim calcmode="lin" valueType="num">
                                      <p:cBhvr additive="base">
                                        <p:cTn id="25" dur="650" fill="hold" decel="100000"/>
                                        <p:tgtEl>
                                          <p:spTgt spid="9"/>
                                        </p:tgtEl>
                                        <p:attrNameLst>
                                          <p:attrName>ppt_y</p:attrName>
                                        </p:attrNameLst>
                                      </p:cBhvr>
                                      <p:tavLst>
                                        <p:tav tm="0">
                                          <p:val>
                                            <p:strVal val="#ppt_y+.05"/>
                                          </p:val>
                                        </p:tav>
                                        <p:tav tm="100000">
                                          <p:val>
                                            <p:strVal val="#ppt_y"/>
                                          </p:val>
                                        </p:tav>
                                      </p:tavLst>
                                    </p:anim>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50"/>
                                        <p:tgtEl>
                                          <p:spTgt spid="13"/>
                                        </p:tgtEl>
                                      </p:cBhvr>
                                    </p:animEffect>
                                  </p:childTnLst>
                                </p:cTn>
                              </p:par>
                              <p:par>
                                <p:cTn id="29" presetID="35" presetClass="emph" presetSubtype="0" fill="hold" nodeType="withEffect" repeatCount="indefinite">
                                  <p:stCondLst>
                                    <p:cond delay="0"/>
                                  </p:stCondLst>
                                  <p:childTnLst>
                                    <p:anim calcmode="discrete" valueType="str">
                                      <p:cBhvr override="childStyle">
                                        <p:cTn id="30" dur="700"/>
                                        <p:tgtEl>
                                          <p:spTgt spid="13"/>
                                        </p:tgtEl>
                                        <p:attrNameLst>
                                          <p:attrName>style.visibility</p:attrName>
                                        </p:attrNameLst>
                                      </p:cBhvr>
                                      <p:tavLst>
                                        <p:tav tm="0">
                                          <p:val>
                                            <p:strVal val="hidden"/>
                                          </p:val>
                                        </p:tav>
                                        <p:tav tm="50000">
                                          <p:val>
                                            <p:strVal val="visible"/>
                                          </p:val>
                                        </p:tav>
                                      </p:tavLst>
                                    </p:anim>
                                  </p:childTnLst>
                                </p:cTn>
                              </p:par>
                            </p:childTnLst>
                          </p:cTn>
                        </p:par>
                      </p:childTnLst>
                    </p:cTn>
                  </p:par>
                  <p:par>
                    <p:cTn id="31" fill="hold">
                      <p:stCondLst>
                        <p:cond delay="indefinite"/>
                      </p:stCondLst>
                      <p:childTnLst>
                        <p:par>
                          <p:cTn id="32" fill="hold">
                            <p:stCondLst>
                              <p:cond delay="0"/>
                            </p:stCondLst>
                            <p:childTnLst>
                              <p:par>
                                <p:cTn id="33" presetID="53" presetClass="entr" presetSubtype="32"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380" fill="hold" accel="60000"/>
                                        <p:tgtEl>
                                          <p:spTgt spid="14"/>
                                        </p:tgtEl>
                                        <p:attrNameLst>
                                          <p:attrName>ppt_w</p:attrName>
                                        </p:attrNameLst>
                                      </p:cBhvr>
                                      <p:tavLst>
                                        <p:tav tm="0">
                                          <p:val>
                                            <p:strVal val="#ppt_w*2.2"/>
                                          </p:val>
                                        </p:tav>
                                        <p:tav tm="100000">
                                          <p:val>
                                            <p:strVal val="#ppt_w"/>
                                          </p:val>
                                        </p:tav>
                                      </p:tavLst>
                                    </p:anim>
                                    <p:anim calcmode="lin" valueType="num">
                                      <p:cBhvr additive="base">
                                        <p:cTn id="36" dur="380" fill="hold" accel="60000"/>
                                        <p:tgtEl>
                                          <p:spTgt spid="14"/>
                                        </p:tgtEl>
                                        <p:attrNameLst>
                                          <p:attrName>ppt_h</p:attrName>
                                        </p:attrNameLst>
                                      </p:cBhvr>
                                      <p:tavLst>
                                        <p:tav tm="0">
                                          <p:val>
                                            <p:strVal val="#ppt_h*2.2"/>
                                          </p:val>
                                        </p:tav>
                                        <p:tav tm="100000">
                                          <p:val>
                                            <p:strVal val="#ppt_h"/>
                                          </p:val>
                                        </p:tav>
                                      </p:tavLst>
                                    </p:anim>
                                    <p:animEffect transition="in" filter="fade">
                                      <p:cBhvr>
                                        <p:cTn id="37" dur="228"/>
                                        <p:tgtEl>
                                          <p:spTgt spid="14"/>
                                        </p:tgtEl>
                                      </p:cBhvr>
                                    </p:animEffect>
                                  </p:childTnLst>
                                </p:cTn>
                              </p:par>
                              <p:par>
                                <p:cTn id="38" presetID="0" presetClass="path" presetSubtype="0" fill="hold" nodeType="withEffect" accel="50000">
                                  <p:stCondLst>
                                    <p:cond delay="0"/>
                                  </p:stCondLst>
                                  <p:childTnLst>
                                    <p:animMotion origin="layout" path="M 0 0 C 0 0.0833 0.0315 0.1562 0.0767 0.1777 C 0.122 0.1993 0.1697 0.1641 0.1931 0.092 E" pathEditMode="relative" rAng="0" ptsTypes="">
                                      <p:cBhvr>
                                        <p:cTn id="39" dur="2125" fill="hold"/>
                                        <p:tgtEl>
                                          <p:spTgt spid="11"/>
                                        </p:tgtEl>
                                        <p:attrNameLst>
                                          <p:attrName>ppt_x</p:attrName>
                                          <p:attrName>ppt_y</p:attrName>
                                        </p:attrNameLst>
                                      </p:cBhvr>
                                      <p:rCtr x="0" y="0"/>
                                    </p:animMotion>
                                  </p:childTnLst>
                                </p:cTn>
                              </p:par>
                              <p:par>
                                <p:cTn id="40" presetID="8" presetClass="emph" presetSubtype="0" fill="hold" nodeType="withEffect" accel="50000">
                                  <p:stCondLst>
                                    <p:cond delay="0"/>
                                  </p:stCondLst>
                                  <p:childTnLst>
                                    <p:animRot by="-9000000">
                                      <p:cBhvr>
                                        <p:cTn id="41" dur="2125" fill="hold"/>
                                        <p:tgtEl>
                                          <p:spTgt spid="11"/>
                                        </p:tgtEl>
                                        <p:attrNameLst>
                                          <p:attrName>r</p:attrName>
                                        </p:attrNameLst>
                                      </p:cBhvr>
                                    </p:animRot>
                                  </p:childTnLst>
                                </p:cTn>
                              </p:par>
                              <p:par>
                                <p:cTn id="42" presetID="0" presetClass="path" presetSubtype="0" fill="hold" nodeType="withEffect" accel="50000">
                                  <p:stCondLst>
                                    <p:cond delay="0"/>
                                  </p:stCondLst>
                                  <p:childTnLst>
                                    <p:animMotion origin="layout" path="M 0 0 C 0 0.0833 0.0315 0.1562 0.0767 0.1777 C 0.122 0.1993 0.1697 0.1641 0.1931 0.092 E" pathEditMode="relative" rAng="0" ptsTypes="">
                                      <p:cBhvr>
                                        <p:cTn id="43" dur="2125" fill="hold"/>
                                        <p:tgtEl>
                                          <p:spTgt spid="13"/>
                                        </p:tgtEl>
                                        <p:attrNameLst>
                                          <p:attrName>ppt_x</p:attrName>
                                          <p:attrName>ppt_y</p:attrName>
                                        </p:attrNameLst>
                                      </p:cBhvr>
                                      <p:rCtr x="0" y="0"/>
                                    </p:animMotion>
                                  </p:childTnLst>
                                </p:cTn>
                              </p:par>
                              <p:par>
                                <p:cTn id="44" presetID="8" presetClass="emph" presetSubtype="0" fill="hold" nodeType="withEffect" accel="50000">
                                  <p:stCondLst>
                                    <p:cond delay="0"/>
                                  </p:stCondLst>
                                  <p:childTnLst>
                                    <p:animRot by="-9000000">
                                      <p:cBhvr>
                                        <p:cTn id="45" dur="2125" fill="hold"/>
                                        <p:tgtEl>
                                          <p:spTgt spid="13"/>
                                        </p:tgtEl>
                                        <p:attrNameLst>
                                          <p:attrName>r</p:attrName>
                                        </p:attrNameLst>
                                      </p:cBhvr>
                                    </p:animRot>
                                  </p:childTnLst>
                                </p:cTn>
                              </p:par>
                              <p:par>
                                <p:cTn id="46" presetID="0" presetClass="path" presetSubtype="0" fill="hold" nodeType="withEffect" accel="40000" decel="40000">
                                  <p:stCondLst>
                                    <p:cond delay="0"/>
                                  </p:stCondLst>
                                  <p:childTnLst>
                                    <p:animMotion origin="layout" path="M 0 0 C 0.0525 0 0.105 0 0.1575 0 E" pathEditMode="relative" rAng="0" ptsTypes="">
                                      <p:cBhvr>
                                        <p:cTn id="47" dur="2100" fill="hold"/>
                                        <p:tgtEl>
                                          <p:spTgt spid="12"/>
                                        </p:tgtEl>
                                        <p:attrNameLst>
                                          <p:attrName>ppt_x</p:attrName>
                                          <p:attrName>ppt_y</p:attrName>
                                        </p:attrNameLst>
                                      </p:cBhvr>
                                      <p:rCtr x="0" y="0"/>
                                    </p:animMotion>
                                  </p:childTnLst>
                                </p:cTn>
                              </p:par>
                            </p:childTnLst>
                          </p:cTn>
                        </p:par>
                        <p:par>
                          <p:cTn id="48" fill="hold">
                            <p:stCondLst>
                              <p:cond delay="2125"/>
                            </p:stCondLst>
                            <p:childTnLst>
                              <p:par>
                                <p:cTn id="49" presetID="0" presetClass="path" presetSubtype="0" fill="hold" nodeType="afterEffect">
                                  <p:stCondLst>
                                    <p:cond delay="0"/>
                                  </p:stCondLst>
                                  <p:childTnLst>
                                    <p:animMotion origin="layout" path="M 0.1931 0.092 C 0.2063 0.0516 0.2535 0.0477 0.2835 0.0477 E" pathEditMode="relative" rAng="0" ptsTypes="">
                                      <p:cBhvr>
                                        <p:cTn id="50" dur="762" fill="hold"/>
                                        <p:tgtEl>
                                          <p:spTgt spid="11"/>
                                        </p:tgtEl>
                                        <p:attrNameLst>
                                          <p:attrName>ppt_x</p:attrName>
                                          <p:attrName>ppt_y</p:attrName>
                                        </p:attrNameLst>
                                      </p:cBhvr>
                                      <p:rCtr x="0" y="0"/>
                                    </p:animMotion>
                                  </p:childTnLst>
                                </p:cTn>
                              </p:par>
                              <p:par>
                                <p:cTn id="51" presetID="8" presetClass="emph" presetSubtype="0" fill="hold" nodeType="withEffect">
                                  <p:stCondLst>
                                    <p:cond delay="0"/>
                                  </p:stCondLst>
                                  <p:childTnLst>
                                    <p:animRot by="3600000">
                                      <p:cBhvr>
                                        <p:cTn id="52" dur="762" fill="hold"/>
                                        <p:tgtEl>
                                          <p:spTgt spid="11"/>
                                        </p:tgtEl>
                                        <p:attrNameLst>
                                          <p:attrName>r</p:attrName>
                                        </p:attrNameLst>
                                      </p:cBhvr>
                                    </p:animRot>
                                  </p:childTnLst>
                                </p:cTn>
                              </p:par>
                              <p:par>
                                <p:cTn id="53" presetID="0" presetClass="path" presetSubtype="0" fill="hold" nodeType="withEffect">
                                  <p:stCondLst>
                                    <p:cond delay="0"/>
                                  </p:stCondLst>
                                  <p:childTnLst>
                                    <p:animMotion origin="layout" path="M 0.1931 0.092 C 0.2063 0.0516 0.2535 0.0477 0.2835 0.0477 E" pathEditMode="relative" rAng="0" ptsTypes="">
                                      <p:cBhvr>
                                        <p:cTn id="54" dur="762" fill="hold"/>
                                        <p:tgtEl>
                                          <p:spTgt spid="13"/>
                                        </p:tgtEl>
                                        <p:attrNameLst>
                                          <p:attrName>ppt_x</p:attrName>
                                          <p:attrName>ppt_y</p:attrName>
                                        </p:attrNameLst>
                                      </p:cBhvr>
                                      <p:rCtr x="0" y="0"/>
                                    </p:animMotion>
                                  </p:childTnLst>
                                </p:cTn>
                              </p:par>
                              <p:par>
                                <p:cTn id="55" presetID="8" presetClass="emph" presetSubtype="0" fill="hold" nodeType="withEffect">
                                  <p:stCondLst>
                                    <p:cond delay="0"/>
                                  </p:stCondLst>
                                  <p:childTnLst>
                                    <p:animRot by="3600000">
                                      <p:cBhvr>
                                        <p:cTn id="56" dur="762" fill="hold"/>
                                        <p:tgtEl>
                                          <p:spTgt spid="13"/>
                                        </p:tgtEl>
                                        <p:attrNameLst>
                                          <p:attrName>r</p:attrName>
                                        </p:attrNameLst>
                                      </p:cBhvr>
                                    </p:animRot>
                                  </p:childTnLst>
                                </p:cTn>
                              </p:par>
                            </p:childTnLst>
                          </p:cTn>
                        </p:par>
                        <p:par>
                          <p:cTn id="57" fill="hold">
                            <p:stCondLst>
                              <p:cond delay="2887"/>
                            </p:stCondLst>
                            <p:childTnLst>
                              <p:par>
                                <p:cTn id="58" presetID="0" presetClass="path" presetSubtype="0" fill="hold" nodeType="afterEffect" decel="50000">
                                  <p:stCondLst>
                                    <p:cond delay="0"/>
                                  </p:stCondLst>
                                  <p:childTnLst>
                                    <p:animMotion origin="layout" path="M 0.2835 0.0477 C 0.3385 0.0477 0.3935 0.0477 0.4485 0.0477 E" pathEditMode="relative" rAng="0" ptsTypes="">
                                      <p:cBhvr>
                                        <p:cTn id="59" dur="1294" fill="hold"/>
                                        <p:tgtEl>
                                          <p:spTgt spid="11"/>
                                        </p:tgtEl>
                                        <p:attrNameLst>
                                          <p:attrName>ppt_x</p:attrName>
                                          <p:attrName>ppt_y</p:attrName>
                                        </p:attrNameLst>
                                      </p:cBhvr>
                                      <p:rCtr x="0" y="0"/>
                                    </p:animMotion>
                                  </p:childTnLst>
                                </p:cTn>
                              </p:par>
                              <p:par>
                                <p:cTn id="60" presetID="0" presetClass="path" presetSubtype="0" fill="hold" nodeType="withEffect" decel="50000">
                                  <p:stCondLst>
                                    <p:cond delay="0"/>
                                  </p:stCondLst>
                                  <p:childTnLst>
                                    <p:animMotion origin="layout" path="M 0.2835 0.0477 C 0.3385 0.0477 0.3935 0.0477 0.4485 0.0477 E" pathEditMode="relative" rAng="0" ptsTypes="">
                                      <p:cBhvr>
                                        <p:cTn id="61" dur="1294" fill="hold"/>
                                        <p:tgtEl>
                                          <p:spTgt spid="13"/>
                                        </p:tgtEl>
                                        <p:attrNameLst>
                                          <p:attrName>ppt_x</p:attrName>
                                          <p:attrName>ppt_y</p:attrName>
                                        </p:attrNameLst>
                                      </p:cBhvr>
                                      <p:rCtr x="0" y="0"/>
                                    </p:animMotion>
                                  </p:childTnLst>
                                </p:cTn>
                              </p:par>
                            </p:childTnLst>
                          </p:cTn>
                        </p:par>
                        <p:par>
                          <p:cTn id="62" fill="hold">
                            <p:stCondLst>
                              <p:cond delay="4181"/>
                            </p:stCondLst>
                            <p:childTnLst>
                              <p:par>
                                <p:cTn id="63" presetID="10" presetClass="exit" presetSubtype="0" fill="hold" nodeType="afterEffect">
                                  <p:stCondLst>
                                    <p:cond delay="0"/>
                                  </p:stCondLst>
                                  <p:childTnLst>
                                    <p:animEffect transition="out" filter="fade">
                                      <p:cBhvr>
                                        <p:cTn id="64" dur="350"/>
                                        <p:tgtEl>
                                          <p:spTgt spid="11"/>
                                        </p:tgtEl>
                                      </p:cBhvr>
                                    </p:animEffect>
                                    <p:set>
                                      <p:cBhvr>
                                        <p:cTn id="65" dur="1" fill="hold">
                                          <p:stCondLst>
                                            <p:cond delay="349"/>
                                          </p:stCondLst>
                                        </p:cTn>
                                        <p:tgtEl>
                                          <p:spTgt spid="11"/>
                                        </p:tgtEl>
                                        <p:attrNameLst>
                                          <p:attrName>style.visibility</p:attrName>
                                        </p:attrNameLst>
                                      </p:cBhvr>
                                      <p:to>
                                        <p:strVal val="hidden"/>
                                      </p:to>
                                    </p:set>
                                  </p:childTnLst>
                                </p:cTn>
                              </p:par>
                              <p:par>
                                <p:cTn id="66" presetID="10" presetClass="exit" presetSubtype="0" fill="hold" nodeType="withEffect">
                                  <p:stCondLst>
                                    <p:cond delay="0"/>
                                  </p:stCondLst>
                                  <p:childTnLst>
                                    <p:animEffect transition="out" filter="fade">
                                      <p:cBhvr>
                                        <p:cTn id="67" dur="350"/>
                                        <p:tgtEl>
                                          <p:spTgt spid="13"/>
                                        </p:tgtEl>
                                      </p:cBhvr>
                                    </p:animEffect>
                                    <p:set>
                                      <p:cBhvr>
                                        <p:cTn id="68" dur="1" fill="hold">
                                          <p:stCondLst>
                                            <p:cond delay="349"/>
                                          </p:stCondLst>
                                        </p:cTn>
                                        <p:tgtEl>
                                          <p:spTgt spid="13"/>
                                        </p:tgtEl>
                                        <p:attrNameLst>
                                          <p:attrName>style.visibility</p:attrName>
                                        </p:attrNameLst>
                                      </p:cBhvr>
                                      <p:to>
                                        <p:strVal val="hidden"/>
                                      </p:to>
                                    </p:set>
                                  </p:childTnLst>
                                </p:cTn>
                              </p:par>
                              <p:par>
                                <p:cTn id="69" presetID="10" presetClass="exit" presetSubtype="0" fill="hold" nodeType="withEffect">
                                  <p:stCondLst>
                                    <p:cond delay="0"/>
                                  </p:stCondLst>
                                  <p:childTnLst>
                                    <p:animEffect transition="out" filter="fade">
                                      <p:cBhvr>
                                        <p:cTn id="70" dur="350"/>
                                        <p:tgtEl>
                                          <p:spTgt spid="12"/>
                                        </p:tgtEl>
                                      </p:cBhvr>
                                    </p:animEffect>
                                    <p:set>
                                      <p:cBhvr>
                                        <p:cTn id="71" dur="1" fill="hold">
                                          <p:stCondLst>
                                            <p:cond delay="349"/>
                                          </p:stCondLst>
                                        </p:cTn>
                                        <p:tgtEl>
                                          <p:spTgt spid="12"/>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0" presetClass="path" presetSubtype="0" fill="hold" nodeType="clickEffect" accel="50000">
                                  <p:stCondLst>
                                    <p:cond delay="0"/>
                                  </p:stCondLst>
                                  <p:childTnLst>
                                    <p:animMotion origin="layout" path="M 0 0 C 0 -0.0467 0 -0.0933 0 -0.14 E" pathEditMode="relative" rAng="0" ptsTypes="">
                                      <p:cBhvr>
                                        <p:cTn id="75" dur="618" fill="hold"/>
                                        <p:tgtEl>
                                          <p:spTgt spid="10"/>
                                        </p:tgtEl>
                                        <p:attrNameLst>
                                          <p:attrName>ppt_x</p:attrName>
                                          <p:attrName>ppt_y</p:attrName>
                                        </p:attrNameLst>
                                      </p:cBhvr>
                                      <p:rCtr x="0" y="0"/>
                                    </p:animMotion>
                                  </p:childTnLst>
                                </p:cTn>
                              </p:par>
                            </p:childTnLst>
                          </p:cTn>
                        </p:par>
                        <p:par>
                          <p:cTn id="76" fill="hold">
                            <p:stCondLst>
                              <p:cond delay="618"/>
                            </p:stCondLst>
                            <p:childTnLst>
                              <p:par>
                                <p:cTn id="77" presetID="0" presetClass="path" presetSubtype="0" fill="hold" nodeType="afterEffect">
                                  <p:stCondLst>
                                    <p:cond delay="0"/>
                                  </p:stCondLst>
                                  <p:childTnLst>
                                    <p:animMotion origin="layout" path="M 0 -0.14 C 0 -0.1933 0.0022 -0.244 0.0249 -0.2673 E" pathEditMode="relative" rAng="0" ptsTypes="">
                                      <p:cBhvr>
                                        <p:cTn id="78" dur="625" fill="hold"/>
                                        <p:tgtEl>
                                          <p:spTgt spid="10"/>
                                        </p:tgtEl>
                                        <p:attrNameLst>
                                          <p:attrName>ppt_x</p:attrName>
                                          <p:attrName>ppt_y</p:attrName>
                                        </p:attrNameLst>
                                      </p:cBhvr>
                                      <p:rCtr x="0" y="0"/>
                                    </p:animMotion>
                                  </p:childTnLst>
                                </p:cTn>
                              </p:par>
                              <p:par>
                                <p:cTn id="79" presetID="8" presetClass="emph" presetSubtype="0" fill="hold" nodeType="withEffect">
                                  <p:stCondLst>
                                    <p:cond delay="0"/>
                                  </p:stCondLst>
                                  <p:childTnLst>
                                    <p:animRot by="3600000">
                                      <p:cBhvr>
                                        <p:cTn id="80" dur="625" fill="hold"/>
                                        <p:tgtEl>
                                          <p:spTgt spid="10"/>
                                        </p:tgtEl>
                                        <p:attrNameLst>
                                          <p:attrName>r</p:attrName>
                                        </p:attrNameLst>
                                      </p:cBhvr>
                                    </p:animRot>
                                  </p:childTnLst>
                                </p:cTn>
                              </p:par>
                            </p:childTnLst>
                          </p:cTn>
                        </p:par>
                        <p:par>
                          <p:cTn id="81" fill="hold">
                            <p:stCondLst>
                              <p:cond delay="1243"/>
                            </p:stCondLst>
                            <p:childTnLst>
                              <p:par>
                                <p:cTn id="82" presetID="0" presetClass="path" presetSubtype="0" fill="hold" nodeType="afterEffect">
                                  <p:stCondLst>
                                    <p:cond delay="0"/>
                                  </p:stCondLst>
                                  <p:childTnLst>
                                    <p:animMotion origin="layout" path="M 0.0249 -0.2673 C 0.057 -0.3002 0.0767 -0.3609 0.0767 -0.4267 E" pathEditMode="relative" rAng="0" ptsTypes="">
                                      <p:cBhvr>
                                        <p:cTn id="83" dur="850" fill="hold"/>
                                        <p:tgtEl>
                                          <p:spTgt spid="10"/>
                                        </p:tgtEl>
                                        <p:attrNameLst>
                                          <p:attrName>ppt_x</p:attrName>
                                          <p:attrName>ppt_y</p:attrName>
                                        </p:attrNameLst>
                                      </p:cBhvr>
                                      <p:rCtr x="0" y="0"/>
                                    </p:animMotion>
                                  </p:childTnLst>
                                </p:cTn>
                              </p:par>
                              <p:par>
                                <p:cTn id="84" presetID="8" presetClass="emph" presetSubtype="0" fill="hold" nodeType="withEffect">
                                  <p:stCondLst>
                                    <p:cond delay="0"/>
                                  </p:stCondLst>
                                  <p:childTnLst>
                                    <p:animRot by="-3600000">
                                      <p:cBhvr>
                                        <p:cTn id="85" dur="850" fill="hold"/>
                                        <p:tgtEl>
                                          <p:spTgt spid="10"/>
                                        </p:tgtEl>
                                        <p:attrNameLst>
                                          <p:attrName>r</p:attrName>
                                        </p:attrNameLst>
                                      </p:cBhvr>
                                    </p:animRot>
                                  </p:childTnLst>
                                </p:cTn>
                              </p:par>
                              <p:par>
                                <p:cTn id="86" presetID="53" presetClass="entr" presetSubtype="32" fill="hold" grpId="0" nodeType="withEffect">
                                  <p:stCondLst>
                                    <p:cond delay="0"/>
                                  </p:stCondLst>
                                  <p:childTnLst>
                                    <p:set>
                                      <p:cBhvr>
                                        <p:cTn id="87" dur="1" fill="hold">
                                          <p:stCondLst>
                                            <p:cond delay="0"/>
                                          </p:stCondLst>
                                        </p:cTn>
                                        <p:tgtEl>
                                          <p:spTgt spid="15"/>
                                        </p:tgtEl>
                                        <p:attrNameLst>
                                          <p:attrName>style.visibility</p:attrName>
                                        </p:attrNameLst>
                                      </p:cBhvr>
                                      <p:to>
                                        <p:strVal val="visible"/>
                                      </p:to>
                                    </p:set>
                                    <p:anim calcmode="lin" valueType="num">
                                      <p:cBhvr additive="base">
                                        <p:cTn id="88"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89" dur="380" fill="hold" accel="60000"/>
                                        <p:tgtEl>
                                          <p:spTgt spid="15"/>
                                        </p:tgtEl>
                                        <p:attrNameLst>
                                          <p:attrName>ppt_h</p:attrName>
                                        </p:attrNameLst>
                                      </p:cBhvr>
                                      <p:tavLst>
                                        <p:tav tm="0">
                                          <p:val>
                                            <p:strVal val="#ppt_h*2.2"/>
                                          </p:val>
                                        </p:tav>
                                        <p:tav tm="100000">
                                          <p:val>
                                            <p:strVal val="#ppt_h"/>
                                          </p:val>
                                        </p:tav>
                                      </p:tavLst>
                                    </p:anim>
                                    <p:animEffect transition="in" filter="fade">
                                      <p:cBhvr>
                                        <p:cTn id="90" dur="228"/>
                                        <p:tgtEl>
                                          <p:spTgt spid="15"/>
                                        </p:tgtEl>
                                      </p:cBhvr>
                                    </p:animEffect>
                                  </p:childTnLst>
                                </p:cTn>
                              </p:par>
                            </p:childTnLst>
                          </p:cTn>
                        </p:par>
                        <p:par>
                          <p:cTn id="91" fill="hold">
                            <p:stCondLst>
                              <p:cond delay="2093"/>
                            </p:stCondLst>
                            <p:childTnLst>
                              <p:par>
                                <p:cTn id="92" presetID="10" presetClass="entr" presetSubtype="0" fill="hold" nodeType="after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fade">
                                      <p:cBhvr>
                                        <p:cTn id="94" dur="1"/>
                                        <p:tgtEl>
                                          <p:spTgt spid="16"/>
                                        </p:tgtEl>
                                      </p:cBhvr>
                                    </p:animEffect>
                                  </p:childTnLst>
                                </p:cTn>
                              </p:par>
                              <p:par>
                                <p:cTn id="95" presetID="35" presetClass="emph" presetSubtype="0" fill="hold" nodeType="withEffect" repeatCount="indefinite">
                                  <p:stCondLst>
                                    <p:cond delay="0"/>
                                  </p:stCondLst>
                                  <p:childTnLst>
                                    <p:anim calcmode="discrete" valueType="str">
                                      <p:cBhvr override="childStyle">
                                        <p:cTn id="96" dur="700"/>
                                        <p:tgtEl>
                                          <p:spTgt spid="16"/>
                                        </p:tgtEl>
                                        <p:attrNameLst>
                                          <p:attrName>style.visibility</p:attrName>
                                        </p:attrNameLst>
                                      </p:cBhvr>
                                      <p:tavLst>
                                        <p:tav tm="0">
                                          <p:val>
                                            <p:strVal val="hidden"/>
                                          </p:val>
                                        </p:tav>
                                        <p:tav tm="50000">
                                          <p:val>
                                            <p:strVal val="visible"/>
                                          </p:val>
                                        </p:tav>
                                      </p:tavLst>
                                    </p:anim>
                                  </p:childTnLst>
                                </p:cTn>
                              </p:par>
                            </p:childTnLst>
                          </p:cTn>
                        </p:par>
                        <p:par>
                          <p:cTn id="97" fill="hold">
                            <p:stCondLst>
                              <p:cond delay="2094"/>
                            </p:stCondLst>
                            <p:childTnLst>
                              <p:par>
                                <p:cTn id="98" presetID="0" presetClass="path" presetSubtype="0" fill="hold" nodeType="afterEffect">
                                  <p:stCondLst>
                                    <p:cond delay="0"/>
                                  </p:stCondLst>
                                  <p:childTnLst>
                                    <p:animMotion origin="layout" path="M 0.0767 -0.4267 C 0.0767 -0.4924 0.057 -0.5532 0.0249 -0.586 E" pathEditMode="relative" rAng="0" ptsTypes="">
                                      <p:cBhvr>
                                        <p:cTn id="99" dur="850" fill="hold"/>
                                        <p:tgtEl>
                                          <p:spTgt spid="10"/>
                                        </p:tgtEl>
                                        <p:attrNameLst>
                                          <p:attrName>ppt_x</p:attrName>
                                          <p:attrName>ppt_y</p:attrName>
                                        </p:attrNameLst>
                                      </p:cBhvr>
                                      <p:rCtr x="0" y="0"/>
                                    </p:animMotion>
                                  </p:childTnLst>
                                </p:cTn>
                              </p:par>
                              <p:par>
                                <p:cTn id="100" presetID="8" presetClass="emph" presetSubtype="0" fill="hold" nodeType="withEffect">
                                  <p:stCondLst>
                                    <p:cond delay="0"/>
                                  </p:stCondLst>
                                  <p:childTnLst>
                                    <p:animRot by="-3600000">
                                      <p:cBhvr>
                                        <p:cTn id="101" dur="850" fill="hold"/>
                                        <p:tgtEl>
                                          <p:spTgt spid="10"/>
                                        </p:tgtEl>
                                        <p:attrNameLst>
                                          <p:attrName>r</p:attrName>
                                        </p:attrNameLst>
                                      </p:cBhvr>
                                    </p:animRot>
                                  </p:childTnLst>
                                </p:cTn>
                              </p:par>
                              <p:par>
                                <p:cTn id="102" presetID="0" presetClass="path" presetSubtype="0" fill="hold" nodeType="withEffect">
                                  <p:stCondLst>
                                    <p:cond delay="0"/>
                                  </p:stCondLst>
                                  <p:childTnLst>
                                    <p:animMotion origin="layout" path="M 0 0 C 0 -0.0657 -0.0197 -0.1265 -0.0518 -0.1593 E" pathEditMode="relative" rAng="0" ptsTypes="">
                                      <p:cBhvr>
                                        <p:cTn id="103" dur="850" fill="hold"/>
                                        <p:tgtEl>
                                          <p:spTgt spid="16"/>
                                        </p:tgtEl>
                                        <p:attrNameLst>
                                          <p:attrName>ppt_x</p:attrName>
                                          <p:attrName>ppt_y</p:attrName>
                                        </p:attrNameLst>
                                      </p:cBhvr>
                                      <p:rCtr x="0" y="0"/>
                                    </p:animMotion>
                                  </p:childTnLst>
                                </p:cTn>
                              </p:par>
                              <p:par>
                                <p:cTn id="104" presetID="8" presetClass="emph" presetSubtype="0" fill="hold" nodeType="withEffect">
                                  <p:stCondLst>
                                    <p:cond delay="0"/>
                                  </p:stCondLst>
                                  <p:childTnLst>
                                    <p:animRot by="-3600000">
                                      <p:cBhvr>
                                        <p:cTn id="105" dur="850" fill="hold"/>
                                        <p:tgtEl>
                                          <p:spTgt spid="16"/>
                                        </p:tgtEl>
                                        <p:attrNameLst>
                                          <p:attrName>r</p:attrName>
                                        </p:attrNameLst>
                                      </p:cBhvr>
                                    </p:animRot>
                                  </p:childTnLst>
                                </p:cTn>
                              </p:par>
                            </p:childTnLst>
                          </p:cTn>
                        </p:par>
                        <p:par>
                          <p:cTn id="106" fill="hold">
                            <p:stCondLst>
                              <p:cond delay="2944"/>
                            </p:stCondLst>
                            <p:childTnLst>
                              <p:par>
                                <p:cTn id="107" presetID="0" presetClass="path" presetSubtype="0" fill="hold" nodeType="afterEffect">
                                  <p:stCondLst>
                                    <p:cond delay="0"/>
                                  </p:stCondLst>
                                  <p:childTnLst>
                                    <p:animMotion origin="layout" path="M 0.0249 -0.586 C 0.0022 -0.6093 0 -0.66 0 -0.7133 E" pathEditMode="relative" rAng="0" ptsTypes="">
                                      <p:cBhvr>
                                        <p:cTn id="108" dur="624" fill="hold"/>
                                        <p:tgtEl>
                                          <p:spTgt spid="10"/>
                                        </p:tgtEl>
                                        <p:attrNameLst>
                                          <p:attrName>ppt_x</p:attrName>
                                          <p:attrName>ppt_y</p:attrName>
                                        </p:attrNameLst>
                                      </p:cBhvr>
                                      <p:rCtr x="0" y="0"/>
                                    </p:animMotion>
                                  </p:childTnLst>
                                </p:cTn>
                              </p:par>
                              <p:par>
                                <p:cTn id="109" presetID="8" presetClass="emph" presetSubtype="0" fill="hold" nodeType="withEffect">
                                  <p:stCondLst>
                                    <p:cond delay="0"/>
                                  </p:stCondLst>
                                  <p:childTnLst>
                                    <p:animRot by="3600000">
                                      <p:cBhvr>
                                        <p:cTn id="110" dur="624" fill="hold"/>
                                        <p:tgtEl>
                                          <p:spTgt spid="10"/>
                                        </p:tgtEl>
                                        <p:attrNameLst>
                                          <p:attrName>r</p:attrName>
                                        </p:attrNameLst>
                                      </p:cBhvr>
                                    </p:animRot>
                                  </p:childTnLst>
                                </p:cTn>
                              </p:par>
                              <p:par>
                                <p:cTn id="111" presetID="0" presetClass="path" presetSubtype="0" fill="hold" nodeType="withEffect">
                                  <p:stCondLst>
                                    <p:cond delay="0"/>
                                  </p:stCondLst>
                                  <p:childTnLst>
                                    <p:animMotion origin="layout" path="M -0.0518 -0.1593 C -0.0745 -0.1827 -0.0767 -0.2333 -0.0767 -0.2867 E" pathEditMode="relative" rAng="0" ptsTypes="">
                                      <p:cBhvr>
                                        <p:cTn id="112" dur="624" fill="hold"/>
                                        <p:tgtEl>
                                          <p:spTgt spid="16"/>
                                        </p:tgtEl>
                                        <p:attrNameLst>
                                          <p:attrName>ppt_x</p:attrName>
                                          <p:attrName>ppt_y</p:attrName>
                                        </p:attrNameLst>
                                      </p:cBhvr>
                                      <p:rCtr x="0" y="0"/>
                                    </p:animMotion>
                                  </p:childTnLst>
                                </p:cTn>
                              </p:par>
                              <p:par>
                                <p:cTn id="113" presetID="8" presetClass="emph" presetSubtype="0" fill="hold" nodeType="withEffect">
                                  <p:stCondLst>
                                    <p:cond delay="0"/>
                                  </p:stCondLst>
                                  <p:childTnLst>
                                    <p:animRot by="3600000">
                                      <p:cBhvr>
                                        <p:cTn id="114" dur="624" fill="hold"/>
                                        <p:tgtEl>
                                          <p:spTgt spid="16"/>
                                        </p:tgtEl>
                                        <p:attrNameLst>
                                          <p:attrName>r</p:attrName>
                                        </p:attrNameLst>
                                      </p:cBhvr>
                                    </p:animRot>
                                  </p:childTnLst>
                                </p:cTn>
                              </p:par>
                            </p:childTnLst>
                          </p:cTn>
                        </p:par>
                        <p:par>
                          <p:cTn id="115" fill="hold">
                            <p:stCondLst>
                              <p:cond delay="3568"/>
                            </p:stCondLst>
                            <p:childTnLst>
                              <p:par>
                                <p:cTn id="116" presetID="0" presetClass="path" presetSubtype="0" fill="hold" nodeType="afterEffect" decel="50000">
                                  <p:stCondLst>
                                    <p:cond delay="0"/>
                                  </p:stCondLst>
                                  <p:childTnLst>
                                    <p:animMotion origin="layout" path="M 0 -0.7133 C 0 -0.8111 0 -0.9089 0 -1.0067 E" pathEditMode="relative" rAng="0" ptsTypes="">
                                      <p:cBhvr>
                                        <p:cTn id="117" dur="1294" fill="hold"/>
                                        <p:tgtEl>
                                          <p:spTgt spid="10"/>
                                        </p:tgtEl>
                                        <p:attrNameLst>
                                          <p:attrName>ppt_x</p:attrName>
                                          <p:attrName>ppt_y</p:attrName>
                                        </p:attrNameLst>
                                      </p:cBhvr>
                                      <p:rCtr x="0" y="0"/>
                                    </p:animMotion>
                                  </p:childTnLst>
                                </p:cTn>
                              </p:par>
                              <p:par>
                                <p:cTn id="118" presetID="0" presetClass="path" presetSubtype="0" fill="hold" nodeType="withEffect" decel="50000">
                                  <p:stCondLst>
                                    <p:cond delay="0"/>
                                  </p:stCondLst>
                                  <p:childTnLst>
                                    <p:animMotion origin="layout" path="M -0.0767 -0.2867 C -0.0767 -0.3844 -0.0767 -0.4822 -0.0767 -0.58 E" pathEditMode="relative" rAng="0" ptsTypes="">
                                      <p:cBhvr>
                                        <p:cTn id="119" dur="1294" fill="hold"/>
                                        <p:tgtEl>
                                          <p:spTgt spid="16"/>
                                        </p:tgtEl>
                                        <p:attrNameLst>
                                          <p:attrName>ppt_x</p:attrName>
                                          <p:attrName>ppt_y</p:attrName>
                                        </p:attrNameLst>
                                      </p:cBhvr>
                                      <p:rCtr x="0" y="0"/>
                                    </p:animMotion>
                                  </p:childTnLst>
                                </p:cTn>
                              </p:par>
                            </p:childTnLst>
                          </p:cTn>
                        </p:par>
                        <p:par>
                          <p:cTn id="120" fill="hold">
                            <p:stCondLst>
                              <p:cond delay="4862"/>
                            </p:stCondLst>
                            <p:childTnLst>
                              <p:par>
                                <p:cTn id="121" presetID="10" presetClass="exit" presetSubtype="0" fill="hold" nodeType="afterEffect">
                                  <p:stCondLst>
                                    <p:cond delay="0"/>
                                  </p:stCondLst>
                                  <p:childTnLst>
                                    <p:animEffect transition="out" filter="fade">
                                      <p:cBhvr>
                                        <p:cTn id="122" dur="350"/>
                                        <p:tgtEl>
                                          <p:spTgt spid="10"/>
                                        </p:tgtEl>
                                      </p:cBhvr>
                                    </p:animEffect>
                                    <p:set>
                                      <p:cBhvr>
                                        <p:cTn id="123" dur="1" fill="hold">
                                          <p:stCondLst>
                                            <p:cond delay="349"/>
                                          </p:stCondLst>
                                        </p:cTn>
                                        <p:tgtEl>
                                          <p:spTgt spid="10"/>
                                        </p:tgtEl>
                                        <p:attrNameLst>
                                          <p:attrName>style.visibility</p:attrName>
                                        </p:attrNameLst>
                                      </p:cBhvr>
                                      <p:to>
                                        <p:strVal val="hidden"/>
                                      </p:to>
                                    </p:set>
                                  </p:childTnLst>
                                </p:cTn>
                              </p:par>
                              <p:par>
                                <p:cTn id="124" presetID="10" presetClass="exit" presetSubtype="0" fill="hold" nodeType="withEffect">
                                  <p:stCondLst>
                                    <p:cond delay="0"/>
                                  </p:stCondLst>
                                  <p:childTnLst>
                                    <p:animEffect transition="out" filter="fade">
                                      <p:cBhvr>
                                        <p:cTn id="125" dur="350"/>
                                        <p:tgtEl>
                                          <p:spTgt spid="16"/>
                                        </p:tgtEl>
                                      </p:cBhvr>
                                    </p:animEffect>
                                    <p:set>
                                      <p:cBhvr>
                                        <p:cTn id="126" dur="1" fill="hold">
                                          <p:stCondLst>
                                            <p:cond delay="349"/>
                                          </p:stCondLst>
                                        </p:cTn>
                                        <p:tgtEl>
                                          <p:spTgt spid="16"/>
                                        </p:tgtEl>
                                        <p:attrNameLst>
                                          <p:attrName>style.visibility</p:attrName>
                                        </p:attrNameLst>
                                      </p:cBhvr>
                                      <p:to>
                                        <p:strVal val="hidden"/>
                                      </p:to>
                                    </p:set>
                                  </p:childTnLst>
                                </p:cTn>
                              </p:par>
                            </p:childTnLst>
                          </p:cTn>
                        </p:par>
                        <p:par>
                          <p:cTn id="127" fill="hold">
                            <p:stCondLst>
                              <p:cond delay="5212"/>
                            </p:stCondLst>
                            <p:childTnLst>
                              <p:par>
                                <p:cTn id="128" presetID="53" presetClass="entr" presetSubtype="32" fill="hold" grpId="0" nodeType="afterEffect">
                                  <p:stCondLst>
                                    <p:cond delay="0"/>
                                  </p:stCondLst>
                                  <p:childTnLst>
                                    <p:set>
                                      <p:cBhvr>
                                        <p:cTn id="129" dur="1" fill="hold">
                                          <p:stCondLst>
                                            <p:cond delay="0"/>
                                          </p:stCondLst>
                                        </p:cTn>
                                        <p:tgtEl>
                                          <p:spTgt spid="17"/>
                                        </p:tgtEl>
                                        <p:attrNameLst>
                                          <p:attrName>style.visibility</p:attrName>
                                        </p:attrNameLst>
                                      </p:cBhvr>
                                      <p:to>
                                        <p:strVal val="visible"/>
                                      </p:to>
                                    </p:set>
                                    <p:anim calcmode="lin" valueType="num">
                                      <p:cBhvr additive="base">
                                        <p:cTn id="130"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131" dur="380" fill="hold" accel="60000"/>
                                        <p:tgtEl>
                                          <p:spTgt spid="17"/>
                                        </p:tgtEl>
                                        <p:attrNameLst>
                                          <p:attrName>ppt_h</p:attrName>
                                        </p:attrNameLst>
                                      </p:cBhvr>
                                      <p:tavLst>
                                        <p:tav tm="0">
                                          <p:val>
                                            <p:strVal val="#ppt_h*2.2"/>
                                          </p:val>
                                        </p:tav>
                                        <p:tav tm="100000">
                                          <p:val>
                                            <p:strVal val="#ppt_h"/>
                                          </p:val>
                                        </p:tav>
                                      </p:tavLst>
                                    </p:anim>
                                    <p:animEffect transition="in" filter="fade">
                                      <p:cBhvr>
                                        <p:cTn id="132" dur="228"/>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4" grpId="0" animBg="1"/>
      <p:bldP spid="15"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6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MERKEN</a:t>
            </a:r>
            <a:endParaRPr lang="en-US" sz="1300" dirty="0"/>
          </a:p>
        </p:txBody>
      </p:sp>
      <p:sp>
        <p:nvSpPr>
          <p:cNvPr id="6" name="e36_2"/>
          <p:cNvSpPr txBox="1"/>
          <p:nvPr/>
        </p:nvSpPr>
        <p:spPr>
          <a:xfrm>
            <a:off x="685800" y="1188720"/>
            <a:ext cx="5852160" cy="914400"/>
          </a:xfrm>
          <a:prstGeom prst="rect">
            <a:avLst/>
          </a:prstGeom>
          <a:noFill/>
          <a:ln/>
        </p:spPr>
        <p:txBody>
          <a:bodyPr wrap="square" lIns="0" tIns="0" rIns="0" bIns="0" rtlCol="0" anchor="t"/>
          <a:lstStyle/>
          <a:p>
            <a:pPr algn="l" indent="0" marL="0">
              <a:lnSpc>
                <a:spcPct val="95000"/>
              </a:lnSpc>
              <a:buNone/>
            </a:pPr>
            <a:r>
              <a:rPr lang="en-US" sz="4000" b="1" dirty="0">
                <a:solidFill>
                  <a:srgbClr val="F5F2EC"/>
                </a:solidFill>
                <a:latin typeface="Cambria" pitchFamily="34" charset="0"/>
                <a:ea typeface="Cambria" pitchFamily="34" charset="-122"/>
                <a:cs typeface="Cambria" pitchFamily="34" charset="-120"/>
              </a:rPr>
              <a:t>Kreisverkehr: 6 Fragen</a:t>
            </a:r>
            <a:endParaRPr lang="en-US" sz="4000" dirty="0"/>
          </a:p>
        </p:txBody>
      </p:sp>
      <p:pic>
        <p:nvPicPr>
          <p:cNvPr id="7" name="e36_3" descr="Verkehrszeichen 215">    </p:cNvPr>
          <p:cNvPicPr>
            <a:picLocks noChangeAspect="1"/>
          </p:cNvPicPr>
          <p:nvPr/>
        </p:nvPicPr>
        <p:blipFill>
          <a:blip r:embed="rId2"/>
          <a:stretch>
            <a:fillRect/>
          </a:stretch>
        </p:blipFill>
        <p:spPr>
          <a:xfrm>
            <a:off x="9418320" y="777240"/>
            <a:ext cx="822960" cy="822960"/>
          </a:xfrm>
          <a:prstGeom prst="rect">
            <a:avLst/>
          </a:prstGeom>
        </p:spPr>
      </p:pic>
      <p:pic>
        <p:nvPicPr>
          <p:cNvPr id="8" name="e36_4" descr="Verkehrszeichen 205">    </p:cNvPr>
          <p:cNvPicPr>
            <a:picLocks noChangeAspect="1"/>
          </p:cNvPicPr>
          <p:nvPr/>
        </p:nvPicPr>
        <p:blipFill>
          <a:blip r:embed="rId3"/>
          <a:stretch>
            <a:fillRect/>
          </a:stretch>
        </p:blipFill>
        <p:spPr>
          <a:xfrm>
            <a:off x="10287000" y="777240"/>
            <a:ext cx="936607" cy="822960"/>
          </a:xfrm>
          <a:prstGeom prst="rect">
            <a:avLst/>
          </a:prstGeom>
        </p:spPr>
      </p:pic>
      <p:sp>
        <p:nvSpPr>
          <p:cNvPr id="9" name="e36_5"/>
          <p:cNvSpPr/>
          <p:nvPr/>
        </p:nvSpPr>
        <p:spPr>
          <a:xfrm>
            <a:off x="731520" y="2331720"/>
            <a:ext cx="5257800" cy="1097280"/>
          </a:xfrm>
          <a:prstGeom prst="roundRect">
            <a:avLst>
              <a:gd name="adj" fmla="val 10000"/>
            </a:avLst>
          </a:prstGeom>
          <a:solidFill>
            <a:srgbClr val="12161E"/>
          </a:solidFill>
          <a:ln w="12700">
            <a:solidFill>
              <a:srgbClr val="2A3342"/>
            </a:solidFill>
            <a:prstDash val="solid"/>
          </a:ln>
        </p:spPr>
      </p:sp>
      <p:pic>
        <p:nvPicPr>
          <p:cNvPr id="10" name="e36_6" descr="preencoded.png">    </p:cNvPr>
          <p:cNvPicPr>
            <a:picLocks noChangeAspect="1"/>
          </p:cNvPicPr>
          <p:nvPr/>
        </p:nvPicPr>
        <p:blipFill>
          <a:blip r:embed="rId4"/>
          <a:stretch>
            <a:fillRect/>
          </a:stretch>
        </p:blipFill>
        <p:spPr>
          <a:xfrm>
            <a:off x="960120" y="2606040"/>
            <a:ext cx="548640" cy="548640"/>
          </a:xfrm>
          <a:prstGeom prst="rect">
            <a:avLst/>
          </a:prstGeom>
        </p:spPr>
      </p:pic>
      <p:sp>
        <p:nvSpPr>
          <p:cNvPr id="11" name="e36_7"/>
          <p:cNvSpPr txBox="1"/>
          <p:nvPr/>
        </p:nvSpPr>
        <p:spPr>
          <a:xfrm>
            <a:off x="1691640" y="245973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Wer hat Vorfahrt?</a:t>
            </a:r>
            <a:endParaRPr lang="en-US" sz="1900" dirty="0"/>
          </a:p>
        </p:txBody>
      </p:sp>
      <p:sp>
        <p:nvSpPr>
          <p:cNvPr id="12" name="e36_8"/>
          <p:cNvSpPr txBox="1"/>
          <p:nvPr/>
        </p:nvSpPr>
        <p:spPr>
          <a:xfrm>
            <a:off x="1691640" y="288036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Wer im Kreis fährt (215 unter 205).</a:t>
            </a:r>
            <a:endParaRPr lang="en-US" sz="1600" dirty="0"/>
          </a:p>
        </p:txBody>
      </p:sp>
      <p:sp>
        <p:nvSpPr>
          <p:cNvPr id="13" name="e36_9"/>
          <p:cNvSpPr/>
          <p:nvPr/>
        </p:nvSpPr>
        <p:spPr>
          <a:xfrm>
            <a:off x="6172200" y="2331720"/>
            <a:ext cx="5257800" cy="1097280"/>
          </a:xfrm>
          <a:prstGeom prst="roundRect">
            <a:avLst>
              <a:gd name="adj" fmla="val 10000"/>
            </a:avLst>
          </a:prstGeom>
          <a:solidFill>
            <a:srgbClr val="12161E"/>
          </a:solidFill>
          <a:ln w="12700">
            <a:solidFill>
              <a:srgbClr val="2A3342"/>
            </a:solidFill>
            <a:prstDash val="solid"/>
          </a:ln>
        </p:spPr>
      </p:sp>
      <p:pic>
        <p:nvPicPr>
          <p:cNvPr id="14" name="e36_10" descr="preencoded.png">    </p:cNvPr>
          <p:cNvPicPr>
            <a:picLocks noChangeAspect="1"/>
          </p:cNvPicPr>
          <p:nvPr/>
        </p:nvPicPr>
        <p:blipFill>
          <a:blip r:embed="rId5"/>
          <a:stretch>
            <a:fillRect/>
          </a:stretch>
        </p:blipFill>
        <p:spPr>
          <a:xfrm>
            <a:off x="6400800" y="2606040"/>
            <a:ext cx="548640" cy="548640"/>
          </a:xfrm>
          <a:prstGeom prst="rect">
            <a:avLst/>
          </a:prstGeom>
        </p:spPr>
      </p:pic>
      <p:sp>
        <p:nvSpPr>
          <p:cNvPr id="15" name="e36_11"/>
          <p:cNvSpPr txBox="1"/>
          <p:nvPr/>
        </p:nvSpPr>
        <p:spPr>
          <a:xfrm>
            <a:off x="7132320" y="245973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Reinfahren: blinken?</a:t>
            </a:r>
            <a:endParaRPr lang="en-US" sz="1900" dirty="0"/>
          </a:p>
        </p:txBody>
      </p:sp>
      <p:sp>
        <p:nvSpPr>
          <p:cNvPr id="16" name="e36_12"/>
          <p:cNvSpPr txBox="1"/>
          <p:nvPr/>
        </p:nvSpPr>
        <p:spPr>
          <a:xfrm>
            <a:off x="7132320" y="288036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Blinken ist hier unzulässig.</a:t>
            </a:r>
            <a:endParaRPr lang="en-US" sz="1600" dirty="0"/>
          </a:p>
        </p:txBody>
      </p:sp>
      <p:sp>
        <p:nvSpPr>
          <p:cNvPr id="17" name="e36_13"/>
          <p:cNvSpPr/>
          <p:nvPr/>
        </p:nvSpPr>
        <p:spPr>
          <a:xfrm>
            <a:off x="731520" y="3611880"/>
            <a:ext cx="5257800" cy="1097280"/>
          </a:xfrm>
          <a:prstGeom prst="roundRect">
            <a:avLst>
              <a:gd name="adj" fmla="val 10000"/>
            </a:avLst>
          </a:prstGeom>
          <a:solidFill>
            <a:srgbClr val="12161E"/>
          </a:solidFill>
          <a:ln w="12700">
            <a:solidFill>
              <a:srgbClr val="2A3342"/>
            </a:solidFill>
            <a:prstDash val="solid"/>
          </a:ln>
        </p:spPr>
      </p:sp>
      <p:pic>
        <p:nvPicPr>
          <p:cNvPr id="18" name="e36_14" descr="preencoded.png">    </p:cNvPr>
          <p:cNvPicPr>
            <a:picLocks noChangeAspect="1"/>
          </p:cNvPicPr>
          <p:nvPr/>
        </p:nvPicPr>
        <p:blipFill>
          <a:blip r:embed="rId6"/>
          <a:stretch>
            <a:fillRect/>
          </a:stretch>
        </p:blipFill>
        <p:spPr>
          <a:xfrm>
            <a:off x="960120" y="3886200"/>
            <a:ext cx="548640" cy="548640"/>
          </a:xfrm>
          <a:prstGeom prst="rect">
            <a:avLst/>
          </a:prstGeom>
        </p:spPr>
      </p:pic>
      <p:sp>
        <p:nvSpPr>
          <p:cNvPr id="19" name="e36_15"/>
          <p:cNvSpPr txBox="1"/>
          <p:nvPr/>
        </p:nvSpPr>
        <p:spPr>
          <a:xfrm>
            <a:off x="1691640" y="373989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Rausfahren: blinken?</a:t>
            </a:r>
            <a:endParaRPr lang="en-US" sz="1900" dirty="0"/>
          </a:p>
        </p:txBody>
      </p:sp>
      <p:sp>
        <p:nvSpPr>
          <p:cNvPr id="20" name="e36_16"/>
          <p:cNvSpPr txBox="1"/>
          <p:nvPr/>
        </p:nvSpPr>
        <p:spPr>
          <a:xfrm>
            <a:off x="1691640" y="416052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Ja, rechts. Fußgänger und Radfahrer beachten.</a:t>
            </a:r>
            <a:endParaRPr lang="en-US" sz="1600" dirty="0"/>
          </a:p>
        </p:txBody>
      </p:sp>
      <p:sp>
        <p:nvSpPr>
          <p:cNvPr id="21" name="e36_17"/>
          <p:cNvSpPr/>
          <p:nvPr/>
        </p:nvSpPr>
        <p:spPr>
          <a:xfrm>
            <a:off x="6172200" y="3611880"/>
            <a:ext cx="5257800" cy="1097280"/>
          </a:xfrm>
          <a:prstGeom prst="roundRect">
            <a:avLst>
              <a:gd name="adj" fmla="val 10000"/>
            </a:avLst>
          </a:prstGeom>
          <a:solidFill>
            <a:srgbClr val="12161E"/>
          </a:solidFill>
          <a:ln w="12700">
            <a:solidFill>
              <a:srgbClr val="2A3342"/>
            </a:solidFill>
            <a:prstDash val="solid"/>
          </a:ln>
        </p:spPr>
      </p:sp>
      <p:pic>
        <p:nvPicPr>
          <p:cNvPr id="22" name="e36_18" descr="preencoded.png">    </p:cNvPr>
          <p:cNvPicPr>
            <a:picLocks noChangeAspect="1"/>
          </p:cNvPicPr>
          <p:nvPr/>
        </p:nvPicPr>
        <p:blipFill>
          <a:blip r:embed="rId7"/>
          <a:stretch>
            <a:fillRect/>
          </a:stretch>
        </p:blipFill>
        <p:spPr>
          <a:xfrm>
            <a:off x="6400800" y="3886200"/>
            <a:ext cx="548640" cy="548640"/>
          </a:xfrm>
          <a:prstGeom prst="rect">
            <a:avLst/>
          </a:prstGeom>
        </p:spPr>
      </p:pic>
      <p:sp>
        <p:nvSpPr>
          <p:cNvPr id="23" name="e36_19"/>
          <p:cNvSpPr txBox="1"/>
          <p:nvPr/>
        </p:nvSpPr>
        <p:spPr>
          <a:xfrm>
            <a:off x="7132320" y="373989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Im Kreis anhalten?</a:t>
            </a:r>
            <a:endParaRPr lang="en-US" sz="1900" dirty="0"/>
          </a:p>
        </p:txBody>
      </p:sp>
      <p:sp>
        <p:nvSpPr>
          <p:cNvPr id="24" name="e36_20"/>
          <p:cNvSpPr txBox="1"/>
          <p:nvPr/>
        </p:nvSpPr>
        <p:spPr>
          <a:xfrm>
            <a:off x="7132320" y="416052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Halten auf der Kreisfahrbahn ist verboten.</a:t>
            </a:r>
            <a:endParaRPr lang="en-US" sz="1600" dirty="0"/>
          </a:p>
        </p:txBody>
      </p:sp>
      <p:sp>
        <p:nvSpPr>
          <p:cNvPr id="25" name="e36_21"/>
          <p:cNvSpPr/>
          <p:nvPr/>
        </p:nvSpPr>
        <p:spPr>
          <a:xfrm>
            <a:off x="731520" y="4892040"/>
            <a:ext cx="5257800" cy="1097280"/>
          </a:xfrm>
          <a:prstGeom prst="roundRect">
            <a:avLst>
              <a:gd name="adj" fmla="val 10000"/>
            </a:avLst>
          </a:prstGeom>
          <a:solidFill>
            <a:srgbClr val="12161E"/>
          </a:solidFill>
          <a:ln w="12700">
            <a:solidFill>
              <a:srgbClr val="2A3342"/>
            </a:solidFill>
            <a:prstDash val="solid"/>
          </a:ln>
        </p:spPr>
      </p:sp>
      <p:pic>
        <p:nvPicPr>
          <p:cNvPr id="26" name="e36_22" descr="preencoded.png">    </p:cNvPr>
          <p:cNvPicPr>
            <a:picLocks noChangeAspect="1"/>
          </p:cNvPicPr>
          <p:nvPr/>
        </p:nvPicPr>
        <p:blipFill>
          <a:blip r:embed="rId8"/>
          <a:stretch>
            <a:fillRect/>
          </a:stretch>
        </p:blipFill>
        <p:spPr>
          <a:xfrm>
            <a:off x="960120" y="5166360"/>
            <a:ext cx="548640" cy="548640"/>
          </a:xfrm>
          <a:prstGeom prst="rect">
            <a:avLst/>
          </a:prstGeom>
        </p:spPr>
      </p:pic>
      <p:sp>
        <p:nvSpPr>
          <p:cNvPr id="27" name="e36_23"/>
          <p:cNvSpPr txBox="1"/>
          <p:nvPr/>
        </p:nvSpPr>
        <p:spPr>
          <a:xfrm>
            <a:off x="1691640" y="502005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Über die Mittelinsel?</a:t>
            </a:r>
            <a:endParaRPr lang="en-US" sz="1900" dirty="0"/>
          </a:p>
        </p:txBody>
      </p:sp>
      <p:sp>
        <p:nvSpPr>
          <p:cNvPr id="28" name="e36_24"/>
          <p:cNvSpPr txBox="1"/>
          <p:nvPr/>
        </p:nvSpPr>
        <p:spPr>
          <a:xfrm>
            <a:off x="1691640" y="544068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Nein. Nur große Fahrzeuge, wenn es nicht anders geht.</a:t>
            </a:r>
            <a:endParaRPr lang="en-US" sz="1600" dirty="0"/>
          </a:p>
        </p:txBody>
      </p:sp>
      <p:sp>
        <p:nvSpPr>
          <p:cNvPr id="29" name="e36_25"/>
          <p:cNvSpPr/>
          <p:nvPr/>
        </p:nvSpPr>
        <p:spPr>
          <a:xfrm>
            <a:off x="6172200" y="4892040"/>
            <a:ext cx="5257800" cy="1097280"/>
          </a:xfrm>
          <a:prstGeom prst="roundRect">
            <a:avLst>
              <a:gd name="adj" fmla="val 10000"/>
            </a:avLst>
          </a:prstGeom>
          <a:solidFill>
            <a:srgbClr val="17241C"/>
          </a:solidFill>
          <a:ln w="12700">
            <a:solidFill>
              <a:srgbClr val="2E5A40"/>
            </a:solidFill>
            <a:prstDash val="solid"/>
          </a:ln>
        </p:spPr>
      </p:sp>
      <p:pic>
        <p:nvPicPr>
          <p:cNvPr id="30" name="e36_26" descr="preencoded.png">    </p:cNvPr>
          <p:cNvPicPr>
            <a:picLocks noChangeAspect="1"/>
          </p:cNvPicPr>
          <p:nvPr/>
        </p:nvPicPr>
        <p:blipFill>
          <a:blip r:embed="rId9"/>
          <a:stretch>
            <a:fillRect/>
          </a:stretch>
        </p:blipFill>
        <p:spPr>
          <a:xfrm>
            <a:off x="6400800" y="5166360"/>
            <a:ext cx="548640" cy="548640"/>
          </a:xfrm>
          <a:prstGeom prst="rect">
            <a:avLst/>
          </a:prstGeom>
        </p:spPr>
      </p:pic>
      <p:sp>
        <p:nvSpPr>
          <p:cNvPr id="31" name="e36_27"/>
          <p:cNvSpPr txBox="1"/>
          <p:nvPr/>
        </p:nvSpPr>
        <p:spPr>
          <a:xfrm>
            <a:off x="7132320" y="5020056"/>
            <a:ext cx="4160520" cy="411480"/>
          </a:xfrm>
          <a:prstGeom prst="rect">
            <a:avLst/>
          </a:prstGeom>
          <a:noFill/>
          <a:ln/>
        </p:spPr>
        <p:txBody>
          <a:bodyPr wrap="square" lIns="0" tIns="0" rIns="0" bIns="0" rtlCol="0" anchor="t"/>
          <a:lstStyle/>
          <a:p>
            <a:pPr algn="l" indent="0" marL="0">
              <a:buNone/>
            </a:pPr>
            <a:r>
              <a:rPr lang="en-US" sz="1900" b="1" dirty="0">
                <a:solidFill>
                  <a:srgbClr val="F5F2EC"/>
                </a:solidFill>
                <a:latin typeface="Calibri" pitchFamily="34" charset="0"/>
                <a:ea typeface="Calibri" pitchFamily="34" charset="-122"/>
                <a:cs typeface="Calibri" pitchFamily="34" charset="-120"/>
              </a:rPr>
              <a:t>Nur 215, kein 205?</a:t>
            </a:r>
            <a:endParaRPr lang="en-US" sz="1900" dirty="0"/>
          </a:p>
        </p:txBody>
      </p:sp>
      <p:sp>
        <p:nvSpPr>
          <p:cNvPr id="32" name="e36_28"/>
          <p:cNvSpPr txBox="1"/>
          <p:nvPr/>
        </p:nvSpPr>
        <p:spPr>
          <a:xfrm>
            <a:off x="7132320" y="5440680"/>
            <a:ext cx="4160520" cy="411480"/>
          </a:xfrm>
          <a:prstGeom prst="rect">
            <a:avLst/>
          </a:prstGeom>
          <a:noFill/>
          <a:ln/>
        </p:spPr>
        <p:txBody>
          <a:bodyPr wrap="square" lIns="0" tIns="0" rIns="0" bIns="0" rtlCol="0" anchor="t"/>
          <a:lstStyle/>
          <a:p>
            <a:pPr algn="l" indent="0" marL="0">
              <a:buNone/>
            </a:pPr>
            <a:r>
              <a:rPr lang="en-US" sz="1600" b="1" dirty="0">
                <a:solidFill>
                  <a:srgbClr val="FF7A1A"/>
                </a:solidFill>
                <a:latin typeface="Calibri" pitchFamily="34" charset="0"/>
                <a:ea typeface="Calibri" pitchFamily="34" charset="-122"/>
                <a:cs typeface="Calibri" pitchFamily="34" charset="-120"/>
              </a:rPr>
              <a:t>Dann rechts vor links: Wer reinfährt, hat Vorfahrt.</a:t>
            </a:r>
            <a:endParaRPr lang="en-US" sz="1600" dirty="0"/>
          </a:p>
        </p:txBody>
      </p:sp>
      <p:sp>
        <p:nvSpPr>
          <p:cNvPr id="33" name="e36_29"/>
          <p:cNvSpPr txBox="1"/>
          <p:nvPr/>
        </p:nvSpPr>
        <p:spPr>
          <a:xfrm rot="-180000">
            <a:off x="6492240" y="1325880"/>
            <a:ext cx="2743200" cy="502920"/>
          </a:xfrm>
          <a:prstGeom prst="roundRect">
            <a:avLst>
              <a:gd name="adj" fmla="val 36364"/>
            </a:avLst>
          </a:prstGeom>
          <a:solidFill>
            <a:srgbClr val="4CAF72"/>
          </a:solidFill>
          <a:ln/>
        </p:spPr>
        <p:txBody>
          <a:bodyPr wrap="square" lIns="0" tIns="0" rIns="0" bIns="0" rtlCol="0" anchor="ctr"/>
          <a:lstStyle/>
          <a:p>
            <a:pPr algn="ctr" indent="0" marL="0">
              <a:buNone/>
            </a:pPr>
            <a:r>
              <a:rPr lang="en-US" sz="20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Rein ohne, raus mit.</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additive="base">
                                        <p:cTn id="26"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7" dur="500" fill="hold" decel="100000"/>
                                        <p:tgtEl>
                                          <p:spTgt spid="9"/>
                                        </p:tgtEl>
                                        <p:attrNameLst>
                                          <p:attrName>ppt_y</p:attrName>
                                        </p:attrNameLst>
                                      </p:cBhvr>
                                      <p:tavLst>
                                        <p:tav tm="0">
                                          <p:val>
                                            <p:strVal val="#ppt_y+.18"/>
                                          </p:val>
                                        </p:tav>
                                        <p:tav tm="100000">
                                          <p:val>
                                            <p:strVal val="#ppt_y"/>
                                          </p:val>
                                        </p:tav>
                                      </p:tavLst>
                                    </p:anim>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anim calcmode="lin" valueType="num">
                                      <p:cBhvr additive="base">
                                        <p:cTn id="39"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40" dur="45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500"/>
                                        <p:tgtEl>
                                          <p:spTgt spid="13"/>
                                        </p:tgtEl>
                                      </p:cBhvr>
                                    </p:animEffect>
                                    <p:anim calcmode="lin" valueType="num">
                                      <p:cBhvr additive="base">
                                        <p:cTn id="46"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47" dur="500" fill="hold" decel="100000"/>
                                        <p:tgtEl>
                                          <p:spTgt spid="13"/>
                                        </p:tgtEl>
                                        <p:attrNameLst>
                                          <p:attrName>ppt_y</p:attrName>
                                        </p:attrNameLst>
                                      </p:cBhvr>
                                      <p:tavLst>
                                        <p:tav tm="0">
                                          <p:val>
                                            <p:strVal val="#ppt_y+.18"/>
                                          </p:val>
                                        </p:tav>
                                        <p:tav tm="100000">
                                          <p:val>
                                            <p:strVal val="#ppt_y"/>
                                          </p:val>
                                        </p:tav>
                                      </p:tavLst>
                                    </p:anim>
                                  </p:childTnLst>
                                </p:cTn>
                              </p:par>
                              <p:par>
                                <p:cTn id="48" presetID="10" presetClass="entr" presetSubtype="0"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3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450"/>
                                        <p:tgtEl>
                                          <p:spTgt spid="16"/>
                                        </p:tgtEl>
                                      </p:cBhvr>
                                    </p:animEffect>
                                    <p:anim calcmode="lin" valueType="num">
                                      <p:cBhvr additive="base">
                                        <p:cTn id="59"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60" dur="450" fill="hold" decel="100000"/>
                                        <p:tgtEl>
                                          <p:spTgt spid="16"/>
                                        </p:tgtEl>
                                        <p:attrNameLst>
                                          <p:attrName>ppt_y</p:attrName>
                                        </p:attrNameLst>
                                      </p:cBhvr>
                                      <p:tavLst>
                                        <p:tav tm="0">
                                          <p:val>
                                            <p:strVal val="#ppt_y+.18"/>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fade">
                                      <p:cBhvr>
                                        <p:cTn id="65" dur="500"/>
                                        <p:tgtEl>
                                          <p:spTgt spid="17"/>
                                        </p:tgtEl>
                                      </p:cBhvr>
                                    </p:animEffect>
                                    <p:anim calcmode="lin" valueType="num">
                                      <p:cBhvr additive="base">
                                        <p:cTn id="66"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67" dur="500" fill="hold" decel="100000"/>
                                        <p:tgtEl>
                                          <p:spTgt spid="17"/>
                                        </p:tgtEl>
                                        <p:attrNameLst>
                                          <p:attrName>ppt_y</p:attrName>
                                        </p:attrNameLst>
                                      </p:cBhvr>
                                      <p:tavLst>
                                        <p:tav tm="0">
                                          <p:val>
                                            <p:strVal val="#ppt_y+.18"/>
                                          </p:val>
                                        </p:tav>
                                        <p:tav tm="100000">
                                          <p:val>
                                            <p:strVal val="#ppt_y"/>
                                          </p:val>
                                        </p:tav>
                                      </p:tavLst>
                                    </p:anim>
                                  </p:childTnLst>
                                </p:cTn>
                              </p:par>
                              <p:par>
                                <p:cTn id="68" presetID="10" presetClass="entr" presetSubtype="0" fill="hold"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3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20"/>
                                        </p:tgtEl>
                                        <p:attrNameLst>
                                          <p:attrName>style.visibility</p:attrName>
                                        </p:attrNameLst>
                                      </p:cBhvr>
                                      <p:to>
                                        <p:strVal val="visible"/>
                                      </p:to>
                                    </p:set>
                                    <p:animEffect transition="in" filter="fade">
                                      <p:cBhvr>
                                        <p:cTn id="78" dur="450"/>
                                        <p:tgtEl>
                                          <p:spTgt spid="20"/>
                                        </p:tgtEl>
                                      </p:cBhvr>
                                    </p:animEffect>
                                    <p:anim calcmode="lin" valueType="num">
                                      <p:cBhvr additive="base">
                                        <p:cTn id="79" dur="450" fill="hold" decel="100000"/>
                                        <p:tgtEl>
                                          <p:spTgt spid="20"/>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20"/>
                                        </p:tgtEl>
                                        <p:attrNameLst>
                                          <p:attrName>ppt_y</p:attrName>
                                        </p:attrNameLst>
                                      </p:cBhvr>
                                      <p:tavLst>
                                        <p:tav tm="0">
                                          <p:val>
                                            <p:strVal val="#ppt_y+.18"/>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500"/>
                                        <p:tgtEl>
                                          <p:spTgt spid="21"/>
                                        </p:tgtEl>
                                      </p:cBhvr>
                                    </p:animEffect>
                                    <p:anim calcmode="lin" valueType="num">
                                      <p:cBhvr additive="base">
                                        <p:cTn id="86" dur="500" fill="hold" decel="100000"/>
                                        <p:tgtEl>
                                          <p:spTgt spid="21"/>
                                        </p:tgtEl>
                                        <p:attrNameLst>
                                          <p:attrName>ppt_x</p:attrName>
                                        </p:attrNameLst>
                                      </p:cBhvr>
                                      <p:tavLst>
                                        <p:tav tm="0">
                                          <p:val>
                                            <p:strVal val="#ppt_x"/>
                                          </p:val>
                                        </p:tav>
                                        <p:tav tm="100000">
                                          <p:val>
                                            <p:strVal val="#ppt_x"/>
                                          </p:val>
                                        </p:tav>
                                      </p:tavLst>
                                    </p:anim>
                                    <p:anim calcmode="lin" valueType="num">
                                      <p:cBhvr additive="base">
                                        <p:cTn id="87" dur="500" fill="hold" decel="100000"/>
                                        <p:tgtEl>
                                          <p:spTgt spid="21"/>
                                        </p:tgtEl>
                                        <p:attrNameLst>
                                          <p:attrName>ppt_y</p:attrName>
                                        </p:attrNameLst>
                                      </p:cBhvr>
                                      <p:tavLst>
                                        <p:tav tm="0">
                                          <p:val>
                                            <p:strVal val="#ppt_y+.18"/>
                                          </p:val>
                                        </p:tav>
                                        <p:tav tm="100000">
                                          <p:val>
                                            <p:strVal val="#ppt_y"/>
                                          </p:val>
                                        </p:tav>
                                      </p:tavLst>
                                    </p:anim>
                                  </p:childTnLst>
                                </p:cTn>
                              </p:par>
                              <p:par>
                                <p:cTn id="88" presetID="10" presetClass="entr" presetSubtype="0" fill="hold" nodeType="with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300"/>
                                        <p:tgtEl>
                                          <p:spTgt spid="2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300"/>
                                        <p:tgtEl>
                                          <p:spTgt spid="23"/>
                                        </p:tgtEl>
                                      </p:cBhvr>
                                    </p:animEffect>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4"/>
                                        </p:tgtEl>
                                        <p:attrNameLst>
                                          <p:attrName>style.visibility</p:attrName>
                                        </p:attrNameLst>
                                      </p:cBhvr>
                                      <p:to>
                                        <p:strVal val="visible"/>
                                      </p:to>
                                    </p:set>
                                    <p:animEffect transition="in" filter="fade">
                                      <p:cBhvr>
                                        <p:cTn id="98" dur="450"/>
                                        <p:tgtEl>
                                          <p:spTgt spid="24"/>
                                        </p:tgtEl>
                                      </p:cBhvr>
                                    </p:animEffect>
                                    <p:anim calcmode="lin" valueType="num">
                                      <p:cBhvr additive="base">
                                        <p:cTn id="99" dur="450" fill="hold" decel="100000"/>
                                        <p:tgtEl>
                                          <p:spTgt spid="24"/>
                                        </p:tgtEl>
                                        <p:attrNameLst>
                                          <p:attrName>ppt_x</p:attrName>
                                        </p:attrNameLst>
                                      </p:cBhvr>
                                      <p:tavLst>
                                        <p:tav tm="0">
                                          <p:val>
                                            <p:strVal val="#ppt_x"/>
                                          </p:val>
                                        </p:tav>
                                        <p:tav tm="100000">
                                          <p:val>
                                            <p:strVal val="#ppt_x"/>
                                          </p:val>
                                        </p:tav>
                                      </p:tavLst>
                                    </p:anim>
                                    <p:anim calcmode="lin" valueType="num">
                                      <p:cBhvr additive="base">
                                        <p:cTn id="100" dur="450" fill="hold" decel="100000"/>
                                        <p:tgtEl>
                                          <p:spTgt spid="24"/>
                                        </p:tgtEl>
                                        <p:attrNameLst>
                                          <p:attrName>ppt_y</p:attrName>
                                        </p:attrNameLst>
                                      </p:cBhvr>
                                      <p:tavLst>
                                        <p:tav tm="0">
                                          <p:val>
                                            <p:strVal val="#ppt_y+.18"/>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fade">
                                      <p:cBhvr>
                                        <p:cTn id="105" dur="500"/>
                                        <p:tgtEl>
                                          <p:spTgt spid="25"/>
                                        </p:tgtEl>
                                      </p:cBhvr>
                                    </p:animEffect>
                                    <p:anim calcmode="lin" valueType="num">
                                      <p:cBhvr additive="base">
                                        <p:cTn id="106" dur="500" fill="hold" decel="100000"/>
                                        <p:tgtEl>
                                          <p:spTgt spid="25"/>
                                        </p:tgtEl>
                                        <p:attrNameLst>
                                          <p:attrName>ppt_x</p:attrName>
                                        </p:attrNameLst>
                                      </p:cBhvr>
                                      <p:tavLst>
                                        <p:tav tm="0">
                                          <p:val>
                                            <p:strVal val="#ppt_x"/>
                                          </p:val>
                                        </p:tav>
                                        <p:tav tm="100000">
                                          <p:val>
                                            <p:strVal val="#ppt_x"/>
                                          </p:val>
                                        </p:tav>
                                      </p:tavLst>
                                    </p:anim>
                                    <p:anim calcmode="lin" valueType="num">
                                      <p:cBhvr additive="base">
                                        <p:cTn id="107" dur="500" fill="hold" decel="100000"/>
                                        <p:tgtEl>
                                          <p:spTgt spid="25"/>
                                        </p:tgtEl>
                                        <p:attrNameLst>
                                          <p:attrName>ppt_y</p:attrName>
                                        </p:attrNameLst>
                                      </p:cBhvr>
                                      <p:tavLst>
                                        <p:tav tm="0">
                                          <p:val>
                                            <p:strVal val="#ppt_y+.18"/>
                                          </p:val>
                                        </p:tav>
                                        <p:tav tm="100000">
                                          <p:val>
                                            <p:strVal val="#ppt_y"/>
                                          </p:val>
                                        </p:tav>
                                      </p:tavLst>
                                    </p:anim>
                                  </p:childTnLst>
                                </p:cTn>
                              </p:par>
                              <p:par>
                                <p:cTn id="108" presetID="10"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300"/>
                                        <p:tgtEl>
                                          <p:spTgt spid="26"/>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300"/>
                                        <p:tgtEl>
                                          <p:spTgt spid="27"/>
                                        </p:tgtEl>
                                      </p:cBhvr>
                                    </p:animEffect>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450"/>
                                        <p:tgtEl>
                                          <p:spTgt spid="28"/>
                                        </p:tgtEl>
                                      </p:cBhvr>
                                    </p:animEffect>
                                    <p:anim calcmode="lin" valueType="num">
                                      <p:cBhvr additive="base">
                                        <p:cTn id="119" dur="450" fill="hold" decel="100000"/>
                                        <p:tgtEl>
                                          <p:spTgt spid="28"/>
                                        </p:tgtEl>
                                        <p:attrNameLst>
                                          <p:attrName>ppt_x</p:attrName>
                                        </p:attrNameLst>
                                      </p:cBhvr>
                                      <p:tavLst>
                                        <p:tav tm="0">
                                          <p:val>
                                            <p:strVal val="#ppt_x"/>
                                          </p:val>
                                        </p:tav>
                                        <p:tav tm="100000">
                                          <p:val>
                                            <p:strVal val="#ppt_x"/>
                                          </p:val>
                                        </p:tav>
                                      </p:tavLst>
                                    </p:anim>
                                    <p:anim calcmode="lin" valueType="num">
                                      <p:cBhvr additive="base">
                                        <p:cTn id="120" dur="450" fill="hold" decel="100000"/>
                                        <p:tgtEl>
                                          <p:spTgt spid="28"/>
                                        </p:tgtEl>
                                        <p:attrNameLst>
                                          <p:attrName>ppt_y</p:attrName>
                                        </p:attrNameLst>
                                      </p:cBhvr>
                                      <p:tavLst>
                                        <p:tav tm="0">
                                          <p:val>
                                            <p:strVal val="#ppt_y+.18"/>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9"/>
                                        </p:tgtEl>
                                        <p:attrNameLst>
                                          <p:attrName>style.visibility</p:attrName>
                                        </p:attrNameLst>
                                      </p:cBhvr>
                                      <p:to>
                                        <p:strVal val="visible"/>
                                      </p:to>
                                    </p:set>
                                    <p:animEffect transition="in" filter="fade">
                                      <p:cBhvr>
                                        <p:cTn id="125" dur="500"/>
                                        <p:tgtEl>
                                          <p:spTgt spid="29"/>
                                        </p:tgtEl>
                                      </p:cBhvr>
                                    </p:animEffect>
                                    <p:anim calcmode="lin" valueType="num">
                                      <p:cBhvr additive="base">
                                        <p:cTn id="126" dur="500" fill="hold" decel="100000"/>
                                        <p:tgtEl>
                                          <p:spTgt spid="29"/>
                                        </p:tgtEl>
                                        <p:attrNameLst>
                                          <p:attrName>ppt_x</p:attrName>
                                        </p:attrNameLst>
                                      </p:cBhvr>
                                      <p:tavLst>
                                        <p:tav tm="0">
                                          <p:val>
                                            <p:strVal val="#ppt_x"/>
                                          </p:val>
                                        </p:tav>
                                        <p:tav tm="100000">
                                          <p:val>
                                            <p:strVal val="#ppt_x"/>
                                          </p:val>
                                        </p:tav>
                                      </p:tavLst>
                                    </p:anim>
                                    <p:anim calcmode="lin" valueType="num">
                                      <p:cBhvr additive="base">
                                        <p:cTn id="127" dur="500" fill="hold" decel="100000"/>
                                        <p:tgtEl>
                                          <p:spTgt spid="29"/>
                                        </p:tgtEl>
                                        <p:attrNameLst>
                                          <p:attrName>ppt_y</p:attrName>
                                        </p:attrNameLst>
                                      </p:cBhvr>
                                      <p:tavLst>
                                        <p:tav tm="0">
                                          <p:val>
                                            <p:strVal val="#ppt_y+.18"/>
                                          </p:val>
                                        </p:tav>
                                        <p:tav tm="100000">
                                          <p:val>
                                            <p:strVal val="#ppt_y"/>
                                          </p:val>
                                        </p:tav>
                                      </p:tavLst>
                                    </p:anim>
                                  </p:childTnLst>
                                </p:cTn>
                              </p:par>
                              <p:par>
                                <p:cTn id="128" presetID="10" presetClass="entr" presetSubtype="0" fill="hold" nodeType="with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300"/>
                                        <p:tgtEl>
                                          <p:spTgt spid="30"/>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1"/>
                                        </p:tgtEl>
                                        <p:attrNameLst>
                                          <p:attrName>style.visibility</p:attrName>
                                        </p:attrNameLst>
                                      </p:cBhvr>
                                      <p:to>
                                        <p:strVal val="visible"/>
                                      </p:to>
                                    </p:set>
                                    <p:animEffect transition="in" filter="fade">
                                      <p:cBhvr>
                                        <p:cTn id="133" dur="300"/>
                                        <p:tgtEl>
                                          <p:spTgt spid="31"/>
                                        </p:tgtEl>
                                      </p:cBhvr>
                                    </p:animEffect>
                                  </p:childTnLst>
                                </p:cTn>
                              </p:par>
                            </p:childTnLst>
                          </p:cTn>
                        </p:par>
                      </p:childTnLst>
                    </p:cTn>
                  </p:par>
                  <p:par>
                    <p:cTn id="134" fill="hold">
                      <p:stCondLst>
                        <p:cond delay="indefinite"/>
                      </p:stCondLst>
                      <p:childTnLst>
                        <p:par>
                          <p:cTn id="135" fill="hold">
                            <p:stCondLst>
                              <p:cond delay="0"/>
                            </p:stCondLst>
                            <p:childTnLst>
                              <p:par>
                                <p:cTn id="136" presetID="42" presetClass="entr" presetSubtype="0" fill="hold" grpId="0" nodeType="clickEffect">
                                  <p:stCondLst>
                                    <p:cond delay="0"/>
                                  </p:stCondLst>
                                  <p:childTnLst>
                                    <p:set>
                                      <p:cBhvr>
                                        <p:cTn id="137" dur="1" fill="hold">
                                          <p:stCondLst>
                                            <p:cond delay="0"/>
                                          </p:stCondLst>
                                        </p:cTn>
                                        <p:tgtEl>
                                          <p:spTgt spid="32"/>
                                        </p:tgtEl>
                                        <p:attrNameLst>
                                          <p:attrName>style.visibility</p:attrName>
                                        </p:attrNameLst>
                                      </p:cBhvr>
                                      <p:to>
                                        <p:strVal val="visible"/>
                                      </p:to>
                                    </p:set>
                                    <p:animEffect transition="in" filter="fade">
                                      <p:cBhvr>
                                        <p:cTn id="138" dur="450"/>
                                        <p:tgtEl>
                                          <p:spTgt spid="32"/>
                                        </p:tgtEl>
                                      </p:cBhvr>
                                    </p:animEffect>
                                    <p:anim calcmode="lin" valueType="num">
                                      <p:cBhvr additive="base">
                                        <p:cTn id="139" dur="450" fill="hold" decel="100000"/>
                                        <p:tgtEl>
                                          <p:spTgt spid="32"/>
                                        </p:tgtEl>
                                        <p:attrNameLst>
                                          <p:attrName>ppt_x</p:attrName>
                                        </p:attrNameLst>
                                      </p:cBhvr>
                                      <p:tavLst>
                                        <p:tav tm="0">
                                          <p:val>
                                            <p:strVal val="#ppt_x"/>
                                          </p:val>
                                        </p:tav>
                                        <p:tav tm="100000">
                                          <p:val>
                                            <p:strVal val="#ppt_x"/>
                                          </p:val>
                                        </p:tav>
                                      </p:tavLst>
                                    </p:anim>
                                    <p:anim calcmode="lin" valueType="num">
                                      <p:cBhvr additive="base">
                                        <p:cTn id="140" dur="450" fill="hold" decel="100000"/>
                                        <p:tgtEl>
                                          <p:spTgt spid="32"/>
                                        </p:tgtEl>
                                        <p:attrNameLst>
                                          <p:attrName>ppt_y</p:attrName>
                                        </p:attrNameLst>
                                      </p:cBhvr>
                                      <p:tavLst>
                                        <p:tav tm="0">
                                          <p:val>
                                            <p:strVal val="#ppt_y+.18"/>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53" presetClass="entr" presetSubtype="32" fill="hold" grpId="0" nodeType="clickEffect">
                                  <p:stCondLst>
                                    <p:cond delay="0"/>
                                  </p:stCondLst>
                                  <p:childTnLst>
                                    <p:set>
                                      <p:cBhvr>
                                        <p:cTn id="144" dur="1" fill="hold">
                                          <p:stCondLst>
                                            <p:cond delay="0"/>
                                          </p:stCondLst>
                                        </p:cTn>
                                        <p:tgtEl>
                                          <p:spTgt spid="33"/>
                                        </p:tgtEl>
                                        <p:attrNameLst>
                                          <p:attrName>style.visibility</p:attrName>
                                        </p:attrNameLst>
                                      </p:cBhvr>
                                      <p:to>
                                        <p:strVal val="visible"/>
                                      </p:to>
                                    </p:set>
                                    <p:anim calcmode="lin" valueType="num">
                                      <p:cBhvr additive="base">
                                        <p:cTn id="145" dur="380" fill="hold" accel="60000"/>
                                        <p:tgtEl>
                                          <p:spTgt spid="33"/>
                                        </p:tgtEl>
                                        <p:attrNameLst>
                                          <p:attrName>ppt_w</p:attrName>
                                        </p:attrNameLst>
                                      </p:cBhvr>
                                      <p:tavLst>
                                        <p:tav tm="0">
                                          <p:val>
                                            <p:strVal val="#ppt_w*2.2"/>
                                          </p:val>
                                        </p:tav>
                                        <p:tav tm="100000">
                                          <p:val>
                                            <p:strVal val="#ppt_w"/>
                                          </p:val>
                                        </p:tav>
                                      </p:tavLst>
                                    </p:anim>
                                    <p:anim calcmode="lin" valueType="num">
                                      <p:cBhvr additive="base">
                                        <p:cTn id="146" dur="380" fill="hold" accel="60000"/>
                                        <p:tgtEl>
                                          <p:spTgt spid="33"/>
                                        </p:tgtEl>
                                        <p:attrNameLst>
                                          <p:attrName>ppt_h</p:attrName>
                                        </p:attrNameLst>
                                      </p:cBhvr>
                                      <p:tavLst>
                                        <p:tav tm="0">
                                          <p:val>
                                            <p:strVal val="#ppt_h*2.2"/>
                                          </p:val>
                                        </p:tav>
                                        <p:tav tm="100000">
                                          <p:val>
                                            <p:strVal val="#ppt_h"/>
                                          </p:val>
                                        </p:tav>
                                      </p:tavLst>
                                    </p:anim>
                                    <p:animEffect transition="in" filter="fade">
                                      <p:cBhvr>
                                        <p:cTn id="147" dur="228"/>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3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KAPITEL 6 · AMPEL</a:t>
            </a:r>
            <a:endParaRPr lang="en-US" sz="1300" dirty="0"/>
          </a:p>
        </p:txBody>
      </p:sp>
      <p:sp>
        <p:nvSpPr>
          <p:cNvPr id="5" name="e37_2"/>
          <p:cNvSpPr txBox="1"/>
          <p:nvPr/>
        </p:nvSpPr>
        <p:spPr>
          <a:xfrm>
            <a:off x="685800" y="1188720"/>
            <a:ext cx="73152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Was die Ampel dir sagt</a:t>
            </a:r>
            <a:endParaRPr lang="en-US" sz="4400" dirty="0"/>
          </a:p>
        </p:txBody>
      </p:sp>
      <p:sp>
        <p:nvSpPr>
          <p:cNvPr id="6" name="e37_3"/>
          <p:cNvSpPr/>
          <p:nvPr/>
        </p:nvSpPr>
        <p:spPr>
          <a:xfrm>
            <a:off x="9349740" y="5486400"/>
            <a:ext cx="182880" cy="1371600"/>
          </a:xfrm>
          <a:prstGeom prst="rect">
            <a:avLst/>
          </a:prstGeom>
          <a:solidFill>
            <a:srgbClr val="2A3140"/>
          </a:solidFill>
          <a:ln/>
        </p:spPr>
      </p:sp>
      <p:sp>
        <p:nvSpPr>
          <p:cNvPr id="7" name="e37_4"/>
          <p:cNvSpPr/>
          <p:nvPr/>
        </p:nvSpPr>
        <p:spPr>
          <a:xfrm>
            <a:off x="8641080" y="731520"/>
            <a:ext cx="1600200" cy="4754880"/>
          </a:xfrm>
          <a:prstGeom prst="roundRect">
            <a:avLst>
              <a:gd name="adj" fmla="val 10286"/>
            </a:avLst>
          </a:prstGeom>
          <a:solidFill>
            <a:srgbClr val="0B0D12"/>
          </a:solidFill>
          <a:ln w="25400">
            <a:solidFill>
              <a:srgbClr val="3A4252"/>
            </a:solidFill>
            <a:prstDash val="solid"/>
          </a:ln>
          <a:effectLst>
            <a:outerShdw sx="100000" sy="100000" kx="0" ky="0" algn="bl" rotWithShape="0" blurRad="228600" dist="50800" dir="5400000">
              <a:srgbClr val="000000">
                <a:alpha val="55000"/>
              </a:srgbClr>
            </a:outerShdw>
          </a:effectLst>
        </p:spPr>
      </p:sp>
      <p:sp>
        <p:nvSpPr>
          <p:cNvPr id="8" name="e37_5"/>
          <p:cNvSpPr/>
          <p:nvPr/>
        </p:nvSpPr>
        <p:spPr>
          <a:xfrm>
            <a:off x="8846820" y="1051560"/>
            <a:ext cx="1188720" cy="1188720"/>
          </a:xfrm>
          <a:prstGeom prst="ellipse">
            <a:avLst/>
          </a:prstGeom>
          <a:solidFill>
            <a:srgbClr val="181B22"/>
          </a:solidFill>
          <a:ln w="12700">
            <a:solidFill>
              <a:srgbClr val="262B35"/>
            </a:solidFill>
            <a:prstDash val="solid"/>
          </a:ln>
        </p:spPr>
      </p:sp>
      <p:sp>
        <p:nvSpPr>
          <p:cNvPr id="9" name="e37_6"/>
          <p:cNvSpPr/>
          <p:nvPr/>
        </p:nvSpPr>
        <p:spPr>
          <a:xfrm>
            <a:off x="8846820" y="2532888"/>
            <a:ext cx="1188720" cy="1188720"/>
          </a:xfrm>
          <a:prstGeom prst="ellipse">
            <a:avLst/>
          </a:prstGeom>
          <a:solidFill>
            <a:srgbClr val="181B22"/>
          </a:solidFill>
          <a:ln w="12700">
            <a:solidFill>
              <a:srgbClr val="262B35"/>
            </a:solidFill>
            <a:prstDash val="solid"/>
          </a:ln>
        </p:spPr>
      </p:sp>
      <p:sp>
        <p:nvSpPr>
          <p:cNvPr id="10" name="e37_7"/>
          <p:cNvSpPr/>
          <p:nvPr/>
        </p:nvSpPr>
        <p:spPr>
          <a:xfrm>
            <a:off x="8846820" y="4014216"/>
            <a:ext cx="1188720" cy="1188720"/>
          </a:xfrm>
          <a:prstGeom prst="ellipse">
            <a:avLst/>
          </a:prstGeom>
          <a:solidFill>
            <a:srgbClr val="181B22"/>
          </a:solidFill>
          <a:ln w="12700">
            <a:solidFill>
              <a:srgbClr val="262B35"/>
            </a:solidFill>
            <a:prstDash val="solid"/>
          </a:ln>
        </p:spPr>
      </p:sp>
      <p:sp>
        <p:nvSpPr>
          <p:cNvPr id="11" name="e37_8"/>
          <p:cNvSpPr/>
          <p:nvPr/>
        </p:nvSpPr>
        <p:spPr>
          <a:xfrm>
            <a:off x="8846820" y="4014216"/>
            <a:ext cx="1188720" cy="1188720"/>
          </a:xfrm>
          <a:prstGeom prst="ellipse">
            <a:avLst/>
          </a:prstGeom>
          <a:solidFill>
            <a:srgbClr val="2EE071"/>
          </a:solidFill>
          <a:ln/>
        </p:spPr>
      </p:sp>
      <p:sp>
        <p:nvSpPr>
          <p:cNvPr id="12" name="e37_9"/>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2EE071"/>
                </a:solidFill>
                <a:effectLst>
                  <a:glow rad="177800">
                    <a:srgbClr val="2EE071">
                      <a:alpha val="35000"/>
                    </a:srgbClr>
                  </a:glow>
                </a:effectLst>
                <a:latin typeface="Cambria" pitchFamily="34" charset="0"/>
                <a:ea typeface="Cambria" pitchFamily="34" charset="-122"/>
                <a:cs typeface="Cambria" pitchFamily="34" charset="-120"/>
              </a:rPr>
              <a:t>Grün</a:t>
            </a:r>
            <a:endParaRPr lang="en-US" sz="7200" dirty="0"/>
          </a:p>
        </p:txBody>
      </p:sp>
      <p:sp>
        <p:nvSpPr>
          <p:cNvPr id="13" name="e37_10"/>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„Der Verkehr ist freigegeben.“</a:t>
            </a:r>
            <a:endParaRPr lang="en-US" sz="3000" dirty="0"/>
          </a:p>
        </p:txBody>
      </p:sp>
      <p:sp>
        <p:nvSpPr>
          <p:cNvPr id="14" name="e37_11"/>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Fahren. Wer abbiegt, achtet auf Gegenverkehr, Fußgänger und Radfahrer.</a:t>
            </a:r>
            <a:endParaRPr lang="en-US" sz="2000" dirty="0"/>
          </a:p>
        </p:txBody>
      </p:sp>
      <p:sp>
        <p:nvSpPr>
          <p:cNvPr id="15" name="e37_12"/>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B400"/>
                </a:solidFill>
                <a:effectLst>
                  <a:glow rad="177800">
                    <a:srgbClr val="FFB400">
                      <a:alpha val="35000"/>
                    </a:srgbClr>
                  </a:glow>
                </a:effectLst>
                <a:latin typeface="Cambria" pitchFamily="34" charset="0"/>
                <a:ea typeface="Cambria" pitchFamily="34" charset="-122"/>
                <a:cs typeface="Cambria" pitchFamily="34" charset="-120"/>
              </a:rPr>
              <a:t>Gelb</a:t>
            </a:r>
            <a:endParaRPr lang="en-US" sz="7200" dirty="0"/>
          </a:p>
        </p:txBody>
      </p:sp>
      <p:sp>
        <p:nvSpPr>
          <p:cNvPr id="16" name="e37_13"/>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„Vor der Kreuzung auf das nächste Zeichen warten.“</a:t>
            </a:r>
            <a:endParaRPr lang="en-US" sz="3000" dirty="0"/>
          </a:p>
        </p:txBody>
      </p:sp>
      <p:sp>
        <p:nvSpPr>
          <p:cNvPr id="17" name="e37_14"/>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Kannst du nicht mehr gefahrlos anhalten, fährst du zügig weiter.</a:t>
            </a:r>
            <a:endParaRPr lang="en-US" sz="2000" dirty="0"/>
          </a:p>
        </p:txBody>
      </p:sp>
      <p:sp>
        <p:nvSpPr>
          <p:cNvPr id="18" name="e37_15"/>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3B30"/>
                </a:solidFill>
                <a:effectLst>
                  <a:glow rad="177800">
                    <a:srgbClr val="FF3B30">
                      <a:alpha val="35000"/>
                    </a:srgbClr>
                  </a:glow>
                </a:effectLst>
                <a:latin typeface="Cambria" pitchFamily="34" charset="0"/>
                <a:ea typeface="Cambria" pitchFamily="34" charset="-122"/>
                <a:cs typeface="Cambria" pitchFamily="34" charset="-120"/>
              </a:rPr>
              <a:t>Rot</a:t>
            </a:r>
            <a:endParaRPr lang="en-US" sz="7200" dirty="0"/>
          </a:p>
        </p:txBody>
      </p:sp>
      <p:sp>
        <p:nvSpPr>
          <p:cNvPr id="19" name="e37_16"/>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„Halt vor der Kreuzung.“</a:t>
            </a:r>
            <a:endParaRPr lang="en-US" sz="3000" dirty="0"/>
          </a:p>
        </p:txBody>
      </p:sp>
      <p:sp>
        <p:nvSpPr>
          <p:cNvPr id="20" name="e37_17"/>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An der Haltlinie anhalten.</a:t>
            </a:r>
            <a:endParaRPr lang="en-US" sz="2000" dirty="0"/>
          </a:p>
        </p:txBody>
      </p:sp>
      <p:sp>
        <p:nvSpPr>
          <p:cNvPr id="21" name="e37_18"/>
          <p:cNvSpPr txBox="1"/>
          <p:nvPr/>
        </p:nvSpPr>
        <p:spPr>
          <a:xfrm>
            <a:off x="731520" y="2377440"/>
            <a:ext cx="7315200" cy="1097280"/>
          </a:xfrm>
          <a:prstGeom prst="rect">
            <a:avLst/>
          </a:prstGeom>
          <a:noFill/>
          <a:ln/>
        </p:spPr>
        <p:txBody>
          <a:bodyPr wrap="square" lIns="0" tIns="0" rIns="0" bIns="0" rtlCol="0" anchor="t"/>
          <a:lstStyle/>
          <a:p>
            <a:pPr algn="l" indent="0" marL="0">
              <a:buNone/>
            </a:pPr>
            <a:r>
              <a:rPr lang="en-US" sz="7200" b="1" dirty="0">
                <a:solidFill>
                  <a:srgbClr val="FF8A2A"/>
                </a:solidFill>
                <a:effectLst>
                  <a:glow rad="177800">
                    <a:srgbClr val="FF8A2A">
                      <a:alpha val="35000"/>
                    </a:srgbClr>
                  </a:glow>
                </a:effectLst>
                <a:latin typeface="Cambria" pitchFamily="34" charset="0"/>
                <a:ea typeface="Cambria" pitchFamily="34" charset="-122"/>
                <a:cs typeface="Cambria" pitchFamily="34" charset="-120"/>
              </a:rPr>
              <a:t>Rot + Gelb</a:t>
            </a:r>
            <a:endParaRPr lang="en-US" sz="7200" dirty="0"/>
          </a:p>
        </p:txBody>
      </p:sp>
      <p:sp>
        <p:nvSpPr>
          <p:cNvPr id="22" name="e37_19"/>
          <p:cNvSpPr txBox="1"/>
          <p:nvPr/>
        </p:nvSpPr>
        <p:spPr>
          <a:xfrm>
            <a:off x="731520" y="3611880"/>
            <a:ext cx="7498080" cy="1005840"/>
          </a:xfrm>
          <a:prstGeom prst="rect">
            <a:avLst/>
          </a:prstGeom>
          <a:noFill/>
          <a:ln/>
        </p:spPr>
        <p:txBody>
          <a:bodyPr wrap="square" lIns="0" tIns="0" rIns="0" bIns="0" rtlCol="0" anchor="t"/>
          <a:lstStyle/>
          <a:p>
            <a:pPr algn="l" indent="0" marL="0">
              <a:buNone/>
            </a:pPr>
            <a:r>
              <a:rPr lang="en-US" sz="3000" i="1" dirty="0">
                <a:solidFill>
                  <a:srgbClr val="F5F2EC"/>
                </a:solidFill>
                <a:latin typeface="Cambria" pitchFamily="34" charset="0"/>
                <a:ea typeface="Cambria" pitchFamily="34" charset="-122"/>
                <a:cs typeface="Cambria" pitchFamily="34" charset="-120"/>
              </a:rPr>
              <a:t>Gleich kommt Grün.</a:t>
            </a:r>
            <a:endParaRPr lang="en-US" sz="3000" dirty="0"/>
          </a:p>
        </p:txBody>
      </p:sp>
      <p:sp>
        <p:nvSpPr>
          <p:cNvPr id="23" name="e37_20"/>
          <p:cNvSpPr txBox="1"/>
          <p:nvPr/>
        </p:nvSpPr>
        <p:spPr>
          <a:xfrm>
            <a:off x="731520" y="4709160"/>
            <a:ext cx="7498080" cy="82296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Bereit machen, aber noch nicht losfahren.</a:t>
            </a:r>
            <a:endParaRPr lang="en-US" sz="2000" dirty="0"/>
          </a:p>
        </p:txBody>
      </p:sp>
      <p:sp>
        <p:nvSpPr>
          <p:cNvPr id="24" name="e37_21"/>
          <p:cNvSpPr/>
          <p:nvPr/>
        </p:nvSpPr>
        <p:spPr>
          <a:xfrm>
            <a:off x="8846820" y="2532888"/>
            <a:ext cx="1188720" cy="1188720"/>
          </a:xfrm>
          <a:prstGeom prst="ellipse">
            <a:avLst/>
          </a:prstGeom>
          <a:solidFill>
            <a:srgbClr val="FFB400"/>
          </a:solidFill>
          <a:ln/>
        </p:spPr>
      </p:sp>
      <p:sp>
        <p:nvSpPr>
          <p:cNvPr id="25" name="e37_22"/>
          <p:cNvSpPr/>
          <p:nvPr/>
        </p:nvSpPr>
        <p:spPr>
          <a:xfrm>
            <a:off x="8846820" y="1051560"/>
            <a:ext cx="1188720" cy="1188720"/>
          </a:xfrm>
          <a:prstGeom prst="ellipse">
            <a:avLst/>
          </a:prstGeom>
          <a:solidFill>
            <a:srgbClr val="FF3B30"/>
          </a:solidFill>
          <a:ln/>
        </p:spPr>
      </p:sp>
      <p:sp>
        <p:nvSpPr>
          <p:cNvPr id="26" name="e37_23"/>
          <p:cNvSpPr/>
          <p:nvPr/>
        </p:nvSpPr>
        <p:spPr>
          <a:xfrm>
            <a:off x="8846820" y="2532888"/>
            <a:ext cx="1188720" cy="1188720"/>
          </a:xfrm>
          <a:prstGeom prst="ellipse">
            <a:avLst/>
          </a:prstGeom>
          <a:solidFill>
            <a:srgbClr val="FFB400"/>
          </a:solidFill>
          <a:ln/>
        </p:spPr>
      </p:sp>
      <p:sp>
        <p:nvSpPr>
          <p:cNvPr id="27" name="e37_24"/>
          <p:cNvSpPr/>
          <p:nvPr/>
        </p:nvSpPr>
        <p:spPr>
          <a:xfrm>
            <a:off x="8846820" y="4014216"/>
            <a:ext cx="1188720" cy="1188720"/>
          </a:xfrm>
          <a:prstGeom prst="ellipse">
            <a:avLst/>
          </a:prstGeom>
          <a:solidFill>
            <a:srgbClr val="2EE071"/>
          </a:solidFill>
          <a:ln/>
        </p:spPr>
      </p:sp>
      <p:sp>
        <p:nvSpPr>
          <p:cNvPr id="28" name="e37_25"/>
          <p:cNvSpPr txBox="1"/>
          <p:nvPr/>
        </p:nvSpPr>
        <p:spPr>
          <a:xfrm>
            <a:off x="731520" y="2743200"/>
            <a:ext cx="7589520" cy="822960"/>
          </a:xfrm>
          <a:prstGeom prst="rect">
            <a:avLst/>
          </a:prstGeom>
          <a:noFill/>
          <a:ln/>
        </p:spPr>
        <p:txBody>
          <a:bodyPr wrap="square" lIns="0" tIns="0" rIns="0" bIns="0" rtlCol="0" anchor="t"/>
          <a:lstStyle/>
          <a:p>
            <a:pPr algn="l" indent="0" marL="0">
              <a:buNone/>
            </a:pPr>
            <a:r>
              <a:rPr lang="en-US" sz="3400" b="1" dirty="0">
                <a:solidFill>
                  <a:srgbClr val="2EE071"/>
                </a:solidFill>
                <a:latin typeface="Cambria" pitchFamily="34" charset="0"/>
                <a:ea typeface="Cambria" pitchFamily="34" charset="-122"/>
                <a:cs typeface="Cambria" pitchFamily="34" charset="-120"/>
              </a:rPr>
              <a:t>Grün</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B400"/>
                </a:solidFill>
                <a:latin typeface="Cambria" pitchFamily="34" charset="0"/>
                <a:ea typeface="Cambria" pitchFamily="34" charset="-122"/>
                <a:cs typeface="Cambria" pitchFamily="34" charset="-120"/>
              </a:rPr>
              <a:t>Gelb</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3B30"/>
                </a:solidFill>
                <a:latin typeface="Cambria" pitchFamily="34" charset="0"/>
                <a:ea typeface="Cambria" pitchFamily="34" charset="-122"/>
                <a:cs typeface="Cambria" pitchFamily="34" charset="-120"/>
              </a:rPr>
              <a:t>Rot</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FF8A2A"/>
                </a:solidFill>
                <a:latin typeface="Cambria" pitchFamily="34" charset="0"/>
                <a:ea typeface="Cambria" pitchFamily="34" charset="-122"/>
                <a:cs typeface="Cambria" pitchFamily="34" charset="-120"/>
              </a:rPr>
              <a:t>Rot + Gelb</a:t>
            </a:r>
            <a:pPr algn="l" indent="0" marL="0">
              <a:buNone/>
            </a:pPr>
            <a:r>
              <a:rPr lang="en-US" sz="3400" b="1" dirty="0">
                <a:solidFill>
                  <a:srgbClr val="F5F2EC"/>
                </a:solidFill>
                <a:latin typeface="Cambria" pitchFamily="34" charset="0"/>
                <a:ea typeface="Cambria" pitchFamily="34" charset="-122"/>
                <a:cs typeface="Cambria" pitchFamily="34" charset="-120"/>
              </a:rPr>
              <a:t>  ›  </a:t>
            </a:r>
            <a:pPr algn="l" indent="0" marL="0">
              <a:buNone/>
            </a:pPr>
            <a:r>
              <a:rPr lang="en-US" sz="3400" b="1" dirty="0">
                <a:solidFill>
                  <a:srgbClr val="2EE071"/>
                </a:solidFill>
                <a:latin typeface="Cambria" pitchFamily="34" charset="0"/>
                <a:ea typeface="Cambria" pitchFamily="34" charset="-122"/>
                <a:cs typeface="Cambria" pitchFamily="34" charset="-120"/>
              </a:rPr>
              <a:t>Grün</a:t>
            </a:r>
            <a:endParaRPr lang="en-US" sz="3400" dirty="0"/>
          </a:p>
        </p:txBody>
      </p:sp>
      <p:sp>
        <p:nvSpPr>
          <p:cNvPr id="29" name="e37_26"/>
          <p:cNvSpPr txBox="1"/>
          <p:nvPr/>
        </p:nvSpPr>
        <p:spPr>
          <a:xfrm>
            <a:off x="731520" y="3840480"/>
            <a:ext cx="7589520" cy="548640"/>
          </a:xfrm>
          <a:prstGeom prst="rect">
            <a:avLst/>
          </a:prstGeom>
          <a:noFill/>
          <a:ln/>
        </p:spPr>
        <p:txBody>
          <a:bodyPr wrap="square" lIns="0" tIns="0" rIns="0" bIns="0" rtlCol="0" anchor="t"/>
          <a:lstStyle/>
          <a:p>
            <a:pPr algn="l" indent="0" marL="0">
              <a:buNone/>
            </a:pPr>
            <a:r>
              <a:rPr lang="en-US" sz="2000" dirty="0">
                <a:solidFill>
                  <a:srgbClr val="A7B0BD"/>
                </a:solidFill>
                <a:latin typeface="Calibri" pitchFamily="34" charset="0"/>
                <a:ea typeface="Calibri" pitchFamily="34" charset="-122"/>
                <a:cs typeface="Calibri" pitchFamily="34" charset="-120"/>
              </a:rPr>
              <a:t>Ampeln gehen Vorfahrtschildern und rechts vor links vor.</a:t>
            </a:r>
            <a:endParaRPr lang="en-US" sz="2000" dirty="0"/>
          </a:p>
        </p:txBody>
      </p:sp>
      <p:sp>
        <p:nvSpPr>
          <p:cNvPr id="30" name="e37_27"/>
          <p:cNvSpPr txBox="1"/>
          <p:nvPr/>
        </p:nvSpPr>
        <p:spPr>
          <a:xfrm>
            <a:off x="731520" y="6309360"/>
            <a:ext cx="731520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37 Abs. 1 und 2 StVO</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50"/>
                                        <p:tgtEl>
                                          <p:spTgt spid="4"/>
                                        </p:tgtEl>
                                      </p:cBhvr>
                                    </p:animEffect>
                                    <p:anim calcmode="lin" valueType="num">
                                      <p:cBhvr additive="base">
                                        <p:cTn id="8" dur="650" fill="hold" decel="100000"/>
                                        <p:tgtEl>
                                          <p:spTgt spid="4"/>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4"/>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50"/>
                                        <p:tgtEl>
                                          <p:spTgt spid="5"/>
                                        </p:tgtEl>
                                      </p:cBhvr>
                                    </p:animEffect>
                                    <p:anim calcmode="lin" valueType="num">
                                      <p:cBhvr additive="base">
                                        <p:cTn id="13"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5"/>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50"/>
                                        <p:tgtEl>
                                          <p:spTgt spid="7"/>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50"/>
                                        <p:tgtEl>
                                          <p:spTgt spid="8"/>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50"/>
                                        <p:tgtEl>
                                          <p:spTgt spid="9"/>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50"/>
                                        <p:tgtEl>
                                          <p:spTgt spid="10"/>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30"/>
                                        </p:tgtEl>
                                        <p:attrNameLst>
                                          <p:attrName>style.visibility</p:attrName>
                                        </p:attrNameLst>
                                      </p:cBhvr>
                                      <p:to>
                                        <p:strVal val="visible"/>
                                      </p:to>
                                    </p:set>
                                    <p:animEffect transition="in" filter="fade">
                                      <p:cBhvr>
                                        <p:cTn id="32" dur="650"/>
                                        <p:tgtEl>
                                          <p:spTgt spid="30"/>
                                        </p:tgtEl>
                                      </p:cBhvr>
                                    </p:animEffect>
                                    <p:anim calcmode="lin" valueType="num">
                                      <p:cBhvr additive="base">
                                        <p:cTn id="33" dur="650" fill="hold" decel="100000"/>
                                        <p:tgtEl>
                                          <p:spTgt spid="30"/>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30"/>
                                        </p:tgtEl>
                                        <p:attrNameLst>
                                          <p:attrName>ppt_y</p:attrName>
                                        </p:attrNameLst>
                                      </p:cBhvr>
                                      <p:tavLst>
                                        <p:tav tm="0">
                                          <p:val>
                                            <p:strVal val="#ppt_y+.05"/>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00"/>
                                        <p:tgtEl>
                                          <p:spTgt spid="11"/>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600"/>
                                        <p:tgtEl>
                                          <p:spTgt spid="12"/>
                                        </p:tgtEl>
                                      </p:cBhvr>
                                    </p:animEffect>
                                    <p:anim calcmode="lin" valueType="num">
                                      <p:cBhvr additive="base">
                                        <p:cTn id="41"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12"/>
                                        </p:tgtEl>
                                        <p:attrNameLst>
                                          <p:attrName>ppt_y</p:attrName>
                                        </p:attrNameLst>
                                      </p:cBhvr>
                                      <p:tavLst>
                                        <p:tav tm="0">
                                          <p:val>
                                            <p:strVal val="#ppt_y+.1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600"/>
                                        <p:tgtEl>
                                          <p:spTgt spid="13"/>
                                        </p:tgtEl>
                                      </p:cBhvr>
                                    </p:animEffect>
                                    <p:anim calcmode="lin" valueType="num">
                                      <p:cBhvr additive="base">
                                        <p:cTn id="48"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49" dur="600" fill="hold" decel="100000"/>
                                        <p:tgtEl>
                                          <p:spTgt spid="13"/>
                                        </p:tgtEl>
                                        <p:attrNameLst>
                                          <p:attrName>ppt_y</p:attrName>
                                        </p:attrNameLst>
                                      </p:cBhvr>
                                      <p:tavLst>
                                        <p:tav tm="0">
                                          <p:val>
                                            <p:strVal val="#ppt_y+.18"/>
                                          </p:val>
                                        </p:tav>
                                        <p:tav tm="100000">
                                          <p:val>
                                            <p:strVal val="#ppt_y"/>
                                          </p:val>
                                        </p:tav>
                                      </p:tavLst>
                                    </p:anim>
                                  </p:childTnLst>
                                </p:cTn>
                              </p:par>
                              <p:par>
                                <p:cTn id="50" presetID="10" presetClass="entr" presetSubtype="0" fill="hold" grpId="0" nodeType="withEffect">
                                  <p:stCondLst>
                                    <p:cond delay="2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200"/>
                                        <p:tgtEl>
                                          <p:spTgt spid="11"/>
                                        </p:tgtEl>
                                      </p:cBhvr>
                                    </p:animEffect>
                                    <p:set>
                                      <p:cBhvr>
                                        <p:cTn id="57" dur="1" fill="hold">
                                          <p:stCondLst>
                                            <p:cond delay="199"/>
                                          </p:stCondLst>
                                        </p:cTn>
                                        <p:tgtEl>
                                          <p:spTgt spid="11"/>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250"/>
                                        <p:tgtEl>
                                          <p:spTgt spid="12"/>
                                        </p:tgtEl>
                                      </p:cBhvr>
                                    </p:animEffect>
                                    <p:set>
                                      <p:cBhvr>
                                        <p:cTn id="60" dur="1" fill="hold">
                                          <p:stCondLst>
                                            <p:cond delay="249"/>
                                          </p:stCondLst>
                                        </p:cTn>
                                        <p:tgtEl>
                                          <p:spTgt spid="12"/>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250"/>
                                        <p:tgtEl>
                                          <p:spTgt spid="13"/>
                                        </p:tgtEl>
                                      </p:cBhvr>
                                    </p:animEffect>
                                    <p:set>
                                      <p:cBhvr>
                                        <p:cTn id="63" dur="1" fill="hold">
                                          <p:stCondLst>
                                            <p:cond delay="249"/>
                                          </p:stCondLst>
                                        </p:cTn>
                                        <p:tgtEl>
                                          <p:spTgt spid="13"/>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250"/>
                                        <p:tgtEl>
                                          <p:spTgt spid="14"/>
                                        </p:tgtEl>
                                      </p:cBhvr>
                                    </p:animEffect>
                                    <p:set>
                                      <p:cBhvr>
                                        <p:cTn id="66" dur="1" fill="hold">
                                          <p:stCondLst>
                                            <p:cond delay="249"/>
                                          </p:stCondLst>
                                        </p:cTn>
                                        <p:tgtEl>
                                          <p:spTgt spid="14"/>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250"/>
                                        <p:tgtEl>
                                          <p:spTgt spid="24"/>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600"/>
                                        <p:tgtEl>
                                          <p:spTgt spid="15"/>
                                        </p:tgtEl>
                                      </p:cBhvr>
                                    </p:animEffect>
                                    <p:anim calcmode="lin" valueType="num">
                                      <p:cBhvr additive="base">
                                        <p:cTn id="73" dur="600" fill="hold" decel="100000"/>
                                        <p:tgtEl>
                                          <p:spTgt spid="15"/>
                                        </p:tgtEl>
                                        <p:attrNameLst>
                                          <p:attrName>ppt_x</p:attrName>
                                        </p:attrNameLst>
                                      </p:cBhvr>
                                      <p:tavLst>
                                        <p:tav tm="0">
                                          <p:val>
                                            <p:strVal val="#ppt_x"/>
                                          </p:val>
                                        </p:tav>
                                        <p:tav tm="100000">
                                          <p:val>
                                            <p:strVal val="#ppt_x"/>
                                          </p:val>
                                        </p:tav>
                                      </p:tavLst>
                                    </p:anim>
                                    <p:anim calcmode="lin" valueType="num">
                                      <p:cBhvr additive="base">
                                        <p:cTn id="74" dur="600" fill="hold" decel="100000"/>
                                        <p:tgtEl>
                                          <p:spTgt spid="15"/>
                                        </p:tgtEl>
                                        <p:attrNameLst>
                                          <p:attrName>ppt_y</p:attrName>
                                        </p:attrNameLst>
                                      </p:cBhvr>
                                      <p:tavLst>
                                        <p:tav tm="0">
                                          <p:val>
                                            <p:strVal val="#ppt_y+.18"/>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fade">
                                      <p:cBhvr>
                                        <p:cTn id="79" dur="600"/>
                                        <p:tgtEl>
                                          <p:spTgt spid="16"/>
                                        </p:tgtEl>
                                      </p:cBhvr>
                                    </p:animEffect>
                                    <p:anim calcmode="lin" valueType="num">
                                      <p:cBhvr additive="base">
                                        <p:cTn id="80"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81" dur="600" fill="hold" decel="100000"/>
                                        <p:tgtEl>
                                          <p:spTgt spid="16"/>
                                        </p:tgtEl>
                                        <p:attrNameLst>
                                          <p:attrName>ppt_y</p:attrName>
                                        </p:attrNameLst>
                                      </p:cBhvr>
                                      <p:tavLst>
                                        <p:tav tm="0">
                                          <p:val>
                                            <p:strVal val="#ppt_y+.18"/>
                                          </p:val>
                                        </p:tav>
                                        <p:tav tm="100000">
                                          <p:val>
                                            <p:strVal val="#ppt_y"/>
                                          </p:val>
                                        </p:tav>
                                      </p:tavLst>
                                    </p:anim>
                                  </p:childTnLst>
                                </p:cTn>
                              </p:par>
                              <p:par>
                                <p:cTn id="82" presetID="10" presetClass="entr" presetSubtype="0" fill="hold" grpId="0" nodeType="withEffect">
                                  <p:stCondLst>
                                    <p:cond delay="25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6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xit" presetSubtype="0" fill="hold" grpId="1" nodeType="clickEffect">
                                  <p:stCondLst>
                                    <p:cond delay="0"/>
                                  </p:stCondLst>
                                  <p:childTnLst>
                                    <p:animEffect transition="out" filter="fade">
                                      <p:cBhvr>
                                        <p:cTn id="88" dur="200"/>
                                        <p:tgtEl>
                                          <p:spTgt spid="24"/>
                                        </p:tgtEl>
                                      </p:cBhvr>
                                    </p:animEffect>
                                    <p:set>
                                      <p:cBhvr>
                                        <p:cTn id="89" dur="1" fill="hold">
                                          <p:stCondLst>
                                            <p:cond delay="199"/>
                                          </p:stCondLst>
                                        </p:cTn>
                                        <p:tgtEl>
                                          <p:spTgt spid="24"/>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250"/>
                                        <p:tgtEl>
                                          <p:spTgt spid="15"/>
                                        </p:tgtEl>
                                      </p:cBhvr>
                                    </p:animEffect>
                                    <p:set>
                                      <p:cBhvr>
                                        <p:cTn id="92" dur="1" fill="hold">
                                          <p:stCondLst>
                                            <p:cond delay="249"/>
                                          </p:stCondLst>
                                        </p:cTn>
                                        <p:tgtEl>
                                          <p:spTgt spid="15"/>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250"/>
                                        <p:tgtEl>
                                          <p:spTgt spid="16"/>
                                        </p:tgtEl>
                                      </p:cBhvr>
                                    </p:animEffect>
                                    <p:set>
                                      <p:cBhvr>
                                        <p:cTn id="95" dur="1" fill="hold">
                                          <p:stCondLst>
                                            <p:cond delay="249"/>
                                          </p:stCondLst>
                                        </p:cTn>
                                        <p:tgtEl>
                                          <p:spTgt spid="16"/>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250"/>
                                        <p:tgtEl>
                                          <p:spTgt spid="17"/>
                                        </p:tgtEl>
                                      </p:cBhvr>
                                    </p:animEffect>
                                    <p:set>
                                      <p:cBhvr>
                                        <p:cTn id="98" dur="1" fill="hold">
                                          <p:stCondLst>
                                            <p:cond delay="249"/>
                                          </p:stCondLst>
                                        </p:cTn>
                                        <p:tgtEl>
                                          <p:spTgt spid="17"/>
                                        </p:tgtEl>
                                        <p:attrNameLst>
                                          <p:attrName>style.visibility</p:attrName>
                                        </p:attrNameLst>
                                      </p:cBhvr>
                                      <p:to>
                                        <p:strVal val="hidden"/>
                                      </p:to>
                                    </p:set>
                                  </p:childTnLst>
                                </p:cTn>
                              </p:par>
                              <p:par>
                                <p:cTn id="99" presetID="10" presetClass="entr" presetSubtype="0" fill="hold" grpId="0" nodeType="with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250"/>
                                        <p:tgtEl>
                                          <p:spTgt spid="25"/>
                                        </p:tgtEl>
                                      </p:cBhvr>
                                    </p:animEffect>
                                  </p:childTnLst>
                                </p:cTn>
                              </p:par>
                              <p:par>
                                <p:cTn id="102" presetID="42"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600"/>
                                        <p:tgtEl>
                                          <p:spTgt spid="18"/>
                                        </p:tgtEl>
                                      </p:cBhvr>
                                    </p:animEffect>
                                    <p:anim calcmode="lin" valueType="num">
                                      <p:cBhvr additive="base">
                                        <p:cTn id="105" dur="600" fill="hold" decel="100000"/>
                                        <p:tgtEl>
                                          <p:spTgt spid="18"/>
                                        </p:tgtEl>
                                        <p:attrNameLst>
                                          <p:attrName>ppt_x</p:attrName>
                                        </p:attrNameLst>
                                      </p:cBhvr>
                                      <p:tavLst>
                                        <p:tav tm="0">
                                          <p:val>
                                            <p:strVal val="#ppt_x"/>
                                          </p:val>
                                        </p:tav>
                                        <p:tav tm="100000">
                                          <p:val>
                                            <p:strVal val="#ppt_x"/>
                                          </p:val>
                                        </p:tav>
                                      </p:tavLst>
                                    </p:anim>
                                    <p:anim calcmode="lin" valueType="num">
                                      <p:cBhvr additive="base">
                                        <p:cTn id="106" dur="6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19"/>
                                        </p:tgtEl>
                                        <p:attrNameLst>
                                          <p:attrName>style.visibility</p:attrName>
                                        </p:attrNameLst>
                                      </p:cBhvr>
                                      <p:to>
                                        <p:strVal val="visible"/>
                                      </p:to>
                                    </p:set>
                                    <p:animEffect transition="in" filter="fade">
                                      <p:cBhvr>
                                        <p:cTn id="111" dur="600"/>
                                        <p:tgtEl>
                                          <p:spTgt spid="19"/>
                                        </p:tgtEl>
                                      </p:cBhvr>
                                    </p:animEffect>
                                    <p:anim calcmode="lin" valueType="num">
                                      <p:cBhvr additive="base">
                                        <p:cTn id="112" dur="600" fill="hold" decel="100000"/>
                                        <p:tgtEl>
                                          <p:spTgt spid="19"/>
                                        </p:tgtEl>
                                        <p:attrNameLst>
                                          <p:attrName>ppt_x</p:attrName>
                                        </p:attrNameLst>
                                      </p:cBhvr>
                                      <p:tavLst>
                                        <p:tav tm="0">
                                          <p:val>
                                            <p:strVal val="#ppt_x"/>
                                          </p:val>
                                        </p:tav>
                                        <p:tav tm="100000">
                                          <p:val>
                                            <p:strVal val="#ppt_x"/>
                                          </p:val>
                                        </p:tav>
                                      </p:tavLst>
                                    </p:anim>
                                    <p:anim calcmode="lin" valueType="num">
                                      <p:cBhvr additive="base">
                                        <p:cTn id="113" dur="600" fill="hold" decel="100000"/>
                                        <p:tgtEl>
                                          <p:spTgt spid="19"/>
                                        </p:tgtEl>
                                        <p:attrNameLst>
                                          <p:attrName>ppt_y</p:attrName>
                                        </p:attrNameLst>
                                      </p:cBhvr>
                                      <p:tavLst>
                                        <p:tav tm="0">
                                          <p:val>
                                            <p:strVal val="#ppt_y+.18"/>
                                          </p:val>
                                        </p:tav>
                                        <p:tav tm="100000">
                                          <p:val>
                                            <p:strVal val="#ppt_y"/>
                                          </p:val>
                                        </p:tav>
                                      </p:tavLst>
                                    </p:anim>
                                  </p:childTnLst>
                                </p:cTn>
                              </p:par>
                              <p:par>
                                <p:cTn id="114" presetID="10" presetClass="entr" presetSubtype="0" fill="hold" grpId="0" nodeType="withEffect">
                                  <p:stCondLst>
                                    <p:cond delay="250"/>
                                  </p:stCondLst>
                                  <p:childTnLst>
                                    <p:set>
                                      <p:cBhvr>
                                        <p:cTn id="115" dur="1" fill="hold">
                                          <p:stCondLst>
                                            <p:cond delay="0"/>
                                          </p:stCondLst>
                                        </p:cTn>
                                        <p:tgtEl>
                                          <p:spTgt spid="20"/>
                                        </p:tgtEl>
                                        <p:attrNameLst>
                                          <p:attrName>style.visibility</p:attrName>
                                        </p:attrNameLst>
                                      </p:cBhvr>
                                      <p:to>
                                        <p:strVal val="visible"/>
                                      </p:to>
                                    </p:set>
                                    <p:animEffect transition="in" filter="fade">
                                      <p:cBhvr>
                                        <p:cTn id="116" dur="600"/>
                                        <p:tgtEl>
                                          <p:spTgt spid="20"/>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grpId="1" nodeType="clickEffect">
                                  <p:stCondLst>
                                    <p:cond delay="0"/>
                                  </p:stCondLst>
                                  <p:childTnLst>
                                    <p:animEffect transition="out" filter="fade">
                                      <p:cBhvr>
                                        <p:cTn id="120" dur="250"/>
                                        <p:tgtEl>
                                          <p:spTgt spid="18"/>
                                        </p:tgtEl>
                                      </p:cBhvr>
                                    </p:animEffect>
                                    <p:set>
                                      <p:cBhvr>
                                        <p:cTn id="121" dur="1" fill="hold">
                                          <p:stCondLst>
                                            <p:cond delay="249"/>
                                          </p:stCondLst>
                                        </p:cTn>
                                        <p:tgtEl>
                                          <p:spTgt spid="18"/>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250"/>
                                        <p:tgtEl>
                                          <p:spTgt spid="19"/>
                                        </p:tgtEl>
                                      </p:cBhvr>
                                    </p:animEffect>
                                    <p:set>
                                      <p:cBhvr>
                                        <p:cTn id="124" dur="1" fill="hold">
                                          <p:stCondLst>
                                            <p:cond delay="249"/>
                                          </p:stCondLst>
                                        </p:cTn>
                                        <p:tgtEl>
                                          <p:spTgt spid="19"/>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250"/>
                                        <p:tgtEl>
                                          <p:spTgt spid="20"/>
                                        </p:tgtEl>
                                      </p:cBhvr>
                                    </p:animEffect>
                                    <p:set>
                                      <p:cBhvr>
                                        <p:cTn id="127" dur="1" fill="hold">
                                          <p:stCondLst>
                                            <p:cond delay="249"/>
                                          </p:stCondLst>
                                        </p:cTn>
                                        <p:tgtEl>
                                          <p:spTgt spid="20"/>
                                        </p:tgtEl>
                                        <p:attrNameLst>
                                          <p:attrName>style.visibility</p:attrName>
                                        </p:attrNameLst>
                                      </p:cBhvr>
                                      <p:to>
                                        <p:strVal val="hidden"/>
                                      </p:to>
                                    </p:set>
                                  </p:childTnLst>
                                </p:cTn>
                              </p:par>
                              <p:par>
                                <p:cTn id="128" presetID="10" presetClass="entr" presetSubtype="0" fill="hold" grpId="0" nodeType="with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fade">
                                      <p:cBhvr>
                                        <p:cTn id="130" dur="250"/>
                                        <p:tgtEl>
                                          <p:spTgt spid="26"/>
                                        </p:tgtEl>
                                      </p:cBhvr>
                                    </p:animEffect>
                                  </p:childTnLst>
                                </p:cTn>
                              </p:par>
                              <p:par>
                                <p:cTn id="131" presetID="42" presetClass="entr" presetSubtype="0" fill="hold" grpId="0" nodeType="withEffect">
                                  <p:stCondLst>
                                    <p:cond delay="0"/>
                                  </p:stCondLst>
                                  <p:childTnLst>
                                    <p:set>
                                      <p:cBhvr>
                                        <p:cTn id="132" dur="1" fill="hold">
                                          <p:stCondLst>
                                            <p:cond delay="0"/>
                                          </p:stCondLst>
                                        </p:cTn>
                                        <p:tgtEl>
                                          <p:spTgt spid="21"/>
                                        </p:tgtEl>
                                        <p:attrNameLst>
                                          <p:attrName>style.visibility</p:attrName>
                                        </p:attrNameLst>
                                      </p:cBhvr>
                                      <p:to>
                                        <p:strVal val="visible"/>
                                      </p:to>
                                    </p:set>
                                    <p:animEffect transition="in" filter="fade">
                                      <p:cBhvr>
                                        <p:cTn id="133" dur="600"/>
                                        <p:tgtEl>
                                          <p:spTgt spid="21"/>
                                        </p:tgtEl>
                                      </p:cBhvr>
                                    </p:animEffect>
                                    <p:anim calcmode="lin" valueType="num">
                                      <p:cBhvr additive="base">
                                        <p:cTn id="134"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135" dur="600" fill="hold" decel="100000"/>
                                        <p:tgtEl>
                                          <p:spTgt spid="21"/>
                                        </p:tgtEl>
                                        <p:attrNameLst>
                                          <p:attrName>ppt_y</p:attrName>
                                        </p:attrNameLst>
                                      </p:cBhvr>
                                      <p:tavLst>
                                        <p:tav tm="0">
                                          <p:val>
                                            <p:strVal val="#ppt_y+.18"/>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2"/>
                                        </p:tgtEl>
                                        <p:attrNameLst>
                                          <p:attrName>style.visibility</p:attrName>
                                        </p:attrNameLst>
                                      </p:cBhvr>
                                      <p:to>
                                        <p:strVal val="visible"/>
                                      </p:to>
                                    </p:set>
                                    <p:animEffect transition="in" filter="fade">
                                      <p:cBhvr>
                                        <p:cTn id="140" dur="600"/>
                                        <p:tgtEl>
                                          <p:spTgt spid="22"/>
                                        </p:tgtEl>
                                      </p:cBhvr>
                                    </p:animEffect>
                                    <p:anim calcmode="lin" valueType="num">
                                      <p:cBhvr additive="base">
                                        <p:cTn id="141" dur="600" fill="hold" decel="100000"/>
                                        <p:tgtEl>
                                          <p:spTgt spid="22"/>
                                        </p:tgtEl>
                                        <p:attrNameLst>
                                          <p:attrName>ppt_x</p:attrName>
                                        </p:attrNameLst>
                                      </p:cBhvr>
                                      <p:tavLst>
                                        <p:tav tm="0">
                                          <p:val>
                                            <p:strVal val="#ppt_x"/>
                                          </p:val>
                                        </p:tav>
                                        <p:tav tm="100000">
                                          <p:val>
                                            <p:strVal val="#ppt_x"/>
                                          </p:val>
                                        </p:tav>
                                      </p:tavLst>
                                    </p:anim>
                                    <p:anim calcmode="lin" valueType="num">
                                      <p:cBhvr additive="base">
                                        <p:cTn id="142" dur="600" fill="hold" decel="100000"/>
                                        <p:tgtEl>
                                          <p:spTgt spid="22"/>
                                        </p:tgtEl>
                                        <p:attrNameLst>
                                          <p:attrName>ppt_y</p:attrName>
                                        </p:attrNameLst>
                                      </p:cBhvr>
                                      <p:tavLst>
                                        <p:tav tm="0">
                                          <p:val>
                                            <p:strVal val="#ppt_y+.18"/>
                                          </p:val>
                                        </p:tav>
                                        <p:tav tm="100000">
                                          <p:val>
                                            <p:strVal val="#ppt_y"/>
                                          </p:val>
                                        </p:tav>
                                      </p:tavLst>
                                    </p:anim>
                                  </p:childTnLst>
                                </p:cTn>
                              </p:par>
                              <p:par>
                                <p:cTn id="143" presetID="10" presetClass="entr" presetSubtype="0" fill="hold" grpId="0" nodeType="withEffect">
                                  <p:stCondLst>
                                    <p:cond delay="25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600"/>
                                        <p:tgtEl>
                                          <p:spTgt spid="23"/>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xit" presetSubtype="0" fill="hold" grpId="1" nodeType="clickEffect">
                                  <p:stCondLst>
                                    <p:cond delay="0"/>
                                  </p:stCondLst>
                                  <p:childTnLst>
                                    <p:animEffect transition="out" filter="fade">
                                      <p:cBhvr>
                                        <p:cTn id="149" dur="200"/>
                                        <p:tgtEl>
                                          <p:spTgt spid="25"/>
                                        </p:tgtEl>
                                      </p:cBhvr>
                                    </p:animEffect>
                                    <p:set>
                                      <p:cBhvr>
                                        <p:cTn id="150" dur="1" fill="hold">
                                          <p:stCondLst>
                                            <p:cond delay="199"/>
                                          </p:stCondLst>
                                        </p:cTn>
                                        <p:tgtEl>
                                          <p:spTgt spid="25"/>
                                        </p:tgtEl>
                                        <p:attrNameLst>
                                          <p:attrName>style.visibility</p:attrName>
                                        </p:attrNameLst>
                                      </p:cBhvr>
                                      <p:to>
                                        <p:strVal val="hidden"/>
                                      </p:to>
                                    </p:set>
                                  </p:childTnLst>
                                </p:cTn>
                              </p:par>
                              <p:par>
                                <p:cTn id="151" presetID="10" presetClass="exit" presetSubtype="0" fill="hold" grpId="1" nodeType="withEffect">
                                  <p:stCondLst>
                                    <p:cond delay="0"/>
                                  </p:stCondLst>
                                  <p:childTnLst>
                                    <p:animEffect transition="out" filter="fade">
                                      <p:cBhvr>
                                        <p:cTn id="152" dur="200"/>
                                        <p:tgtEl>
                                          <p:spTgt spid="26"/>
                                        </p:tgtEl>
                                      </p:cBhvr>
                                    </p:animEffect>
                                    <p:set>
                                      <p:cBhvr>
                                        <p:cTn id="153" dur="1" fill="hold">
                                          <p:stCondLst>
                                            <p:cond delay="199"/>
                                          </p:stCondLst>
                                        </p:cTn>
                                        <p:tgtEl>
                                          <p:spTgt spid="26"/>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50"/>
                                        <p:tgtEl>
                                          <p:spTgt spid="21"/>
                                        </p:tgtEl>
                                      </p:cBhvr>
                                    </p:animEffect>
                                    <p:set>
                                      <p:cBhvr>
                                        <p:cTn id="156" dur="1" fill="hold">
                                          <p:stCondLst>
                                            <p:cond delay="249"/>
                                          </p:stCondLst>
                                        </p:cTn>
                                        <p:tgtEl>
                                          <p:spTgt spid="21"/>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250"/>
                                        <p:tgtEl>
                                          <p:spTgt spid="22"/>
                                        </p:tgtEl>
                                      </p:cBhvr>
                                    </p:animEffect>
                                    <p:set>
                                      <p:cBhvr>
                                        <p:cTn id="159" dur="1" fill="hold">
                                          <p:stCondLst>
                                            <p:cond delay="249"/>
                                          </p:stCondLst>
                                        </p:cTn>
                                        <p:tgtEl>
                                          <p:spTgt spid="22"/>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250"/>
                                        <p:tgtEl>
                                          <p:spTgt spid="23"/>
                                        </p:tgtEl>
                                      </p:cBhvr>
                                    </p:animEffect>
                                    <p:set>
                                      <p:cBhvr>
                                        <p:cTn id="162" dur="1" fill="hold">
                                          <p:stCondLst>
                                            <p:cond delay="249"/>
                                          </p:stCondLst>
                                        </p:cTn>
                                        <p:tgtEl>
                                          <p:spTgt spid="23"/>
                                        </p:tgtEl>
                                        <p:attrNameLst>
                                          <p:attrName>style.visibility</p:attrName>
                                        </p:attrNameLst>
                                      </p:cBhvr>
                                      <p:to>
                                        <p:strVal val="hidden"/>
                                      </p:to>
                                    </p:set>
                                  </p:childTnLst>
                                </p:cTn>
                              </p:par>
                              <p:par>
                                <p:cTn id="163" presetID="10" presetClass="entr" presetSubtype="0" fill="hold" grpId="0" nodeType="withEffect">
                                  <p:stCondLst>
                                    <p:cond delay="0"/>
                                  </p:stCondLst>
                                  <p:childTnLst>
                                    <p:set>
                                      <p:cBhvr>
                                        <p:cTn id="164" dur="1" fill="hold">
                                          <p:stCondLst>
                                            <p:cond delay="0"/>
                                          </p:stCondLst>
                                        </p:cTn>
                                        <p:tgtEl>
                                          <p:spTgt spid="27"/>
                                        </p:tgtEl>
                                        <p:attrNameLst>
                                          <p:attrName>style.visibility</p:attrName>
                                        </p:attrNameLst>
                                      </p:cBhvr>
                                      <p:to>
                                        <p:strVal val="visible"/>
                                      </p:to>
                                    </p:set>
                                    <p:animEffect transition="in" filter="fade">
                                      <p:cBhvr>
                                        <p:cTn id="165" dur="250"/>
                                        <p:tgtEl>
                                          <p:spTgt spid="27"/>
                                        </p:tgtEl>
                                      </p:cBhvr>
                                    </p:animEffect>
                                  </p:childTnLst>
                                </p:cTn>
                              </p:par>
                              <p:par>
                                <p:cTn id="166" presetID="42" presetClass="entr" presetSubtype="0" fill="hold" grpId="0" nodeType="withEffect">
                                  <p:stCondLst>
                                    <p:cond delay="0"/>
                                  </p:stCondLst>
                                  <p:childTnLst>
                                    <p:set>
                                      <p:cBhvr>
                                        <p:cTn id="167" dur="1" fill="hold">
                                          <p:stCondLst>
                                            <p:cond delay="0"/>
                                          </p:stCondLst>
                                        </p:cTn>
                                        <p:tgtEl>
                                          <p:spTgt spid="28"/>
                                        </p:tgtEl>
                                        <p:attrNameLst>
                                          <p:attrName>style.visibility</p:attrName>
                                        </p:attrNameLst>
                                      </p:cBhvr>
                                      <p:to>
                                        <p:strVal val="visible"/>
                                      </p:to>
                                    </p:set>
                                    <p:animEffect transition="in" filter="fade">
                                      <p:cBhvr>
                                        <p:cTn id="168" dur="700"/>
                                        <p:tgtEl>
                                          <p:spTgt spid="28"/>
                                        </p:tgtEl>
                                      </p:cBhvr>
                                    </p:animEffect>
                                    <p:anim calcmode="lin" valueType="num">
                                      <p:cBhvr additive="base">
                                        <p:cTn id="169" dur="700" fill="hold" decel="100000"/>
                                        <p:tgtEl>
                                          <p:spTgt spid="28"/>
                                        </p:tgtEl>
                                        <p:attrNameLst>
                                          <p:attrName>ppt_x</p:attrName>
                                        </p:attrNameLst>
                                      </p:cBhvr>
                                      <p:tavLst>
                                        <p:tav tm="0">
                                          <p:val>
                                            <p:strVal val="#ppt_x"/>
                                          </p:val>
                                        </p:tav>
                                        <p:tav tm="100000">
                                          <p:val>
                                            <p:strVal val="#ppt_x"/>
                                          </p:val>
                                        </p:tav>
                                      </p:tavLst>
                                    </p:anim>
                                    <p:anim calcmode="lin" valueType="num">
                                      <p:cBhvr additive="base">
                                        <p:cTn id="170" dur="700" fill="hold" decel="100000"/>
                                        <p:tgtEl>
                                          <p:spTgt spid="28"/>
                                        </p:tgtEl>
                                        <p:attrNameLst>
                                          <p:attrName>ppt_y</p:attrName>
                                        </p:attrNameLst>
                                      </p:cBhvr>
                                      <p:tavLst>
                                        <p:tav tm="0">
                                          <p:val>
                                            <p:strVal val="#ppt_y+.18"/>
                                          </p:val>
                                        </p:tav>
                                        <p:tav tm="100000">
                                          <p:val>
                                            <p:strVal val="#ppt_y"/>
                                          </p:val>
                                        </p:tav>
                                      </p:tavLst>
                                    </p:anim>
                                  </p:childTnLst>
                                </p:cTn>
                              </p:par>
                            </p:childTnLst>
                          </p:cTn>
                        </p:par>
                        <p:par>
                          <p:cTn id="171" fill="hold">
                            <p:stCondLst>
                              <p:cond delay="700"/>
                            </p:stCondLst>
                            <p:childTnLst>
                              <p:par>
                                <p:cTn id="172" presetID="10" presetClass="entr" presetSubtype="0" fill="hold" grpId="0" nodeType="afterEffect">
                                  <p:stCondLst>
                                    <p:cond delay="0"/>
                                  </p:stCondLst>
                                  <p:childTnLst>
                                    <p:set>
                                      <p:cBhvr>
                                        <p:cTn id="173" dur="1" fill="hold">
                                          <p:stCondLst>
                                            <p:cond delay="0"/>
                                          </p:stCondLst>
                                        </p:cTn>
                                        <p:tgtEl>
                                          <p:spTgt spid="29"/>
                                        </p:tgtEl>
                                        <p:attrNameLst>
                                          <p:attrName>style.visibility</p:attrName>
                                        </p:attrNameLst>
                                      </p:cBhvr>
                                      <p:to>
                                        <p:strVal val="visible"/>
                                      </p:to>
                                    </p:set>
                                    <p:animEffect transition="in" filter="fade">
                                      <p:cBhvr>
                                        <p:cTn id="174"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0" grpId="0" animBg="1"/>
      <p:bldP spid="11" grpId="0" animBg="1"/>
      <p:bldP spid="12" grpId="0" animBg="1"/>
      <p:bldP spid="13" grpId="0" animBg="1"/>
      <p:bldP spid="14" grpId="0" animBg="1"/>
      <p:bldP spid="11" grpId="1" animBg="1"/>
      <p:bldP spid="12" grpId="1" animBg="1"/>
      <p:bldP spid="13" grpId="1" animBg="1"/>
      <p:bldP spid="14" grpId="1" animBg="1"/>
      <p:bldP spid="24" grpId="0" animBg="1"/>
      <p:bldP spid="15" grpId="0" animBg="1"/>
      <p:bldP spid="16" grpId="0" animBg="1"/>
      <p:bldP spid="17" grpId="0" animBg="1"/>
      <p:bldP spid="24" grpId="1" animBg="1"/>
      <p:bldP spid="15" grpId="1" animBg="1"/>
      <p:bldP spid="16" grpId="1" animBg="1"/>
      <p:bldP spid="17" grpId="1" animBg="1"/>
      <p:bldP spid="25" grpId="0" animBg="1"/>
      <p:bldP spid="18" grpId="0" animBg="1"/>
      <p:bldP spid="19" grpId="0" animBg="1"/>
      <p:bldP spid="20" grpId="0" animBg="1"/>
      <p:bldP spid="18" grpId="1" animBg="1"/>
      <p:bldP spid="19" grpId="1" animBg="1"/>
      <p:bldP spid="20" grpId="1" animBg="1"/>
      <p:bldP spid="26" grpId="0" animBg="1"/>
      <p:bldP spid="21" grpId="0" animBg="1"/>
      <p:bldP spid="22" grpId="0" animBg="1"/>
      <p:bldP spid="23" grpId="0" animBg="1"/>
      <p:bldP spid="25" grpId="1" animBg="1"/>
      <p:bldP spid="26" grpId="1" animBg="1"/>
      <p:bldP spid="21" grpId="1" animBg="1"/>
      <p:bldP spid="22" grpId="1" animBg="1"/>
      <p:bldP spid="23" grpId="1" animBg="1"/>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GELB SPRINGT AN</a:t>
            </a:r>
            <a:endParaRPr lang="en-US" sz="1300" dirty="0"/>
          </a:p>
        </p:txBody>
      </p:sp>
      <p:sp>
        <p:nvSpPr>
          <p:cNvPr id="6" name="e38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Gas oder Bremse?</a:t>
            </a:r>
            <a:endParaRPr lang="en-US" sz="4600" dirty="0"/>
          </a:p>
        </p:txBody>
      </p:sp>
      <p:sp>
        <p:nvSpPr>
          <p:cNvPr id="7" name="e38_3"/>
          <p:cNvSpPr/>
          <p:nvPr/>
        </p:nvSpPr>
        <p:spPr>
          <a:xfrm>
            <a:off x="731520" y="3749040"/>
            <a:ext cx="10698480" cy="914400"/>
          </a:xfrm>
          <a:prstGeom prst="rect">
            <a:avLst/>
          </a:prstGeom>
          <a:solidFill>
            <a:srgbClr val="1A222D"/>
          </a:solidFill>
          <a:ln/>
        </p:spPr>
      </p:sp>
      <p:sp>
        <p:nvSpPr>
          <p:cNvPr id="8" name="e38_4"/>
          <p:cNvSpPr/>
          <p:nvPr/>
        </p:nvSpPr>
        <p:spPr>
          <a:xfrm>
            <a:off x="731520" y="4206240"/>
            <a:ext cx="9875520" cy="914"/>
          </a:xfrm>
          <a:prstGeom prst="line">
            <a:avLst/>
          </a:prstGeom>
          <a:noFill/>
          <a:ln w="19050">
            <a:solidFill>
              <a:srgbClr val="D9DEE5"/>
            </a:solidFill>
            <a:prstDash val="dash"/>
          </a:ln>
        </p:spPr>
      </p:sp>
      <p:sp>
        <p:nvSpPr>
          <p:cNvPr id="9" name="e38_5"/>
          <p:cNvSpPr/>
          <p:nvPr/>
        </p:nvSpPr>
        <p:spPr>
          <a:xfrm>
            <a:off x="10789920" y="3749040"/>
            <a:ext cx="64008" cy="914400"/>
          </a:xfrm>
          <a:prstGeom prst="rect">
            <a:avLst/>
          </a:prstGeom>
          <a:solidFill>
            <a:srgbClr val="FFFFFF"/>
          </a:solidFill>
          <a:ln/>
        </p:spPr>
      </p:sp>
      <p:sp>
        <p:nvSpPr>
          <p:cNvPr id="10" name="e38_6"/>
          <p:cNvSpPr/>
          <p:nvPr/>
        </p:nvSpPr>
        <p:spPr>
          <a:xfrm>
            <a:off x="10972800" y="2880360"/>
            <a:ext cx="310896" cy="808330"/>
          </a:xfrm>
          <a:prstGeom prst="roundRect">
            <a:avLst>
              <a:gd name="adj" fmla="val 73529"/>
            </a:avLst>
          </a:prstGeom>
          <a:solidFill>
            <a:srgbClr val="07090D"/>
          </a:solidFill>
          <a:ln w="12700">
            <a:solidFill>
              <a:srgbClr val="4A5261"/>
            </a:solidFill>
            <a:prstDash val="solid"/>
          </a:ln>
        </p:spPr>
      </p:sp>
      <p:sp>
        <p:nvSpPr>
          <p:cNvPr id="11" name="e38_7"/>
          <p:cNvSpPr/>
          <p:nvPr/>
        </p:nvSpPr>
        <p:spPr>
          <a:xfrm>
            <a:off x="11031870" y="2929482"/>
            <a:ext cx="192756" cy="192756"/>
          </a:xfrm>
          <a:prstGeom prst="ellipse">
            <a:avLst/>
          </a:prstGeom>
          <a:solidFill>
            <a:srgbClr val="1B1F27"/>
          </a:solidFill>
          <a:ln/>
        </p:spPr>
      </p:sp>
      <p:sp>
        <p:nvSpPr>
          <p:cNvPr id="12" name="e38_8"/>
          <p:cNvSpPr/>
          <p:nvPr/>
        </p:nvSpPr>
        <p:spPr>
          <a:xfrm>
            <a:off x="11031870" y="3188147"/>
            <a:ext cx="192756" cy="192756"/>
          </a:xfrm>
          <a:prstGeom prst="ellipse">
            <a:avLst/>
          </a:prstGeom>
          <a:solidFill>
            <a:srgbClr val="1B1F27"/>
          </a:solidFill>
          <a:ln/>
        </p:spPr>
      </p:sp>
      <p:sp>
        <p:nvSpPr>
          <p:cNvPr id="13" name="e38_9"/>
          <p:cNvSpPr/>
          <p:nvPr/>
        </p:nvSpPr>
        <p:spPr>
          <a:xfrm>
            <a:off x="11031870" y="3446813"/>
            <a:ext cx="192756" cy="192756"/>
          </a:xfrm>
          <a:prstGeom prst="ellipse">
            <a:avLst/>
          </a:prstGeom>
          <a:solidFill>
            <a:srgbClr val="1B1F27"/>
          </a:solidFill>
          <a:ln/>
        </p:spPr>
      </p:sp>
      <p:sp>
        <p:nvSpPr>
          <p:cNvPr id="14" name="e38_10"/>
          <p:cNvSpPr/>
          <p:nvPr/>
        </p:nvSpPr>
        <p:spPr>
          <a:xfrm>
            <a:off x="11031870" y="3188147"/>
            <a:ext cx="192756" cy="192756"/>
          </a:xfrm>
          <a:prstGeom prst="ellipse">
            <a:avLst/>
          </a:prstGeom>
          <a:solidFill>
            <a:srgbClr val="FFB400"/>
          </a:solidFill>
          <a:ln/>
        </p:spPr>
      </p:sp>
      <p:pic>
        <p:nvPicPr>
          <p:cNvPr id="15" name="e38_11" descr="/tmp/claude-0/-home-user-Fahrlehrer-Kompass-/11378f77-94a8-55e9-a697-0f3efd4c20b9/scratchpad/bau/art/car_du.png">    </p:cNvPr>
          <p:cNvPicPr>
            <a:picLocks noChangeAspect="1"/>
          </p:cNvPicPr>
          <p:nvPr/>
        </p:nvPicPr>
        <p:blipFill>
          <a:blip r:embed="rId2"/>
          <a:stretch>
            <a:fillRect/>
          </a:stretch>
        </p:blipFill>
        <p:spPr>
          <a:xfrm rot="5400000">
            <a:off x="2679192" y="3712464"/>
            <a:ext cx="493776" cy="987552"/>
          </a:xfrm>
          <a:prstGeom prst="rect">
            <a:avLst/>
          </a:prstGeom>
        </p:spPr>
      </p:pic>
      <p:sp>
        <p:nvSpPr>
          <p:cNvPr id="16" name="e38_12"/>
          <p:cNvSpPr txBox="1"/>
          <p:nvPr/>
        </p:nvSpPr>
        <p:spPr>
          <a:xfrm>
            <a:off x="73152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Gelb bei 50 km/h: meist 3 Sekunden</a:t>
            </a:r>
            <a:endParaRPr lang="en-US" sz="1600" dirty="0"/>
          </a:p>
        </p:txBody>
      </p:sp>
      <p:sp>
        <p:nvSpPr>
          <p:cNvPr id="17" name="e38_13"/>
          <p:cNvSpPr txBox="1"/>
          <p:nvPr/>
        </p:nvSpPr>
        <p:spPr>
          <a:xfrm>
            <a:off x="434340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3 s × 14 m/s ≈ 42 m</a:t>
            </a:r>
            <a:endParaRPr lang="en-US" sz="1600" dirty="0"/>
          </a:p>
        </p:txBody>
      </p:sp>
      <p:sp>
        <p:nvSpPr>
          <p:cNvPr id="18" name="e38_14"/>
          <p:cNvSpPr txBox="1"/>
          <p:nvPr/>
        </p:nvSpPr>
        <p:spPr>
          <a:xfrm>
            <a:off x="7955280" y="2331720"/>
            <a:ext cx="3429000" cy="548640"/>
          </a:xfrm>
          <a:prstGeom prst="roundRect">
            <a:avLst>
              <a:gd name="adj" fmla="val 41667"/>
            </a:avLst>
          </a:prstGeom>
          <a:solidFill>
            <a:srgbClr val="1A202B"/>
          </a:solidFill>
          <a:ln w="12700">
            <a:solidFill>
              <a:srgbClr val="3A4455"/>
            </a:solidFill>
          </a:ln>
        </p:spPr>
        <p:txBody>
          <a:bodyPr wrap="square" lIns="0" tIns="0" rIns="0" bIns="0" rtlCol="0" anchor="ctr"/>
          <a:lstStyle/>
          <a:p>
            <a:pPr algn="ctr" indent="0" marL="0">
              <a:buNone/>
            </a:pPr>
            <a:r>
              <a:rPr lang="en-US" sz="1600" b="1" dirty="0">
                <a:solidFill>
                  <a:srgbClr val="F5F2EC"/>
                </a:solidFill>
                <a:latin typeface="Calibri" pitchFamily="34" charset="0"/>
                <a:ea typeface="Calibri" pitchFamily="34" charset="-122"/>
                <a:cs typeface="Calibri" pitchFamily="34" charset="-120"/>
              </a:rPr>
              <a:t>Anhalteweg: 15 m + 25 m = 40 m</a:t>
            </a:r>
            <a:endParaRPr lang="en-US" sz="1600" dirty="0"/>
          </a:p>
        </p:txBody>
      </p:sp>
      <p:sp>
        <p:nvSpPr>
          <p:cNvPr id="19" name="e38_15"/>
          <p:cNvSpPr/>
          <p:nvPr/>
        </p:nvSpPr>
        <p:spPr>
          <a:xfrm>
            <a:off x="731520" y="3730752"/>
            <a:ext cx="2743200" cy="950976"/>
          </a:xfrm>
          <a:prstGeom prst="rect">
            <a:avLst/>
          </a:prstGeom>
          <a:solidFill>
            <a:srgbClr val="2EE071">
              <a:alpha val="28000"/>
            </a:srgbClr>
          </a:solidFill>
          <a:ln/>
        </p:spPr>
      </p:sp>
      <p:sp>
        <p:nvSpPr>
          <p:cNvPr id="20" name="e38_16"/>
          <p:cNvSpPr txBox="1"/>
          <p:nvPr/>
        </p:nvSpPr>
        <p:spPr>
          <a:xfrm>
            <a:off x="731520" y="4800600"/>
            <a:ext cx="2743200" cy="457200"/>
          </a:xfrm>
          <a:prstGeom prst="rect">
            <a:avLst/>
          </a:prstGeom>
          <a:noFill/>
          <a:ln/>
        </p:spPr>
        <p:txBody>
          <a:bodyPr wrap="square" lIns="0" tIns="0" rIns="0" bIns="0" rtlCol="0" anchor="t"/>
          <a:lstStyle/>
          <a:p>
            <a:pPr algn="ctr" indent="0" marL="0">
              <a:buNone/>
            </a:pPr>
            <a:r>
              <a:rPr lang="en-US" sz="2200" b="1" dirty="0">
                <a:solidFill>
                  <a:srgbClr val="2EE071"/>
                </a:solidFill>
                <a:latin typeface="Calibri" pitchFamily="34" charset="0"/>
                <a:ea typeface="Calibri" pitchFamily="34" charset="-122"/>
                <a:cs typeface="Calibri" pitchFamily="34" charset="-120"/>
              </a:rPr>
              <a:t>Anhalten!</a:t>
            </a:r>
            <a:endParaRPr lang="en-US" sz="2200" dirty="0"/>
          </a:p>
        </p:txBody>
      </p:sp>
      <p:sp>
        <p:nvSpPr>
          <p:cNvPr id="21" name="e38_17"/>
          <p:cNvSpPr txBox="1"/>
          <p:nvPr/>
        </p:nvSpPr>
        <p:spPr>
          <a:xfrm>
            <a:off x="731520" y="5212080"/>
            <a:ext cx="2743200" cy="4572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mehr als ca. 40 m weg</a:t>
            </a:r>
            <a:endParaRPr lang="en-US" sz="1600" dirty="0"/>
          </a:p>
        </p:txBody>
      </p:sp>
      <p:sp>
        <p:nvSpPr>
          <p:cNvPr id="22" name="e38_18"/>
          <p:cNvSpPr/>
          <p:nvPr/>
        </p:nvSpPr>
        <p:spPr>
          <a:xfrm>
            <a:off x="3474720" y="3730752"/>
            <a:ext cx="7315200" cy="950976"/>
          </a:xfrm>
          <a:prstGeom prst="rect">
            <a:avLst/>
          </a:prstGeom>
          <a:solidFill>
            <a:srgbClr val="FF4D4D">
              <a:alpha val="28000"/>
            </a:srgbClr>
          </a:solidFill>
          <a:ln/>
        </p:spPr>
      </p:sp>
      <p:sp>
        <p:nvSpPr>
          <p:cNvPr id="23" name="e38_19"/>
          <p:cNvSpPr txBox="1"/>
          <p:nvPr/>
        </p:nvSpPr>
        <p:spPr>
          <a:xfrm>
            <a:off x="3474720" y="4800600"/>
            <a:ext cx="7315200" cy="457200"/>
          </a:xfrm>
          <a:prstGeom prst="rect">
            <a:avLst/>
          </a:prstGeom>
          <a:noFill/>
          <a:ln/>
        </p:spPr>
        <p:txBody>
          <a:bodyPr wrap="square" lIns="0" tIns="0" rIns="0" bIns="0" rtlCol="0" anchor="t"/>
          <a:lstStyle/>
          <a:p>
            <a:pPr algn="ctr" indent="0" marL="0">
              <a:buNone/>
            </a:pPr>
            <a:r>
              <a:rPr lang="en-US" sz="2200" b="1" dirty="0">
                <a:solidFill>
                  <a:srgbClr val="FF4D4D"/>
                </a:solidFill>
                <a:latin typeface="Calibri" pitchFamily="34" charset="0"/>
                <a:ea typeface="Calibri" pitchFamily="34" charset="-122"/>
                <a:cs typeface="Calibri" pitchFamily="34" charset="-120"/>
              </a:rPr>
              <a:t>Zügig weiter</a:t>
            </a:r>
            <a:endParaRPr lang="en-US" sz="2200" dirty="0"/>
          </a:p>
        </p:txBody>
      </p:sp>
      <p:sp>
        <p:nvSpPr>
          <p:cNvPr id="24" name="e38_20"/>
          <p:cNvSpPr txBox="1"/>
          <p:nvPr/>
        </p:nvSpPr>
        <p:spPr>
          <a:xfrm>
            <a:off x="3474720" y="5212080"/>
            <a:ext cx="7315200" cy="45720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näher als ca. 40 m: kein sicherer Halt mehr</a:t>
            </a:r>
            <a:endParaRPr lang="en-US" sz="1600" dirty="0"/>
          </a:p>
        </p:txBody>
      </p:sp>
      <p:sp>
        <p:nvSpPr>
          <p:cNvPr id="25" name="e38_21"/>
          <p:cNvSpPr txBox="1"/>
          <p:nvPr/>
        </p:nvSpPr>
        <p:spPr>
          <a:xfrm>
            <a:off x="10332720" y="3337560"/>
            <a:ext cx="914400" cy="320040"/>
          </a:xfrm>
          <a:prstGeom prst="rect">
            <a:avLst/>
          </a:prstGeom>
          <a:noFill/>
          <a:ln/>
        </p:spPr>
        <p:txBody>
          <a:bodyPr wrap="square" lIns="0" tIns="0" rIns="0" bIns="0" rtlCol="0" anchor="t"/>
          <a:lstStyle/>
          <a:p>
            <a:pPr algn="ctr" indent="0" marL="0">
              <a:buNone/>
            </a:pPr>
            <a:r>
              <a:rPr lang="en-US" sz="1500" b="1" dirty="0">
                <a:solidFill>
                  <a:srgbClr val="A7B0BD"/>
                </a:solidFill>
                <a:latin typeface="Calibri" pitchFamily="34" charset="0"/>
                <a:ea typeface="Calibri" pitchFamily="34" charset="-122"/>
                <a:cs typeface="Calibri" pitchFamily="34" charset="-120"/>
              </a:rPr>
              <a:t>0 m</a:t>
            </a:r>
            <a:endParaRPr lang="en-US" sz="1500" dirty="0"/>
          </a:p>
        </p:txBody>
      </p:sp>
      <p:sp>
        <p:nvSpPr>
          <p:cNvPr id="26" name="e38_22"/>
          <p:cNvSpPr txBox="1"/>
          <p:nvPr/>
        </p:nvSpPr>
        <p:spPr>
          <a:xfrm>
            <a:off x="3017520" y="3337560"/>
            <a:ext cx="914400" cy="320040"/>
          </a:xfrm>
          <a:prstGeom prst="rect">
            <a:avLst/>
          </a:prstGeom>
          <a:noFill/>
          <a:ln/>
        </p:spPr>
        <p:txBody>
          <a:bodyPr wrap="square" lIns="0" tIns="0" rIns="0" bIns="0" rtlCol="0" anchor="t"/>
          <a:lstStyle/>
          <a:p>
            <a:pPr algn="ctr" indent="0" marL="0">
              <a:buNone/>
            </a:pPr>
            <a:r>
              <a:rPr lang="en-US" sz="1500" b="1" dirty="0">
                <a:solidFill>
                  <a:srgbClr val="A7B0BD"/>
                </a:solidFill>
                <a:latin typeface="Calibri" pitchFamily="34" charset="0"/>
                <a:ea typeface="Calibri" pitchFamily="34" charset="-122"/>
                <a:cs typeface="Calibri" pitchFamily="34" charset="-120"/>
              </a:rPr>
              <a:t>40 m</a:t>
            </a:r>
            <a:endParaRPr lang="en-US" sz="1500" dirty="0"/>
          </a:p>
        </p:txBody>
      </p:sp>
      <p:sp>
        <p:nvSpPr>
          <p:cNvPr id="27" name="e38_23"/>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Gelbzeiten nach RiLSA (50 km/h: 3 s) · Faustformeln: Reaktionsweg (v/10)·3, Bremsweg (v/10)²</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grpId="0" nodeType="withEffect">
                                  <p:stCondLst>
                                    <p:cond delay="385"/>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50"/>
                                        <p:tgtEl>
                                          <p:spTgt spid="13"/>
                                        </p:tgtEl>
                                      </p:cBhvr>
                                    </p:animEffect>
                                  </p:childTnLst>
                                </p:cTn>
                              </p:par>
                              <p:par>
                                <p:cTn id="36" presetID="10" presetClass="entr" presetSubtype="0" fill="hold" grpId="0" nodeType="withEffect">
                                  <p:stCondLst>
                                    <p:cond delay="495"/>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p:tgtEl>
                                          <p:spTgt spid="14"/>
                                        </p:tgtEl>
                                      </p:cBhvr>
                                    </p:animEffect>
                                  </p:childTnLst>
                                </p:cTn>
                              </p:par>
                              <p:par>
                                <p:cTn id="39" presetID="10" presetClass="entr" presetSubtype="0" fill="hold" nodeType="withEffect">
                                  <p:stCondLst>
                                    <p:cond delay="55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50"/>
                                        <p:tgtEl>
                                          <p:spTgt spid="15"/>
                                        </p:tgtEl>
                                      </p:cBhvr>
                                    </p:animEffect>
                                  </p:childTnLst>
                                </p:cTn>
                              </p:par>
                              <p:par>
                                <p:cTn id="42" presetID="42" presetClass="entr" presetSubtype="0" fill="hold" grpId="0" nodeType="withEffect">
                                  <p:stCondLst>
                                    <p:cond delay="605"/>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650"/>
                                        <p:tgtEl>
                                          <p:spTgt spid="25"/>
                                        </p:tgtEl>
                                      </p:cBhvr>
                                    </p:animEffect>
                                    <p:anim calcmode="lin" valueType="num">
                                      <p:cBhvr additive="base">
                                        <p:cTn id="45" dur="650" fill="hold" decel="100000"/>
                                        <p:tgtEl>
                                          <p:spTgt spid="25"/>
                                        </p:tgtEl>
                                        <p:attrNameLst>
                                          <p:attrName>ppt_x</p:attrName>
                                        </p:attrNameLst>
                                      </p:cBhvr>
                                      <p:tavLst>
                                        <p:tav tm="0">
                                          <p:val>
                                            <p:strVal val="#ppt_x"/>
                                          </p:val>
                                        </p:tav>
                                        <p:tav tm="100000">
                                          <p:val>
                                            <p:strVal val="#ppt_x"/>
                                          </p:val>
                                        </p:tav>
                                      </p:tavLst>
                                    </p:anim>
                                    <p:anim calcmode="lin" valueType="num">
                                      <p:cBhvr additive="base">
                                        <p:cTn id="46" dur="650" fill="hold" decel="100000"/>
                                        <p:tgtEl>
                                          <p:spTgt spid="25"/>
                                        </p:tgtEl>
                                        <p:attrNameLst>
                                          <p:attrName>ppt_y</p:attrName>
                                        </p:attrNameLst>
                                      </p:cBhvr>
                                      <p:tavLst>
                                        <p:tav tm="0">
                                          <p:val>
                                            <p:strVal val="#ppt_y+.05"/>
                                          </p:val>
                                        </p:tav>
                                        <p:tav tm="100000">
                                          <p:val>
                                            <p:strVal val="#ppt_y"/>
                                          </p:val>
                                        </p:tav>
                                      </p:tavLst>
                                    </p:anim>
                                  </p:childTnLst>
                                </p:cTn>
                              </p:par>
                              <p:par>
                                <p:cTn id="47" presetID="42" presetClass="entr" presetSubtype="0" fill="hold" grpId="0" nodeType="withEffect">
                                  <p:stCondLst>
                                    <p:cond delay="65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650"/>
                                        <p:tgtEl>
                                          <p:spTgt spid="26"/>
                                        </p:tgtEl>
                                      </p:cBhvr>
                                    </p:animEffect>
                                    <p:anim calcmode="lin" valueType="num">
                                      <p:cBhvr additive="base">
                                        <p:cTn id="50" dur="650" fill="hold" decel="100000"/>
                                        <p:tgtEl>
                                          <p:spTgt spid="26"/>
                                        </p:tgtEl>
                                        <p:attrNameLst>
                                          <p:attrName>ppt_x</p:attrName>
                                        </p:attrNameLst>
                                      </p:cBhvr>
                                      <p:tavLst>
                                        <p:tav tm="0">
                                          <p:val>
                                            <p:strVal val="#ppt_x"/>
                                          </p:val>
                                        </p:tav>
                                        <p:tav tm="100000">
                                          <p:val>
                                            <p:strVal val="#ppt_x"/>
                                          </p:val>
                                        </p:tav>
                                      </p:tavLst>
                                    </p:anim>
                                    <p:anim calcmode="lin" valueType="num">
                                      <p:cBhvr additive="base">
                                        <p:cTn id="51" dur="650" fill="hold" decel="100000"/>
                                        <p:tgtEl>
                                          <p:spTgt spid="26"/>
                                        </p:tgtEl>
                                        <p:attrNameLst>
                                          <p:attrName>ppt_y</p:attrName>
                                        </p:attrNameLst>
                                      </p:cBhvr>
                                      <p:tavLst>
                                        <p:tav tm="0">
                                          <p:val>
                                            <p:strVal val="#ppt_y+.05"/>
                                          </p:val>
                                        </p:tav>
                                        <p:tav tm="100000">
                                          <p:val>
                                            <p:strVal val="#ppt_y"/>
                                          </p:val>
                                        </p:tav>
                                      </p:tavLst>
                                    </p:anim>
                                  </p:childTnLst>
                                </p:cTn>
                              </p:par>
                              <p:par>
                                <p:cTn id="52" presetID="42" presetClass="entr" presetSubtype="0" fill="hold" grpId="0" nodeType="withEffect">
                                  <p:stCondLst>
                                    <p:cond delay="65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650"/>
                                        <p:tgtEl>
                                          <p:spTgt spid="27"/>
                                        </p:tgtEl>
                                      </p:cBhvr>
                                    </p:animEffect>
                                    <p:anim calcmode="lin" valueType="num">
                                      <p:cBhvr additive="base">
                                        <p:cTn id="55" dur="650" fill="hold" decel="100000"/>
                                        <p:tgtEl>
                                          <p:spTgt spid="27"/>
                                        </p:tgtEl>
                                        <p:attrNameLst>
                                          <p:attrName>ppt_x</p:attrName>
                                        </p:attrNameLst>
                                      </p:cBhvr>
                                      <p:tavLst>
                                        <p:tav tm="0">
                                          <p:val>
                                            <p:strVal val="#ppt_x"/>
                                          </p:val>
                                        </p:tav>
                                        <p:tav tm="100000">
                                          <p:val>
                                            <p:strVal val="#ppt_x"/>
                                          </p:val>
                                        </p:tav>
                                      </p:tavLst>
                                    </p:anim>
                                    <p:anim calcmode="lin" valueType="num">
                                      <p:cBhvr additive="base">
                                        <p:cTn id="56" dur="650" fill="hold" decel="100000"/>
                                        <p:tgtEl>
                                          <p:spTgt spid="27"/>
                                        </p:tgtEl>
                                        <p:attrNameLst>
                                          <p:attrName>ppt_y</p:attrName>
                                        </p:attrNameLst>
                                      </p:cBhvr>
                                      <p:tavLst>
                                        <p:tav tm="0">
                                          <p:val>
                                            <p:strVal val="#ppt_y+.05"/>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500"/>
                                        <p:tgtEl>
                                          <p:spTgt spid="16"/>
                                        </p:tgtEl>
                                      </p:cBhvr>
                                    </p:animEffect>
                                    <p:anim calcmode="lin" valueType="num">
                                      <p:cBhvr additive="base">
                                        <p:cTn id="62"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3" dur="500" fill="hold" decel="100000"/>
                                        <p:tgtEl>
                                          <p:spTgt spid="16"/>
                                        </p:tgtEl>
                                        <p:attrNameLst>
                                          <p:attrName>ppt_y</p:attrName>
                                        </p:attrNameLst>
                                      </p:cBhvr>
                                      <p:tavLst>
                                        <p:tav tm="0">
                                          <p:val>
                                            <p:strVal val="#ppt_y+.1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7"/>
                                        </p:tgtEl>
                                        <p:attrNameLst>
                                          <p:attrName>style.visibility</p:attrName>
                                        </p:attrNameLst>
                                      </p:cBhvr>
                                      <p:to>
                                        <p:strVal val="visible"/>
                                      </p:to>
                                    </p:set>
                                    <p:animEffect transition="in" filter="fade">
                                      <p:cBhvr>
                                        <p:cTn id="68" dur="500"/>
                                        <p:tgtEl>
                                          <p:spTgt spid="17"/>
                                        </p:tgtEl>
                                      </p:cBhvr>
                                    </p:animEffect>
                                    <p:anim calcmode="lin" valueType="num">
                                      <p:cBhvr additive="base">
                                        <p:cTn id="69"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70" dur="500" fill="hold" decel="100000"/>
                                        <p:tgtEl>
                                          <p:spTgt spid="17"/>
                                        </p:tgtEl>
                                        <p:attrNameLst>
                                          <p:attrName>ppt_y</p:attrName>
                                        </p:attrNameLst>
                                      </p:cBhvr>
                                      <p:tavLst>
                                        <p:tav tm="0">
                                          <p:val>
                                            <p:strVal val="#ppt_y+.18"/>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fade">
                                      <p:cBhvr>
                                        <p:cTn id="75" dur="500"/>
                                        <p:tgtEl>
                                          <p:spTgt spid="18"/>
                                        </p:tgtEl>
                                      </p:cBhvr>
                                    </p:animEffect>
                                    <p:anim calcmode="lin" valueType="num">
                                      <p:cBhvr additive="base">
                                        <p:cTn id="76"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77" dur="50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right)">
                                      <p:cBhvr>
                                        <p:cTn id="82" dur="600"/>
                                        <p:tgtEl>
                                          <p:spTgt spid="19"/>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fade">
                                      <p:cBhvr>
                                        <p:cTn id="85" dur="300"/>
                                        <p:tgtEl>
                                          <p:spTgt spid="20"/>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300"/>
                                        <p:tgtEl>
                                          <p:spTgt spid="2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ipe(left)">
                                      <p:cBhvr>
                                        <p:cTn id="93" dur="600"/>
                                        <p:tgtEl>
                                          <p:spTgt spid="2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300"/>
                                        <p:tgtEl>
                                          <p:spTgt spid="2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fade">
                                      <p:cBhvr>
                                        <p:cTn id="99"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5" grpId="0" animBg="1"/>
      <p:bldP spid="26" grpId="0" animBg="1"/>
      <p:bldP spid="27"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3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4D4D"/>
                </a:solidFill>
                <a:latin typeface="Calibri" pitchFamily="34" charset="0"/>
                <a:ea typeface="Calibri" pitchFamily="34" charset="-122"/>
                <a:cs typeface="Calibri" pitchFamily="34" charset="-120"/>
              </a:rPr>
              <a:t>ROT IST ROT</a:t>
            </a:r>
            <a:endParaRPr lang="en-US" sz="1300" dirty="0"/>
          </a:p>
        </p:txBody>
      </p:sp>
      <p:sp>
        <p:nvSpPr>
          <p:cNvPr id="6" name="e39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Die 1-Sekunde-Ampel</a:t>
            </a:r>
            <a:endParaRPr lang="en-US" sz="4600" dirty="0"/>
          </a:p>
        </p:txBody>
      </p:sp>
      <p:sp>
        <p:nvSpPr>
          <p:cNvPr id="7" name="e39_3"/>
          <p:cNvSpPr/>
          <p:nvPr/>
        </p:nvSpPr>
        <p:spPr>
          <a:xfrm>
            <a:off x="868680" y="2194560"/>
            <a:ext cx="621792" cy="1616659"/>
          </a:xfrm>
          <a:prstGeom prst="roundRect">
            <a:avLst>
              <a:gd name="adj" fmla="val 36765"/>
            </a:avLst>
          </a:prstGeom>
          <a:solidFill>
            <a:srgbClr val="07090D"/>
          </a:solidFill>
          <a:ln w="12700">
            <a:solidFill>
              <a:srgbClr val="4A5261"/>
            </a:solidFill>
            <a:prstDash val="solid"/>
          </a:ln>
        </p:spPr>
      </p:sp>
      <p:sp>
        <p:nvSpPr>
          <p:cNvPr id="8" name="e39_4"/>
          <p:cNvSpPr/>
          <p:nvPr/>
        </p:nvSpPr>
        <p:spPr>
          <a:xfrm>
            <a:off x="986820" y="2292803"/>
            <a:ext cx="385511" cy="385511"/>
          </a:xfrm>
          <a:prstGeom prst="ellipse">
            <a:avLst/>
          </a:prstGeom>
          <a:solidFill>
            <a:srgbClr val="1B1F27"/>
          </a:solidFill>
          <a:ln/>
        </p:spPr>
      </p:sp>
      <p:sp>
        <p:nvSpPr>
          <p:cNvPr id="9" name="e39_5"/>
          <p:cNvSpPr/>
          <p:nvPr/>
        </p:nvSpPr>
        <p:spPr>
          <a:xfrm>
            <a:off x="986820" y="2810134"/>
            <a:ext cx="385511" cy="385511"/>
          </a:xfrm>
          <a:prstGeom prst="ellipse">
            <a:avLst/>
          </a:prstGeom>
          <a:solidFill>
            <a:srgbClr val="1B1F27"/>
          </a:solidFill>
          <a:ln/>
        </p:spPr>
      </p:sp>
      <p:sp>
        <p:nvSpPr>
          <p:cNvPr id="10" name="e39_6"/>
          <p:cNvSpPr/>
          <p:nvPr/>
        </p:nvSpPr>
        <p:spPr>
          <a:xfrm>
            <a:off x="986820" y="3327465"/>
            <a:ext cx="385511" cy="385511"/>
          </a:xfrm>
          <a:prstGeom prst="ellipse">
            <a:avLst/>
          </a:prstGeom>
          <a:solidFill>
            <a:srgbClr val="1B1F27"/>
          </a:solidFill>
          <a:ln/>
        </p:spPr>
      </p:sp>
      <p:sp>
        <p:nvSpPr>
          <p:cNvPr id="11" name="e39_7"/>
          <p:cNvSpPr/>
          <p:nvPr/>
        </p:nvSpPr>
        <p:spPr>
          <a:xfrm>
            <a:off x="986820" y="2292803"/>
            <a:ext cx="385511" cy="385511"/>
          </a:xfrm>
          <a:prstGeom prst="ellipse">
            <a:avLst/>
          </a:prstGeom>
          <a:solidFill>
            <a:srgbClr val="FF3B30"/>
          </a:solidFill>
          <a:ln/>
        </p:spPr>
      </p:sp>
      <p:sp>
        <p:nvSpPr>
          <p:cNvPr id="12" name="e39_8"/>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0,0 s</a:t>
            </a:r>
            <a:endParaRPr lang="en-US" sz="11000" dirty="0"/>
          </a:p>
        </p:txBody>
      </p:sp>
      <p:sp>
        <p:nvSpPr>
          <p:cNvPr id="13" name="e39_9"/>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0,1 s</a:t>
            </a:r>
            <a:endParaRPr lang="en-US" sz="11000" dirty="0"/>
          </a:p>
        </p:txBody>
      </p:sp>
      <p:sp>
        <p:nvSpPr>
          <p:cNvPr id="14" name="e39_10"/>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0,2 s</a:t>
            </a:r>
            <a:endParaRPr lang="en-US" sz="11000" dirty="0"/>
          </a:p>
        </p:txBody>
      </p:sp>
      <p:sp>
        <p:nvSpPr>
          <p:cNvPr id="15" name="e39_11"/>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0,3 s</a:t>
            </a:r>
            <a:endParaRPr lang="en-US" sz="11000" dirty="0"/>
          </a:p>
        </p:txBody>
      </p:sp>
      <p:sp>
        <p:nvSpPr>
          <p:cNvPr id="16" name="e39_12"/>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0,4 s</a:t>
            </a:r>
            <a:endParaRPr lang="en-US" sz="11000" dirty="0"/>
          </a:p>
        </p:txBody>
      </p:sp>
      <p:sp>
        <p:nvSpPr>
          <p:cNvPr id="17" name="e39_13"/>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0,5 s</a:t>
            </a:r>
            <a:endParaRPr lang="en-US" sz="11000" dirty="0"/>
          </a:p>
        </p:txBody>
      </p:sp>
      <p:sp>
        <p:nvSpPr>
          <p:cNvPr id="18" name="e39_14"/>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0,6 s</a:t>
            </a:r>
            <a:endParaRPr lang="en-US" sz="11000" dirty="0"/>
          </a:p>
        </p:txBody>
      </p:sp>
      <p:sp>
        <p:nvSpPr>
          <p:cNvPr id="19" name="e39_15"/>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0,7 s</a:t>
            </a:r>
            <a:endParaRPr lang="en-US" sz="11000" dirty="0"/>
          </a:p>
        </p:txBody>
      </p:sp>
      <p:sp>
        <p:nvSpPr>
          <p:cNvPr id="20" name="e39_16"/>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0,8 s</a:t>
            </a:r>
            <a:endParaRPr lang="en-US" sz="11000" dirty="0"/>
          </a:p>
        </p:txBody>
      </p:sp>
      <p:sp>
        <p:nvSpPr>
          <p:cNvPr id="21" name="e39_17"/>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5F2EC"/>
                </a:solidFill>
                <a:latin typeface="Cambria" pitchFamily="34" charset="0"/>
                <a:ea typeface="Cambria" pitchFamily="34" charset="-122"/>
                <a:cs typeface="Cambria" pitchFamily="34" charset="-120"/>
              </a:rPr>
              <a:t>0,9 s</a:t>
            </a:r>
            <a:endParaRPr lang="en-US" sz="11000" dirty="0"/>
          </a:p>
        </p:txBody>
      </p:sp>
      <p:sp>
        <p:nvSpPr>
          <p:cNvPr id="22" name="e39_18"/>
          <p:cNvSpPr txBox="1"/>
          <p:nvPr/>
        </p:nvSpPr>
        <p:spPr>
          <a:xfrm>
            <a:off x="2103120" y="2148840"/>
            <a:ext cx="4754880" cy="1737360"/>
          </a:xfrm>
          <a:prstGeom prst="rect">
            <a:avLst/>
          </a:prstGeom>
          <a:noFill/>
          <a:ln/>
        </p:spPr>
        <p:txBody>
          <a:bodyPr wrap="square" lIns="0" tIns="0" rIns="0" bIns="0" rtlCol="0" anchor="ctr"/>
          <a:lstStyle/>
          <a:p>
            <a:pPr algn="l" indent="0" marL="0">
              <a:buNone/>
            </a:pPr>
            <a:r>
              <a:rPr lang="en-US" sz="11000" b="1" dirty="0">
                <a:solidFill>
                  <a:srgbClr val="FF4D4D"/>
                </a:solidFill>
                <a:effectLst>
                  <a:glow rad="228600">
                    <a:srgbClr val="FF4D4D">
                      <a:alpha val="50000"/>
                    </a:srgbClr>
                  </a:glow>
                </a:effectLst>
                <a:latin typeface="Cambria" pitchFamily="34" charset="0"/>
                <a:ea typeface="Cambria" pitchFamily="34" charset="-122"/>
                <a:cs typeface="Cambria" pitchFamily="34" charset="-120"/>
              </a:rPr>
              <a:t>1,0 s</a:t>
            </a:r>
            <a:endParaRPr lang="en-US" sz="11000" dirty="0"/>
          </a:p>
        </p:txBody>
      </p:sp>
      <p:sp>
        <p:nvSpPr>
          <p:cNvPr id="23" name="e39_19"/>
          <p:cNvSpPr txBox="1"/>
          <p:nvPr/>
        </p:nvSpPr>
        <p:spPr>
          <a:xfrm rot="-180000">
            <a:off x="7223760" y="2743200"/>
            <a:ext cx="4023360" cy="566928"/>
          </a:xfrm>
          <a:prstGeom prst="roundRect">
            <a:avLst>
              <a:gd name="adj" fmla="val 32258"/>
            </a:avLst>
          </a:prstGeom>
          <a:solidFill>
            <a:srgbClr val="FF4D4D"/>
          </a:solidFill>
          <a:ln/>
        </p:spPr>
        <p:txBody>
          <a:bodyPr wrap="square" lIns="0" tIns="0" rIns="0" bIns="0" rtlCol="0" anchor="ctr"/>
          <a:lstStyle/>
          <a:p>
            <a:pPr algn="ctr" indent="0" marL="0">
              <a:buNone/>
            </a:pPr>
            <a:r>
              <a:rPr lang="en-US" sz="2200" b="1" spc="100" kern="0" dirty="0">
                <a:solidFill>
                  <a:srgbClr val="FFFFFF"/>
                </a:solidFill>
                <a:effectLst>
                  <a:glow rad="177800">
                    <a:srgbClr val="FF4D4D">
                      <a:alpha val="45000"/>
                    </a:srgbClr>
                  </a:glow>
                </a:effectLst>
                <a:latin typeface="Calibri" pitchFamily="34" charset="0"/>
                <a:ea typeface="Calibri" pitchFamily="34" charset="-122"/>
                <a:cs typeface="Calibri" pitchFamily="34" charset="-120"/>
              </a:rPr>
              <a:t>Ab jetzt: qualifiziert</a:t>
            </a:r>
            <a:endParaRPr lang="en-US" sz="2200" dirty="0"/>
          </a:p>
        </p:txBody>
      </p:sp>
      <p:sp>
        <p:nvSpPr>
          <p:cNvPr id="24" name="e39_20"/>
          <p:cNvSpPr/>
          <p:nvPr/>
        </p:nvSpPr>
        <p:spPr>
          <a:xfrm>
            <a:off x="731520" y="4160520"/>
            <a:ext cx="5212080" cy="1463040"/>
          </a:xfrm>
          <a:prstGeom prst="roundRect">
            <a:avLst>
              <a:gd name="adj" fmla="val 8750"/>
            </a:avLst>
          </a:prstGeom>
          <a:solidFill>
            <a:srgbClr val="12161E"/>
          </a:solidFill>
          <a:ln w="12700">
            <a:solidFill>
              <a:srgbClr val="3A2A2A"/>
            </a:solidFill>
            <a:prstDash val="solid"/>
          </a:ln>
        </p:spPr>
      </p:sp>
      <p:sp>
        <p:nvSpPr>
          <p:cNvPr id="25" name="e39_21"/>
          <p:cNvSpPr txBox="1"/>
          <p:nvPr/>
        </p:nvSpPr>
        <p:spPr>
          <a:xfrm>
            <a:off x="1005840" y="4279392"/>
            <a:ext cx="466344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Unter 1 Sekunde</a:t>
            </a:r>
            <a:endParaRPr lang="en-US" sz="1700" dirty="0"/>
          </a:p>
        </p:txBody>
      </p:sp>
      <p:sp>
        <p:nvSpPr>
          <p:cNvPr id="26" name="e39_22"/>
          <p:cNvSpPr txBox="1"/>
          <p:nvPr/>
        </p:nvSpPr>
        <p:spPr>
          <a:xfrm>
            <a:off x="1005840" y="4617720"/>
            <a:ext cx="1828800" cy="822960"/>
          </a:xfrm>
          <a:prstGeom prst="rect">
            <a:avLst/>
          </a:prstGeom>
          <a:noFill/>
          <a:ln/>
        </p:spPr>
        <p:txBody>
          <a:bodyPr wrap="square" lIns="0" tIns="0" rIns="0" bIns="0" rtlCol="0" anchor="ctr"/>
          <a:lstStyle/>
          <a:p>
            <a:pPr algn="l" indent="0" marL="0">
              <a:buNone/>
            </a:pPr>
            <a:r>
              <a:rPr lang="en-US" sz="4400" b="1" dirty="0">
                <a:solidFill>
                  <a:srgbClr val="FF4D4D"/>
                </a:solidFill>
                <a:latin typeface="Cambria" pitchFamily="34" charset="0"/>
                <a:ea typeface="Cambria" pitchFamily="34" charset="-122"/>
                <a:cs typeface="Cambria" pitchFamily="34" charset="-120"/>
              </a:rPr>
              <a:t>90 €</a:t>
            </a:r>
            <a:endParaRPr lang="en-US" sz="4400" dirty="0"/>
          </a:p>
        </p:txBody>
      </p:sp>
      <p:sp>
        <p:nvSpPr>
          <p:cNvPr id="27" name="e39_23"/>
          <p:cNvSpPr txBox="1"/>
          <p:nvPr/>
        </p:nvSpPr>
        <p:spPr>
          <a:xfrm>
            <a:off x="2834640" y="4617720"/>
            <a:ext cx="3017520" cy="822960"/>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1 Punkt</a:t>
            </a:r>
            <a:endParaRPr lang="en-US" sz="1900" dirty="0"/>
          </a:p>
        </p:txBody>
      </p:sp>
      <p:sp>
        <p:nvSpPr>
          <p:cNvPr id="28" name="e39_24"/>
          <p:cNvSpPr/>
          <p:nvPr/>
        </p:nvSpPr>
        <p:spPr>
          <a:xfrm>
            <a:off x="6217920" y="4160520"/>
            <a:ext cx="5212080" cy="1463040"/>
          </a:xfrm>
          <a:prstGeom prst="roundRect">
            <a:avLst>
              <a:gd name="adj" fmla="val 8750"/>
            </a:avLst>
          </a:prstGeom>
          <a:solidFill>
            <a:srgbClr val="12161E"/>
          </a:solidFill>
          <a:ln w="25400">
            <a:solidFill>
              <a:srgbClr val="FF4D4D"/>
            </a:solidFill>
            <a:prstDash val="solid"/>
          </a:ln>
        </p:spPr>
      </p:sp>
      <p:sp>
        <p:nvSpPr>
          <p:cNvPr id="29" name="e39_25"/>
          <p:cNvSpPr txBox="1"/>
          <p:nvPr/>
        </p:nvSpPr>
        <p:spPr>
          <a:xfrm>
            <a:off x="6492240" y="4279392"/>
            <a:ext cx="4663440" cy="365760"/>
          </a:xfrm>
          <a:prstGeom prst="rect">
            <a:avLst/>
          </a:prstGeom>
          <a:noFill/>
          <a:ln/>
        </p:spPr>
        <p:txBody>
          <a:bodyPr wrap="square" lIns="0" tIns="0" rIns="0" bIns="0" rtlCol="0" anchor="t"/>
          <a:lstStyle/>
          <a:p>
            <a:pPr algn="l" indent="0" marL="0">
              <a:buNone/>
            </a:pPr>
            <a:r>
              <a:rPr lang="en-US" sz="1700" b="1" dirty="0">
                <a:solidFill>
                  <a:srgbClr val="A7B0BD"/>
                </a:solidFill>
                <a:latin typeface="Calibri" pitchFamily="34" charset="0"/>
                <a:ea typeface="Calibri" pitchFamily="34" charset="-122"/>
                <a:cs typeface="Calibri" pitchFamily="34" charset="-120"/>
              </a:rPr>
              <a:t>Über 1 Sekunde</a:t>
            </a:r>
            <a:endParaRPr lang="en-US" sz="1700" dirty="0"/>
          </a:p>
        </p:txBody>
      </p:sp>
      <p:sp>
        <p:nvSpPr>
          <p:cNvPr id="30" name="e39_26"/>
          <p:cNvSpPr txBox="1"/>
          <p:nvPr/>
        </p:nvSpPr>
        <p:spPr>
          <a:xfrm>
            <a:off x="6492240" y="4617720"/>
            <a:ext cx="1828800" cy="822960"/>
          </a:xfrm>
          <a:prstGeom prst="rect">
            <a:avLst/>
          </a:prstGeom>
          <a:noFill/>
          <a:ln/>
        </p:spPr>
        <p:txBody>
          <a:bodyPr wrap="square" lIns="0" tIns="0" rIns="0" bIns="0" rtlCol="0" anchor="ctr"/>
          <a:lstStyle/>
          <a:p>
            <a:pPr algn="l" indent="0" marL="0">
              <a:buNone/>
            </a:pPr>
            <a:r>
              <a:rPr lang="en-US" sz="4400" b="1" dirty="0">
                <a:solidFill>
                  <a:srgbClr val="FF4D4D"/>
                </a:solidFill>
                <a:latin typeface="Cambria" pitchFamily="34" charset="0"/>
                <a:ea typeface="Cambria" pitchFamily="34" charset="-122"/>
                <a:cs typeface="Cambria" pitchFamily="34" charset="-120"/>
              </a:rPr>
              <a:t>200 €</a:t>
            </a:r>
            <a:endParaRPr lang="en-US" sz="4400" dirty="0"/>
          </a:p>
        </p:txBody>
      </p:sp>
      <p:sp>
        <p:nvSpPr>
          <p:cNvPr id="31" name="e39_27"/>
          <p:cNvSpPr txBox="1"/>
          <p:nvPr/>
        </p:nvSpPr>
        <p:spPr>
          <a:xfrm>
            <a:off x="8321040" y="4617720"/>
            <a:ext cx="3017520" cy="822960"/>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2 Punkte · 1 Monat Fahrverbot</a:t>
            </a:r>
            <a:endParaRPr lang="en-US" sz="1900" dirty="0"/>
          </a:p>
        </p:txBody>
      </p:sp>
      <p:sp>
        <p:nvSpPr>
          <p:cNvPr id="32" name="e39_28"/>
          <p:cNvSpPr txBox="1"/>
          <p:nvPr/>
        </p:nvSpPr>
        <p:spPr>
          <a:xfrm>
            <a:off x="731520" y="5760720"/>
            <a:ext cx="10698480" cy="411480"/>
          </a:xfrm>
          <a:prstGeom prst="rect">
            <a:avLst/>
          </a:prstGeom>
          <a:noFill/>
          <a:ln/>
        </p:spPr>
        <p:txBody>
          <a:bodyPr wrap="square" lIns="0" tIns="0" rIns="0" bIns="0" rtlCol="0" anchor="t"/>
          <a:lstStyle/>
          <a:p>
            <a:pPr algn="l" indent="0" marL="0">
              <a:buNone/>
            </a:pPr>
            <a:r>
              <a:rPr lang="en-US" sz="1800" b="1" dirty="0">
                <a:solidFill>
                  <a:srgbClr val="FF7A1A"/>
                </a:solidFill>
                <a:latin typeface="Calibri" pitchFamily="34" charset="0"/>
                <a:ea typeface="Calibri" pitchFamily="34" charset="-122"/>
                <a:cs typeface="Calibri" pitchFamily="34" charset="-120"/>
              </a:rPr>
              <a:t>Probezeit: </a:t>
            </a:r>
            <a:pPr algn="l" indent="0" marL="0">
              <a:buNone/>
            </a:pPr>
            <a:r>
              <a:rPr lang="en-US" sz="1800" dirty="0">
                <a:solidFill>
                  <a:srgbClr val="F5F2EC"/>
                </a:solidFill>
                <a:latin typeface="Calibri" pitchFamily="34" charset="0"/>
                <a:ea typeface="Calibri" pitchFamily="34" charset="-122"/>
                <a:cs typeface="Calibri" pitchFamily="34" charset="-120"/>
              </a:rPr>
              <a:t>jeder Rotlichtverstoß ist ein A-Verstoß → Aufbauseminar, +2 Jahre</a:t>
            </a:r>
            <a:endParaRPr lang="en-US" sz="1800" dirty="0"/>
          </a:p>
        </p:txBody>
      </p:sp>
      <p:sp>
        <p:nvSpPr>
          <p:cNvPr id="33" name="e39_29"/>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Bußgeldkatalog (BKatV), Stand 2026 · § 2a StVG</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650"/>
                                        <p:tgtEl>
                                          <p:spTgt spid="33"/>
                                        </p:tgtEl>
                                      </p:cBhvr>
                                    </p:animEffect>
                                    <p:anim calcmode="lin" valueType="num">
                                      <p:cBhvr additive="base">
                                        <p:cTn id="33" dur="650" fill="hold" decel="100000"/>
                                        <p:tgtEl>
                                          <p:spTgt spid="33"/>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33"/>
                                        </p:tgtEl>
                                        <p:attrNameLst>
                                          <p:attrName>ppt_y</p:attrName>
                                        </p:attrNameLst>
                                      </p:cBhvr>
                                      <p:tavLst>
                                        <p:tav tm="0">
                                          <p:val>
                                            <p:strVal val="#ppt_y+.05"/>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319"/>
                                  </p:stCondLst>
                                  <p:childTnLst>
                                    <p:animEffect transition="out" filter="fade">
                                      <p:cBhvr>
                                        <p:cTn id="41" dur="1"/>
                                        <p:tgtEl>
                                          <p:spTgt spid="12"/>
                                        </p:tgtEl>
                                      </p:cBhvr>
                                    </p:animEffect>
                                    <p:set>
                                      <p:cBhvr>
                                        <p:cTn id="42" dur="1" fill="hold">
                                          <p:stCondLst>
                                            <p:cond delay="0"/>
                                          </p:stCondLst>
                                        </p:cTn>
                                        <p:tgtEl>
                                          <p:spTgt spid="12"/>
                                        </p:tgtEl>
                                        <p:attrNameLst>
                                          <p:attrName>style.visibility</p:attrName>
                                        </p:attrNameLst>
                                      </p:cBhvr>
                                      <p:to>
                                        <p:strVal val="hidden"/>
                                      </p:to>
                                    </p:set>
                                  </p:childTnLst>
                                </p:cTn>
                              </p:par>
                              <p:par>
                                <p:cTn id="43" presetID="10" presetClass="exit" presetSubtype="0" fill="hold" grpId="0" nodeType="withEffect">
                                  <p:stCondLst>
                                    <p:cond delay="639"/>
                                  </p:stCondLst>
                                  <p:childTnLst>
                                    <p:animEffect transition="out" filter="fade">
                                      <p:cBhvr>
                                        <p:cTn id="44" dur="1"/>
                                        <p:tgtEl>
                                          <p:spTgt spid="13"/>
                                        </p:tgtEl>
                                      </p:cBhvr>
                                    </p:animEffect>
                                    <p:set>
                                      <p:cBhvr>
                                        <p:cTn id="45" dur="1" fill="hold">
                                          <p:stCondLst>
                                            <p:cond delay="0"/>
                                          </p:stCondLst>
                                        </p:cTn>
                                        <p:tgtEl>
                                          <p:spTgt spid="13"/>
                                        </p:tgtEl>
                                        <p:attrNameLst>
                                          <p:attrName>style.visibility</p:attrName>
                                        </p:attrNameLst>
                                      </p:cBhvr>
                                      <p:to>
                                        <p:strVal val="hidden"/>
                                      </p:to>
                                    </p:set>
                                  </p:childTnLst>
                                </p:cTn>
                              </p:par>
                              <p:par>
                                <p:cTn id="46" presetID="10" presetClass="entr" presetSubtype="0" fill="hold" grpId="1" nodeType="withEffect">
                                  <p:stCondLst>
                                    <p:cond delay="32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
                                        <p:tgtEl>
                                          <p:spTgt spid="13"/>
                                        </p:tgtEl>
                                      </p:cBhvr>
                                    </p:animEffect>
                                  </p:childTnLst>
                                </p:cTn>
                              </p:par>
                              <p:par>
                                <p:cTn id="49" presetID="10" presetClass="exit" presetSubtype="0" fill="hold" grpId="0" nodeType="withEffect">
                                  <p:stCondLst>
                                    <p:cond delay="959"/>
                                  </p:stCondLst>
                                  <p:childTnLst>
                                    <p:animEffect transition="out" filter="fade">
                                      <p:cBhvr>
                                        <p:cTn id="50" dur="1"/>
                                        <p:tgtEl>
                                          <p:spTgt spid="14"/>
                                        </p:tgtEl>
                                      </p:cBhvr>
                                    </p:animEffect>
                                    <p:set>
                                      <p:cBhvr>
                                        <p:cTn id="51" dur="1" fill="hold">
                                          <p:stCondLst>
                                            <p:cond delay="0"/>
                                          </p:stCondLst>
                                        </p:cTn>
                                        <p:tgtEl>
                                          <p:spTgt spid="14"/>
                                        </p:tgtEl>
                                        <p:attrNameLst>
                                          <p:attrName>style.visibility</p:attrName>
                                        </p:attrNameLst>
                                      </p:cBhvr>
                                      <p:to>
                                        <p:strVal val="hidden"/>
                                      </p:to>
                                    </p:set>
                                  </p:childTnLst>
                                </p:cTn>
                              </p:par>
                              <p:par>
                                <p:cTn id="52" presetID="10" presetClass="entr" presetSubtype="0" fill="hold" grpId="1" nodeType="withEffect">
                                  <p:stCondLst>
                                    <p:cond delay="640"/>
                                  </p:stCondLst>
                                  <p:childTnLst>
                                    <p:set>
                                      <p:cBhvr>
                                        <p:cTn id="53" dur="1" fill="hold">
                                          <p:stCondLst>
                                            <p:cond delay="0"/>
                                          </p:stCondLst>
                                        </p:cTn>
                                        <p:tgtEl>
                                          <p:spTgt spid="14"/>
                                        </p:tgtEl>
                                        <p:attrNameLst>
                                          <p:attrName>style.visibility</p:attrName>
                                        </p:attrNameLst>
                                      </p:cBhvr>
                                      <p:to>
                                        <p:strVal val="visible"/>
                                      </p:to>
                                    </p:set>
                                    <p:animEffect transition="in" filter="fade">
                                      <p:cBhvr>
                                        <p:cTn id="54" dur="1"/>
                                        <p:tgtEl>
                                          <p:spTgt spid="14"/>
                                        </p:tgtEl>
                                      </p:cBhvr>
                                    </p:animEffect>
                                  </p:childTnLst>
                                </p:cTn>
                              </p:par>
                              <p:par>
                                <p:cTn id="55" presetID="10" presetClass="exit" presetSubtype="0" fill="hold" grpId="0" nodeType="withEffect">
                                  <p:stCondLst>
                                    <p:cond delay="1279"/>
                                  </p:stCondLst>
                                  <p:childTnLst>
                                    <p:animEffect transition="out" filter="fade">
                                      <p:cBhvr>
                                        <p:cTn id="56" dur="1"/>
                                        <p:tgtEl>
                                          <p:spTgt spid="15"/>
                                        </p:tgtEl>
                                      </p:cBhvr>
                                    </p:animEffect>
                                    <p:set>
                                      <p:cBhvr>
                                        <p:cTn id="57" dur="1" fill="hold">
                                          <p:stCondLst>
                                            <p:cond delay="0"/>
                                          </p:stCondLst>
                                        </p:cTn>
                                        <p:tgtEl>
                                          <p:spTgt spid="15"/>
                                        </p:tgtEl>
                                        <p:attrNameLst>
                                          <p:attrName>style.visibility</p:attrName>
                                        </p:attrNameLst>
                                      </p:cBhvr>
                                      <p:to>
                                        <p:strVal val="hidden"/>
                                      </p:to>
                                    </p:set>
                                  </p:childTnLst>
                                </p:cTn>
                              </p:par>
                              <p:par>
                                <p:cTn id="58" presetID="10" presetClass="entr" presetSubtype="0" fill="hold" grpId="1" nodeType="withEffect">
                                  <p:stCondLst>
                                    <p:cond delay="96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
                                        <p:tgtEl>
                                          <p:spTgt spid="15"/>
                                        </p:tgtEl>
                                      </p:cBhvr>
                                    </p:animEffect>
                                  </p:childTnLst>
                                </p:cTn>
                              </p:par>
                              <p:par>
                                <p:cTn id="61" presetID="10" presetClass="exit" presetSubtype="0" fill="hold" grpId="0" nodeType="withEffect">
                                  <p:stCondLst>
                                    <p:cond delay="1599"/>
                                  </p:stCondLst>
                                  <p:childTnLst>
                                    <p:animEffect transition="out" filter="fade">
                                      <p:cBhvr>
                                        <p:cTn id="62" dur="1"/>
                                        <p:tgtEl>
                                          <p:spTgt spid="16"/>
                                        </p:tgtEl>
                                      </p:cBhvr>
                                    </p:animEffect>
                                    <p:set>
                                      <p:cBhvr>
                                        <p:cTn id="63" dur="1" fill="hold">
                                          <p:stCondLst>
                                            <p:cond delay="0"/>
                                          </p:stCondLst>
                                        </p:cTn>
                                        <p:tgtEl>
                                          <p:spTgt spid="16"/>
                                        </p:tgtEl>
                                        <p:attrNameLst>
                                          <p:attrName>style.visibility</p:attrName>
                                        </p:attrNameLst>
                                      </p:cBhvr>
                                      <p:to>
                                        <p:strVal val="hidden"/>
                                      </p:to>
                                    </p:set>
                                  </p:childTnLst>
                                </p:cTn>
                              </p:par>
                              <p:par>
                                <p:cTn id="64" presetID="10" presetClass="entr" presetSubtype="0" fill="hold" grpId="1" nodeType="withEffect">
                                  <p:stCondLst>
                                    <p:cond delay="128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1"/>
                                        <p:tgtEl>
                                          <p:spTgt spid="16"/>
                                        </p:tgtEl>
                                      </p:cBhvr>
                                    </p:animEffect>
                                  </p:childTnLst>
                                </p:cTn>
                              </p:par>
                              <p:par>
                                <p:cTn id="67" presetID="10" presetClass="exit" presetSubtype="0" fill="hold" grpId="0" nodeType="withEffect">
                                  <p:stCondLst>
                                    <p:cond delay="1919"/>
                                  </p:stCondLst>
                                  <p:childTnLst>
                                    <p:animEffect transition="out" filter="fade">
                                      <p:cBhvr>
                                        <p:cTn id="68" dur="1"/>
                                        <p:tgtEl>
                                          <p:spTgt spid="17"/>
                                        </p:tgtEl>
                                      </p:cBhvr>
                                    </p:animEffect>
                                    <p:set>
                                      <p:cBhvr>
                                        <p:cTn id="69" dur="1" fill="hold">
                                          <p:stCondLst>
                                            <p:cond delay="0"/>
                                          </p:stCondLst>
                                        </p:cTn>
                                        <p:tgtEl>
                                          <p:spTgt spid="17"/>
                                        </p:tgtEl>
                                        <p:attrNameLst>
                                          <p:attrName>style.visibility</p:attrName>
                                        </p:attrNameLst>
                                      </p:cBhvr>
                                      <p:to>
                                        <p:strVal val="hidden"/>
                                      </p:to>
                                    </p:set>
                                  </p:childTnLst>
                                </p:cTn>
                              </p:par>
                              <p:par>
                                <p:cTn id="70" presetID="10" presetClass="entr" presetSubtype="0" fill="hold" grpId="1" nodeType="withEffect">
                                  <p:stCondLst>
                                    <p:cond delay="160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1"/>
                                        <p:tgtEl>
                                          <p:spTgt spid="17"/>
                                        </p:tgtEl>
                                      </p:cBhvr>
                                    </p:animEffect>
                                  </p:childTnLst>
                                </p:cTn>
                              </p:par>
                              <p:par>
                                <p:cTn id="73" presetID="10" presetClass="exit" presetSubtype="0" fill="hold" grpId="0" nodeType="withEffect">
                                  <p:stCondLst>
                                    <p:cond delay="2239"/>
                                  </p:stCondLst>
                                  <p:childTnLst>
                                    <p:animEffect transition="out" filter="fade">
                                      <p:cBhvr>
                                        <p:cTn id="74" dur="1"/>
                                        <p:tgtEl>
                                          <p:spTgt spid="18"/>
                                        </p:tgtEl>
                                      </p:cBhvr>
                                    </p:animEffect>
                                    <p:set>
                                      <p:cBhvr>
                                        <p:cTn id="75" dur="1" fill="hold">
                                          <p:stCondLst>
                                            <p:cond delay="0"/>
                                          </p:stCondLst>
                                        </p:cTn>
                                        <p:tgtEl>
                                          <p:spTgt spid="18"/>
                                        </p:tgtEl>
                                        <p:attrNameLst>
                                          <p:attrName>style.visibility</p:attrName>
                                        </p:attrNameLst>
                                      </p:cBhvr>
                                      <p:to>
                                        <p:strVal val="hidden"/>
                                      </p:to>
                                    </p:set>
                                  </p:childTnLst>
                                </p:cTn>
                              </p:par>
                              <p:par>
                                <p:cTn id="76" presetID="10" presetClass="entr" presetSubtype="0" fill="hold" grpId="1" nodeType="withEffect">
                                  <p:stCondLst>
                                    <p:cond delay="19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
                                        <p:tgtEl>
                                          <p:spTgt spid="18"/>
                                        </p:tgtEl>
                                      </p:cBhvr>
                                    </p:animEffect>
                                  </p:childTnLst>
                                </p:cTn>
                              </p:par>
                              <p:par>
                                <p:cTn id="79" presetID="10" presetClass="exit" presetSubtype="0" fill="hold" grpId="0" nodeType="withEffect">
                                  <p:stCondLst>
                                    <p:cond delay="2559"/>
                                  </p:stCondLst>
                                  <p:childTnLst>
                                    <p:animEffect transition="out" filter="fade">
                                      <p:cBhvr>
                                        <p:cTn id="80" dur="1"/>
                                        <p:tgtEl>
                                          <p:spTgt spid="19"/>
                                        </p:tgtEl>
                                      </p:cBhvr>
                                    </p:animEffect>
                                    <p:set>
                                      <p:cBhvr>
                                        <p:cTn id="81" dur="1" fill="hold">
                                          <p:stCondLst>
                                            <p:cond delay="0"/>
                                          </p:stCondLst>
                                        </p:cTn>
                                        <p:tgtEl>
                                          <p:spTgt spid="19"/>
                                        </p:tgtEl>
                                        <p:attrNameLst>
                                          <p:attrName>style.visibility</p:attrName>
                                        </p:attrNameLst>
                                      </p:cBhvr>
                                      <p:to>
                                        <p:strVal val="hidden"/>
                                      </p:to>
                                    </p:set>
                                  </p:childTnLst>
                                </p:cTn>
                              </p:par>
                              <p:par>
                                <p:cTn id="82" presetID="10" presetClass="entr" presetSubtype="0" fill="hold" grpId="1" nodeType="withEffect">
                                  <p:stCondLst>
                                    <p:cond delay="224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
                                        <p:tgtEl>
                                          <p:spTgt spid="19"/>
                                        </p:tgtEl>
                                      </p:cBhvr>
                                    </p:animEffect>
                                  </p:childTnLst>
                                </p:cTn>
                              </p:par>
                              <p:par>
                                <p:cTn id="85" presetID="10" presetClass="exit" presetSubtype="0" fill="hold" grpId="0" nodeType="withEffect">
                                  <p:stCondLst>
                                    <p:cond delay="2879"/>
                                  </p:stCondLst>
                                  <p:childTnLst>
                                    <p:animEffect transition="out" filter="fade">
                                      <p:cBhvr>
                                        <p:cTn id="86" dur="1"/>
                                        <p:tgtEl>
                                          <p:spTgt spid="20"/>
                                        </p:tgtEl>
                                      </p:cBhvr>
                                    </p:animEffect>
                                    <p:set>
                                      <p:cBhvr>
                                        <p:cTn id="87" dur="1" fill="hold">
                                          <p:stCondLst>
                                            <p:cond delay="0"/>
                                          </p:stCondLst>
                                        </p:cTn>
                                        <p:tgtEl>
                                          <p:spTgt spid="20"/>
                                        </p:tgtEl>
                                        <p:attrNameLst>
                                          <p:attrName>style.visibility</p:attrName>
                                        </p:attrNameLst>
                                      </p:cBhvr>
                                      <p:to>
                                        <p:strVal val="hidden"/>
                                      </p:to>
                                    </p:set>
                                  </p:childTnLst>
                                </p:cTn>
                              </p:par>
                              <p:par>
                                <p:cTn id="88" presetID="10" presetClass="entr" presetSubtype="0" fill="hold" grpId="1" nodeType="withEffect">
                                  <p:stCondLst>
                                    <p:cond delay="256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1"/>
                                        <p:tgtEl>
                                          <p:spTgt spid="20"/>
                                        </p:tgtEl>
                                      </p:cBhvr>
                                    </p:animEffect>
                                  </p:childTnLst>
                                </p:cTn>
                              </p:par>
                              <p:par>
                                <p:cTn id="91" presetID="10" presetClass="exit" presetSubtype="0" fill="hold" grpId="0" nodeType="withEffect">
                                  <p:stCondLst>
                                    <p:cond delay="3199"/>
                                  </p:stCondLst>
                                  <p:childTnLst>
                                    <p:animEffect transition="out" filter="fade">
                                      <p:cBhvr>
                                        <p:cTn id="92" dur="1"/>
                                        <p:tgtEl>
                                          <p:spTgt spid="21"/>
                                        </p:tgtEl>
                                      </p:cBhvr>
                                    </p:animEffect>
                                    <p:set>
                                      <p:cBhvr>
                                        <p:cTn id="93" dur="1" fill="hold">
                                          <p:stCondLst>
                                            <p:cond delay="0"/>
                                          </p:stCondLst>
                                        </p:cTn>
                                        <p:tgtEl>
                                          <p:spTgt spid="21"/>
                                        </p:tgtEl>
                                        <p:attrNameLst>
                                          <p:attrName>style.visibility</p:attrName>
                                        </p:attrNameLst>
                                      </p:cBhvr>
                                      <p:to>
                                        <p:strVal val="hidden"/>
                                      </p:to>
                                    </p:set>
                                  </p:childTnLst>
                                </p:cTn>
                              </p:par>
                              <p:par>
                                <p:cTn id="94" presetID="10" presetClass="entr" presetSubtype="0" fill="hold" grpId="1" nodeType="withEffect">
                                  <p:stCondLst>
                                    <p:cond delay="288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1"/>
                                        <p:tgtEl>
                                          <p:spTgt spid="21"/>
                                        </p:tgtEl>
                                      </p:cBhvr>
                                    </p:animEffect>
                                  </p:childTnLst>
                                </p:cTn>
                              </p:par>
                              <p:par>
                                <p:cTn id="97" presetID="10" presetClass="entr" presetSubtype="0" fill="hold" grpId="0" nodeType="withEffect">
                                  <p:stCondLst>
                                    <p:cond delay="32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
                                        <p:tgtEl>
                                          <p:spTgt spid="22"/>
                                        </p:tgtEl>
                                      </p:cBhvr>
                                    </p:animEffect>
                                  </p:childTnLst>
                                </p:cTn>
                              </p:par>
                            </p:childTnLst>
                          </p:cTn>
                        </p:par>
                        <p:par>
                          <p:cTn id="100" fill="hold">
                            <p:stCondLst>
                              <p:cond delay="3201"/>
                            </p:stCondLst>
                            <p:childTnLst>
                              <p:par>
                                <p:cTn id="101" presetID="53" presetClass="entr" presetSubtype="32" fill="hold" grpId="0" nodeType="afterEffect">
                                  <p:stCondLst>
                                    <p:cond delay="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04" dur="380" fill="hold" accel="60000"/>
                                        <p:tgtEl>
                                          <p:spTgt spid="23"/>
                                        </p:tgtEl>
                                        <p:attrNameLst>
                                          <p:attrName>ppt_h</p:attrName>
                                        </p:attrNameLst>
                                      </p:cBhvr>
                                      <p:tavLst>
                                        <p:tav tm="0">
                                          <p:val>
                                            <p:strVal val="#ppt_h*2.2"/>
                                          </p:val>
                                        </p:tav>
                                        <p:tav tm="100000">
                                          <p:val>
                                            <p:strVal val="#ppt_h"/>
                                          </p:val>
                                        </p:tav>
                                      </p:tavLst>
                                    </p:anim>
                                    <p:animEffect transition="in" filter="fade">
                                      <p:cBhvr>
                                        <p:cTn id="105" dur="228"/>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fade">
                                      <p:cBhvr>
                                        <p:cTn id="110" dur="600"/>
                                        <p:tgtEl>
                                          <p:spTgt spid="24"/>
                                        </p:tgtEl>
                                      </p:cBhvr>
                                    </p:animEffect>
                                    <p:anim calcmode="lin" valueType="num">
                                      <p:cBhvr additive="base">
                                        <p:cTn id="111" dur="600" fill="hold" decel="100000"/>
                                        <p:tgtEl>
                                          <p:spTgt spid="24"/>
                                        </p:tgtEl>
                                        <p:attrNameLst>
                                          <p:attrName>ppt_x</p:attrName>
                                        </p:attrNameLst>
                                      </p:cBhvr>
                                      <p:tavLst>
                                        <p:tav tm="0">
                                          <p:val>
                                            <p:strVal val="#ppt_x"/>
                                          </p:val>
                                        </p:tav>
                                        <p:tav tm="100000">
                                          <p:val>
                                            <p:strVal val="#ppt_x"/>
                                          </p:val>
                                        </p:tav>
                                      </p:tavLst>
                                    </p:anim>
                                    <p:anim calcmode="lin" valueType="num">
                                      <p:cBhvr additive="base">
                                        <p:cTn id="112" dur="600" fill="hold" decel="100000"/>
                                        <p:tgtEl>
                                          <p:spTgt spid="24"/>
                                        </p:tgtEl>
                                        <p:attrNameLst>
                                          <p:attrName>ppt_y</p:attrName>
                                        </p:attrNameLst>
                                      </p:cBhvr>
                                      <p:tavLst>
                                        <p:tav tm="0">
                                          <p:val>
                                            <p:strVal val="#ppt_y+.18"/>
                                          </p:val>
                                        </p:tav>
                                        <p:tav tm="100000">
                                          <p:val>
                                            <p:strVal val="#ppt_y"/>
                                          </p:val>
                                        </p:tav>
                                      </p:tavLst>
                                    </p:anim>
                                  </p:childTnLst>
                                </p:cTn>
                              </p:par>
                              <p:par>
                                <p:cTn id="113" presetID="10" presetClass="entr" presetSubtype="0" fill="hold" grpId="0" nodeType="with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fade">
                                      <p:cBhvr>
                                        <p:cTn id="115" dur="300"/>
                                        <p:tgtEl>
                                          <p:spTgt spid="2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tgtEl>
                                        <p:attrNameLst>
                                          <p:attrName>style.visibility</p:attrName>
                                        </p:attrNameLst>
                                      </p:cBhvr>
                                      <p:to>
                                        <p:strVal val="visible"/>
                                      </p:to>
                                    </p:set>
                                    <p:animEffect transition="in" filter="fade">
                                      <p:cBhvr>
                                        <p:cTn id="118" dur="300"/>
                                        <p:tgtEl>
                                          <p:spTgt spid="2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fade">
                                      <p:cBhvr>
                                        <p:cTn id="121" dur="300"/>
                                        <p:tgtEl>
                                          <p:spTgt spid="27"/>
                                        </p:tgtEl>
                                      </p:cBhvr>
                                    </p:animEffect>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8"/>
                                        </p:tgtEl>
                                        <p:attrNameLst>
                                          <p:attrName>style.visibility</p:attrName>
                                        </p:attrNameLst>
                                      </p:cBhvr>
                                      <p:to>
                                        <p:strVal val="visible"/>
                                      </p:to>
                                    </p:set>
                                    <p:animEffect transition="in" filter="fade">
                                      <p:cBhvr>
                                        <p:cTn id="126" dur="600"/>
                                        <p:tgtEl>
                                          <p:spTgt spid="28"/>
                                        </p:tgtEl>
                                      </p:cBhvr>
                                    </p:animEffect>
                                    <p:anim calcmode="lin" valueType="num">
                                      <p:cBhvr additive="base">
                                        <p:cTn id="127" dur="600" fill="hold" decel="100000"/>
                                        <p:tgtEl>
                                          <p:spTgt spid="28"/>
                                        </p:tgtEl>
                                        <p:attrNameLst>
                                          <p:attrName>ppt_x</p:attrName>
                                        </p:attrNameLst>
                                      </p:cBhvr>
                                      <p:tavLst>
                                        <p:tav tm="0">
                                          <p:val>
                                            <p:strVal val="#ppt_x"/>
                                          </p:val>
                                        </p:tav>
                                        <p:tav tm="100000">
                                          <p:val>
                                            <p:strVal val="#ppt_x"/>
                                          </p:val>
                                        </p:tav>
                                      </p:tavLst>
                                    </p:anim>
                                    <p:anim calcmode="lin" valueType="num">
                                      <p:cBhvr additive="base">
                                        <p:cTn id="128" dur="600" fill="hold" decel="100000"/>
                                        <p:tgtEl>
                                          <p:spTgt spid="28"/>
                                        </p:tgtEl>
                                        <p:attrNameLst>
                                          <p:attrName>ppt_y</p:attrName>
                                        </p:attrNameLst>
                                      </p:cBhvr>
                                      <p:tavLst>
                                        <p:tav tm="0">
                                          <p:val>
                                            <p:strVal val="#ppt_y+.18"/>
                                          </p:val>
                                        </p:tav>
                                        <p:tav tm="100000">
                                          <p:val>
                                            <p:strVal val="#ppt_y"/>
                                          </p:val>
                                        </p:tav>
                                      </p:tavLst>
                                    </p:anim>
                                  </p:childTnLst>
                                </p:cTn>
                              </p:par>
                              <p:par>
                                <p:cTn id="129" presetID="10" presetClass="entr" presetSubtype="0" fill="hold" grpId="0" nodeType="withEffect">
                                  <p:stCondLst>
                                    <p:cond delay="0"/>
                                  </p:stCondLst>
                                  <p:childTnLst>
                                    <p:set>
                                      <p:cBhvr>
                                        <p:cTn id="130" dur="1" fill="hold">
                                          <p:stCondLst>
                                            <p:cond delay="0"/>
                                          </p:stCondLst>
                                        </p:cTn>
                                        <p:tgtEl>
                                          <p:spTgt spid="29"/>
                                        </p:tgtEl>
                                        <p:attrNameLst>
                                          <p:attrName>style.visibility</p:attrName>
                                        </p:attrNameLst>
                                      </p:cBhvr>
                                      <p:to>
                                        <p:strVal val="visible"/>
                                      </p:to>
                                    </p:set>
                                    <p:animEffect transition="in" filter="fade">
                                      <p:cBhvr>
                                        <p:cTn id="131" dur="300"/>
                                        <p:tgtEl>
                                          <p:spTgt spid="29"/>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300"/>
                                        <p:tgtEl>
                                          <p:spTgt spid="30"/>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31"/>
                                        </p:tgtEl>
                                        <p:attrNameLst>
                                          <p:attrName>style.visibility</p:attrName>
                                        </p:attrNameLst>
                                      </p:cBhvr>
                                      <p:to>
                                        <p:strVal val="visible"/>
                                      </p:to>
                                    </p:set>
                                    <p:animEffect transition="in" filter="fade">
                                      <p:cBhvr>
                                        <p:cTn id="137" dur="300"/>
                                        <p:tgtEl>
                                          <p:spTgt spid="31"/>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33" grpId="0"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AMPEL · ABBIEGEN</a:t>
            </a:r>
            <a:endParaRPr lang="en-US" sz="1300" dirty="0"/>
          </a:p>
        </p:txBody>
      </p:sp>
      <p:sp>
        <p:nvSpPr>
          <p:cNvPr id="6" name="e40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Links abbiegen</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bei Grün</a:t>
            </a:r>
            <a:endParaRPr lang="en-US" sz="4800" dirty="0"/>
          </a:p>
        </p:txBody>
      </p:sp>
      <p:sp>
        <p:nvSpPr>
          <p:cNvPr id="7" name="e40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Grün! Du willst links abbiegen.</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Was machst du?</a:t>
            </a:r>
            <a:endParaRPr lang="en-US" sz="1900" dirty="0"/>
          </a:p>
        </p:txBody>
      </p:sp>
      <p:sp>
        <p:nvSpPr>
          <p:cNvPr id="8" name="e40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0_5"/>
          <p:cNvSpPr/>
          <p:nvPr/>
        </p:nvSpPr>
        <p:spPr>
          <a:xfrm>
            <a:off x="8983431" y="4861024"/>
            <a:ext cx="147401" cy="147401"/>
          </a:xfrm>
          <a:prstGeom prst="ellipse">
            <a:avLst/>
          </a:prstGeom>
          <a:solidFill>
            <a:srgbClr val="1B1F27"/>
          </a:solidFill>
          <a:ln/>
        </p:spPr>
      </p:sp>
      <p:sp>
        <p:nvSpPr>
          <p:cNvPr id="10" name="e40_6"/>
          <p:cNvSpPr/>
          <p:nvPr/>
        </p:nvSpPr>
        <p:spPr>
          <a:xfrm>
            <a:off x="8983431" y="5058827"/>
            <a:ext cx="147401" cy="147401"/>
          </a:xfrm>
          <a:prstGeom prst="ellipse">
            <a:avLst/>
          </a:prstGeom>
          <a:solidFill>
            <a:srgbClr val="1B1F27"/>
          </a:solidFill>
          <a:ln/>
        </p:spPr>
      </p:sp>
      <p:sp>
        <p:nvSpPr>
          <p:cNvPr id="11" name="e40_7"/>
          <p:cNvSpPr/>
          <p:nvPr/>
        </p:nvSpPr>
        <p:spPr>
          <a:xfrm>
            <a:off x="8983431" y="5256630"/>
            <a:ext cx="147401" cy="147401"/>
          </a:xfrm>
          <a:prstGeom prst="ellipse">
            <a:avLst/>
          </a:prstGeom>
          <a:solidFill>
            <a:srgbClr val="1B1F27"/>
          </a:solidFill>
          <a:ln/>
        </p:spPr>
      </p:sp>
      <p:sp>
        <p:nvSpPr>
          <p:cNvPr id="12" name="e40_8"/>
          <p:cNvSpPr/>
          <p:nvPr/>
        </p:nvSpPr>
        <p:spPr>
          <a:xfrm>
            <a:off x="8983431" y="5256630"/>
            <a:ext cx="147401" cy="147401"/>
          </a:xfrm>
          <a:prstGeom prst="ellipse">
            <a:avLst/>
          </a:prstGeom>
          <a:solidFill>
            <a:srgbClr val="2EE071"/>
          </a:solidFill>
          <a:ln/>
        </p:spPr>
      </p:sp>
      <p:sp>
        <p:nvSpPr>
          <p:cNvPr id="13" name="e40_9"/>
          <p:cNvSpPr/>
          <p:nvPr/>
        </p:nvSpPr>
        <p:spPr>
          <a:xfrm>
            <a:off x="6551676" y="1394460"/>
            <a:ext cx="237744" cy="618134"/>
          </a:xfrm>
          <a:prstGeom prst="roundRect">
            <a:avLst>
              <a:gd name="adj" fmla="val 96154"/>
            </a:avLst>
          </a:prstGeom>
          <a:solidFill>
            <a:srgbClr val="07090D"/>
          </a:solidFill>
          <a:ln w="12700">
            <a:solidFill>
              <a:srgbClr val="4A5261"/>
            </a:solidFill>
            <a:prstDash val="solid"/>
          </a:ln>
        </p:spPr>
      </p:sp>
      <p:sp>
        <p:nvSpPr>
          <p:cNvPr id="14" name="e40_10"/>
          <p:cNvSpPr/>
          <p:nvPr/>
        </p:nvSpPr>
        <p:spPr>
          <a:xfrm>
            <a:off x="6596847" y="1432024"/>
            <a:ext cx="147401" cy="147401"/>
          </a:xfrm>
          <a:prstGeom prst="ellipse">
            <a:avLst/>
          </a:prstGeom>
          <a:solidFill>
            <a:srgbClr val="1B1F27"/>
          </a:solidFill>
          <a:ln/>
        </p:spPr>
      </p:sp>
      <p:sp>
        <p:nvSpPr>
          <p:cNvPr id="15" name="e40_11"/>
          <p:cNvSpPr/>
          <p:nvPr/>
        </p:nvSpPr>
        <p:spPr>
          <a:xfrm>
            <a:off x="6596847" y="1629827"/>
            <a:ext cx="147401" cy="147401"/>
          </a:xfrm>
          <a:prstGeom prst="ellipse">
            <a:avLst/>
          </a:prstGeom>
          <a:solidFill>
            <a:srgbClr val="1B1F27"/>
          </a:solidFill>
          <a:ln/>
        </p:spPr>
      </p:sp>
      <p:sp>
        <p:nvSpPr>
          <p:cNvPr id="16" name="e40_12"/>
          <p:cNvSpPr/>
          <p:nvPr/>
        </p:nvSpPr>
        <p:spPr>
          <a:xfrm>
            <a:off x="6596847" y="1827630"/>
            <a:ext cx="147401" cy="147401"/>
          </a:xfrm>
          <a:prstGeom prst="ellipse">
            <a:avLst/>
          </a:prstGeom>
          <a:solidFill>
            <a:srgbClr val="1B1F27"/>
          </a:solidFill>
          <a:ln/>
        </p:spPr>
      </p:sp>
      <p:sp>
        <p:nvSpPr>
          <p:cNvPr id="17" name="e40_13"/>
          <p:cNvSpPr/>
          <p:nvPr/>
        </p:nvSpPr>
        <p:spPr>
          <a:xfrm>
            <a:off x="6596847" y="1827630"/>
            <a:ext cx="147401" cy="147401"/>
          </a:xfrm>
          <a:prstGeom prst="ellipse">
            <a:avLst/>
          </a:prstGeom>
          <a:solidFill>
            <a:srgbClr val="2EE071"/>
          </a:solidFill>
          <a:ln/>
        </p:spPr>
      </p:sp>
      <p:pic>
        <p:nvPicPr>
          <p:cNvPr id="18" name="e40_14" descr="/tmp/claude-0/-home-user-Fahrlehrer-Kompass-/11378f77-94a8-55e9-a697-0f3efd4c20b9/scratchpad/bau/art/car_du.png">    </p:cNvPr>
          <p:cNvPicPr>
            <a:picLocks noChangeAspect="1"/>
          </p:cNvPicPr>
          <p:nvPr/>
        </p:nvPicPr>
        <p:blipFill>
          <a:blip r:embed="rId2"/>
          <a:stretch>
            <a:fillRect/>
          </a:stretch>
        </p:blipFill>
        <p:spPr>
          <a:xfrm>
            <a:off x="7939278" y="4850892"/>
            <a:ext cx="740664" cy="1481328"/>
          </a:xfrm>
          <a:prstGeom prst="rect">
            <a:avLst/>
          </a:prstGeom>
        </p:spPr>
      </p:pic>
      <p:pic>
        <p:nvPicPr>
          <p:cNvPr id="19" name="e40_15" descr="/tmp/claude-0/-home-user-Fahrlehrer-Kompass-/11378f77-94a8-55e9-a697-0f3efd4c20b9/scratchpad/bau/art/blink_L.png">    </p:cNvPr>
          <p:cNvPicPr>
            <a:picLocks noChangeAspect="1"/>
          </p:cNvPicPr>
          <p:nvPr/>
        </p:nvPicPr>
        <p:blipFill>
          <a:blip r:embed="rId3"/>
          <a:stretch>
            <a:fillRect/>
          </a:stretch>
        </p:blipFill>
        <p:spPr>
          <a:xfrm>
            <a:off x="7939278" y="4850892"/>
            <a:ext cx="740664" cy="1481328"/>
          </a:xfrm>
          <a:prstGeom prst="rect">
            <a:avLst/>
          </a:prstGeom>
        </p:spPr>
      </p:pic>
      <p:pic>
        <p:nvPicPr>
          <p:cNvPr id="20" name="e40_16" descr="/tmp/claude-0/-home-user-Fahrlehrer-Kompass-/11378f77-94a8-55e9-a697-0f3efd4c20b9/scratchpad/bau/art/car_rot.png">    </p:cNvPr>
          <p:cNvPicPr>
            <a:picLocks noChangeAspect="1"/>
          </p:cNvPicPr>
          <p:nvPr/>
        </p:nvPicPr>
        <p:blipFill>
          <a:blip r:embed="rId4"/>
          <a:stretch>
            <a:fillRect/>
          </a:stretch>
        </p:blipFill>
        <p:spPr>
          <a:xfrm rot="10800000">
            <a:off x="7047738" y="525780"/>
            <a:ext cx="740664" cy="1481328"/>
          </a:xfrm>
          <a:prstGeom prst="rect">
            <a:avLst/>
          </a:prstGeom>
        </p:spPr>
      </p:pic>
      <p:sp>
        <p:nvSpPr>
          <p:cNvPr id="21" name="e40_17"/>
          <p:cNvSpPr txBox="1"/>
          <p:nvPr/>
        </p:nvSpPr>
        <p:spPr>
          <a:xfrm>
            <a:off x="6631686" y="71780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pic>
        <p:nvPicPr>
          <p:cNvPr id="22" name="e40_18" descr="/tmp/claude-0/-home-user-Fahrlehrer-Kompass-/11378f77-94a8-55e9-a697-0f3efd4c20b9/scratchpad/bau/art/ped.png">    </p:cNvPr>
          <p:cNvPicPr>
            <a:picLocks noChangeAspect="1"/>
          </p:cNvPicPr>
          <p:nvPr/>
        </p:nvPicPr>
        <p:blipFill>
          <a:blip r:embed="rId5"/>
          <a:stretch>
            <a:fillRect/>
          </a:stretch>
        </p:blipFill>
        <p:spPr>
          <a:xfrm rot="10800000">
            <a:off x="6556248" y="2224278"/>
            <a:ext cx="301752" cy="260604"/>
          </a:xfrm>
          <a:prstGeom prst="rect">
            <a:avLst/>
          </a:prstGeom>
        </p:spPr>
      </p:pic>
      <p:sp>
        <p:nvSpPr>
          <p:cNvPr id="23" name="e40_19"/>
          <p:cNvSpPr txBox="1"/>
          <p:nvPr/>
        </p:nvSpPr>
        <p:spPr>
          <a:xfrm rot="-180000">
            <a:off x="731520" y="443484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Gegenverkehr zuerst</a:t>
            </a:r>
            <a:endParaRPr lang="en-US" sz="2200" dirty="0"/>
          </a:p>
        </p:txBody>
      </p:sp>
      <p:sp>
        <p:nvSpPr>
          <p:cNvPr id="24" name="e40_20"/>
          <p:cNvSpPr txBox="1"/>
          <p:nvPr/>
        </p:nvSpPr>
        <p:spPr>
          <a:xfrm rot="-180000">
            <a:off x="731520" y="5074920"/>
            <a:ext cx="32918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22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Fußgänger zuerst</a:t>
            </a:r>
            <a:endParaRPr lang="en-US" sz="2200" dirty="0"/>
          </a:p>
        </p:txBody>
      </p:sp>
      <p:sp>
        <p:nvSpPr>
          <p:cNvPr id="25" name="e40_21"/>
          <p:cNvSpPr txBox="1"/>
          <p:nvPr/>
        </p:nvSpPr>
        <p:spPr>
          <a:xfrm>
            <a:off x="731520" y="5760720"/>
            <a:ext cx="4206240" cy="548640"/>
          </a:xfrm>
          <a:prstGeom prst="rect">
            <a:avLst/>
          </a:prstGeom>
          <a:noFill/>
          <a:ln/>
        </p:spPr>
        <p:txBody>
          <a:bodyPr wrap="square" lIns="0" tIns="0" rIns="0" bIns="0" rtlCol="0" anchor="t"/>
          <a:lstStyle/>
          <a:p>
            <a:pPr algn="l" indent="0" marL="0">
              <a:lnSpc>
                <a:spcPct val="108000"/>
              </a:lnSpc>
              <a:buNone/>
            </a:pPr>
            <a:r>
              <a:rPr lang="en-US" sz="1700" b="1" dirty="0">
                <a:solidFill>
                  <a:srgbClr val="F5F2EC"/>
                </a:solidFill>
                <a:latin typeface="Calibri" pitchFamily="34" charset="0"/>
                <a:ea typeface="Calibri" pitchFamily="34" charset="-122"/>
                <a:cs typeface="Calibri" pitchFamily="34" charset="-120"/>
              </a:rPr>
              <a:t>Kommt Rot, während du wartest: Kreuzung zügig räumen.</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grpId="0"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42" presetClass="entr" presetSubtype="0" fill="hold" grpId="0" nodeType="withEffect">
                                  <p:stCondLst>
                                    <p:cond delay="65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650"/>
                                        <p:tgtEl>
                                          <p:spTgt spid="21"/>
                                        </p:tgtEl>
                                      </p:cBhvr>
                                    </p:animEffect>
                                    <p:anim calcmode="lin" valueType="num">
                                      <p:cBhvr additive="base">
                                        <p:cTn id="53"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54" dur="650" fill="hold" decel="100000"/>
                                        <p:tgtEl>
                                          <p:spTgt spid="21"/>
                                        </p:tgtEl>
                                        <p:attrNameLst>
                                          <p:attrName>ppt_y</p:attrName>
                                        </p:attrNameLst>
                                      </p:cBhvr>
                                      <p:tavLst>
                                        <p:tav tm="0">
                                          <p:val>
                                            <p:strVal val="#ppt_y+.05"/>
                                          </p:val>
                                        </p:tav>
                                        <p:tav tm="100000">
                                          <p:val>
                                            <p:strVal val="#ppt_y"/>
                                          </p:val>
                                        </p:tav>
                                      </p:tavLst>
                                    </p:anim>
                                  </p:childTnLst>
                                </p:cTn>
                              </p:par>
                              <p:par>
                                <p:cTn id="55" presetID="10"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150"/>
                                        <p:tgtEl>
                                          <p:spTgt spid="19"/>
                                        </p:tgtEl>
                                      </p:cBhvr>
                                    </p:animEffect>
                                  </p:childTnLst>
                                </p:cTn>
                              </p:par>
                              <p:par>
                                <p:cTn id="58" presetID="35" presetClass="emph" presetSubtype="0" fill="hold" nodeType="withEffect" repeatCount="indefinite">
                                  <p:stCondLst>
                                    <p:cond delay="0"/>
                                  </p:stCondLst>
                                  <p:childTnLst>
                                    <p:anim calcmode="discrete" valueType="str">
                                      <p:cBhvr override="childStyle">
                                        <p:cTn id="59" dur="700"/>
                                        <p:tgtEl>
                                          <p:spTgt spid="19"/>
                                        </p:tgtEl>
                                        <p:attrNameLst>
                                          <p:attrName>style.visibility</p:attrName>
                                        </p:attrNameLst>
                                      </p:cBhvr>
                                      <p:tavLst>
                                        <p:tav tm="0">
                                          <p:val>
                                            <p:strVal val="hidden"/>
                                          </p:val>
                                        </p:tav>
                                        <p:tav tm="50000">
                                          <p:val>
                                            <p:strVal val="visible"/>
                                          </p:val>
                                        </p:tav>
                                      </p:tavLst>
                                    </p:anim>
                                  </p:childTnLst>
                                </p:cTn>
                              </p:par>
                            </p:childTnLst>
                          </p:cTn>
                        </p:par>
                      </p:childTnLst>
                    </p:cTn>
                  </p:par>
                  <p:par>
                    <p:cTn id="60" fill="hold">
                      <p:stCondLst>
                        <p:cond delay="indefinite"/>
                      </p:stCondLst>
                      <p:childTnLst>
                        <p:par>
                          <p:cTn id="61" fill="hold">
                            <p:stCondLst>
                              <p:cond delay="0"/>
                            </p:stCondLst>
                            <p:childTnLst>
                              <p:par>
                                <p:cTn id="62" presetID="0" presetClass="path" presetSubtype="0" fill="hold" nodeType="clickEffect" accel="40000" decel="40000">
                                  <p:stCondLst>
                                    <p:cond delay="0"/>
                                  </p:stCondLst>
                                  <p:childTnLst>
                                    <p:animMotion origin="layout" path="M 0 0 C 0 -0.0807 0 -0.1613 0 -0.242 E" pathEditMode="relative" rAng="0" ptsTypes="">
                                      <p:cBhvr>
                                        <p:cTn id="63" dur="1068" fill="hold"/>
                                        <p:tgtEl>
                                          <p:spTgt spid="18"/>
                                        </p:tgtEl>
                                        <p:attrNameLst>
                                          <p:attrName>ppt_x</p:attrName>
                                          <p:attrName>ppt_y</p:attrName>
                                        </p:attrNameLst>
                                      </p:cBhvr>
                                      <p:rCtr x="0" y="0"/>
                                    </p:animMotion>
                                  </p:childTnLst>
                                </p:cTn>
                              </p:par>
                              <p:par>
                                <p:cTn id="64" presetID="0" presetClass="path" presetSubtype="0" fill="hold" nodeType="withEffect" accel="40000" decel="40000">
                                  <p:stCondLst>
                                    <p:cond delay="0"/>
                                  </p:stCondLst>
                                  <p:childTnLst>
                                    <p:animMotion origin="layout" path="M 0 0 C 0 -0.0807 0 -0.1613 0 -0.242 E" pathEditMode="relative" rAng="0" ptsTypes="">
                                      <p:cBhvr>
                                        <p:cTn id="65" dur="1068" fill="hold"/>
                                        <p:tgtEl>
                                          <p:spTgt spid="19"/>
                                        </p:tgtEl>
                                        <p:attrNameLst>
                                          <p:attrName>ppt_x</p:attrName>
                                          <p:attrName>ppt_y</p:attrName>
                                        </p:attrNameLst>
                                      </p:cBhvr>
                                      <p:rCtr x="0" y="0"/>
                                    </p:animMotion>
                                  </p:childTnLst>
                                </p:cTn>
                              </p:par>
                            </p:childTnLst>
                          </p:cTn>
                        </p:par>
                      </p:childTnLst>
                    </p:cTn>
                  </p:par>
                  <p:par>
                    <p:cTn id="66" fill="hold">
                      <p:stCondLst>
                        <p:cond delay="indefinite"/>
                      </p:stCondLst>
                      <p:childTnLst>
                        <p:par>
                          <p:cTn id="67" fill="hold">
                            <p:stCondLst>
                              <p:cond delay="0"/>
                            </p:stCondLst>
                            <p:childTnLst>
                              <p:par>
                                <p:cTn id="68" presetID="53" presetClass="entr" presetSubtype="32"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 calcmode="lin" valueType="num">
                                      <p:cBhvr additive="base">
                                        <p:cTn id="70"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71" dur="380" fill="hold" accel="60000"/>
                                        <p:tgtEl>
                                          <p:spTgt spid="23"/>
                                        </p:tgtEl>
                                        <p:attrNameLst>
                                          <p:attrName>ppt_h</p:attrName>
                                        </p:attrNameLst>
                                      </p:cBhvr>
                                      <p:tavLst>
                                        <p:tav tm="0">
                                          <p:val>
                                            <p:strVal val="#ppt_h*2.2"/>
                                          </p:val>
                                        </p:tav>
                                        <p:tav tm="100000">
                                          <p:val>
                                            <p:strVal val="#ppt_h"/>
                                          </p:val>
                                        </p:tav>
                                      </p:tavLst>
                                    </p:anim>
                                    <p:animEffect transition="in" filter="fade">
                                      <p:cBhvr>
                                        <p:cTn id="72" dur="228"/>
                                        <p:tgtEl>
                                          <p:spTgt spid="23"/>
                                        </p:tgtEl>
                                      </p:cBhvr>
                                    </p:animEffect>
                                  </p:childTnLst>
                                </p:cTn>
                              </p:par>
                            </p:childTnLst>
                          </p:cTn>
                        </p:par>
                        <p:par>
                          <p:cTn id="73" fill="hold">
                            <p:stCondLst>
                              <p:cond delay="380"/>
                            </p:stCondLst>
                            <p:childTnLst>
                              <p:par>
                                <p:cTn id="74" presetID="0" presetClass="path" presetSubtype="0" fill="hold" nodeType="afterEffect" accel="40000" decel="40000">
                                  <p:stCondLst>
                                    <p:cond delay="0"/>
                                  </p:stCondLst>
                                  <p:childTnLst>
                                    <p:animMotion origin="layout" path="M 0 0 C 0 0.2889 0 0.5778 0 0.8667 E" pathEditMode="relative" rAng="0" ptsTypes="">
                                      <p:cBhvr>
                                        <p:cTn id="75" dur="3824" fill="hold"/>
                                        <p:tgtEl>
                                          <p:spTgt spid="20"/>
                                        </p:tgtEl>
                                        <p:attrNameLst>
                                          <p:attrName>ppt_x</p:attrName>
                                          <p:attrName>ppt_y</p:attrName>
                                        </p:attrNameLst>
                                      </p:cBhvr>
                                      <p:rCtr x="0" y="0"/>
                                    </p:animMotion>
                                  </p:childTnLst>
                                </p:cTn>
                              </p:par>
                            </p:childTnLst>
                          </p:cTn>
                        </p:par>
                        <p:par>
                          <p:cTn id="76" fill="hold">
                            <p:stCondLst>
                              <p:cond delay="4204"/>
                            </p:stCondLst>
                            <p:childTnLst>
                              <p:par>
                                <p:cTn id="77" presetID="10" presetClass="exit" presetSubtype="0" fill="hold" nodeType="afterEffect">
                                  <p:stCondLst>
                                    <p:cond delay="0"/>
                                  </p:stCondLst>
                                  <p:childTnLst>
                                    <p:animEffect transition="out" filter="fade">
                                      <p:cBhvr>
                                        <p:cTn id="78" dur="350"/>
                                        <p:tgtEl>
                                          <p:spTgt spid="20"/>
                                        </p:tgtEl>
                                      </p:cBhvr>
                                    </p:animEffect>
                                    <p:set>
                                      <p:cBhvr>
                                        <p:cTn id="79" dur="1" fill="hold">
                                          <p:stCondLst>
                                            <p:cond delay="349"/>
                                          </p:stCondLst>
                                        </p:cTn>
                                        <p:tgtEl>
                                          <p:spTgt spid="20"/>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53" presetClass="entr" presetSubtype="32"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85" dur="380" fill="hold" accel="60000"/>
                                        <p:tgtEl>
                                          <p:spTgt spid="24"/>
                                        </p:tgtEl>
                                        <p:attrNameLst>
                                          <p:attrName>ppt_h</p:attrName>
                                        </p:attrNameLst>
                                      </p:cBhvr>
                                      <p:tavLst>
                                        <p:tav tm="0">
                                          <p:val>
                                            <p:strVal val="#ppt_h*2.2"/>
                                          </p:val>
                                        </p:tav>
                                        <p:tav tm="100000">
                                          <p:val>
                                            <p:strVal val="#ppt_h"/>
                                          </p:val>
                                        </p:tav>
                                      </p:tavLst>
                                    </p:anim>
                                    <p:animEffect transition="in" filter="fade">
                                      <p:cBhvr>
                                        <p:cTn id="86" dur="228"/>
                                        <p:tgtEl>
                                          <p:spTgt spid="24"/>
                                        </p:tgtEl>
                                      </p:cBhvr>
                                    </p:animEffect>
                                  </p:childTnLst>
                                </p:cTn>
                              </p:par>
                            </p:childTnLst>
                          </p:cTn>
                        </p:par>
                        <p:par>
                          <p:cTn id="87" fill="hold">
                            <p:stCondLst>
                              <p:cond delay="380"/>
                            </p:stCondLst>
                            <p:childTnLst>
                              <p:par>
                                <p:cTn id="88" presetID="0" presetClass="path" presetSubtype="0" fill="hold" nodeType="afterEffect" accel="40000" decel="40000">
                                  <p:stCondLst>
                                    <p:cond delay="0"/>
                                  </p:stCondLst>
                                  <p:childTnLst>
                                    <p:animMotion origin="layout" path="M 0 0 C 0 0.1067 0 0.2133 0 0.32 E" pathEditMode="relative" rAng="0" ptsTypes="">
                                      <p:cBhvr>
                                        <p:cTn id="89" dur="2400" fill="hold"/>
                                        <p:tgtEl>
                                          <p:spTgt spid="22"/>
                                        </p:tgtEl>
                                        <p:attrNameLst>
                                          <p:attrName>ppt_x</p:attrName>
                                          <p:attrName>ppt_y</p:attrName>
                                        </p:attrNameLst>
                                      </p:cBhvr>
                                      <p:rCtr x="0" y="0"/>
                                    </p:animMotion>
                                  </p:childTnLst>
                                </p:cTn>
                              </p:par>
                            </p:childTnLst>
                          </p:cTn>
                        </p:par>
                        <p:par>
                          <p:cTn id="90" fill="hold">
                            <p:stCondLst>
                              <p:cond delay="2780"/>
                            </p:stCondLst>
                            <p:childTnLst>
                              <p:par>
                                <p:cTn id="91" presetID="10" presetClass="exit" presetSubtype="0" fill="hold" nodeType="afterEffect">
                                  <p:stCondLst>
                                    <p:cond delay="0"/>
                                  </p:stCondLst>
                                  <p:childTnLst>
                                    <p:animEffect transition="out" filter="fade">
                                      <p:cBhvr>
                                        <p:cTn id="92" dur="350"/>
                                        <p:tgtEl>
                                          <p:spTgt spid="22"/>
                                        </p:tgtEl>
                                      </p:cBhvr>
                                    </p:animEffect>
                                    <p:set>
                                      <p:cBhvr>
                                        <p:cTn id="93" dur="1" fill="hold">
                                          <p:stCondLst>
                                            <p:cond delay="349"/>
                                          </p:stCondLst>
                                        </p:cTn>
                                        <p:tgtEl>
                                          <p:spTgt spid="22"/>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0" presetClass="path" presetSubtype="0" fill="hold" nodeType="clickEffect" accel="50000">
                                  <p:stCondLst>
                                    <p:cond delay="0"/>
                                  </p:stCondLst>
                                  <p:childTnLst>
                                    <p:animMotion origin="layout" path="M 0 -0.242 C 0 -0.3184 -0.0348 -0.3803 -0.0778 -0.3803 E" pathEditMode="relative" rAng="0" ptsTypes="">
                                      <p:cBhvr>
                                        <p:cTn id="97" dur="959" fill="hold"/>
                                        <p:tgtEl>
                                          <p:spTgt spid="18"/>
                                        </p:tgtEl>
                                        <p:attrNameLst>
                                          <p:attrName>ppt_x</p:attrName>
                                          <p:attrName>ppt_y</p:attrName>
                                        </p:attrNameLst>
                                      </p:cBhvr>
                                      <p:rCtr x="0" y="0"/>
                                    </p:animMotion>
                                  </p:childTnLst>
                                </p:cTn>
                              </p:par>
                              <p:par>
                                <p:cTn id="98" presetID="8" presetClass="emph" presetSubtype="0" fill="hold" nodeType="withEffect" accel="50000">
                                  <p:stCondLst>
                                    <p:cond delay="0"/>
                                  </p:stCondLst>
                                  <p:childTnLst>
                                    <p:animRot by="-5400000">
                                      <p:cBhvr>
                                        <p:cTn id="99" dur="959" fill="hold"/>
                                        <p:tgtEl>
                                          <p:spTgt spid="18"/>
                                        </p:tgtEl>
                                        <p:attrNameLst>
                                          <p:attrName>r</p:attrName>
                                        </p:attrNameLst>
                                      </p:cBhvr>
                                    </p:animRot>
                                  </p:childTnLst>
                                </p:cTn>
                              </p:par>
                              <p:par>
                                <p:cTn id="100" presetID="0" presetClass="path" presetSubtype="0" fill="hold" nodeType="withEffect" accel="50000">
                                  <p:stCondLst>
                                    <p:cond delay="0"/>
                                  </p:stCondLst>
                                  <p:childTnLst>
                                    <p:animMotion origin="layout" path="M 0 -0.242 C 0 -0.3184 -0.0348 -0.3803 -0.0778 -0.3803 E" pathEditMode="relative" rAng="0" ptsTypes="">
                                      <p:cBhvr>
                                        <p:cTn id="101" dur="959" fill="hold"/>
                                        <p:tgtEl>
                                          <p:spTgt spid="19"/>
                                        </p:tgtEl>
                                        <p:attrNameLst>
                                          <p:attrName>ppt_x</p:attrName>
                                          <p:attrName>ppt_y</p:attrName>
                                        </p:attrNameLst>
                                      </p:cBhvr>
                                      <p:rCtr x="0" y="0"/>
                                    </p:animMotion>
                                  </p:childTnLst>
                                </p:cTn>
                              </p:par>
                              <p:par>
                                <p:cTn id="102" presetID="8" presetClass="emph" presetSubtype="0" fill="hold" nodeType="withEffect" accel="50000">
                                  <p:stCondLst>
                                    <p:cond delay="0"/>
                                  </p:stCondLst>
                                  <p:childTnLst>
                                    <p:animRot by="-5400000">
                                      <p:cBhvr>
                                        <p:cTn id="103" dur="959" fill="hold"/>
                                        <p:tgtEl>
                                          <p:spTgt spid="19"/>
                                        </p:tgtEl>
                                        <p:attrNameLst>
                                          <p:attrName>r</p:attrName>
                                        </p:attrNameLst>
                                      </p:cBhvr>
                                    </p:animRot>
                                  </p:childTnLst>
                                </p:cTn>
                              </p:par>
                            </p:childTnLst>
                          </p:cTn>
                        </p:par>
                        <p:par>
                          <p:cTn id="104" fill="hold">
                            <p:stCondLst>
                              <p:cond delay="959"/>
                            </p:stCondLst>
                            <p:childTnLst>
                              <p:par>
                                <p:cTn id="105" presetID="0" presetClass="path" presetSubtype="0" fill="hold" nodeType="afterEffect" decel="50000">
                                  <p:stCondLst>
                                    <p:cond delay="0"/>
                                  </p:stCondLst>
                                  <p:childTnLst>
                                    <p:animMotion origin="layout" path="M -0.0778 -0.3803 C -0.1153 -0.3803 -0.1528 -0.3803 -0.1903 -0.3803 E" pathEditMode="relative" rAng="0" ptsTypes="">
                                      <p:cBhvr>
                                        <p:cTn id="106" dur="882" fill="hold"/>
                                        <p:tgtEl>
                                          <p:spTgt spid="18"/>
                                        </p:tgtEl>
                                        <p:attrNameLst>
                                          <p:attrName>ppt_x</p:attrName>
                                          <p:attrName>ppt_y</p:attrName>
                                        </p:attrNameLst>
                                      </p:cBhvr>
                                      <p:rCtr x="0" y="0"/>
                                    </p:animMotion>
                                  </p:childTnLst>
                                </p:cTn>
                              </p:par>
                              <p:par>
                                <p:cTn id="107" presetID="0" presetClass="path" presetSubtype="0" fill="hold" nodeType="withEffect" decel="50000">
                                  <p:stCondLst>
                                    <p:cond delay="0"/>
                                  </p:stCondLst>
                                  <p:childTnLst>
                                    <p:animMotion origin="layout" path="M -0.0778 -0.3803 C -0.1153 -0.3803 -0.1528 -0.3803 -0.1903 -0.3803 E" pathEditMode="relative" rAng="0" ptsTypes="">
                                      <p:cBhvr>
                                        <p:cTn id="108" dur="882" fill="hold"/>
                                        <p:tgtEl>
                                          <p:spTgt spid="19"/>
                                        </p:tgtEl>
                                        <p:attrNameLst>
                                          <p:attrName>ppt_x</p:attrName>
                                          <p:attrName>ppt_y</p:attrName>
                                        </p:attrNameLst>
                                      </p:cBhvr>
                                      <p:rCtr x="0" y="0"/>
                                    </p:animMotion>
                                  </p:childTnLst>
                                </p:cTn>
                              </p:par>
                            </p:childTnLst>
                          </p:cTn>
                        </p:par>
                        <p:par>
                          <p:cTn id="109" fill="hold">
                            <p:stCondLst>
                              <p:cond delay="1841"/>
                            </p:stCondLst>
                            <p:childTnLst>
                              <p:par>
                                <p:cTn id="110" presetID="10" presetClass="exit" presetSubtype="0" fill="hold" nodeType="afterEffect">
                                  <p:stCondLst>
                                    <p:cond delay="0"/>
                                  </p:stCondLst>
                                  <p:childTnLst>
                                    <p:animEffect transition="out" filter="fade">
                                      <p:cBhvr>
                                        <p:cTn id="111" dur="350"/>
                                        <p:tgtEl>
                                          <p:spTgt spid="18"/>
                                        </p:tgtEl>
                                      </p:cBhvr>
                                    </p:animEffect>
                                    <p:set>
                                      <p:cBhvr>
                                        <p:cTn id="112" dur="1" fill="hold">
                                          <p:stCondLst>
                                            <p:cond delay="349"/>
                                          </p:stCondLst>
                                        </p:cTn>
                                        <p:tgtEl>
                                          <p:spTgt spid="18"/>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350"/>
                                        <p:tgtEl>
                                          <p:spTgt spid="19"/>
                                        </p:tgtEl>
                                      </p:cBhvr>
                                    </p:animEffect>
                                    <p:set>
                                      <p:cBhvr>
                                        <p:cTn id="115" dur="1" fill="hold">
                                          <p:stCondLst>
                                            <p:cond delay="349"/>
                                          </p:stCondLst>
                                        </p:cTn>
                                        <p:tgtEl>
                                          <p:spTgt spid="19"/>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800"/>
                                        <p:tgtEl>
                                          <p:spTgt spid="25"/>
                                        </p:tgtEl>
                                      </p:cBhvr>
                                    </p:animEffect>
                                    <p:anim calcmode="lin" valueType="num">
                                      <p:cBhvr additive="base">
                                        <p:cTn id="121" dur="800" fill="hold" decel="100000"/>
                                        <p:tgtEl>
                                          <p:spTgt spid="25"/>
                                        </p:tgtEl>
                                        <p:attrNameLst>
                                          <p:attrName>ppt_x</p:attrName>
                                        </p:attrNameLst>
                                      </p:cBhvr>
                                      <p:tavLst>
                                        <p:tav tm="0">
                                          <p:val>
                                            <p:strVal val="#ppt_x"/>
                                          </p:val>
                                        </p:tav>
                                        <p:tav tm="100000">
                                          <p:val>
                                            <p:strVal val="#ppt_x"/>
                                          </p:val>
                                        </p:tav>
                                      </p:tavLst>
                                    </p:anim>
                                    <p:anim calcmode="lin" valueType="num">
                                      <p:cBhvr additive="base">
                                        <p:cTn id="122" dur="800" fill="hold" decel="100000"/>
                                        <p:tgtEl>
                                          <p:spTgt spid="25"/>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1" grpId="0" animBg="1"/>
      <p:bldP spid="23" grpId="0" animBg="1"/>
      <p:bldP spid="24" grpId="0" animBg="1"/>
      <p:bldP spid="2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ZWEI LINKSABBIEGER</a:t>
            </a:r>
            <a:endParaRPr lang="en-US" sz="1300" dirty="0"/>
          </a:p>
        </p:txBody>
      </p:sp>
      <p:sp>
        <p:nvSpPr>
          <p:cNvPr id="6" name="e41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Voreinander</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abbiegen</a:t>
            </a:r>
            <a:endParaRPr lang="en-US" sz="4800" dirty="0"/>
          </a:p>
        </p:txBody>
      </p:sp>
      <p:sp>
        <p:nvSpPr>
          <p:cNvPr id="7" name="e41_3"/>
          <p:cNvSpPr txBox="1"/>
          <p:nvPr/>
        </p:nvSpPr>
        <p:spPr>
          <a:xfrm>
            <a:off x="731520" y="3108960"/>
            <a:ext cx="4023360" cy="914400"/>
          </a:xfrm>
          <a:prstGeom prst="rect">
            <a:avLst/>
          </a:prstGeom>
          <a:noFill/>
          <a:ln/>
        </p:spPr>
        <p:txBody>
          <a:bodyPr wrap="square" lIns="0" tIns="0" rIns="0" bIns="0" rtlCol="0" anchor="t"/>
          <a:lstStyle/>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Ihr wollt beide links abbiegen.</a:t>
            </a:r>
            <a:endParaRPr lang="en-US" sz="1900" dirty="0"/>
          </a:p>
          <a:p>
            <a:pPr algn="l" indent="0" marL="0">
              <a:lnSpc>
                <a:spcPct val="108000"/>
              </a:lnSpc>
              <a:buNone/>
            </a:pPr>
            <a:r>
              <a:rPr lang="en-US" sz="1900" dirty="0">
                <a:solidFill>
                  <a:srgbClr val="A7B0BD"/>
                </a:solidFill>
                <a:latin typeface="Calibri" pitchFamily="34" charset="0"/>
                <a:ea typeface="Calibri" pitchFamily="34" charset="-122"/>
                <a:cs typeface="Calibri" pitchFamily="34" charset="-120"/>
              </a:rPr>
              <a:t>Wie fahrt ihr?</a:t>
            </a:r>
            <a:endParaRPr lang="en-US" sz="1900" dirty="0"/>
          </a:p>
        </p:txBody>
      </p:sp>
      <p:sp>
        <p:nvSpPr>
          <p:cNvPr id="8" name="e41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1_5"/>
          <p:cNvSpPr/>
          <p:nvPr/>
        </p:nvSpPr>
        <p:spPr>
          <a:xfrm>
            <a:off x="8983431" y="4861024"/>
            <a:ext cx="147401" cy="147401"/>
          </a:xfrm>
          <a:prstGeom prst="ellipse">
            <a:avLst/>
          </a:prstGeom>
          <a:solidFill>
            <a:srgbClr val="1B1F27"/>
          </a:solidFill>
          <a:ln/>
        </p:spPr>
      </p:sp>
      <p:sp>
        <p:nvSpPr>
          <p:cNvPr id="10" name="e41_6"/>
          <p:cNvSpPr/>
          <p:nvPr/>
        </p:nvSpPr>
        <p:spPr>
          <a:xfrm>
            <a:off x="8983431" y="5058827"/>
            <a:ext cx="147401" cy="147401"/>
          </a:xfrm>
          <a:prstGeom prst="ellipse">
            <a:avLst/>
          </a:prstGeom>
          <a:solidFill>
            <a:srgbClr val="1B1F27"/>
          </a:solidFill>
          <a:ln/>
        </p:spPr>
      </p:sp>
      <p:sp>
        <p:nvSpPr>
          <p:cNvPr id="11" name="e41_7"/>
          <p:cNvSpPr/>
          <p:nvPr/>
        </p:nvSpPr>
        <p:spPr>
          <a:xfrm>
            <a:off x="8983431" y="5256630"/>
            <a:ext cx="147401" cy="147401"/>
          </a:xfrm>
          <a:prstGeom prst="ellipse">
            <a:avLst/>
          </a:prstGeom>
          <a:solidFill>
            <a:srgbClr val="1B1F27"/>
          </a:solidFill>
          <a:ln/>
        </p:spPr>
      </p:sp>
      <p:sp>
        <p:nvSpPr>
          <p:cNvPr id="12" name="e41_8"/>
          <p:cNvSpPr/>
          <p:nvPr/>
        </p:nvSpPr>
        <p:spPr>
          <a:xfrm>
            <a:off x="8983431" y="5256630"/>
            <a:ext cx="147401" cy="147401"/>
          </a:xfrm>
          <a:prstGeom prst="ellipse">
            <a:avLst/>
          </a:prstGeom>
          <a:solidFill>
            <a:srgbClr val="2EE071"/>
          </a:solidFill>
          <a:ln/>
        </p:spPr>
      </p:sp>
      <p:sp>
        <p:nvSpPr>
          <p:cNvPr id="13" name="e41_9"/>
          <p:cNvSpPr/>
          <p:nvPr/>
        </p:nvSpPr>
        <p:spPr>
          <a:xfrm>
            <a:off x="6551676" y="1394460"/>
            <a:ext cx="237744" cy="618134"/>
          </a:xfrm>
          <a:prstGeom prst="roundRect">
            <a:avLst>
              <a:gd name="adj" fmla="val 96154"/>
            </a:avLst>
          </a:prstGeom>
          <a:solidFill>
            <a:srgbClr val="07090D"/>
          </a:solidFill>
          <a:ln w="12700">
            <a:solidFill>
              <a:srgbClr val="4A5261"/>
            </a:solidFill>
            <a:prstDash val="solid"/>
          </a:ln>
        </p:spPr>
      </p:sp>
      <p:sp>
        <p:nvSpPr>
          <p:cNvPr id="14" name="e41_10"/>
          <p:cNvSpPr/>
          <p:nvPr/>
        </p:nvSpPr>
        <p:spPr>
          <a:xfrm>
            <a:off x="6596847" y="1432024"/>
            <a:ext cx="147401" cy="147401"/>
          </a:xfrm>
          <a:prstGeom prst="ellipse">
            <a:avLst/>
          </a:prstGeom>
          <a:solidFill>
            <a:srgbClr val="1B1F27"/>
          </a:solidFill>
          <a:ln/>
        </p:spPr>
      </p:sp>
      <p:sp>
        <p:nvSpPr>
          <p:cNvPr id="15" name="e41_11"/>
          <p:cNvSpPr/>
          <p:nvPr/>
        </p:nvSpPr>
        <p:spPr>
          <a:xfrm>
            <a:off x="6596847" y="1629827"/>
            <a:ext cx="147401" cy="147401"/>
          </a:xfrm>
          <a:prstGeom prst="ellipse">
            <a:avLst/>
          </a:prstGeom>
          <a:solidFill>
            <a:srgbClr val="1B1F27"/>
          </a:solidFill>
          <a:ln/>
        </p:spPr>
      </p:sp>
      <p:sp>
        <p:nvSpPr>
          <p:cNvPr id="16" name="e41_12"/>
          <p:cNvSpPr/>
          <p:nvPr/>
        </p:nvSpPr>
        <p:spPr>
          <a:xfrm>
            <a:off x="6596847" y="1827630"/>
            <a:ext cx="147401" cy="147401"/>
          </a:xfrm>
          <a:prstGeom prst="ellipse">
            <a:avLst/>
          </a:prstGeom>
          <a:solidFill>
            <a:srgbClr val="1B1F27"/>
          </a:solidFill>
          <a:ln/>
        </p:spPr>
      </p:sp>
      <p:sp>
        <p:nvSpPr>
          <p:cNvPr id="17" name="e41_13"/>
          <p:cNvSpPr/>
          <p:nvPr/>
        </p:nvSpPr>
        <p:spPr>
          <a:xfrm>
            <a:off x="6596847" y="1827630"/>
            <a:ext cx="147401" cy="147401"/>
          </a:xfrm>
          <a:prstGeom prst="ellipse">
            <a:avLst/>
          </a:prstGeom>
          <a:solidFill>
            <a:srgbClr val="2EE071"/>
          </a:solidFill>
          <a:ln/>
        </p:spPr>
      </p:sp>
      <p:pic>
        <p:nvPicPr>
          <p:cNvPr id="18" name="e41_14" descr="/tmp/claude-0/-home-user-Fahrlehrer-Kompass-/11378f77-94a8-55e9-a697-0f3efd4c20b9/scratchpad/bau/art/car_du.png">    </p:cNvPr>
          <p:cNvPicPr>
            <a:picLocks noChangeAspect="1"/>
          </p:cNvPicPr>
          <p:nvPr/>
        </p:nvPicPr>
        <p:blipFill>
          <a:blip r:embed="rId2"/>
          <a:stretch>
            <a:fillRect/>
          </a:stretch>
        </p:blipFill>
        <p:spPr>
          <a:xfrm>
            <a:off x="7939278" y="4850892"/>
            <a:ext cx="740664" cy="1481328"/>
          </a:xfrm>
          <a:prstGeom prst="rect">
            <a:avLst/>
          </a:prstGeom>
        </p:spPr>
      </p:pic>
      <p:pic>
        <p:nvPicPr>
          <p:cNvPr id="19" name="e41_15" descr="/tmp/claude-0/-home-user-Fahrlehrer-Kompass-/11378f77-94a8-55e9-a697-0f3efd4c20b9/scratchpad/bau/art/car_blau.png">    </p:cNvPr>
          <p:cNvPicPr>
            <a:picLocks noChangeAspect="1"/>
          </p:cNvPicPr>
          <p:nvPr/>
        </p:nvPicPr>
        <p:blipFill>
          <a:blip r:embed="rId3"/>
          <a:stretch>
            <a:fillRect/>
          </a:stretch>
        </p:blipFill>
        <p:spPr>
          <a:xfrm rot="10800000">
            <a:off x="7047738" y="525780"/>
            <a:ext cx="740664" cy="1481328"/>
          </a:xfrm>
          <a:prstGeom prst="rect">
            <a:avLst/>
          </a:prstGeom>
        </p:spPr>
      </p:pic>
      <p:pic>
        <p:nvPicPr>
          <p:cNvPr id="20" name="e41_16" descr="/tmp/claude-0/-home-user-Fahrlehrer-Kompass-/11378f77-94a8-55e9-a697-0f3efd4c20b9/scratchpad/bau/art/blink_L.png">    </p:cNvPr>
          <p:cNvPicPr>
            <a:picLocks noChangeAspect="1"/>
          </p:cNvPicPr>
          <p:nvPr/>
        </p:nvPicPr>
        <p:blipFill>
          <a:blip r:embed="rId4"/>
          <a:stretch>
            <a:fillRect/>
          </a:stretch>
        </p:blipFill>
        <p:spPr>
          <a:xfrm>
            <a:off x="7939278" y="4850892"/>
            <a:ext cx="740664" cy="1481328"/>
          </a:xfrm>
          <a:prstGeom prst="rect">
            <a:avLst/>
          </a:prstGeom>
        </p:spPr>
      </p:pic>
      <p:pic>
        <p:nvPicPr>
          <p:cNvPr id="21" name="e41_17" descr="/tmp/claude-0/-home-user-Fahrlehrer-Kompass-/11378f77-94a8-55e9-a697-0f3efd4c20b9/scratchpad/bau/art/blink_L.png">    </p:cNvPr>
          <p:cNvPicPr>
            <a:picLocks noChangeAspect="1"/>
          </p:cNvPicPr>
          <p:nvPr/>
        </p:nvPicPr>
        <p:blipFill>
          <a:blip r:embed="rId5"/>
          <a:stretch>
            <a:fillRect/>
          </a:stretch>
        </p:blipFill>
        <p:spPr>
          <a:xfrm rot="10800000">
            <a:off x="7047738" y="525780"/>
            <a:ext cx="740664" cy="1481328"/>
          </a:xfrm>
          <a:prstGeom prst="rect">
            <a:avLst/>
          </a:prstGeom>
        </p:spPr>
      </p:pic>
      <p:sp>
        <p:nvSpPr>
          <p:cNvPr id="22" name="e41_18"/>
          <p:cNvSpPr txBox="1"/>
          <p:nvPr/>
        </p:nvSpPr>
        <p:spPr>
          <a:xfrm>
            <a:off x="6631686" y="726948"/>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3" name="e41_19"/>
          <p:cNvSpPr txBox="1"/>
          <p:nvPr/>
        </p:nvSpPr>
        <p:spPr>
          <a:xfrm rot="-180000">
            <a:off x="731520" y="4206240"/>
            <a:ext cx="274320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22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Voreinander!</a:t>
            </a:r>
            <a:endParaRPr lang="en-US" sz="2200" dirty="0"/>
          </a:p>
        </p:txBody>
      </p:sp>
      <p:sp>
        <p:nvSpPr>
          <p:cNvPr id="24" name="e41_20"/>
          <p:cNvSpPr txBox="1"/>
          <p:nvPr/>
        </p:nvSpPr>
        <p:spPr>
          <a:xfrm>
            <a:off x="731520" y="4937760"/>
            <a:ext cx="4114800" cy="1097280"/>
          </a:xfrm>
          <a:prstGeom prst="rect">
            <a:avLst/>
          </a:prstGeom>
          <a:noFill/>
          <a:ln/>
        </p:spPr>
        <p:txBody>
          <a:bodyPr wrap="square" lIns="0" tIns="0" rIns="0" bIns="0" rtlCol="0" anchor="t"/>
          <a:lstStyle/>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Jeder biegt vor dem anderen ab.</a:t>
            </a:r>
            <a:endParaRPr lang="en-US" sz="1700" dirty="0"/>
          </a:p>
          <a:p>
            <a:pPr algn="l" indent="0" marL="0">
              <a:lnSpc>
                <a:spcPct val="108000"/>
              </a:lnSpc>
              <a:buNone/>
            </a:pPr>
            <a:r>
              <a:rPr lang="en-US" sz="1700" dirty="0">
                <a:solidFill>
                  <a:srgbClr val="F5F2EC"/>
                </a:solidFill>
                <a:latin typeface="Calibri" pitchFamily="34" charset="0"/>
                <a:ea typeface="Calibri" pitchFamily="34" charset="-122"/>
                <a:cs typeface="Calibri" pitchFamily="34" charset="-120"/>
              </a:rPr>
              <a:t>Achtung: Der andere verdeckt dir die Sicht auf den Gegenverkehr.</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grpId="0"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42" presetClass="entr" presetSubtype="0" fill="hold" grpId="0" nodeType="withEffect">
                                  <p:stCondLst>
                                    <p:cond delay="6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50"/>
                                        <p:tgtEl>
                                          <p:spTgt spid="22"/>
                                        </p:tgtEl>
                                      </p:cBhvr>
                                    </p:animEffect>
                                    <p:anim calcmode="lin" valueType="num">
                                      <p:cBhvr additive="base">
                                        <p:cTn id="53"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54" dur="650" fill="hold" decel="100000"/>
                                        <p:tgtEl>
                                          <p:spTgt spid="22"/>
                                        </p:tgtEl>
                                        <p:attrNameLst>
                                          <p:attrName>ppt_y</p:attrName>
                                        </p:attrNameLst>
                                      </p:cBhvr>
                                      <p:tavLst>
                                        <p:tav tm="0">
                                          <p:val>
                                            <p:strVal val="#ppt_y+.05"/>
                                          </p:val>
                                        </p:tav>
                                        <p:tav tm="100000">
                                          <p:val>
                                            <p:strVal val="#ppt_y"/>
                                          </p:val>
                                        </p:tav>
                                      </p:tavLst>
                                    </p:anim>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150"/>
                                        <p:tgtEl>
                                          <p:spTgt spid="20"/>
                                        </p:tgtEl>
                                      </p:cBhvr>
                                    </p:animEffect>
                                  </p:childTnLst>
                                </p:cTn>
                              </p:par>
                              <p:par>
                                <p:cTn id="58" presetID="35" presetClass="emph" presetSubtype="0" fill="hold" nodeType="withEffect" repeatCount="indefinite">
                                  <p:stCondLst>
                                    <p:cond delay="0"/>
                                  </p:stCondLst>
                                  <p:childTnLst>
                                    <p:anim calcmode="discrete" valueType="str">
                                      <p:cBhvr override="childStyle">
                                        <p:cTn id="59" dur="700"/>
                                        <p:tgtEl>
                                          <p:spTgt spid="20"/>
                                        </p:tgtEl>
                                        <p:attrNameLst>
                                          <p:attrName>style.visibility</p:attrName>
                                        </p:attrNameLst>
                                      </p:cBhvr>
                                      <p:tavLst>
                                        <p:tav tm="0">
                                          <p:val>
                                            <p:strVal val="hidden"/>
                                          </p:val>
                                        </p:tav>
                                        <p:tav tm="50000">
                                          <p:val>
                                            <p:strVal val="visible"/>
                                          </p:val>
                                        </p:tav>
                                      </p:tavLst>
                                    </p:anim>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150"/>
                                        <p:tgtEl>
                                          <p:spTgt spid="21"/>
                                        </p:tgtEl>
                                      </p:cBhvr>
                                    </p:animEffect>
                                  </p:childTnLst>
                                </p:cTn>
                              </p:par>
                              <p:par>
                                <p:cTn id="63" presetID="35" presetClass="emph" presetSubtype="0" fill="hold" nodeType="withEffect" repeatCount="indefinite">
                                  <p:stCondLst>
                                    <p:cond delay="0"/>
                                  </p:stCondLst>
                                  <p:childTnLst>
                                    <p:anim calcmode="discrete" valueType="str">
                                      <p:cBhvr override="childStyle">
                                        <p:cTn id="64" dur="700"/>
                                        <p:tgtEl>
                                          <p:spTgt spid="21"/>
                                        </p:tgtEl>
                                        <p:attrNameLst>
                                          <p:attrName>style.visibility</p:attrName>
                                        </p:attrNameLst>
                                      </p:cBhvr>
                                      <p:tavLst>
                                        <p:tav tm="0">
                                          <p:val>
                                            <p:strVal val="hidden"/>
                                          </p:val>
                                        </p:tav>
                                        <p:tav tm="50000">
                                          <p:val>
                                            <p:strVal val="visible"/>
                                          </p:val>
                                        </p:tav>
                                      </p:tavLst>
                                    </p:anim>
                                  </p:childTnLst>
                                </p:cTn>
                              </p:par>
                            </p:childTnLst>
                          </p:cTn>
                        </p:par>
                      </p:childTnLst>
                    </p:cTn>
                  </p:par>
                  <p:par>
                    <p:cTn id="65" fill="hold">
                      <p:stCondLst>
                        <p:cond delay="indefinite"/>
                      </p:stCondLst>
                      <p:childTnLst>
                        <p:par>
                          <p:cTn id="66" fill="hold">
                            <p:stCondLst>
                              <p:cond delay="0"/>
                            </p:stCondLst>
                            <p:childTnLst>
                              <p:par>
                                <p:cTn id="67" presetID="0" presetClass="path" presetSubtype="0" fill="hold" nodeType="clickEffect" accel="50000">
                                  <p:stCondLst>
                                    <p:cond delay="0"/>
                                  </p:stCondLst>
                                  <p:childTnLst>
                                    <p:animMotion origin="layout" path="M 0 0 C 0 -0.0629 0 -0.1258 0 -0.1887 E" pathEditMode="relative" rAng="0" ptsTypes="">
                                      <p:cBhvr>
                                        <p:cTn id="68" dur="832" fill="hold"/>
                                        <p:tgtEl>
                                          <p:spTgt spid="18"/>
                                        </p:tgtEl>
                                        <p:attrNameLst>
                                          <p:attrName>ppt_x</p:attrName>
                                          <p:attrName>ppt_y</p:attrName>
                                        </p:attrNameLst>
                                      </p:cBhvr>
                                      <p:rCtr x="0" y="0"/>
                                    </p:animMotion>
                                  </p:childTnLst>
                                </p:cTn>
                              </p:par>
                              <p:par>
                                <p:cTn id="69" presetID="0" presetClass="path" presetSubtype="0" fill="hold" nodeType="withEffect" accel="50000">
                                  <p:stCondLst>
                                    <p:cond delay="0"/>
                                  </p:stCondLst>
                                  <p:childTnLst>
                                    <p:animMotion origin="layout" path="M 0 0 C 0 -0.0629 0 -0.1258 0 -0.1887 E" pathEditMode="relative" rAng="0" ptsTypes="">
                                      <p:cBhvr>
                                        <p:cTn id="70" dur="832" fill="hold"/>
                                        <p:tgtEl>
                                          <p:spTgt spid="20"/>
                                        </p:tgtEl>
                                        <p:attrNameLst>
                                          <p:attrName>ppt_x</p:attrName>
                                          <p:attrName>ppt_y</p:attrName>
                                        </p:attrNameLst>
                                      </p:cBhvr>
                                      <p:rCtr x="0" y="0"/>
                                    </p:animMotion>
                                  </p:childTnLst>
                                </p:cTn>
                              </p:par>
                              <p:par>
                                <p:cTn id="71" presetID="0" presetClass="path" presetSubtype="0" fill="hold" nodeType="withEffect" accel="50000">
                                  <p:stCondLst>
                                    <p:cond delay="0"/>
                                  </p:stCondLst>
                                  <p:childTnLst>
                                    <p:animMotion origin="layout" path="M 0 0 C 0 0.0629 0 0.1258 0 0.1887 E" pathEditMode="relative" rAng="0" ptsTypes="">
                                      <p:cBhvr>
                                        <p:cTn id="72" dur="832" fill="hold"/>
                                        <p:tgtEl>
                                          <p:spTgt spid="19"/>
                                        </p:tgtEl>
                                        <p:attrNameLst>
                                          <p:attrName>ppt_x</p:attrName>
                                          <p:attrName>ppt_y</p:attrName>
                                        </p:attrNameLst>
                                      </p:cBhvr>
                                      <p:rCtr x="0" y="0"/>
                                    </p:animMotion>
                                  </p:childTnLst>
                                </p:cTn>
                              </p:par>
                              <p:par>
                                <p:cTn id="73" presetID="0" presetClass="path" presetSubtype="0" fill="hold" nodeType="withEffect" accel="50000">
                                  <p:stCondLst>
                                    <p:cond delay="0"/>
                                  </p:stCondLst>
                                  <p:childTnLst>
                                    <p:animMotion origin="layout" path="M 0 0 C 0 0.0629 0 0.1258 0 0.1887 E" pathEditMode="relative" rAng="0" ptsTypes="">
                                      <p:cBhvr>
                                        <p:cTn id="74" dur="832" fill="hold"/>
                                        <p:tgtEl>
                                          <p:spTgt spid="21"/>
                                        </p:tgtEl>
                                        <p:attrNameLst>
                                          <p:attrName>ppt_x</p:attrName>
                                          <p:attrName>ppt_y</p:attrName>
                                        </p:attrNameLst>
                                      </p:cBhvr>
                                      <p:rCtr x="0" y="0"/>
                                    </p:animMotion>
                                  </p:childTnLst>
                                </p:cTn>
                              </p:par>
                            </p:childTnLst>
                          </p:cTn>
                        </p:par>
                        <p:par>
                          <p:cTn id="75" fill="hold">
                            <p:stCondLst>
                              <p:cond delay="832"/>
                            </p:stCondLst>
                            <p:childTnLst>
                              <p:par>
                                <p:cTn id="76" presetID="0" presetClass="path" presetSubtype="0" fill="hold" nodeType="afterEffect">
                                  <p:stCondLst>
                                    <p:cond delay="0"/>
                                  </p:stCondLst>
                                  <p:childTnLst>
                                    <p:animMotion origin="layout" path="M 0 -0.1887 C 0 -0.2365 -0.0218 -0.2753 -0.0488 -0.2753 E" pathEditMode="relative" rAng="0" ptsTypes="">
                                      <p:cBhvr>
                                        <p:cTn id="77" dur="601" fill="hold"/>
                                        <p:tgtEl>
                                          <p:spTgt spid="18"/>
                                        </p:tgtEl>
                                        <p:attrNameLst>
                                          <p:attrName>ppt_x</p:attrName>
                                          <p:attrName>ppt_y</p:attrName>
                                        </p:attrNameLst>
                                      </p:cBhvr>
                                      <p:rCtr x="0" y="0"/>
                                    </p:animMotion>
                                  </p:childTnLst>
                                </p:cTn>
                              </p:par>
                              <p:par>
                                <p:cTn id="78" presetID="8" presetClass="emph" presetSubtype="0" fill="hold" nodeType="withEffect">
                                  <p:stCondLst>
                                    <p:cond delay="0"/>
                                  </p:stCondLst>
                                  <p:childTnLst>
                                    <p:animRot by="-5400000">
                                      <p:cBhvr>
                                        <p:cTn id="79" dur="601" fill="hold"/>
                                        <p:tgtEl>
                                          <p:spTgt spid="18"/>
                                        </p:tgtEl>
                                        <p:attrNameLst>
                                          <p:attrName>r</p:attrName>
                                        </p:attrNameLst>
                                      </p:cBhvr>
                                    </p:animRot>
                                  </p:childTnLst>
                                </p:cTn>
                              </p:par>
                              <p:par>
                                <p:cTn id="80" presetID="0" presetClass="path" presetSubtype="0" fill="hold" nodeType="withEffect">
                                  <p:stCondLst>
                                    <p:cond delay="0"/>
                                  </p:stCondLst>
                                  <p:childTnLst>
                                    <p:animMotion origin="layout" path="M 0 -0.1887 C 0 -0.2365 -0.0218 -0.2753 -0.0488 -0.2753 E" pathEditMode="relative" rAng="0" ptsTypes="">
                                      <p:cBhvr>
                                        <p:cTn id="81" dur="601" fill="hold"/>
                                        <p:tgtEl>
                                          <p:spTgt spid="20"/>
                                        </p:tgtEl>
                                        <p:attrNameLst>
                                          <p:attrName>ppt_x</p:attrName>
                                          <p:attrName>ppt_y</p:attrName>
                                        </p:attrNameLst>
                                      </p:cBhvr>
                                      <p:rCtr x="0" y="0"/>
                                    </p:animMotion>
                                  </p:childTnLst>
                                </p:cTn>
                              </p:par>
                              <p:par>
                                <p:cTn id="82" presetID="8" presetClass="emph" presetSubtype="0" fill="hold" nodeType="withEffect">
                                  <p:stCondLst>
                                    <p:cond delay="0"/>
                                  </p:stCondLst>
                                  <p:childTnLst>
                                    <p:animRot by="-5400000">
                                      <p:cBhvr>
                                        <p:cTn id="83" dur="601" fill="hold"/>
                                        <p:tgtEl>
                                          <p:spTgt spid="20"/>
                                        </p:tgtEl>
                                        <p:attrNameLst>
                                          <p:attrName>r</p:attrName>
                                        </p:attrNameLst>
                                      </p:cBhvr>
                                    </p:animRot>
                                  </p:childTnLst>
                                </p:cTn>
                              </p:par>
                              <p:par>
                                <p:cTn id="84" presetID="0" presetClass="path" presetSubtype="0" fill="hold" nodeType="withEffect">
                                  <p:stCondLst>
                                    <p:cond delay="0"/>
                                  </p:stCondLst>
                                  <p:childTnLst>
                                    <p:animMotion origin="layout" path="M 0 0.1887 C 0 0.2365 0.0218 0.2753 0.0488 0.2753 E" pathEditMode="relative" rAng="0" ptsTypes="">
                                      <p:cBhvr>
                                        <p:cTn id="85" dur="601" fill="hold"/>
                                        <p:tgtEl>
                                          <p:spTgt spid="19"/>
                                        </p:tgtEl>
                                        <p:attrNameLst>
                                          <p:attrName>ppt_x</p:attrName>
                                          <p:attrName>ppt_y</p:attrName>
                                        </p:attrNameLst>
                                      </p:cBhvr>
                                      <p:rCtr x="0" y="0"/>
                                    </p:animMotion>
                                  </p:childTnLst>
                                </p:cTn>
                              </p:par>
                              <p:par>
                                <p:cTn id="86" presetID="8" presetClass="emph" presetSubtype="0" fill="hold" nodeType="withEffect">
                                  <p:stCondLst>
                                    <p:cond delay="0"/>
                                  </p:stCondLst>
                                  <p:childTnLst>
                                    <p:animRot by="-5400000">
                                      <p:cBhvr>
                                        <p:cTn id="87" dur="601" fill="hold"/>
                                        <p:tgtEl>
                                          <p:spTgt spid="19"/>
                                        </p:tgtEl>
                                        <p:attrNameLst>
                                          <p:attrName>r</p:attrName>
                                        </p:attrNameLst>
                                      </p:cBhvr>
                                    </p:animRot>
                                  </p:childTnLst>
                                </p:cTn>
                              </p:par>
                              <p:par>
                                <p:cTn id="88" presetID="0" presetClass="path" presetSubtype="0" fill="hold" nodeType="withEffect">
                                  <p:stCondLst>
                                    <p:cond delay="0"/>
                                  </p:stCondLst>
                                  <p:childTnLst>
                                    <p:animMotion origin="layout" path="M 0 0.1887 C 0 0.2365 0.0218 0.2753 0.0488 0.2753 E" pathEditMode="relative" rAng="0" ptsTypes="">
                                      <p:cBhvr>
                                        <p:cTn id="89" dur="601" fill="hold"/>
                                        <p:tgtEl>
                                          <p:spTgt spid="21"/>
                                        </p:tgtEl>
                                        <p:attrNameLst>
                                          <p:attrName>ppt_x</p:attrName>
                                          <p:attrName>ppt_y</p:attrName>
                                        </p:attrNameLst>
                                      </p:cBhvr>
                                      <p:rCtr x="0" y="0"/>
                                    </p:animMotion>
                                  </p:childTnLst>
                                </p:cTn>
                              </p:par>
                              <p:par>
                                <p:cTn id="90" presetID="8" presetClass="emph" presetSubtype="0" fill="hold" nodeType="withEffect">
                                  <p:stCondLst>
                                    <p:cond delay="0"/>
                                  </p:stCondLst>
                                  <p:childTnLst>
                                    <p:animRot by="-5400000">
                                      <p:cBhvr>
                                        <p:cTn id="91" dur="601" fill="hold"/>
                                        <p:tgtEl>
                                          <p:spTgt spid="21"/>
                                        </p:tgtEl>
                                        <p:attrNameLst>
                                          <p:attrName>r</p:attrName>
                                        </p:attrNameLst>
                                      </p:cBhvr>
                                    </p:animRot>
                                  </p:childTnLst>
                                </p:cTn>
                              </p:par>
                            </p:childTnLst>
                          </p:cTn>
                        </p:par>
                        <p:par>
                          <p:cTn id="92" fill="hold">
                            <p:stCondLst>
                              <p:cond delay="1433"/>
                            </p:stCondLst>
                            <p:childTnLst>
                              <p:par>
                                <p:cTn id="93" presetID="0" presetClass="path" presetSubtype="0" fill="hold" nodeType="afterEffect" decel="50000">
                                  <p:stCondLst>
                                    <p:cond delay="0"/>
                                  </p:stCondLst>
                                  <p:childTnLst>
                                    <p:animMotion origin="layout" path="M -0.0488 -0.2753 C -0.0891 -0.2753 -0.1416 -0.3803 -0.1866 -0.3803 E" pathEditMode="relative" rAng="0" ptsTypes="">
                                      <p:cBhvr>
                                        <p:cTn id="94" dur="1190" fill="hold"/>
                                        <p:tgtEl>
                                          <p:spTgt spid="18"/>
                                        </p:tgtEl>
                                        <p:attrNameLst>
                                          <p:attrName>ppt_x</p:attrName>
                                          <p:attrName>ppt_y</p:attrName>
                                        </p:attrNameLst>
                                      </p:cBhvr>
                                      <p:rCtr x="0" y="0"/>
                                    </p:animMotion>
                                  </p:childTnLst>
                                </p:cTn>
                              </p:par>
                              <p:par>
                                <p:cTn id="95" presetID="0" presetClass="path" presetSubtype="0" fill="hold" nodeType="withEffect" decel="50000">
                                  <p:stCondLst>
                                    <p:cond delay="0"/>
                                  </p:stCondLst>
                                  <p:childTnLst>
                                    <p:animMotion origin="layout" path="M -0.0488 -0.2753 C -0.0891 -0.2753 -0.1416 -0.3803 -0.1866 -0.3803 E" pathEditMode="relative" rAng="0" ptsTypes="">
                                      <p:cBhvr>
                                        <p:cTn id="96" dur="1190" fill="hold"/>
                                        <p:tgtEl>
                                          <p:spTgt spid="20"/>
                                        </p:tgtEl>
                                        <p:attrNameLst>
                                          <p:attrName>ppt_x</p:attrName>
                                          <p:attrName>ppt_y</p:attrName>
                                        </p:attrNameLst>
                                      </p:cBhvr>
                                      <p:rCtr x="0" y="0"/>
                                    </p:animMotion>
                                  </p:childTnLst>
                                </p:cTn>
                              </p:par>
                              <p:par>
                                <p:cTn id="97" presetID="0" presetClass="path" presetSubtype="0" fill="hold" nodeType="withEffect" decel="50000">
                                  <p:stCondLst>
                                    <p:cond delay="0"/>
                                  </p:stCondLst>
                                  <p:childTnLst>
                                    <p:animMotion origin="layout" path="M 0.0488 0.2753 C 0.0891 0.2753 0.1416 0.3803 0.1866 0.3803 E" pathEditMode="relative" rAng="0" ptsTypes="">
                                      <p:cBhvr>
                                        <p:cTn id="98" dur="1190" fill="hold"/>
                                        <p:tgtEl>
                                          <p:spTgt spid="19"/>
                                        </p:tgtEl>
                                        <p:attrNameLst>
                                          <p:attrName>ppt_x</p:attrName>
                                          <p:attrName>ppt_y</p:attrName>
                                        </p:attrNameLst>
                                      </p:cBhvr>
                                      <p:rCtr x="0" y="0"/>
                                    </p:animMotion>
                                  </p:childTnLst>
                                </p:cTn>
                              </p:par>
                              <p:par>
                                <p:cTn id="99" presetID="0" presetClass="path" presetSubtype="0" fill="hold" nodeType="withEffect" decel="50000">
                                  <p:stCondLst>
                                    <p:cond delay="0"/>
                                  </p:stCondLst>
                                  <p:childTnLst>
                                    <p:animMotion origin="layout" path="M 0.0488 0.2753 C 0.0891 0.2753 0.1416 0.3803 0.1866 0.3803 E" pathEditMode="relative" rAng="0" ptsTypes="">
                                      <p:cBhvr>
                                        <p:cTn id="100" dur="1190" fill="hold"/>
                                        <p:tgtEl>
                                          <p:spTgt spid="21"/>
                                        </p:tgtEl>
                                        <p:attrNameLst>
                                          <p:attrName>ppt_x</p:attrName>
                                          <p:attrName>ppt_y</p:attrName>
                                        </p:attrNameLst>
                                      </p:cBhvr>
                                      <p:rCtr x="0" y="0"/>
                                    </p:animMotion>
                                  </p:childTnLst>
                                </p:cTn>
                              </p:par>
                            </p:childTnLst>
                          </p:cTn>
                        </p:par>
                        <p:par>
                          <p:cTn id="101" fill="hold">
                            <p:stCondLst>
                              <p:cond delay="2623"/>
                            </p:stCondLst>
                            <p:childTnLst>
                              <p:par>
                                <p:cTn id="102" presetID="10" presetClass="exit" presetSubtype="0" fill="hold" nodeType="afterEffect">
                                  <p:stCondLst>
                                    <p:cond delay="0"/>
                                  </p:stCondLst>
                                  <p:childTnLst>
                                    <p:animEffect transition="out" filter="fade">
                                      <p:cBhvr>
                                        <p:cTn id="103" dur="350"/>
                                        <p:tgtEl>
                                          <p:spTgt spid="18"/>
                                        </p:tgtEl>
                                      </p:cBhvr>
                                    </p:animEffect>
                                    <p:set>
                                      <p:cBhvr>
                                        <p:cTn id="104" dur="1" fill="hold">
                                          <p:stCondLst>
                                            <p:cond delay="349"/>
                                          </p:stCondLst>
                                        </p:cTn>
                                        <p:tgtEl>
                                          <p:spTgt spid="18"/>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50"/>
                                        <p:tgtEl>
                                          <p:spTgt spid="20"/>
                                        </p:tgtEl>
                                      </p:cBhvr>
                                    </p:animEffect>
                                    <p:set>
                                      <p:cBhvr>
                                        <p:cTn id="107" dur="1" fill="hold">
                                          <p:stCondLst>
                                            <p:cond delay="349"/>
                                          </p:stCondLst>
                                        </p:cTn>
                                        <p:tgtEl>
                                          <p:spTgt spid="20"/>
                                        </p:tgtEl>
                                        <p:attrNameLst>
                                          <p:attrName>style.visibility</p:attrName>
                                        </p:attrNameLst>
                                      </p:cBhvr>
                                      <p:to>
                                        <p:strVal val="hidden"/>
                                      </p:to>
                                    </p:set>
                                  </p:childTnLst>
                                </p:cTn>
                              </p:par>
                              <p:par>
                                <p:cTn id="108" presetID="10" presetClass="exit" presetSubtype="0" fill="hold" nodeType="withEffect">
                                  <p:stCondLst>
                                    <p:cond delay="0"/>
                                  </p:stCondLst>
                                  <p:childTnLst>
                                    <p:animEffect transition="out" filter="fade">
                                      <p:cBhvr>
                                        <p:cTn id="109" dur="350"/>
                                        <p:tgtEl>
                                          <p:spTgt spid="19"/>
                                        </p:tgtEl>
                                      </p:cBhvr>
                                    </p:animEffect>
                                    <p:set>
                                      <p:cBhvr>
                                        <p:cTn id="110" dur="1" fill="hold">
                                          <p:stCondLst>
                                            <p:cond delay="349"/>
                                          </p:stCondLst>
                                        </p:cTn>
                                        <p:tgtEl>
                                          <p:spTgt spid="19"/>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50"/>
                                        <p:tgtEl>
                                          <p:spTgt spid="21"/>
                                        </p:tgtEl>
                                      </p:cBhvr>
                                    </p:animEffect>
                                    <p:set>
                                      <p:cBhvr>
                                        <p:cTn id="113" dur="1" fill="hold">
                                          <p:stCondLst>
                                            <p:cond delay="349"/>
                                          </p:stCondLst>
                                        </p:cTn>
                                        <p:tgtEl>
                                          <p:spTgt spid="21"/>
                                        </p:tgtEl>
                                        <p:attrNameLst>
                                          <p:attrName>style.visibility</p:attrName>
                                        </p:attrNameLst>
                                      </p:cBhvr>
                                      <p:to>
                                        <p:strVal val="hidden"/>
                                      </p:to>
                                    </p:set>
                                  </p:childTnLst>
                                </p:cTn>
                              </p:par>
                            </p:childTnLst>
                          </p:cTn>
                        </p:par>
                        <p:par>
                          <p:cTn id="114" fill="hold">
                            <p:stCondLst>
                              <p:cond delay="2973"/>
                            </p:stCondLst>
                            <p:childTnLst>
                              <p:par>
                                <p:cTn id="115" presetID="53" presetClass="entr" presetSubtype="32" fill="hold" grpId="0" nodeType="afterEffect">
                                  <p:stCondLst>
                                    <p:cond delay="0"/>
                                  </p:stCondLst>
                                  <p:childTnLst>
                                    <p:set>
                                      <p:cBhvr>
                                        <p:cTn id="116" dur="1" fill="hold">
                                          <p:stCondLst>
                                            <p:cond delay="0"/>
                                          </p:stCondLst>
                                        </p:cTn>
                                        <p:tgtEl>
                                          <p:spTgt spid="23"/>
                                        </p:tgtEl>
                                        <p:attrNameLst>
                                          <p:attrName>style.visibility</p:attrName>
                                        </p:attrNameLst>
                                      </p:cBhvr>
                                      <p:to>
                                        <p:strVal val="visible"/>
                                      </p:to>
                                    </p:set>
                                    <p:anim calcmode="lin" valueType="num">
                                      <p:cBhvr additive="base">
                                        <p:cTn id="117"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18" dur="380" fill="hold" accel="60000"/>
                                        <p:tgtEl>
                                          <p:spTgt spid="23"/>
                                        </p:tgtEl>
                                        <p:attrNameLst>
                                          <p:attrName>ppt_h</p:attrName>
                                        </p:attrNameLst>
                                      </p:cBhvr>
                                      <p:tavLst>
                                        <p:tav tm="0">
                                          <p:val>
                                            <p:strVal val="#ppt_h*2.2"/>
                                          </p:val>
                                        </p:tav>
                                        <p:tav tm="100000">
                                          <p:val>
                                            <p:strVal val="#ppt_h"/>
                                          </p:val>
                                        </p:tav>
                                      </p:tavLst>
                                    </p:anim>
                                    <p:animEffect transition="in" filter="fade">
                                      <p:cBhvr>
                                        <p:cTn id="119" dur="228"/>
                                        <p:tgtEl>
                                          <p:spTgt spid="23"/>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24"/>
                                        </p:tgtEl>
                                        <p:attrNameLst>
                                          <p:attrName>style.visibility</p:attrName>
                                        </p:attrNameLst>
                                      </p:cBhvr>
                                      <p:to>
                                        <p:strVal val="visible"/>
                                      </p:to>
                                    </p:set>
                                    <p:animEffect transition="in" filter="fade">
                                      <p:cBhvr>
                                        <p:cTn id="124" dur="6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2" grpId="0" animBg="1"/>
      <p:bldP spid="23" grpId="0" animBg="1"/>
      <p:bldP spid="2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ROT MIT GRÜNPFEIL</a:t>
            </a:r>
            <a:endParaRPr lang="en-US" sz="1300" dirty="0"/>
          </a:p>
        </p:txBody>
      </p:sp>
      <p:sp>
        <p:nvSpPr>
          <p:cNvPr id="6" name="e42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Der Grünpfeil-</a:t>
            </a:r>
            <a:endParaRPr lang="en-US" sz="4800" dirty="0"/>
          </a:p>
          <a:p>
            <a:pPr algn="l" indent="0" marL="0">
              <a:lnSpc>
                <a:spcPct val="95000"/>
              </a:lnSpc>
              <a:buNone/>
            </a:pPr>
            <a:r>
              <a:rPr lang="en-US" sz="4800" b="1" dirty="0">
                <a:solidFill>
                  <a:srgbClr val="F5F2EC"/>
                </a:solidFill>
                <a:latin typeface="Cambria" pitchFamily="34" charset="0"/>
                <a:ea typeface="Cambria" pitchFamily="34" charset="-122"/>
                <a:cs typeface="Cambria" pitchFamily="34" charset="-120"/>
              </a:rPr>
              <a:t>Test</a:t>
            </a:r>
            <a:endParaRPr lang="en-US" sz="4800" dirty="0"/>
          </a:p>
        </p:txBody>
      </p:sp>
      <p:sp>
        <p:nvSpPr>
          <p:cNvPr id="7" name="e42_3"/>
          <p:cNvSpPr txBox="1"/>
          <p:nvPr/>
        </p:nvSpPr>
        <p:spPr>
          <a:xfrm>
            <a:off x="731520" y="3063240"/>
            <a:ext cx="4023360" cy="73152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Rot, aber Grünpfeil. Was tust du, und in welcher Reihenfolge?</a:t>
            </a:r>
            <a:endParaRPr lang="en-US" sz="1800" dirty="0"/>
          </a:p>
        </p:txBody>
      </p:sp>
      <p:sp>
        <p:nvSpPr>
          <p:cNvPr id="8" name="e42_4"/>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9" name="e42_5"/>
          <p:cNvSpPr/>
          <p:nvPr/>
        </p:nvSpPr>
        <p:spPr>
          <a:xfrm>
            <a:off x="8983431" y="4861024"/>
            <a:ext cx="147401" cy="147401"/>
          </a:xfrm>
          <a:prstGeom prst="ellipse">
            <a:avLst/>
          </a:prstGeom>
          <a:solidFill>
            <a:srgbClr val="1B1F27"/>
          </a:solidFill>
          <a:ln/>
        </p:spPr>
      </p:sp>
      <p:sp>
        <p:nvSpPr>
          <p:cNvPr id="10" name="e42_6"/>
          <p:cNvSpPr/>
          <p:nvPr/>
        </p:nvSpPr>
        <p:spPr>
          <a:xfrm>
            <a:off x="8983431" y="5058827"/>
            <a:ext cx="147401" cy="147401"/>
          </a:xfrm>
          <a:prstGeom prst="ellipse">
            <a:avLst/>
          </a:prstGeom>
          <a:solidFill>
            <a:srgbClr val="1B1F27"/>
          </a:solidFill>
          <a:ln/>
        </p:spPr>
      </p:sp>
      <p:sp>
        <p:nvSpPr>
          <p:cNvPr id="11" name="e42_7"/>
          <p:cNvSpPr/>
          <p:nvPr/>
        </p:nvSpPr>
        <p:spPr>
          <a:xfrm>
            <a:off x="8983431" y="5256630"/>
            <a:ext cx="147401" cy="147401"/>
          </a:xfrm>
          <a:prstGeom prst="ellipse">
            <a:avLst/>
          </a:prstGeom>
          <a:solidFill>
            <a:srgbClr val="1B1F27"/>
          </a:solidFill>
          <a:ln/>
        </p:spPr>
      </p:sp>
      <p:sp>
        <p:nvSpPr>
          <p:cNvPr id="12" name="e42_8"/>
          <p:cNvSpPr/>
          <p:nvPr/>
        </p:nvSpPr>
        <p:spPr>
          <a:xfrm>
            <a:off x="8983431" y="4861024"/>
            <a:ext cx="147401" cy="147401"/>
          </a:xfrm>
          <a:prstGeom prst="ellipse">
            <a:avLst/>
          </a:prstGeom>
          <a:solidFill>
            <a:srgbClr val="FF3B30"/>
          </a:solidFill>
          <a:ln/>
        </p:spPr>
      </p:sp>
      <p:pic>
        <p:nvPicPr>
          <p:cNvPr id="13" name="e42_9" descr="Verkehrszeichen 720">    </p:cNvPr>
          <p:cNvPicPr>
            <a:picLocks noChangeAspect="1"/>
          </p:cNvPicPr>
          <p:nvPr/>
        </p:nvPicPr>
        <p:blipFill>
          <a:blip r:embed="rId2"/>
          <a:stretch>
            <a:fillRect/>
          </a:stretch>
        </p:blipFill>
        <p:spPr>
          <a:xfrm>
            <a:off x="9230868" y="4978908"/>
            <a:ext cx="329184" cy="329184"/>
          </a:xfrm>
          <a:prstGeom prst="rect">
            <a:avLst/>
          </a:prstGeom>
        </p:spPr>
      </p:pic>
      <p:sp>
        <p:nvSpPr>
          <p:cNvPr id="14" name="e42_10"/>
          <p:cNvSpPr/>
          <p:nvPr/>
        </p:nvSpPr>
        <p:spPr>
          <a:xfrm>
            <a:off x="6149340" y="4457700"/>
            <a:ext cx="237744" cy="618134"/>
          </a:xfrm>
          <a:prstGeom prst="roundRect">
            <a:avLst>
              <a:gd name="adj" fmla="val 96154"/>
            </a:avLst>
          </a:prstGeom>
          <a:solidFill>
            <a:srgbClr val="07090D"/>
          </a:solidFill>
          <a:ln w="12700">
            <a:solidFill>
              <a:srgbClr val="4A5261"/>
            </a:solidFill>
            <a:prstDash val="solid"/>
          </a:ln>
        </p:spPr>
      </p:sp>
      <p:sp>
        <p:nvSpPr>
          <p:cNvPr id="15" name="e42_11"/>
          <p:cNvSpPr/>
          <p:nvPr/>
        </p:nvSpPr>
        <p:spPr>
          <a:xfrm>
            <a:off x="6194511" y="4495264"/>
            <a:ext cx="147401" cy="147401"/>
          </a:xfrm>
          <a:prstGeom prst="ellipse">
            <a:avLst/>
          </a:prstGeom>
          <a:solidFill>
            <a:srgbClr val="1B1F27"/>
          </a:solidFill>
          <a:ln/>
        </p:spPr>
      </p:sp>
      <p:sp>
        <p:nvSpPr>
          <p:cNvPr id="16" name="e42_12"/>
          <p:cNvSpPr/>
          <p:nvPr/>
        </p:nvSpPr>
        <p:spPr>
          <a:xfrm>
            <a:off x="6194511" y="4693067"/>
            <a:ext cx="147401" cy="147401"/>
          </a:xfrm>
          <a:prstGeom prst="ellipse">
            <a:avLst/>
          </a:prstGeom>
          <a:solidFill>
            <a:srgbClr val="1B1F27"/>
          </a:solidFill>
          <a:ln/>
        </p:spPr>
      </p:sp>
      <p:sp>
        <p:nvSpPr>
          <p:cNvPr id="17" name="e42_13"/>
          <p:cNvSpPr/>
          <p:nvPr/>
        </p:nvSpPr>
        <p:spPr>
          <a:xfrm>
            <a:off x="6194511" y="4890870"/>
            <a:ext cx="147401" cy="147401"/>
          </a:xfrm>
          <a:prstGeom prst="ellipse">
            <a:avLst/>
          </a:prstGeom>
          <a:solidFill>
            <a:srgbClr val="1B1F27"/>
          </a:solidFill>
          <a:ln/>
        </p:spPr>
      </p:sp>
      <p:sp>
        <p:nvSpPr>
          <p:cNvPr id="18" name="e42_14"/>
          <p:cNvSpPr/>
          <p:nvPr/>
        </p:nvSpPr>
        <p:spPr>
          <a:xfrm>
            <a:off x="6194511" y="4890870"/>
            <a:ext cx="147401" cy="147401"/>
          </a:xfrm>
          <a:prstGeom prst="ellipse">
            <a:avLst/>
          </a:prstGeom>
          <a:solidFill>
            <a:srgbClr val="2EE071"/>
          </a:solidFill>
          <a:ln/>
        </p:spPr>
      </p:sp>
      <p:pic>
        <p:nvPicPr>
          <p:cNvPr id="19" name="e42_15" descr="/tmp/claude-0/-home-user-Fahrlehrer-Kompass-/11378f77-94a8-55e9-a697-0f3efd4c20b9/scratchpad/bau/art/car_du.png">    </p:cNvPr>
          <p:cNvPicPr>
            <a:picLocks noChangeAspect="1"/>
          </p:cNvPicPr>
          <p:nvPr/>
        </p:nvPicPr>
        <p:blipFill>
          <a:blip r:embed="rId3"/>
          <a:stretch>
            <a:fillRect/>
          </a:stretch>
        </p:blipFill>
        <p:spPr>
          <a:xfrm>
            <a:off x="7939278" y="5705856"/>
            <a:ext cx="740664" cy="1481328"/>
          </a:xfrm>
          <a:prstGeom prst="rect">
            <a:avLst/>
          </a:prstGeom>
        </p:spPr>
      </p:pic>
      <p:pic>
        <p:nvPicPr>
          <p:cNvPr id="20" name="e42_16" descr="/tmp/claude-0/-home-user-Fahrlehrer-Kompass-/11378f77-94a8-55e9-a697-0f3efd4c20b9/scratchpad/bau/art/blink_R.png">    </p:cNvPr>
          <p:cNvPicPr>
            <a:picLocks noChangeAspect="1"/>
          </p:cNvPicPr>
          <p:nvPr/>
        </p:nvPicPr>
        <p:blipFill>
          <a:blip r:embed="rId4"/>
          <a:stretch>
            <a:fillRect/>
          </a:stretch>
        </p:blipFill>
        <p:spPr>
          <a:xfrm>
            <a:off x="7939278" y="5705856"/>
            <a:ext cx="740664" cy="1481328"/>
          </a:xfrm>
          <a:prstGeom prst="rect">
            <a:avLst/>
          </a:prstGeom>
        </p:spPr>
      </p:pic>
      <p:pic>
        <p:nvPicPr>
          <p:cNvPr id="21" name="e42_17" descr="/tmp/claude-0/-home-user-Fahrlehrer-Kompass-/11378f77-94a8-55e9-a697-0f3efd4c20b9/scratchpad/bau/art/car_rot.png">    </p:cNvPr>
          <p:cNvPicPr>
            <a:picLocks noChangeAspect="1"/>
          </p:cNvPicPr>
          <p:nvPr/>
        </p:nvPicPr>
        <p:blipFill>
          <a:blip r:embed="rId5"/>
          <a:stretch>
            <a:fillRect/>
          </a:stretch>
        </p:blipFill>
        <p:spPr>
          <a:xfrm rot="5400000">
            <a:off x="5422392" y="3134106"/>
            <a:ext cx="740664" cy="1481328"/>
          </a:xfrm>
          <a:prstGeom prst="rect">
            <a:avLst/>
          </a:prstGeom>
        </p:spPr>
      </p:pic>
      <p:pic>
        <p:nvPicPr>
          <p:cNvPr id="22" name="e42_18" descr="/tmp/claude-0/-home-user-Fahrlehrer-Kompass-/11378f77-94a8-55e9-a697-0f3efd4c20b9/scratchpad/bau/art/ped_b.png">    </p:cNvPr>
          <p:cNvPicPr>
            <a:picLocks noChangeAspect="1"/>
          </p:cNvPicPr>
          <p:nvPr/>
        </p:nvPicPr>
        <p:blipFill>
          <a:blip r:embed="rId6"/>
          <a:stretch>
            <a:fillRect/>
          </a:stretch>
        </p:blipFill>
        <p:spPr>
          <a:xfrm rot="10800000">
            <a:off x="8869680" y="1995678"/>
            <a:ext cx="301752" cy="260604"/>
          </a:xfrm>
          <a:prstGeom prst="rect">
            <a:avLst/>
          </a:prstGeom>
        </p:spPr>
      </p:pic>
      <p:pic>
        <p:nvPicPr>
          <p:cNvPr id="23" name="e42_19" descr="/tmp/claude-0/-home-user-Fahrlehrer-Kompass-/11378f77-94a8-55e9-a697-0f3efd4c20b9/scratchpad/bau/art/brake.png">    </p:cNvPr>
          <p:cNvPicPr>
            <a:picLocks noChangeAspect="1"/>
          </p:cNvPicPr>
          <p:nvPr/>
        </p:nvPicPr>
        <p:blipFill>
          <a:blip r:embed="rId7"/>
          <a:stretch>
            <a:fillRect/>
          </a:stretch>
        </p:blipFill>
        <p:spPr>
          <a:xfrm>
            <a:off x="7939278" y="4855464"/>
            <a:ext cx="740664" cy="1481328"/>
          </a:xfrm>
          <a:prstGeom prst="rect">
            <a:avLst/>
          </a:prstGeom>
        </p:spPr>
      </p:pic>
      <p:sp>
        <p:nvSpPr>
          <p:cNvPr id="24" name="e42_20"/>
          <p:cNvSpPr txBox="1"/>
          <p:nvPr/>
        </p:nvSpPr>
        <p:spPr>
          <a:xfrm rot="-180000">
            <a:off x="731520" y="3840480"/>
            <a:ext cx="3108960" cy="502920"/>
          </a:xfrm>
          <a:prstGeom prst="roundRect">
            <a:avLst>
              <a:gd name="adj" fmla="val 36364"/>
            </a:avLst>
          </a:prstGeom>
          <a:solidFill>
            <a:srgbClr val="FF4D4D"/>
          </a:solidFill>
          <a:ln/>
        </p:spPr>
        <p:txBody>
          <a:bodyPr wrap="square" lIns="0" tIns="0" rIns="0" bIns="0" rtlCol="0" anchor="ctr"/>
          <a:lstStyle/>
          <a:p>
            <a:pPr algn="ctr" indent="0" marL="0">
              <a:buNone/>
            </a:pPr>
            <a:r>
              <a:rPr lang="en-US" sz="2000" b="1" spc="100" kern="0" dirty="0">
                <a:solidFill>
                  <a:srgbClr val="0A0C10"/>
                </a:solidFill>
                <a:effectLst>
                  <a:glow rad="177800">
                    <a:srgbClr val="FF4D4D">
                      <a:alpha val="45000"/>
                    </a:srgbClr>
                  </a:glow>
                </a:effectLst>
                <a:latin typeface="Calibri" pitchFamily="34" charset="0"/>
                <a:ea typeface="Calibri" pitchFamily="34" charset="-122"/>
                <a:cs typeface="Calibri" pitchFamily="34" charset="-120"/>
              </a:rPr>
              <a:t>1 · Anhalten!</a:t>
            </a:r>
            <a:endParaRPr lang="en-US" sz="2000" dirty="0"/>
          </a:p>
        </p:txBody>
      </p:sp>
      <p:sp>
        <p:nvSpPr>
          <p:cNvPr id="25" name="e42_21"/>
          <p:cNvSpPr txBox="1"/>
          <p:nvPr/>
        </p:nvSpPr>
        <p:spPr>
          <a:xfrm rot="-180000">
            <a:off x="731520" y="4434840"/>
            <a:ext cx="3108960" cy="502920"/>
          </a:xfrm>
          <a:prstGeom prst="roundRect">
            <a:avLst>
              <a:gd name="adj" fmla="val 36364"/>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2 · Fußgänger zuerst</a:t>
            </a:r>
            <a:endParaRPr lang="en-US" sz="2000" dirty="0"/>
          </a:p>
        </p:txBody>
      </p:sp>
      <p:sp>
        <p:nvSpPr>
          <p:cNvPr id="26" name="e42_22"/>
          <p:cNvSpPr txBox="1"/>
          <p:nvPr/>
        </p:nvSpPr>
        <p:spPr>
          <a:xfrm rot="-180000">
            <a:off x="731520" y="5029200"/>
            <a:ext cx="3108960" cy="502920"/>
          </a:xfrm>
          <a:prstGeom prst="roundRect">
            <a:avLst>
              <a:gd name="adj" fmla="val 36364"/>
            </a:avLst>
          </a:prstGeom>
          <a:solidFill>
            <a:srgbClr val="FF7A1A"/>
          </a:solidFill>
          <a:ln/>
        </p:spPr>
        <p:txBody>
          <a:bodyPr wrap="square" lIns="0" tIns="0" rIns="0" bIns="0" rtlCol="0" anchor="ctr"/>
          <a:lstStyle/>
          <a:p>
            <a:pPr algn="ctr" indent="0" marL="0">
              <a:buNone/>
            </a:pPr>
            <a:r>
              <a:rPr lang="en-US" sz="20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3 · Querverkehr zuerst</a:t>
            </a:r>
            <a:endParaRPr lang="en-US" sz="2000" dirty="0"/>
          </a:p>
        </p:txBody>
      </p:sp>
      <p:sp>
        <p:nvSpPr>
          <p:cNvPr id="27" name="e42_23"/>
          <p:cNvSpPr txBox="1"/>
          <p:nvPr/>
        </p:nvSpPr>
        <p:spPr>
          <a:xfrm rot="-180000">
            <a:off x="731520" y="5623560"/>
            <a:ext cx="3108960" cy="502920"/>
          </a:xfrm>
          <a:prstGeom prst="roundRect">
            <a:avLst>
              <a:gd name="adj" fmla="val 36364"/>
            </a:avLst>
          </a:prstGeom>
          <a:solidFill>
            <a:srgbClr val="4CAF72"/>
          </a:solidFill>
          <a:ln/>
        </p:spPr>
        <p:txBody>
          <a:bodyPr wrap="square" lIns="0" tIns="0" rIns="0" bIns="0" rtlCol="0" anchor="ctr"/>
          <a:lstStyle/>
          <a:p>
            <a:pPr algn="ctr" indent="0" marL="0">
              <a:buNone/>
            </a:pPr>
            <a:r>
              <a:rPr lang="en-US" sz="20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4 · Jetzt abbiegen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50"/>
                                        <p:tgtEl>
                                          <p:spTgt spid="9"/>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50"/>
                                        <p:tgtEl>
                                          <p:spTgt spid="10"/>
                                        </p:tgtEl>
                                      </p:cBhvr>
                                    </p:animEffect>
                                  </p:childTnLst>
                                </p:cTn>
                              </p:par>
                              <p:par>
                                <p:cTn id="29" presetID="10" presetClass="entr" presetSubtype="0" fill="hold" grpId="0" nodeType="withEffect">
                                  <p:stCondLst>
                                    <p:cond delay="33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50"/>
                                        <p:tgtEl>
                                          <p:spTgt spid="11"/>
                                        </p:tgtEl>
                                      </p:cBhvr>
                                    </p:animEffect>
                                  </p:childTnLst>
                                </p:cTn>
                              </p:par>
                              <p:par>
                                <p:cTn id="32" presetID="10" presetClass="entr" presetSubtype="0" fill="hold" grpId="0" nodeType="withEffect">
                                  <p:stCondLst>
                                    <p:cond delay="38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50"/>
                                        <p:tgtEl>
                                          <p:spTgt spid="12"/>
                                        </p:tgtEl>
                                      </p:cBhvr>
                                    </p:animEffect>
                                  </p:childTnLst>
                                </p:cTn>
                              </p:par>
                              <p:par>
                                <p:cTn id="35" presetID="10" presetClass="entr" presetSubtype="0" fill="hold" nodeType="withEffect">
                                  <p:stCondLst>
                                    <p:cond delay="44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50"/>
                                        <p:tgtEl>
                                          <p:spTgt spid="13"/>
                                        </p:tgtEl>
                                      </p:cBhvr>
                                    </p:animEffect>
                                  </p:childTnLst>
                                </p:cTn>
                              </p:par>
                              <p:par>
                                <p:cTn id="38" presetID="10" presetClass="entr" presetSubtype="0" fill="hold" grpId="0" nodeType="withEffect">
                                  <p:stCondLst>
                                    <p:cond delay="49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50"/>
                                        <p:tgtEl>
                                          <p:spTgt spid="14"/>
                                        </p:tgtEl>
                                      </p:cBhvr>
                                    </p:animEffect>
                                  </p:childTnLst>
                                </p:cTn>
                              </p:par>
                              <p:par>
                                <p:cTn id="41" presetID="10" presetClass="entr" presetSubtype="0" fill="hold" grpId="0" nodeType="withEffect">
                                  <p:stCondLst>
                                    <p:cond delay="55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50"/>
                                        <p:tgtEl>
                                          <p:spTgt spid="15"/>
                                        </p:tgtEl>
                                      </p:cBhvr>
                                    </p:animEffect>
                                  </p:childTnLst>
                                </p:cTn>
                              </p:par>
                              <p:par>
                                <p:cTn id="44" presetID="10" presetClass="entr" presetSubtype="0" fill="hold" grpId="0" nodeType="withEffect">
                                  <p:stCondLst>
                                    <p:cond delay="60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50"/>
                                        <p:tgtEl>
                                          <p:spTgt spid="17"/>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50"/>
                                        <p:tgtEl>
                                          <p:spTgt spid="18"/>
                                        </p:tgtEl>
                                      </p:cBhvr>
                                    </p:animEffect>
                                  </p:childTnLst>
                                </p:cTn>
                              </p:par>
                              <p:par>
                                <p:cTn id="53" presetID="10" presetClass="entr" presetSubtype="0" fill="hold"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50"/>
                                        <p:tgtEl>
                                          <p:spTgt spid="20"/>
                                        </p:tgtEl>
                                      </p:cBhvr>
                                    </p:animEffect>
                                  </p:childTnLst>
                                </p:cTn>
                              </p:par>
                              <p:par>
                                <p:cTn id="56" presetID="35" presetClass="emph" presetSubtype="0" fill="hold" nodeType="withEffect" repeatCount="indefinite">
                                  <p:stCondLst>
                                    <p:cond delay="0"/>
                                  </p:stCondLst>
                                  <p:childTnLst>
                                    <p:anim calcmode="discrete" valueType="str">
                                      <p:cBhvr override="childStyle">
                                        <p:cTn id="57" dur="700"/>
                                        <p:tgtEl>
                                          <p:spTgt spid="20"/>
                                        </p:tgtEl>
                                        <p:attrNameLst>
                                          <p:attrName>style.visibility</p:attrName>
                                        </p:attrNameLst>
                                      </p:cBhvr>
                                      <p:tavLst>
                                        <p:tav tm="0">
                                          <p:val>
                                            <p:strVal val="hidden"/>
                                          </p:val>
                                        </p:tav>
                                        <p:tav tm="50000">
                                          <p:val>
                                            <p:strVal val="visible"/>
                                          </p:val>
                                        </p:tav>
                                      </p:tavLst>
                                    </p:anim>
                                  </p:childTnLst>
                                </p:cTn>
                              </p:par>
                            </p:childTnLst>
                          </p:cTn>
                        </p:par>
                      </p:childTnLst>
                    </p:cTn>
                  </p:par>
                  <p:par>
                    <p:cTn id="58" fill="hold">
                      <p:stCondLst>
                        <p:cond delay="indefinite"/>
                      </p:stCondLst>
                      <p:childTnLst>
                        <p:par>
                          <p:cTn id="59" fill="hold">
                            <p:stCondLst>
                              <p:cond delay="0"/>
                            </p:stCondLst>
                            <p:childTnLst>
                              <p:par>
                                <p:cTn id="60" presetID="0" presetClass="path" presetSubtype="0" fill="hold" nodeType="clickEffect" accel="40000" decel="40000">
                                  <p:stCondLst>
                                    <p:cond delay="0"/>
                                  </p:stCondLst>
                                  <p:childTnLst>
                                    <p:animMotion origin="layout" path="M 0 0 C 0 -0.0413 0 -0.0827 0 -0.124 E" pathEditMode="relative" rAng="0" ptsTypes="">
                                      <p:cBhvr>
                                        <p:cTn id="61" dur="775" fill="hold"/>
                                        <p:tgtEl>
                                          <p:spTgt spid="19"/>
                                        </p:tgtEl>
                                        <p:attrNameLst>
                                          <p:attrName>ppt_x</p:attrName>
                                          <p:attrName>ppt_y</p:attrName>
                                        </p:attrNameLst>
                                      </p:cBhvr>
                                      <p:rCtr x="0" y="0"/>
                                    </p:animMotion>
                                  </p:childTnLst>
                                </p:cTn>
                              </p:par>
                              <p:par>
                                <p:cTn id="62" presetID="0" presetClass="path" presetSubtype="0" fill="hold" nodeType="withEffect" accel="40000" decel="40000">
                                  <p:stCondLst>
                                    <p:cond delay="0"/>
                                  </p:stCondLst>
                                  <p:childTnLst>
                                    <p:animMotion origin="layout" path="M 0 0 C 0 -0.0413 0 -0.0827 0 -0.124 E" pathEditMode="relative" rAng="0" ptsTypes="">
                                      <p:cBhvr>
                                        <p:cTn id="63" dur="775" fill="hold"/>
                                        <p:tgtEl>
                                          <p:spTgt spid="20"/>
                                        </p:tgtEl>
                                        <p:attrNameLst>
                                          <p:attrName>ppt_x</p:attrName>
                                          <p:attrName>ppt_y</p:attrName>
                                        </p:attrNameLst>
                                      </p:cBhvr>
                                      <p:rCtr x="0" y="0"/>
                                    </p:animMotion>
                                  </p:childTnLst>
                                </p:cTn>
                              </p:par>
                            </p:childTnLst>
                          </p:cTn>
                        </p:par>
                        <p:par>
                          <p:cTn id="64" fill="hold">
                            <p:stCondLst>
                              <p:cond delay="775"/>
                            </p:stCondLst>
                            <p:childTnLst>
                              <p:par>
                                <p:cTn id="65" presetID="10" presetClass="entr" presetSubtype="0" fill="hold"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150"/>
                                        <p:tgtEl>
                                          <p:spTgt spid="23"/>
                                        </p:tgtEl>
                                      </p:cBhvr>
                                    </p:animEffect>
                                  </p:childTnLst>
                                </p:cTn>
                              </p:par>
                              <p:par>
                                <p:cTn id="68" presetID="53" presetClass="entr" presetSubtype="32"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71" dur="380" fill="hold" accel="60000"/>
                                        <p:tgtEl>
                                          <p:spTgt spid="24"/>
                                        </p:tgtEl>
                                        <p:attrNameLst>
                                          <p:attrName>ppt_h</p:attrName>
                                        </p:attrNameLst>
                                      </p:cBhvr>
                                      <p:tavLst>
                                        <p:tav tm="0">
                                          <p:val>
                                            <p:strVal val="#ppt_h*2.2"/>
                                          </p:val>
                                        </p:tav>
                                        <p:tav tm="100000">
                                          <p:val>
                                            <p:strVal val="#ppt_h"/>
                                          </p:val>
                                        </p:tav>
                                      </p:tavLst>
                                    </p:anim>
                                    <p:animEffect transition="in" filter="fade">
                                      <p:cBhvr>
                                        <p:cTn id="72" dur="228"/>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32"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380" fill="hold" accel="60000"/>
                                        <p:tgtEl>
                                          <p:spTgt spid="25"/>
                                        </p:tgtEl>
                                        <p:attrNameLst>
                                          <p:attrName>ppt_w</p:attrName>
                                        </p:attrNameLst>
                                      </p:cBhvr>
                                      <p:tavLst>
                                        <p:tav tm="0">
                                          <p:val>
                                            <p:strVal val="#ppt_w*2.2"/>
                                          </p:val>
                                        </p:tav>
                                        <p:tav tm="100000">
                                          <p:val>
                                            <p:strVal val="#ppt_w"/>
                                          </p:val>
                                        </p:tav>
                                      </p:tavLst>
                                    </p:anim>
                                    <p:anim calcmode="lin" valueType="num">
                                      <p:cBhvr additive="base">
                                        <p:cTn id="78" dur="380" fill="hold" accel="60000"/>
                                        <p:tgtEl>
                                          <p:spTgt spid="25"/>
                                        </p:tgtEl>
                                        <p:attrNameLst>
                                          <p:attrName>ppt_h</p:attrName>
                                        </p:attrNameLst>
                                      </p:cBhvr>
                                      <p:tavLst>
                                        <p:tav tm="0">
                                          <p:val>
                                            <p:strVal val="#ppt_h*2.2"/>
                                          </p:val>
                                        </p:tav>
                                        <p:tav tm="100000">
                                          <p:val>
                                            <p:strVal val="#ppt_h"/>
                                          </p:val>
                                        </p:tav>
                                      </p:tavLst>
                                    </p:anim>
                                    <p:animEffect transition="in" filter="fade">
                                      <p:cBhvr>
                                        <p:cTn id="79" dur="228"/>
                                        <p:tgtEl>
                                          <p:spTgt spid="25"/>
                                        </p:tgtEl>
                                      </p:cBhvr>
                                    </p:animEffect>
                                  </p:childTnLst>
                                </p:cTn>
                              </p:par>
                            </p:childTnLst>
                          </p:cTn>
                        </p:par>
                        <p:par>
                          <p:cTn id="80" fill="hold">
                            <p:stCondLst>
                              <p:cond delay="380"/>
                            </p:stCondLst>
                            <p:childTnLst>
                              <p:par>
                                <p:cTn id="81" presetID="0" presetClass="path" presetSubtype="0" fill="hold" nodeType="afterEffect" accel="40000" decel="40000">
                                  <p:stCondLst>
                                    <p:cond delay="0"/>
                                  </p:stCondLst>
                                  <p:childTnLst>
                                    <p:animMotion origin="layout" path="M 0 0 C 0 0.1289 0 0.2578 0 0.3867 E" pathEditMode="relative" rAng="0" ptsTypes="">
                                      <p:cBhvr>
                                        <p:cTn id="82" dur="2636" fill="hold"/>
                                        <p:tgtEl>
                                          <p:spTgt spid="22"/>
                                        </p:tgtEl>
                                        <p:attrNameLst>
                                          <p:attrName>ppt_x</p:attrName>
                                          <p:attrName>ppt_y</p:attrName>
                                        </p:attrNameLst>
                                      </p:cBhvr>
                                      <p:rCtr x="0" y="0"/>
                                    </p:animMotion>
                                  </p:childTnLst>
                                </p:cTn>
                              </p:par>
                            </p:childTnLst>
                          </p:cTn>
                        </p:par>
                        <p:par>
                          <p:cTn id="83" fill="hold">
                            <p:stCondLst>
                              <p:cond delay="3016"/>
                            </p:stCondLst>
                            <p:childTnLst>
                              <p:par>
                                <p:cTn id="84" presetID="10" presetClass="exit" presetSubtype="0" fill="hold" nodeType="afterEffect">
                                  <p:stCondLst>
                                    <p:cond delay="0"/>
                                  </p:stCondLst>
                                  <p:childTnLst>
                                    <p:animEffect transition="out" filter="fade">
                                      <p:cBhvr>
                                        <p:cTn id="85" dur="350"/>
                                        <p:tgtEl>
                                          <p:spTgt spid="22"/>
                                        </p:tgtEl>
                                      </p:cBhvr>
                                    </p:animEffect>
                                    <p:set>
                                      <p:cBhvr>
                                        <p:cTn id="86" dur="1" fill="hold">
                                          <p:stCondLst>
                                            <p:cond delay="349"/>
                                          </p:stCondLst>
                                        </p:cTn>
                                        <p:tgtEl>
                                          <p:spTgt spid="2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53" presetClass="entr" presetSubtype="32"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380" fill="hold" accel="60000"/>
                                        <p:tgtEl>
                                          <p:spTgt spid="26"/>
                                        </p:tgtEl>
                                        <p:attrNameLst>
                                          <p:attrName>ppt_w</p:attrName>
                                        </p:attrNameLst>
                                      </p:cBhvr>
                                      <p:tavLst>
                                        <p:tav tm="0">
                                          <p:val>
                                            <p:strVal val="#ppt_w*2.2"/>
                                          </p:val>
                                        </p:tav>
                                        <p:tav tm="100000">
                                          <p:val>
                                            <p:strVal val="#ppt_w"/>
                                          </p:val>
                                        </p:tav>
                                      </p:tavLst>
                                    </p:anim>
                                    <p:anim calcmode="lin" valueType="num">
                                      <p:cBhvr additive="base">
                                        <p:cTn id="92" dur="380" fill="hold" accel="60000"/>
                                        <p:tgtEl>
                                          <p:spTgt spid="26"/>
                                        </p:tgtEl>
                                        <p:attrNameLst>
                                          <p:attrName>ppt_h</p:attrName>
                                        </p:attrNameLst>
                                      </p:cBhvr>
                                      <p:tavLst>
                                        <p:tav tm="0">
                                          <p:val>
                                            <p:strVal val="#ppt_h*2.2"/>
                                          </p:val>
                                        </p:tav>
                                        <p:tav tm="100000">
                                          <p:val>
                                            <p:strVal val="#ppt_h"/>
                                          </p:val>
                                        </p:tav>
                                      </p:tavLst>
                                    </p:anim>
                                    <p:animEffect transition="in" filter="fade">
                                      <p:cBhvr>
                                        <p:cTn id="93" dur="228"/>
                                        <p:tgtEl>
                                          <p:spTgt spid="26"/>
                                        </p:tgtEl>
                                      </p:cBhvr>
                                    </p:animEffect>
                                  </p:childTnLst>
                                </p:cTn>
                              </p:par>
                            </p:childTnLst>
                          </p:cTn>
                        </p:par>
                        <p:par>
                          <p:cTn id="94" fill="hold">
                            <p:stCondLst>
                              <p:cond delay="380"/>
                            </p:stCondLst>
                            <p:childTnLst>
                              <p:par>
                                <p:cTn id="95" presetID="0" presetClass="path" presetSubtype="0" fill="hold" nodeType="afterEffect" accel="40000" decel="40000">
                                  <p:stCondLst>
                                    <p:cond delay="0"/>
                                  </p:stCondLst>
                                  <p:childTnLst>
                                    <p:animMotion origin="layout" path="M 0 0 C 0.185 0 0.37 0 0.555 0 E" pathEditMode="relative" rAng="0" ptsTypes="">
                                      <p:cBhvr>
                                        <p:cTn id="96" dur="4353" fill="hold"/>
                                        <p:tgtEl>
                                          <p:spTgt spid="21"/>
                                        </p:tgtEl>
                                        <p:attrNameLst>
                                          <p:attrName>ppt_x</p:attrName>
                                          <p:attrName>ppt_y</p:attrName>
                                        </p:attrNameLst>
                                      </p:cBhvr>
                                      <p:rCtr x="0" y="0"/>
                                    </p:animMotion>
                                  </p:childTnLst>
                                </p:cTn>
                              </p:par>
                            </p:childTnLst>
                          </p:cTn>
                        </p:par>
                        <p:par>
                          <p:cTn id="97" fill="hold">
                            <p:stCondLst>
                              <p:cond delay="4733"/>
                            </p:stCondLst>
                            <p:childTnLst>
                              <p:par>
                                <p:cTn id="98" presetID="10" presetClass="exit" presetSubtype="0" fill="hold" nodeType="afterEffect">
                                  <p:stCondLst>
                                    <p:cond delay="0"/>
                                  </p:stCondLst>
                                  <p:childTnLst>
                                    <p:animEffect transition="out" filter="fade">
                                      <p:cBhvr>
                                        <p:cTn id="99" dur="350"/>
                                        <p:tgtEl>
                                          <p:spTgt spid="21"/>
                                        </p:tgtEl>
                                      </p:cBhvr>
                                    </p:animEffect>
                                    <p:set>
                                      <p:cBhvr>
                                        <p:cTn id="100" dur="1" fill="hold">
                                          <p:stCondLst>
                                            <p:cond delay="349"/>
                                          </p:stCondLst>
                                        </p:cTn>
                                        <p:tgtEl>
                                          <p:spTgt spid="21"/>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3" presetClass="entr" presetSubtype="32" fill="hold" grpId="0" nodeType="clickEffect">
                                  <p:stCondLst>
                                    <p:cond delay="0"/>
                                  </p:stCondLst>
                                  <p:childTnLst>
                                    <p:set>
                                      <p:cBhvr>
                                        <p:cTn id="104" dur="1" fill="hold">
                                          <p:stCondLst>
                                            <p:cond delay="0"/>
                                          </p:stCondLst>
                                        </p:cTn>
                                        <p:tgtEl>
                                          <p:spTgt spid="27"/>
                                        </p:tgtEl>
                                        <p:attrNameLst>
                                          <p:attrName>style.visibility</p:attrName>
                                        </p:attrNameLst>
                                      </p:cBhvr>
                                      <p:to>
                                        <p:strVal val="visible"/>
                                      </p:to>
                                    </p:set>
                                    <p:anim calcmode="lin" valueType="num">
                                      <p:cBhvr additive="base">
                                        <p:cTn id="105" dur="380" fill="hold" accel="60000"/>
                                        <p:tgtEl>
                                          <p:spTgt spid="27"/>
                                        </p:tgtEl>
                                        <p:attrNameLst>
                                          <p:attrName>ppt_w</p:attrName>
                                        </p:attrNameLst>
                                      </p:cBhvr>
                                      <p:tavLst>
                                        <p:tav tm="0">
                                          <p:val>
                                            <p:strVal val="#ppt_w*2.2"/>
                                          </p:val>
                                        </p:tav>
                                        <p:tav tm="100000">
                                          <p:val>
                                            <p:strVal val="#ppt_w"/>
                                          </p:val>
                                        </p:tav>
                                      </p:tavLst>
                                    </p:anim>
                                    <p:anim calcmode="lin" valueType="num">
                                      <p:cBhvr additive="base">
                                        <p:cTn id="106" dur="380" fill="hold" accel="60000"/>
                                        <p:tgtEl>
                                          <p:spTgt spid="27"/>
                                        </p:tgtEl>
                                        <p:attrNameLst>
                                          <p:attrName>ppt_h</p:attrName>
                                        </p:attrNameLst>
                                      </p:cBhvr>
                                      <p:tavLst>
                                        <p:tav tm="0">
                                          <p:val>
                                            <p:strVal val="#ppt_h*2.2"/>
                                          </p:val>
                                        </p:tav>
                                        <p:tav tm="100000">
                                          <p:val>
                                            <p:strVal val="#ppt_h"/>
                                          </p:val>
                                        </p:tav>
                                      </p:tavLst>
                                    </p:anim>
                                    <p:animEffect transition="in" filter="fade">
                                      <p:cBhvr>
                                        <p:cTn id="107" dur="228"/>
                                        <p:tgtEl>
                                          <p:spTgt spid="27"/>
                                        </p:tgtEl>
                                      </p:cBhvr>
                                    </p:animEffect>
                                  </p:childTnLst>
                                </p:cTn>
                              </p:par>
                            </p:childTnLst>
                          </p:cTn>
                        </p:par>
                        <p:par>
                          <p:cTn id="108" fill="hold">
                            <p:stCondLst>
                              <p:cond delay="380"/>
                            </p:stCondLst>
                            <p:childTnLst>
                              <p:par>
                                <p:cTn id="109" presetID="10" presetClass="exit" presetSubtype="0" fill="hold" nodeType="afterEffect">
                                  <p:stCondLst>
                                    <p:cond delay="0"/>
                                  </p:stCondLst>
                                  <p:childTnLst>
                                    <p:animEffect transition="out" filter="fade">
                                      <p:cBhvr>
                                        <p:cTn id="110" dur="200"/>
                                        <p:tgtEl>
                                          <p:spTgt spid="23"/>
                                        </p:tgtEl>
                                      </p:cBhvr>
                                    </p:animEffect>
                                    <p:set>
                                      <p:cBhvr>
                                        <p:cTn id="111" dur="1" fill="hold">
                                          <p:stCondLst>
                                            <p:cond delay="199"/>
                                          </p:stCondLst>
                                        </p:cTn>
                                        <p:tgtEl>
                                          <p:spTgt spid="23"/>
                                        </p:tgtEl>
                                        <p:attrNameLst>
                                          <p:attrName>style.visibility</p:attrName>
                                        </p:attrNameLst>
                                      </p:cBhvr>
                                      <p:to>
                                        <p:strVal val="hidden"/>
                                      </p:to>
                                    </p:set>
                                  </p:childTnLst>
                                </p:cTn>
                              </p:par>
                              <p:par>
                                <p:cTn id="112" presetID="0" presetClass="path" presetSubtype="0" fill="hold" nodeType="withEffect" accel="50000">
                                  <p:stCondLst>
                                    <p:cond delay="0"/>
                                  </p:stCondLst>
                                  <p:childTnLst>
                                    <p:animMotion origin="layout" path="M 0 -0.124 C 0 -0.1721 0 -0.2202 0 -0.2683 E" pathEditMode="relative" rAng="0" ptsTypes="">
                                      <p:cBhvr>
                                        <p:cTn id="113" dur="637" fill="hold"/>
                                        <p:tgtEl>
                                          <p:spTgt spid="19"/>
                                        </p:tgtEl>
                                        <p:attrNameLst>
                                          <p:attrName>ppt_x</p:attrName>
                                          <p:attrName>ppt_y</p:attrName>
                                        </p:attrNameLst>
                                      </p:cBhvr>
                                      <p:rCtr x="0" y="0"/>
                                    </p:animMotion>
                                  </p:childTnLst>
                                </p:cTn>
                              </p:par>
                              <p:par>
                                <p:cTn id="114" presetID="0" presetClass="path" presetSubtype="0" fill="hold" nodeType="withEffect" accel="50000">
                                  <p:stCondLst>
                                    <p:cond delay="0"/>
                                  </p:stCondLst>
                                  <p:childTnLst>
                                    <p:animMotion origin="layout" path="M 0 -0.124 C 0 -0.1721 0 -0.2202 0 -0.2683 E" pathEditMode="relative" rAng="0" ptsTypes="">
                                      <p:cBhvr>
                                        <p:cTn id="115" dur="637" fill="hold"/>
                                        <p:tgtEl>
                                          <p:spTgt spid="20"/>
                                        </p:tgtEl>
                                        <p:attrNameLst>
                                          <p:attrName>ppt_x</p:attrName>
                                          <p:attrName>ppt_y</p:attrName>
                                        </p:attrNameLst>
                                      </p:cBhvr>
                                      <p:rCtr x="0" y="0"/>
                                    </p:animMotion>
                                  </p:childTnLst>
                                </p:cTn>
                              </p:par>
                            </p:childTnLst>
                          </p:cTn>
                        </p:par>
                        <p:par>
                          <p:cTn id="116" fill="hold">
                            <p:stCondLst>
                              <p:cond delay="1017"/>
                            </p:stCondLst>
                            <p:childTnLst>
                              <p:par>
                                <p:cTn id="117" presetID="0" presetClass="path" presetSubtype="0" fill="hold" nodeType="afterEffect">
                                  <p:stCondLst>
                                    <p:cond delay="0"/>
                                  </p:stCondLst>
                                  <p:childTnLst>
                                    <p:animMotion origin="layout" path="M 0 -0.2683 C 0 -0.3272 0.0269 -0.375 0.06 -0.375 E" pathEditMode="relative" rAng="0" ptsTypes="">
                                      <p:cBhvr>
                                        <p:cTn id="118" dur="739" fill="hold"/>
                                        <p:tgtEl>
                                          <p:spTgt spid="19"/>
                                        </p:tgtEl>
                                        <p:attrNameLst>
                                          <p:attrName>ppt_x</p:attrName>
                                          <p:attrName>ppt_y</p:attrName>
                                        </p:attrNameLst>
                                      </p:cBhvr>
                                      <p:rCtr x="0" y="0"/>
                                    </p:animMotion>
                                  </p:childTnLst>
                                </p:cTn>
                              </p:par>
                              <p:par>
                                <p:cTn id="119" presetID="8" presetClass="emph" presetSubtype="0" fill="hold" nodeType="withEffect">
                                  <p:stCondLst>
                                    <p:cond delay="0"/>
                                  </p:stCondLst>
                                  <p:childTnLst>
                                    <p:animRot by="5400000">
                                      <p:cBhvr>
                                        <p:cTn id="120" dur="739" fill="hold"/>
                                        <p:tgtEl>
                                          <p:spTgt spid="19"/>
                                        </p:tgtEl>
                                        <p:attrNameLst>
                                          <p:attrName>r</p:attrName>
                                        </p:attrNameLst>
                                      </p:cBhvr>
                                    </p:animRot>
                                  </p:childTnLst>
                                </p:cTn>
                              </p:par>
                              <p:par>
                                <p:cTn id="121" presetID="0" presetClass="path" presetSubtype="0" fill="hold" nodeType="withEffect">
                                  <p:stCondLst>
                                    <p:cond delay="0"/>
                                  </p:stCondLst>
                                  <p:childTnLst>
                                    <p:animMotion origin="layout" path="M 0 -0.2683 C 0 -0.3272 0.0269 -0.375 0.06 -0.375 E" pathEditMode="relative" rAng="0" ptsTypes="">
                                      <p:cBhvr>
                                        <p:cTn id="122" dur="739" fill="hold"/>
                                        <p:tgtEl>
                                          <p:spTgt spid="20"/>
                                        </p:tgtEl>
                                        <p:attrNameLst>
                                          <p:attrName>ppt_x</p:attrName>
                                          <p:attrName>ppt_y</p:attrName>
                                        </p:attrNameLst>
                                      </p:cBhvr>
                                      <p:rCtr x="0" y="0"/>
                                    </p:animMotion>
                                  </p:childTnLst>
                                </p:cTn>
                              </p:par>
                              <p:par>
                                <p:cTn id="123" presetID="8" presetClass="emph" presetSubtype="0" fill="hold" nodeType="withEffect">
                                  <p:stCondLst>
                                    <p:cond delay="0"/>
                                  </p:stCondLst>
                                  <p:childTnLst>
                                    <p:animRot by="5400000">
                                      <p:cBhvr>
                                        <p:cTn id="124" dur="739" fill="hold"/>
                                        <p:tgtEl>
                                          <p:spTgt spid="20"/>
                                        </p:tgtEl>
                                        <p:attrNameLst>
                                          <p:attrName>r</p:attrName>
                                        </p:attrNameLst>
                                      </p:cBhvr>
                                    </p:animRot>
                                  </p:childTnLst>
                                </p:cTn>
                              </p:par>
                            </p:childTnLst>
                          </p:cTn>
                        </p:par>
                        <p:par>
                          <p:cTn id="125" fill="hold">
                            <p:stCondLst>
                              <p:cond delay="1756"/>
                            </p:stCondLst>
                            <p:childTnLst>
                              <p:par>
                                <p:cTn id="126" presetID="0" presetClass="path" presetSubtype="0" fill="hold" nodeType="afterEffect" decel="50000">
                                  <p:stCondLst>
                                    <p:cond delay="0"/>
                                  </p:stCondLst>
                                  <p:childTnLst>
                                    <p:animMotion origin="layout" path="M 0.06 -0.375 C 0.14 -0.375 0.22 -0.375 0.3 -0.375 E" pathEditMode="relative" rAng="0" ptsTypes="">
                                      <p:cBhvr>
                                        <p:cTn id="127" dur="1882" fill="hold"/>
                                        <p:tgtEl>
                                          <p:spTgt spid="19"/>
                                        </p:tgtEl>
                                        <p:attrNameLst>
                                          <p:attrName>ppt_x</p:attrName>
                                          <p:attrName>ppt_y</p:attrName>
                                        </p:attrNameLst>
                                      </p:cBhvr>
                                      <p:rCtr x="0" y="0"/>
                                    </p:animMotion>
                                  </p:childTnLst>
                                </p:cTn>
                              </p:par>
                              <p:par>
                                <p:cTn id="128" presetID="0" presetClass="path" presetSubtype="0" fill="hold" nodeType="withEffect" decel="50000">
                                  <p:stCondLst>
                                    <p:cond delay="0"/>
                                  </p:stCondLst>
                                  <p:childTnLst>
                                    <p:animMotion origin="layout" path="M 0.06 -0.375 C 0.14 -0.375 0.22 -0.375 0.3 -0.375 E" pathEditMode="relative" rAng="0" ptsTypes="">
                                      <p:cBhvr>
                                        <p:cTn id="129" dur="1882" fill="hold"/>
                                        <p:tgtEl>
                                          <p:spTgt spid="20"/>
                                        </p:tgtEl>
                                        <p:attrNameLst>
                                          <p:attrName>ppt_x</p:attrName>
                                          <p:attrName>ppt_y</p:attrName>
                                        </p:attrNameLst>
                                      </p:cBhvr>
                                      <p:rCtr x="0" y="0"/>
                                    </p:animMotion>
                                  </p:childTnLst>
                                </p:cTn>
                              </p:par>
                            </p:childTnLst>
                          </p:cTn>
                        </p:par>
                        <p:par>
                          <p:cTn id="130" fill="hold">
                            <p:stCondLst>
                              <p:cond delay="3638"/>
                            </p:stCondLst>
                            <p:childTnLst>
                              <p:par>
                                <p:cTn id="131" presetID="10" presetClass="exit" presetSubtype="0" fill="hold" nodeType="afterEffect">
                                  <p:stCondLst>
                                    <p:cond delay="0"/>
                                  </p:stCondLst>
                                  <p:childTnLst>
                                    <p:animEffect transition="out" filter="fade">
                                      <p:cBhvr>
                                        <p:cTn id="132" dur="350"/>
                                        <p:tgtEl>
                                          <p:spTgt spid="19"/>
                                        </p:tgtEl>
                                      </p:cBhvr>
                                    </p:animEffect>
                                    <p:set>
                                      <p:cBhvr>
                                        <p:cTn id="133" dur="1" fill="hold">
                                          <p:stCondLst>
                                            <p:cond delay="349"/>
                                          </p:stCondLst>
                                        </p:cTn>
                                        <p:tgtEl>
                                          <p:spTgt spid="19"/>
                                        </p:tgtEl>
                                        <p:attrNameLst>
                                          <p:attrName>style.visibility</p:attrName>
                                        </p:attrNameLst>
                                      </p:cBhvr>
                                      <p:to>
                                        <p:strVal val="hidden"/>
                                      </p:to>
                                    </p:set>
                                  </p:childTnLst>
                                </p:cTn>
                              </p:par>
                              <p:par>
                                <p:cTn id="134" presetID="10" presetClass="exit" presetSubtype="0" fill="hold" nodeType="withEffect">
                                  <p:stCondLst>
                                    <p:cond delay="0"/>
                                  </p:stCondLst>
                                  <p:childTnLst>
                                    <p:animEffect transition="out" filter="fade">
                                      <p:cBhvr>
                                        <p:cTn id="135" dur="350"/>
                                        <p:tgtEl>
                                          <p:spTgt spid="20"/>
                                        </p:tgtEl>
                                      </p:cBhvr>
                                    </p:animEffect>
                                    <p:set>
                                      <p:cBhvr>
                                        <p:cTn id="136" dur="1" fill="hold">
                                          <p:stCondLst>
                                            <p:cond delay="34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P spid="24" grpId="0" animBg="1"/>
      <p:bldP spid="25" grpId="0" animBg="1"/>
      <p:bldP spid="26" grpId="0" animBg="1"/>
      <p:bldP spid="2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4CAF72"/>
                </a:solidFill>
                <a:latin typeface="Calibri" pitchFamily="34" charset="0"/>
                <a:ea typeface="Calibri" pitchFamily="34" charset="-122"/>
                <a:cs typeface="Calibri" pitchFamily="34" charset="-120"/>
              </a:rPr>
              <a:t>NICHT VERWECHSELN</a:t>
            </a:r>
            <a:endParaRPr lang="en-US" sz="1300" dirty="0"/>
          </a:p>
        </p:txBody>
      </p:sp>
      <p:sp>
        <p:nvSpPr>
          <p:cNvPr id="6" name="e4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Schild oder Licht?</a:t>
            </a:r>
            <a:endParaRPr lang="en-US" sz="4600" dirty="0"/>
          </a:p>
        </p:txBody>
      </p:sp>
      <p:sp>
        <p:nvSpPr>
          <p:cNvPr id="7" name="e43_3"/>
          <p:cNvSpPr/>
          <p:nvPr/>
        </p:nvSpPr>
        <p:spPr>
          <a:xfrm>
            <a:off x="731520" y="2286000"/>
            <a:ext cx="5212080" cy="2697480"/>
          </a:xfrm>
          <a:prstGeom prst="roundRect">
            <a:avLst>
              <a:gd name="adj" fmla="val 4746"/>
            </a:avLst>
          </a:prstGeom>
          <a:solidFill>
            <a:srgbClr val="12161E"/>
          </a:solidFill>
          <a:ln w="12700">
            <a:solidFill>
              <a:srgbClr val="2E5A40"/>
            </a:solidFill>
            <a:prstDash val="solid"/>
          </a:ln>
        </p:spPr>
      </p:sp>
      <p:pic>
        <p:nvPicPr>
          <p:cNvPr id="8" name="e43_4" descr="Verkehrszeichen 720">    </p:cNvPr>
          <p:cNvPicPr>
            <a:picLocks noChangeAspect="1"/>
          </p:cNvPicPr>
          <p:nvPr/>
        </p:nvPicPr>
        <p:blipFill>
          <a:blip r:embed="rId2"/>
          <a:stretch>
            <a:fillRect/>
          </a:stretch>
        </p:blipFill>
        <p:spPr>
          <a:xfrm>
            <a:off x="1005840" y="2606040"/>
            <a:ext cx="1097280" cy="1097280"/>
          </a:xfrm>
          <a:prstGeom prst="rect">
            <a:avLst/>
          </a:prstGeom>
        </p:spPr>
      </p:pic>
      <p:sp>
        <p:nvSpPr>
          <p:cNvPr id="9" name="e43_5"/>
          <p:cNvSpPr txBox="1"/>
          <p:nvPr/>
        </p:nvSpPr>
        <p:spPr>
          <a:xfrm>
            <a:off x="2743200" y="2606040"/>
            <a:ext cx="3108960" cy="45720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Grünpfeil-Schild</a:t>
            </a:r>
            <a:endParaRPr lang="en-US" sz="2200" dirty="0"/>
          </a:p>
        </p:txBody>
      </p:sp>
      <p:sp>
        <p:nvSpPr>
          <p:cNvPr id="10" name="e43_6"/>
          <p:cNvSpPr txBox="1"/>
          <p:nvPr/>
        </p:nvSpPr>
        <p:spPr>
          <a:xfrm>
            <a:off x="2743200" y="3108960"/>
            <a:ext cx="3017520" cy="100584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Zeichen 720. Bei Rot nach dem Anhalten rechts abbiegen erlaubt.</a:t>
            </a:r>
            <a:endParaRPr lang="en-US" sz="1600" dirty="0"/>
          </a:p>
        </p:txBody>
      </p:sp>
      <p:sp>
        <p:nvSpPr>
          <p:cNvPr id="11" name="e43_7"/>
          <p:cNvSpPr txBox="1"/>
          <p:nvPr/>
        </p:nvSpPr>
        <p:spPr>
          <a:xfrm>
            <a:off x="1005840" y="4343400"/>
            <a:ext cx="4754880" cy="457200"/>
          </a:xfrm>
          <a:prstGeom prst="rect">
            <a:avLst/>
          </a:prstGeom>
          <a:noFill/>
          <a:ln/>
        </p:spPr>
        <p:txBody>
          <a:bodyPr wrap="square" lIns="0" tIns="0" rIns="0" bIns="0" rtlCol="0" anchor="t"/>
          <a:lstStyle/>
          <a:p>
            <a:pPr algn="l" indent="0" marL="0">
              <a:buNone/>
            </a:pPr>
            <a:r>
              <a:rPr lang="en-US" sz="1600" b="1" dirty="0">
                <a:solidFill>
                  <a:srgbClr val="4CAF72"/>
                </a:solidFill>
                <a:latin typeface="Calibri" pitchFamily="34" charset="0"/>
                <a:ea typeface="Calibri" pitchFamily="34" charset="-122"/>
                <a:cs typeface="Calibri" pitchFamily="34" charset="-120"/>
              </a:rPr>
              <a:t>Anhalten · rechter Fahrstreifen · Grün geht vor.</a:t>
            </a:r>
            <a:endParaRPr lang="en-US" sz="1600" dirty="0"/>
          </a:p>
        </p:txBody>
      </p:sp>
      <p:sp>
        <p:nvSpPr>
          <p:cNvPr id="12" name="e43_8"/>
          <p:cNvSpPr/>
          <p:nvPr/>
        </p:nvSpPr>
        <p:spPr>
          <a:xfrm>
            <a:off x="6263640" y="2286000"/>
            <a:ext cx="5212080" cy="2697480"/>
          </a:xfrm>
          <a:prstGeom prst="roundRect">
            <a:avLst>
              <a:gd name="adj" fmla="val 4746"/>
            </a:avLst>
          </a:prstGeom>
          <a:solidFill>
            <a:srgbClr val="12161E"/>
          </a:solidFill>
          <a:ln w="12700">
            <a:solidFill>
              <a:srgbClr val="2A3342"/>
            </a:solidFill>
            <a:prstDash val="solid"/>
          </a:ln>
        </p:spPr>
      </p:sp>
      <p:sp>
        <p:nvSpPr>
          <p:cNvPr id="13" name="e43_9"/>
          <p:cNvSpPr/>
          <p:nvPr/>
        </p:nvSpPr>
        <p:spPr>
          <a:xfrm>
            <a:off x="6583680" y="2606040"/>
            <a:ext cx="1097280" cy="1097280"/>
          </a:xfrm>
          <a:prstGeom prst="ellipse">
            <a:avLst/>
          </a:prstGeom>
          <a:solidFill>
            <a:srgbClr val="0B0D12"/>
          </a:solidFill>
          <a:ln w="25400">
            <a:solidFill>
              <a:srgbClr val="3A4252"/>
            </a:solidFill>
            <a:prstDash val="solid"/>
          </a:ln>
        </p:spPr>
      </p:sp>
      <p:sp>
        <p:nvSpPr>
          <p:cNvPr id="14" name="e43_10"/>
          <p:cNvSpPr/>
          <p:nvPr/>
        </p:nvSpPr>
        <p:spPr>
          <a:xfrm>
            <a:off x="6784848" y="2907792"/>
            <a:ext cx="694944" cy="493776"/>
          </a:xfrm>
          <a:prstGeom prst="rightArrow">
            <a:avLst/>
          </a:prstGeom>
          <a:solidFill>
            <a:srgbClr val="2EE071"/>
          </a:solidFill>
          <a:ln/>
        </p:spPr>
      </p:sp>
      <p:sp>
        <p:nvSpPr>
          <p:cNvPr id="15" name="e43_11"/>
          <p:cNvSpPr txBox="1"/>
          <p:nvPr/>
        </p:nvSpPr>
        <p:spPr>
          <a:xfrm>
            <a:off x="7955280" y="2606040"/>
            <a:ext cx="3383280" cy="457200"/>
          </a:xfrm>
          <a:prstGeom prst="rect">
            <a:avLst/>
          </a:prstGeom>
          <a:noFill/>
          <a:ln/>
        </p:spPr>
        <p:txBody>
          <a:bodyPr wrap="square" lIns="0" tIns="0" rIns="0" bIns="0" rtlCol="0" anchor="t"/>
          <a:lstStyle/>
          <a:p>
            <a:pPr algn="l" indent="0" marL="0">
              <a:buNone/>
            </a:pPr>
            <a:r>
              <a:rPr lang="en-US" sz="2200" b="1" dirty="0">
                <a:solidFill>
                  <a:srgbClr val="F5F2EC"/>
                </a:solidFill>
                <a:latin typeface="Calibri" pitchFamily="34" charset="0"/>
                <a:ea typeface="Calibri" pitchFamily="34" charset="-122"/>
                <a:cs typeface="Calibri" pitchFamily="34" charset="-120"/>
              </a:rPr>
              <a:t>Grüner Pfeil als Licht</a:t>
            </a:r>
            <a:endParaRPr lang="en-US" sz="2200" dirty="0"/>
          </a:p>
        </p:txBody>
      </p:sp>
      <p:sp>
        <p:nvSpPr>
          <p:cNvPr id="16" name="e43_12"/>
          <p:cNvSpPr txBox="1"/>
          <p:nvPr/>
        </p:nvSpPr>
        <p:spPr>
          <a:xfrm>
            <a:off x="7955280" y="3108960"/>
            <a:ext cx="3291840" cy="100584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Leuchtet in der Ampel. Frei ist nur die Richtung, in die der Pfeil zeigt.</a:t>
            </a:r>
            <a:endParaRPr lang="en-US" sz="1600" dirty="0"/>
          </a:p>
        </p:txBody>
      </p:sp>
      <p:pic>
        <p:nvPicPr>
          <p:cNvPr id="17" name="e43_13" descr="Verkehrszeichen 721">    </p:cNvPr>
          <p:cNvPicPr>
            <a:picLocks noChangeAspect="1"/>
          </p:cNvPicPr>
          <p:nvPr/>
        </p:nvPicPr>
        <p:blipFill>
          <a:blip r:embed="rId3"/>
          <a:stretch>
            <a:fillRect/>
          </a:stretch>
        </p:blipFill>
        <p:spPr>
          <a:xfrm>
            <a:off x="731520" y="5257800"/>
            <a:ext cx="548640" cy="731520"/>
          </a:xfrm>
          <a:prstGeom prst="rect">
            <a:avLst/>
          </a:prstGeom>
        </p:spPr>
      </p:pic>
      <p:sp>
        <p:nvSpPr>
          <p:cNvPr id="18" name="e43_14"/>
          <p:cNvSpPr txBox="1"/>
          <p:nvPr/>
        </p:nvSpPr>
        <p:spPr>
          <a:xfrm>
            <a:off x="1417320" y="5349240"/>
            <a:ext cx="4480560" cy="548640"/>
          </a:xfrm>
          <a:prstGeom prst="rect">
            <a:avLst/>
          </a:prstGeom>
          <a:noFill/>
          <a:ln/>
        </p:spPr>
        <p:txBody>
          <a:bodyPr wrap="square" lIns="0" tIns="0" rIns="0" bIns="0" rtlCol="0" anchor="ctr"/>
          <a:lstStyle/>
          <a:p>
            <a:pPr algn="l" indent="0" marL="0">
              <a:buNone/>
            </a:pPr>
            <a:r>
              <a:rPr lang="en-US" sz="1600" dirty="0">
                <a:solidFill>
                  <a:srgbClr val="A7B0BD"/>
                </a:solidFill>
                <a:latin typeface="Calibri" pitchFamily="34" charset="0"/>
                <a:ea typeface="Calibri" pitchFamily="34" charset="-122"/>
                <a:cs typeface="Calibri" pitchFamily="34" charset="-120"/>
              </a:rPr>
              <a:t>Zeichen 721: Grünpfeil nur für Radfahrer (seit 2020).</a:t>
            </a:r>
            <a:endParaRPr lang="en-US" sz="1600" dirty="0"/>
          </a:p>
        </p:txBody>
      </p:sp>
      <p:sp>
        <p:nvSpPr>
          <p:cNvPr id="19" name="e43_15"/>
          <p:cNvSpPr txBox="1"/>
          <p:nvPr/>
        </p:nvSpPr>
        <p:spPr>
          <a:xfrm>
            <a:off x="6263640" y="5303520"/>
            <a:ext cx="5212080" cy="685800"/>
          </a:xfrm>
          <a:prstGeom prst="rect">
            <a:avLst/>
          </a:prstGeom>
          <a:noFill/>
          <a:ln/>
        </p:spPr>
        <p:txBody>
          <a:bodyPr wrap="square" lIns="0" tIns="0" rIns="0" bIns="0" rtlCol="0" anchor="ctr"/>
          <a:lstStyle/>
          <a:p>
            <a:pPr algn="l" indent="0" marL="0">
              <a:buNone/>
            </a:pPr>
            <a:r>
              <a:rPr lang="en-US" sz="1600" b="1" dirty="0">
                <a:solidFill>
                  <a:srgbClr val="F5F2EC"/>
                </a:solidFill>
                <a:latin typeface="Calibri" pitchFamily="34" charset="0"/>
                <a:ea typeface="Calibri" pitchFamily="34" charset="-122"/>
                <a:cs typeface="Calibri" pitchFamily="34" charset="-120"/>
              </a:rPr>
              <a:t>Bußgeld, je 1 Punkt: </a:t>
            </a:r>
            <a:pPr algn="l" indent="0" marL="0">
              <a:buNone/>
            </a:pPr>
            <a:r>
              <a:rPr lang="en-US" sz="1600" dirty="0">
                <a:solidFill>
                  <a:srgbClr val="A7B0BD"/>
                </a:solidFill>
                <a:latin typeface="Calibri" pitchFamily="34" charset="0"/>
                <a:ea typeface="Calibri" pitchFamily="34" charset="-122"/>
                <a:cs typeface="Calibri" pitchFamily="34" charset="-120"/>
              </a:rPr>
              <a:t>nicht angehalten 70 € · mit Gefährdung 100 € · mit Sachschaden 120 €</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400" fill="hold" decel="100000"/>
                                        <p:tgtEl>
                                          <p:spTgt spid="8"/>
                                        </p:tgtEl>
                                        <p:attrNameLst>
                                          <p:attrName>ppt_w</p:attrName>
                                        </p:attrNameLst>
                                      </p:cBhvr>
                                      <p:tavLst>
                                        <p:tav tm="0">
                                          <p:val>
                                            <p:strVal val="0"/>
                                          </p:val>
                                        </p:tav>
                                        <p:tav tm="100000">
                                          <p:val>
                                            <p:strVal val="#ppt_w"/>
                                          </p:val>
                                        </p:tav>
                                      </p:tavLst>
                                    </p:anim>
                                    <p:anim calcmode="lin" valueType="num">
                                      <p:cBhvr additive="base">
                                        <p:cTn id="25" dur="400" fill="hold" decel="100000"/>
                                        <p:tgtEl>
                                          <p:spTgt spid="8"/>
                                        </p:tgtEl>
                                        <p:attrNameLst>
                                          <p:attrName>ppt_h</p:attrName>
                                        </p:attrNameLst>
                                      </p:cBhvr>
                                      <p:tavLst>
                                        <p:tav tm="0">
                                          <p:val>
                                            <p:strVal val="0"/>
                                          </p:val>
                                        </p:tav>
                                        <p:tav tm="100000">
                                          <p:val>
                                            <p:strVal val="#ppt_h"/>
                                          </p:val>
                                        </p:tav>
                                      </p:tavLst>
                                    </p:anim>
                                    <p:animEffect transition="in" filter="fade">
                                      <p:cBhvr>
                                        <p:cTn id="26" dur="4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anim calcmode="lin" valueType="num">
                                      <p:cBhvr additive="base">
                                        <p:cTn id="32"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3" dur="450" fill="hold" decel="100000"/>
                                        <p:tgtEl>
                                          <p:spTgt spid="9"/>
                                        </p:tgtEl>
                                        <p:attrNameLst>
                                          <p:attrName>ppt_y</p:attrName>
                                        </p:attrNameLst>
                                      </p:cBhvr>
                                      <p:tavLst>
                                        <p:tav tm="0">
                                          <p:val>
                                            <p:strVal val="#ppt_y+.18"/>
                                          </p:val>
                                        </p:tav>
                                        <p:tav tm="100000">
                                          <p:val>
                                            <p:strVal val="#ppt_y"/>
                                          </p:val>
                                        </p:tav>
                                      </p:tavLst>
                                    </p:anim>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3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3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600"/>
                                        <p:tgtEl>
                                          <p:spTgt spid="12"/>
                                        </p:tgtEl>
                                      </p:cBhvr>
                                    </p:animEffect>
                                    <p:anim calcmode="lin" valueType="num">
                                      <p:cBhvr additive="base">
                                        <p:cTn id="45"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6" dur="600" fill="hold" decel="100000"/>
                                        <p:tgtEl>
                                          <p:spTgt spid="12"/>
                                        </p:tgtEl>
                                        <p:attrNameLst>
                                          <p:attrName>ppt_y</p:attrName>
                                        </p:attrNameLst>
                                      </p:cBhvr>
                                      <p:tavLst>
                                        <p:tav tm="0">
                                          <p:val>
                                            <p:strVal val="#ppt_y+.18"/>
                                          </p:val>
                                        </p:tav>
                                        <p:tav tm="100000">
                                          <p:val>
                                            <p:strVal val="#ppt_y"/>
                                          </p:val>
                                        </p:tav>
                                      </p:tavLst>
                                    </p:anim>
                                  </p:childTnLst>
                                </p:cTn>
                              </p:par>
                              <p:par>
                                <p:cTn id="47" presetID="53" presetClass="entr" presetSubtype="16"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400" fill="hold" decel="100000"/>
                                        <p:tgtEl>
                                          <p:spTgt spid="13"/>
                                        </p:tgtEl>
                                        <p:attrNameLst>
                                          <p:attrName>ppt_w</p:attrName>
                                        </p:attrNameLst>
                                      </p:cBhvr>
                                      <p:tavLst>
                                        <p:tav tm="0">
                                          <p:val>
                                            <p:strVal val="0"/>
                                          </p:val>
                                        </p:tav>
                                        <p:tav tm="100000">
                                          <p:val>
                                            <p:strVal val="#ppt_w"/>
                                          </p:val>
                                        </p:tav>
                                      </p:tavLst>
                                    </p:anim>
                                    <p:anim calcmode="lin" valueType="num">
                                      <p:cBhvr additive="base">
                                        <p:cTn id="50" dur="400" fill="hold" decel="100000"/>
                                        <p:tgtEl>
                                          <p:spTgt spid="13"/>
                                        </p:tgtEl>
                                        <p:attrNameLst>
                                          <p:attrName>ppt_h</p:attrName>
                                        </p:attrNameLst>
                                      </p:cBhvr>
                                      <p:tavLst>
                                        <p:tav tm="0">
                                          <p:val>
                                            <p:strVal val="0"/>
                                          </p:val>
                                        </p:tav>
                                        <p:tav tm="100000">
                                          <p:val>
                                            <p:strVal val="#ppt_h"/>
                                          </p:val>
                                        </p:tav>
                                      </p:tavLst>
                                    </p:anim>
                                    <p:animEffect transition="in" filter="fade">
                                      <p:cBhvr>
                                        <p:cTn id="51" dur="400"/>
                                        <p:tgtEl>
                                          <p:spTgt spid="13"/>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400" fill="hold" decel="100000"/>
                                        <p:tgtEl>
                                          <p:spTgt spid="14"/>
                                        </p:tgtEl>
                                        <p:attrNameLst>
                                          <p:attrName>ppt_w</p:attrName>
                                        </p:attrNameLst>
                                      </p:cBhvr>
                                      <p:tavLst>
                                        <p:tav tm="0">
                                          <p:val>
                                            <p:strVal val="0"/>
                                          </p:val>
                                        </p:tav>
                                        <p:tav tm="100000">
                                          <p:val>
                                            <p:strVal val="#ppt_w"/>
                                          </p:val>
                                        </p:tav>
                                      </p:tavLst>
                                    </p:anim>
                                    <p:anim calcmode="lin" valueType="num">
                                      <p:cBhvr additive="base">
                                        <p:cTn id="55" dur="400" fill="hold" decel="100000"/>
                                        <p:tgtEl>
                                          <p:spTgt spid="14"/>
                                        </p:tgtEl>
                                        <p:attrNameLst>
                                          <p:attrName>ppt_h</p:attrName>
                                        </p:attrNameLst>
                                      </p:cBhvr>
                                      <p:tavLst>
                                        <p:tav tm="0">
                                          <p:val>
                                            <p:strVal val="0"/>
                                          </p:val>
                                        </p:tav>
                                        <p:tav tm="100000">
                                          <p:val>
                                            <p:strVal val="#ppt_h"/>
                                          </p:val>
                                        </p:tav>
                                      </p:tavLst>
                                    </p:anim>
                                    <p:animEffect transition="in" filter="fade">
                                      <p:cBhvr>
                                        <p:cTn id="56" dur="4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anim calcmode="lin" valueType="num">
                                      <p:cBhvr additive="base">
                                        <p:cTn id="6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63" dur="450" fill="hold" decel="100000"/>
                                        <p:tgtEl>
                                          <p:spTgt spid="15"/>
                                        </p:tgtEl>
                                        <p:attrNameLst>
                                          <p:attrName>ppt_y</p:attrName>
                                        </p:attrNameLst>
                                      </p:cBhvr>
                                      <p:tavLst>
                                        <p:tav tm="0">
                                          <p:val>
                                            <p:strVal val="#ppt_y+.18"/>
                                          </p:val>
                                        </p:tav>
                                        <p:tav tm="100000">
                                          <p:val>
                                            <p:strVal val="#ppt_y"/>
                                          </p:val>
                                        </p:tav>
                                      </p:tavLst>
                                    </p:anim>
                                  </p:childTnLst>
                                </p:cTn>
                              </p:par>
                              <p:par>
                                <p:cTn id="64" presetID="10" presetClass="entr" presetSubtype="0" fill="hold" grpId="0" nodeType="with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fade">
                                      <p:cBhvr>
                                        <p:cTn id="66" dur="300"/>
                                        <p:tgtEl>
                                          <p:spTgt spid="1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nodeType="click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400" fill="hold" decel="100000"/>
                                        <p:tgtEl>
                                          <p:spTgt spid="17"/>
                                        </p:tgtEl>
                                        <p:attrNameLst>
                                          <p:attrName>ppt_w</p:attrName>
                                        </p:attrNameLst>
                                      </p:cBhvr>
                                      <p:tavLst>
                                        <p:tav tm="0">
                                          <p:val>
                                            <p:strVal val="0"/>
                                          </p:val>
                                        </p:tav>
                                        <p:tav tm="100000">
                                          <p:val>
                                            <p:strVal val="#ppt_w"/>
                                          </p:val>
                                        </p:tav>
                                      </p:tavLst>
                                    </p:anim>
                                    <p:anim calcmode="lin" valueType="num">
                                      <p:cBhvr additive="base">
                                        <p:cTn id="72" dur="400" fill="hold" decel="100000"/>
                                        <p:tgtEl>
                                          <p:spTgt spid="17"/>
                                        </p:tgtEl>
                                        <p:attrNameLst>
                                          <p:attrName>ppt_h</p:attrName>
                                        </p:attrNameLst>
                                      </p:cBhvr>
                                      <p:tavLst>
                                        <p:tav tm="0">
                                          <p:val>
                                            <p:strVal val="0"/>
                                          </p:val>
                                        </p:tav>
                                        <p:tav tm="100000">
                                          <p:val>
                                            <p:strVal val="#ppt_h"/>
                                          </p:val>
                                        </p:tav>
                                      </p:tavLst>
                                    </p:anim>
                                    <p:animEffect transition="in" filter="fade">
                                      <p:cBhvr>
                                        <p:cTn id="73" dur="400"/>
                                        <p:tgtEl>
                                          <p:spTgt spid="17"/>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450"/>
                                        <p:tgtEl>
                                          <p:spTgt spid="18"/>
                                        </p:tgtEl>
                                      </p:cBhvr>
                                    </p:animEffect>
                                    <p:anim calcmode="lin" valueType="num">
                                      <p:cBhvr additive="base">
                                        <p:cTn id="79"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18"/>
                                        </p:tgtEl>
                                        <p:attrNameLst>
                                          <p:attrName>ppt_y</p:attrName>
                                        </p:attrNameLst>
                                      </p:cBhvr>
                                      <p:tavLst>
                                        <p:tav tm="0">
                                          <p:val>
                                            <p:strVal val="#ppt_y+.18"/>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4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B547"/>
                </a:solidFill>
                <a:latin typeface="Calibri" pitchFamily="34" charset="0"/>
                <a:ea typeface="Calibri" pitchFamily="34" charset="-122"/>
                <a:cs typeface="Calibri" pitchFamily="34" charset="-120"/>
              </a:rPr>
              <a:t>AMPEL AUS</a:t>
            </a:r>
            <a:endParaRPr lang="en-US" sz="1300" dirty="0"/>
          </a:p>
        </p:txBody>
      </p:sp>
      <p:sp>
        <p:nvSpPr>
          <p:cNvPr id="6" name="e44_2"/>
          <p:cNvSpPr txBox="1"/>
          <p:nvPr/>
        </p:nvSpPr>
        <p:spPr>
          <a:xfrm>
            <a:off x="685800" y="1188720"/>
            <a:ext cx="4754880" cy="18288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Stromausfall.</a:t>
            </a:r>
            <a:endParaRPr lang="en-US" sz="4600" dirty="0"/>
          </a:p>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Was gilt jetzt?</a:t>
            </a:r>
            <a:endParaRPr lang="en-US" sz="4600" dirty="0"/>
          </a:p>
        </p:txBody>
      </p:sp>
      <p:sp>
        <p:nvSpPr>
          <p:cNvPr id="7" name="e44_3"/>
          <p:cNvSpPr/>
          <p:nvPr/>
        </p:nvSpPr>
        <p:spPr>
          <a:xfrm>
            <a:off x="8938260" y="4823460"/>
            <a:ext cx="237744" cy="618134"/>
          </a:xfrm>
          <a:prstGeom prst="roundRect">
            <a:avLst>
              <a:gd name="adj" fmla="val 96154"/>
            </a:avLst>
          </a:prstGeom>
          <a:solidFill>
            <a:srgbClr val="07090D"/>
          </a:solidFill>
          <a:ln w="12700">
            <a:solidFill>
              <a:srgbClr val="4A5261"/>
            </a:solidFill>
            <a:prstDash val="solid"/>
          </a:ln>
        </p:spPr>
      </p:sp>
      <p:sp>
        <p:nvSpPr>
          <p:cNvPr id="8" name="e44_4"/>
          <p:cNvSpPr/>
          <p:nvPr/>
        </p:nvSpPr>
        <p:spPr>
          <a:xfrm>
            <a:off x="8983431" y="4861024"/>
            <a:ext cx="147401" cy="147401"/>
          </a:xfrm>
          <a:prstGeom prst="ellipse">
            <a:avLst/>
          </a:prstGeom>
          <a:solidFill>
            <a:srgbClr val="1B1F27"/>
          </a:solidFill>
          <a:ln/>
        </p:spPr>
      </p:sp>
      <p:sp>
        <p:nvSpPr>
          <p:cNvPr id="9" name="e44_5"/>
          <p:cNvSpPr/>
          <p:nvPr/>
        </p:nvSpPr>
        <p:spPr>
          <a:xfrm>
            <a:off x="8983431" y="5058827"/>
            <a:ext cx="147401" cy="147401"/>
          </a:xfrm>
          <a:prstGeom prst="ellipse">
            <a:avLst/>
          </a:prstGeom>
          <a:solidFill>
            <a:srgbClr val="1B1F27"/>
          </a:solidFill>
          <a:ln/>
        </p:spPr>
      </p:sp>
      <p:sp>
        <p:nvSpPr>
          <p:cNvPr id="10" name="e44_6"/>
          <p:cNvSpPr/>
          <p:nvPr/>
        </p:nvSpPr>
        <p:spPr>
          <a:xfrm>
            <a:off x="8983431" y="5256630"/>
            <a:ext cx="147401" cy="147401"/>
          </a:xfrm>
          <a:prstGeom prst="ellipse">
            <a:avLst/>
          </a:prstGeom>
          <a:solidFill>
            <a:srgbClr val="1B1F27"/>
          </a:solidFill>
          <a:ln/>
        </p:spPr>
      </p:sp>
      <p:sp>
        <p:nvSpPr>
          <p:cNvPr id="11" name="e44_7"/>
          <p:cNvSpPr/>
          <p:nvPr/>
        </p:nvSpPr>
        <p:spPr>
          <a:xfrm>
            <a:off x="9395460" y="1577340"/>
            <a:ext cx="237744" cy="618134"/>
          </a:xfrm>
          <a:prstGeom prst="roundRect">
            <a:avLst>
              <a:gd name="adj" fmla="val 96154"/>
            </a:avLst>
          </a:prstGeom>
          <a:solidFill>
            <a:srgbClr val="07090D"/>
          </a:solidFill>
          <a:ln w="12700">
            <a:solidFill>
              <a:srgbClr val="4A5261"/>
            </a:solidFill>
            <a:prstDash val="solid"/>
          </a:ln>
        </p:spPr>
      </p:sp>
      <p:sp>
        <p:nvSpPr>
          <p:cNvPr id="12" name="e44_8"/>
          <p:cNvSpPr/>
          <p:nvPr/>
        </p:nvSpPr>
        <p:spPr>
          <a:xfrm>
            <a:off x="9440631" y="1614904"/>
            <a:ext cx="147401" cy="147401"/>
          </a:xfrm>
          <a:prstGeom prst="ellipse">
            <a:avLst/>
          </a:prstGeom>
          <a:solidFill>
            <a:srgbClr val="1B1F27"/>
          </a:solidFill>
          <a:ln/>
        </p:spPr>
      </p:sp>
      <p:sp>
        <p:nvSpPr>
          <p:cNvPr id="13" name="e44_9"/>
          <p:cNvSpPr/>
          <p:nvPr/>
        </p:nvSpPr>
        <p:spPr>
          <a:xfrm>
            <a:off x="9440631" y="1812707"/>
            <a:ext cx="147401" cy="147401"/>
          </a:xfrm>
          <a:prstGeom prst="ellipse">
            <a:avLst/>
          </a:prstGeom>
          <a:solidFill>
            <a:srgbClr val="1B1F27"/>
          </a:solidFill>
          <a:ln/>
        </p:spPr>
      </p:sp>
      <p:sp>
        <p:nvSpPr>
          <p:cNvPr id="14" name="e44_10"/>
          <p:cNvSpPr/>
          <p:nvPr/>
        </p:nvSpPr>
        <p:spPr>
          <a:xfrm>
            <a:off x="9440631" y="2010510"/>
            <a:ext cx="147401" cy="147401"/>
          </a:xfrm>
          <a:prstGeom prst="ellipse">
            <a:avLst/>
          </a:prstGeom>
          <a:solidFill>
            <a:srgbClr val="1B1F27"/>
          </a:solidFill>
          <a:ln/>
        </p:spPr>
      </p:sp>
      <p:sp>
        <p:nvSpPr>
          <p:cNvPr id="15" name="e44_11"/>
          <p:cNvSpPr/>
          <p:nvPr/>
        </p:nvSpPr>
        <p:spPr>
          <a:xfrm>
            <a:off x="8983431" y="4861024"/>
            <a:ext cx="147401" cy="147401"/>
          </a:xfrm>
          <a:prstGeom prst="ellipse">
            <a:avLst/>
          </a:prstGeom>
          <a:solidFill>
            <a:srgbClr val="FF3B30"/>
          </a:solidFill>
          <a:ln/>
        </p:spPr>
      </p:sp>
      <p:sp>
        <p:nvSpPr>
          <p:cNvPr id="16" name="e44_12"/>
          <p:cNvSpPr/>
          <p:nvPr/>
        </p:nvSpPr>
        <p:spPr>
          <a:xfrm>
            <a:off x="9440631" y="2010510"/>
            <a:ext cx="147401" cy="147401"/>
          </a:xfrm>
          <a:prstGeom prst="ellipse">
            <a:avLst/>
          </a:prstGeom>
          <a:solidFill>
            <a:srgbClr val="2EE071"/>
          </a:solidFill>
          <a:ln/>
        </p:spPr>
      </p:sp>
      <p:pic>
        <p:nvPicPr>
          <p:cNvPr id="17" name="e44_13" descr="Verkehrszeichen 306">    </p:cNvPr>
          <p:cNvPicPr>
            <a:picLocks noChangeAspect="1"/>
          </p:cNvPicPr>
          <p:nvPr/>
        </p:nvPicPr>
        <p:blipFill>
          <a:blip r:embed="rId2"/>
          <a:stretch>
            <a:fillRect/>
          </a:stretch>
        </p:blipFill>
        <p:spPr>
          <a:xfrm>
            <a:off x="8883396" y="5554980"/>
            <a:ext cx="411480" cy="411480"/>
          </a:xfrm>
          <a:prstGeom prst="rect">
            <a:avLst/>
          </a:prstGeom>
        </p:spPr>
      </p:pic>
      <p:pic>
        <p:nvPicPr>
          <p:cNvPr id="18" name="e44_14" descr="Verkehrszeichen 205">    </p:cNvPr>
          <p:cNvPicPr>
            <a:picLocks noChangeAspect="1"/>
          </p:cNvPicPr>
          <p:nvPr/>
        </p:nvPicPr>
        <p:blipFill>
          <a:blip r:embed="rId3"/>
          <a:stretch>
            <a:fillRect/>
          </a:stretch>
        </p:blipFill>
        <p:spPr>
          <a:xfrm>
            <a:off x="9742932" y="1623060"/>
            <a:ext cx="468303" cy="411480"/>
          </a:xfrm>
          <a:prstGeom prst="rect">
            <a:avLst/>
          </a:prstGeom>
        </p:spPr>
      </p:pic>
      <p:pic>
        <p:nvPicPr>
          <p:cNvPr id="19" name="e44_15" descr="/tmp/claude-0/-home-user-Fahrlehrer-Kompass-/11378f77-94a8-55e9-a697-0f3efd4c20b9/scratchpad/bau/art/car_du.png">    </p:cNvPr>
          <p:cNvPicPr>
            <a:picLocks noChangeAspect="1"/>
          </p:cNvPicPr>
          <p:nvPr/>
        </p:nvPicPr>
        <p:blipFill>
          <a:blip r:embed="rId4"/>
          <a:stretch>
            <a:fillRect/>
          </a:stretch>
        </p:blipFill>
        <p:spPr>
          <a:xfrm>
            <a:off x="7939278" y="4850892"/>
            <a:ext cx="740664" cy="1481328"/>
          </a:xfrm>
          <a:prstGeom prst="rect">
            <a:avLst/>
          </a:prstGeom>
        </p:spPr>
      </p:pic>
      <p:pic>
        <p:nvPicPr>
          <p:cNvPr id="20" name="e44_16" descr="/tmp/claude-0/-home-user-Fahrlehrer-Kompass-/11378f77-94a8-55e9-a697-0f3efd4c20b9/scratchpad/bau/art/car_blau.png">    </p:cNvPr>
          <p:cNvPicPr>
            <a:picLocks noChangeAspect="1"/>
          </p:cNvPicPr>
          <p:nvPr/>
        </p:nvPicPr>
        <p:blipFill>
          <a:blip r:embed="rId5"/>
          <a:stretch>
            <a:fillRect/>
          </a:stretch>
        </p:blipFill>
        <p:spPr>
          <a:xfrm rot="16200000">
            <a:off x="9656064" y="2242566"/>
            <a:ext cx="740664" cy="1481328"/>
          </a:xfrm>
          <a:prstGeom prst="rect">
            <a:avLst/>
          </a:prstGeom>
        </p:spPr>
      </p:pic>
      <p:sp>
        <p:nvSpPr>
          <p:cNvPr id="21" name="e44_17"/>
          <p:cNvSpPr txBox="1"/>
          <p:nvPr/>
        </p:nvSpPr>
        <p:spPr>
          <a:xfrm>
            <a:off x="9861804" y="221513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22" name="e44_18"/>
          <p:cNvSpPr/>
          <p:nvPr/>
        </p:nvSpPr>
        <p:spPr>
          <a:xfrm>
            <a:off x="8983431" y="5058827"/>
            <a:ext cx="147401" cy="147401"/>
          </a:xfrm>
          <a:prstGeom prst="ellipse">
            <a:avLst/>
          </a:prstGeom>
          <a:solidFill>
            <a:srgbClr val="FFB400"/>
          </a:solidFill>
          <a:ln/>
        </p:spPr>
      </p:sp>
      <p:sp>
        <p:nvSpPr>
          <p:cNvPr id="23" name="e44_19"/>
          <p:cNvSpPr/>
          <p:nvPr/>
        </p:nvSpPr>
        <p:spPr>
          <a:xfrm>
            <a:off x="9440631" y="1812707"/>
            <a:ext cx="147401" cy="147401"/>
          </a:xfrm>
          <a:prstGeom prst="ellipse">
            <a:avLst/>
          </a:prstGeom>
          <a:solidFill>
            <a:srgbClr val="FFB400"/>
          </a:solidFill>
          <a:ln/>
        </p:spPr>
      </p:sp>
      <p:sp>
        <p:nvSpPr>
          <p:cNvPr id="24" name="e44_20"/>
          <p:cNvSpPr txBox="1"/>
          <p:nvPr/>
        </p:nvSpPr>
        <p:spPr>
          <a:xfrm rot="-180000">
            <a:off x="731520" y="3246120"/>
            <a:ext cx="4206240" cy="566928"/>
          </a:xfrm>
          <a:prstGeom prst="roundRect">
            <a:avLst>
              <a:gd name="adj" fmla="val 32258"/>
            </a:avLst>
          </a:prstGeom>
          <a:solidFill>
            <a:srgbClr val="FFB547"/>
          </a:solidFill>
          <a:ln/>
        </p:spPr>
        <p:txBody>
          <a:bodyPr wrap="square" lIns="0" tIns="0" rIns="0" bIns="0" rtlCol="0" anchor="ctr"/>
          <a:lstStyle/>
          <a:p>
            <a:pPr algn="ctr" indent="0" marL="0">
              <a:buNone/>
            </a:pPr>
            <a:r>
              <a:rPr lang="en-US" sz="1900" b="1" spc="100" kern="0" dirty="0">
                <a:solidFill>
                  <a:srgbClr val="0A0C10"/>
                </a:solidFill>
                <a:effectLst>
                  <a:glow rad="177800">
                    <a:srgbClr val="FFB547">
                      <a:alpha val="45000"/>
                    </a:srgbClr>
                  </a:glow>
                </a:effectLst>
                <a:latin typeface="Calibri" pitchFamily="34" charset="0"/>
                <a:ea typeface="Calibri" pitchFamily="34" charset="-122"/>
                <a:cs typeface="Calibri" pitchFamily="34" charset="-120"/>
              </a:rPr>
              <a:t>Gelbes Blinklicht: nur Warnung</a:t>
            </a:r>
            <a:endParaRPr lang="en-US" sz="1900" dirty="0"/>
          </a:p>
        </p:txBody>
      </p:sp>
      <p:sp>
        <p:nvSpPr>
          <p:cNvPr id="25" name="e44_21"/>
          <p:cNvSpPr/>
          <p:nvPr/>
        </p:nvSpPr>
        <p:spPr>
          <a:xfrm>
            <a:off x="8773668" y="5445252"/>
            <a:ext cx="630936" cy="630936"/>
          </a:xfrm>
          <a:prstGeom prst="ellipse">
            <a:avLst/>
          </a:prstGeom>
          <a:ln w="38100">
            <a:solidFill>
              <a:srgbClr val="FF7A1A"/>
            </a:solidFill>
            <a:prstDash val="solid"/>
          </a:ln>
        </p:spPr>
      </p:sp>
      <p:sp>
        <p:nvSpPr>
          <p:cNvPr id="26" name="e44_22"/>
          <p:cNvSpPr/>
          <p:nvPr/>
        </p:nvSpPr>
        <p:spPr>
          <a:xfrm>
            <a:off x="9633204" y="1513332"/>
            <a:ext cx="687759" cy="630936"/>
          </a:xfrm>
          <a:prstGeom prst="ellipse">
            <a:avLst/>
          </a:prstGeom>
          <a:ln w="38100">
            <a:solidFill>
              <a:srgbClr val="FF7A1A"/>
            </a:solidFill>
            <a:prstDash val="solid"/>
          </a:ln>
        </p:spPr>
      </p:sp>
      <p:sp>
        <p:nvSpPr>
          <p:cNvPr id="27" name="e44_23"/>
          <p:cNvSpPr txBox="1"/>
          <p:nvPr/>
        </p:nvSpPr>
        <p:spPr>
          <a:xfrm rot="-180000">
            <a:off x="731520" y="3931920"/>
            <a:ext cx="4206240" cy="566928"/>
          </a:xfrm>
          <a:prstGeom prst="roundRect">
            <a:avLst>
              <a:gd name="adj" fmla="val 32258"/>
            </a:avLst>
          </a:prstGeom>
          <a:solidFill>
            <a:srgbClr val="FF7A1A"/>
          </a:solidFill>
          <a:ln/>
        </p:spPr>
        <p:txBody>
          <a:bodyPr wrap="square" lIns="0" tIns="0" rIns="0" bIns="0" rtlCol="0" anchor="ctr"/>
          <a:lstStyle/>
          <a:p>
            <a:pPr algn="ctr" indent="0" marL="0">
              <a:buNone/>
            </a:pPr>
            <a:r>
              <a:rPr lang="en-US" sz="1900" b="1" spc="100" kern="0" dirty="0">
                <a:solidFill>
                  <a:srgbClr val="0A0C10"/>
                </a:solidFill>
                <a:effectLst>
                  <a:glow rad="177800">
                    <a:srgbClr val="FF7A1A">
                      <a:alpha val="45000"/>
                    </a:srgbClr>
                  </a:glow>
                </a:effectLst>
                <a:latin typeface="Calibri" pitchFamily="34" charset="0"/>
                <a:ea typeface="Calibri" pitchFamily="34" charset="-122"/>
                <a:cs typeface="Calibri" pitchFamily="34" charset="-120"/>
              </a:rPr>
              <a:t>Jetzt gelten die Schilder</a:t>
            </a:r>
            <a:endParaRPr lang="en-US" sz="1900" dirty="0"/>
          </a:p>
        </p:txBody>
      </p:sp>
      <p:sp>
        <p:nvSpPr>
          <p:cNvPr id="28" name="e44_24"/>
          <p:cNvSpPr txBox="1"/>
          <p:nvPr/>
        </p:nvSpPr>
        <p:spPr>
          <a:xfrm>
            <a:off x="731520" y="4663440"/>
            <a:ext cx="4389120" cy="45720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Keine Schilder da? Dann rechts vor links.</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grpId="0"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grpId="0"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10" presetClass="entr" presetSubtype="0" fill="hold" grpId="0" nodeType="withEffect">
                                  <p:stCondLst>
                                    <p:cond delay="385"/>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50"/>
                                        <p:tgtEl>
                                          <p:spTgt spid="12"/>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50"/>
                                        <p:tgtEl>
                                          <p:spTgt spid="13"/>
                                        </p:tgtEl>
                                      </p:cBhvr>
                                    </p:animEffect>
                                  </p:childTnLst>
                                </p:cTn>
                              </p:par>
                              <p:par>
                                <p:cTn id="36" presetID="10" presetClass="entr" presetSubtype="0" fill="hold" grpId="0" nodeType="withEffect">
                                  <p:stCondLst>
                                    <p:cond delay="495"/>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50"/>
                                        <p:tgtEl>
                                          <p:spTgt spid="14"/>
                                        </p:tgtEl>
                                      </p:cBhvr>
                                    </p:animEffect>
                                  </p:childTnLst>
                                </p:cTn>
                              </p:par>
                              <p:par>
                                <p:cTn id="39" presetID="10" presetClass="entr" presetSubtype="0" fill="hold" nodeType="withEffect">
                                  <p:stCondLst>
                                    <p:cond delay="55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50"/>
                                        <p:tgtEl>
                                          <p:spTgt spid="17"/>
                                        </p:tgtEl>
                                      </p:cBhvr>
                                    </p:animEffect>
                                  </p:childTnLst>
                                </p:cTn>
                              </p:par>
                              <p:par>
                                <p:cTn id="42" presetID="10" presetClass="entr" presetSubtype="0" fill="hold" nodeType="withEffect">
                                  <p:stCondLst>
                                    <p:cond delay="605"/>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50"/>
                                        <p:tgtEl>
                                          <p:spTgt spid="18"/>
                                        </p:tgtEl>
                                      </p:cBhvr>
                                    </p:animEffect>
                                  </p:childTnLst>
                                </p:cTn>
                              </p:par>
                              <p:par>
                                <p:cTn id="45" presetID="42" presetClass="entr" presetSubtype="0" fill="hold" grpId="0" nodeType="withEffect">
                                  <p:stCondLst>
                                    <p:cond delay="6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650"/>
                                        <p:tgtEl>
                                          <p:spTgt spid="21"/>
                                        </p:tgtEl>
                                      </p:cBhvr>
                                    </p:animEffect>
                                    <p:anim calcmode="lin" valueType="num">
                                      <p:cBhvr additive="base">
                                        <p:cTn id="48" dur="650" fill="hold" decel="100000"/>
                                        <p:tgtEl>
                                          <p:spTgt spid="21"/>
                                        </p:tgtEl>
                                        <p:attrNameLst>
                                          <p:attrName>ppt_x</p:attrName>
                                        </p:attrNameLst>
                                      </p:cBhvr>
                                      <p:tavLst>
                                        <p:tav tm="0">
                                          <p:val>
                                            <p:strVal val="#ppt_x"/>
                                          </p:val>
                                        </p:tav>
                                        <p:tav tm="100000">
                                          <p:val>
                                            <p:strVal val="#ppt_x"/>
                                          </p:val>
                                        </p:tav>
                                      </p:tavLst>
                                    </p:anim>
                                    <p:anim calcmode="lin" valueType="num">
                                      <p:cBhvr additive="base">
                                        <p:cTn id="49" dur="650" fill="hold" decel="100000"/>
                                        <p:tgtEl>
                                          <p:spTgt spid="21"/>
                                        </p:tgtEl>
                                        <p:attrNameLst>
                                          <p:attrName>ppt_y</p:attrName>
                                        </p:attrNameLst>
                                      </p:cBhvr>
                                      <p:tavLst>
                                        <p:tav tm="0">
                                          <p:val>
                                            <p:strVal val="#ppt_y+.05"/>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0" nodeType="clickEffect">
                                  <p:stCondLst>
                                    <p:cond delay="0"/>
                                  </p:stCondLst>
                                  <p:childTnLst>
                                    <p:animEffect transition="out" filter="fade">
                                      <p:cBhvr>
                                        <p:cTn id="53" dur="300"/>
                                        <p:tgtEl>
                                          <p:spTgt spid="15"/>
                                        </p:tgtEl>
                                      </p:cBhvr>
                                    </p:animEffect>
                                    <p:set>
                                      <p:cBhvr>
                                        <p:cTn id="54" dur="1" fill="hold">
                                          <p:stCondLst>
                                            <p:cond delay="299"/>
                                          </p:stCondLst>
                                        </p:cTn>
                                        <p:tgtEl>
                                          <p:spTgt spid="15"/>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300"/>
                                        <p:tgtEl>
                                          <p:spTgt spid="16"/>
                                        </p:tgtEl>
                                      </p:cBhvr>
                                    </p:animEffect>
                                    <p:set>
                                      <p:cBhvr>
                                        <p:cTn id="57" dur="1" fill="hold">
                                          <p:stCondLst>
                                            <p:cond delay="299"/>
                                          </p:stCondLst>
                                        </p:cTn>
                                        <p:tgtEl>
                                          <p:spTgt spid="16"/>
                                        </p:tgtEl>
                                        <p:attrNameLst>
                                          <p:attrName>style.visibility</p:attrName>
                                        </p:attrNameLst>
                                      </p:cBhvr>
                                      <p:to>
                                        <p:strVal val="hidden"/>
                                      </p:to>
                                    </p:se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2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200"/>
                                        <p:tgtEl>
                                          <p:spTgt spid="23"/>
                                        </p:tgtEl>
                                      </p:cBhvr>
                                    </p:animEffect>
                                  </p:childTnLst>
                                </p:cTn>
                              </p:par>
                              <p:par>
                                <p:cTn id="64" presetID="35" presetClass="emph" presetSubtype="0" fill="hold" grpId="1" nodeType="withEffect" repeatCount="indefinite">
                                  <p:stCondLst>
                                    <p:cond delay="0"/>
                                  </p:stCondLst>
                                  <p:childTnLst>
                                    <p:anim calcmode="discrete" valueType="str">
                                      <p:cBhvr override="childStyle">
                                        <p:cTn id="65" dur="1100"/>
                                        <p:tgtEl>
                                          <p:spTgt spid="22"/>
                                        </p:tgtEl>
                                        <p:attrNameLst>
                                          <p:attrName>style.visibility</p:attrName>
                                        </p:attrNameLst>
                                      </p:cBhvr>
                                      <p:tavLst>
                                        <p:tav tm="0">
                                          <p:val>
                                            <p:strVal val="hidden"/>
                                          </p:val>
                                        </p:tav>
                                        <p:tav tm="50000">
                                          <p:val>
                                            <p:strVal val="visible"/>
                                          </p:val>
                                        </p:tav>
                                      </p:tavLst>
                                    </p:anim>
                                  </p:childTnLst>
                                </p:cTn>
                              </p:par>
                              <p:par>
                                <p:cTn id="66" presetID="35" presetClass="emph" presetSubtype="0" fill="hold" grpId="1" nodeType="withEffect" repeatCount="indefinite">
                                  <p:stCondLst>
                                    <p:cond delay="0"/>
                                  </p:stCondLst>
                                  <p:childTnLst>
                                    <p:anim calcmode="discrete" valueType="str">
                                      <p:cBhvr override="childStyle">
                                        <p:cTn id="67" dur="1100"/>
                                        <p:tgtEl>
                                          <p:spTgt spid="23"/>
                                        </p:tgtEl>
                                        <p:attrNameLst>
                                          <p:attrName>style.visibility</p:attrName>
                                        </p:attrNameLst>
                                      </p:cBhvr>
                                      <p:tavLst>
                                        <p:tav tm="0">
                                          <p:val>
                                            <p:strVal val="hidden"/>
                                          </p:val>
                                        </p:tav>
                                        <p:tav tm="50000">
                                          <p:val>
                                            <p:strVal val="visible"/>
                                          </p:val>
                                        </p:tav>
                                      </p:tavLst>
                                    </p:anim>
                                  </p:childTnLst>
                                </p:cTn>
                              </p:par>
                            </p:childTnLst>
                          </p:cTn>
                        </p:par>
                        <p:par>
                          <p:cTn id="68" fill="hold">
                            <p:stCondLst>
                              <p:cond delay="300"/>
                            </p:stCondLst>
                            <p:childTnLst>
                              <p:par>
                                <p:cTn id="69" presetID="53" presetClass="entr" presetSubtype="32"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380" fill="hold" accel="60000"/>
                                        <p:tgtEl>
                                          <p:spTgt spid="24"/>
                                        </p:tgtEl>
                                        <p:attrNameLst>
                                          <p:attrName>ppt_w</p:attrName>
                                        </p:attrNameLst>
                                      </p:cBhvr>
                                      <p:tavLst>
                                        <p:tav tm="0">
                                          <p:val>
                                            <p:strVal val="#ppt_w*2.2"/>
                                          </p:val>
                                        </p:tav>
                                        <p:tav tm="100000">
                                          <p:val>
                                            <p:strVal val="#ppt_w"/>
                                          </p:val>
                                        </p:tav>
                                      </p:tavLst>
                                    </p:anim>
                                    <p:anim calcmode="lin" valueType="num">
                                      <p:cBhvr additive="base">
                                        <p:cTn id="72" dur="380" fill="hold" accel="60000"/>
                                        <p:tgtEl>
                                          <p:spTgt spid="24"/>
                                        </p:tgtEl>
                                        <p:attrNameLst>
                                          <p:attrName>ppt_h</p:attrName>
                                        </p:attrNameLst>
                                      </p:cBhvr>
                                      <p:tavLst>
                                        <p:tav tm="0">
                                          <p:val>
                                            <p:strVal val="#ppt_h*2.2"/>
                                          </p:val>
                                        </p:tav>
                                        <p:tav tm="100000">
                                          <p:val>
                                            <p:strVal val="#ppt_h"/>
                                          </p:val>
                                        </p:tav>
                                      </p:tavLst>
                                    </p:anim>
                                    <p:animEffect transition="in" filter="fade">
                                      <p:cBhvr>
                                        <p:cTn id="73" dur="228"/>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 calcmode="lin" valueType="num">
                                      <p:cBhvr additive="base">
                                        <p:cTn id="78" dur="400" fill="hold" decel="100000"/>
                                        <p:tgtEl>
                                          <p:spTgt spid="25"/>
                                        </p:tgtEl>
                                        <p:attrNameLst>
                                          <p:attrName>ppt_w</p:attrName>
                                        </p:attrNameLst>
                                      </p:cBhvr>
                                      <p:tavLst>
                                        <p:tav tm="0">
                                          <p:val>
                                            <p:strVal val="0"/>
                                          </p:val>
                                        </p:tav>
                                        <p:tav tm="100000">
                                          <p:val>
                                            <p:strVal val="#ppt_w"/>
                                          </p:val>
                                        </p:tav>
                                      </p:tavLst>
                                    </p:anim>
                                    <p:anim calcmode="lin" valueType="num">
                                      <p:cBhvr additive="base">
                                        <p:cTn id="79" dur="400" fill="hold" decel="100000"/>
                                        <p:tgtEl>
                                          <p:spTgt spid="25"/>
                                        </p:tgtEl>
                                        <p:attrNameLst>
                                          <p:attrName>ppt_h</p:attrName>
                                        </p:attrNameLst>
                                      </p:cBhvr>
                                      <p:tavLst>
                                        <p:tav tm="0">
                                          <p:val>
                                            <p:strVal val="0"/>
                                          </p:val>
                                        </p:tav>
                                        <p:tav tm="100000">
                                          <p:val>
                                            <p:strVal val="#ppt_h"/>
                                          </p:val>
                                        </p:tav>
                                      </p:tavLst>
                                    </p:anim>
                                    <p:animEffect transition="in" filter="fade">
                                      <p:cBhvr>
                                        <p:cTn id="80" dur="400"/>
                                        <p:tgtEl>
                                          <p:spTgt spid="25"/>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 calcmode="lin" valueType="num">
                                      <p:cBhvr additive="base">
                                        <p:cTn id="83" dur="400" fill="hold" decel="100000"/>
                                        <p:tgtEl>
                                          <p:spTgt spid="26"/>
                                        </p:tgtEl>
                                        <p:attrNameLst>
                                          <p:attrName>ppt_w</p:attrName>
                                        </p:attrNameLst>
                                      </p:cBhvr>
                                      <p:tavLst>
                                        <p:tav tm="0">
                                          <p:val>
                                            <p:strVal val="0"/>
                                          </p:val>
                                        </p:tav>
                                        <p:tav tm="100000">
                                          <p:val>
                                            <p:strVal val="#ppt_w"/>
                                          </p:val>
                                        </p:tav>
                                      </p:tavLst>
                                    </p:anim>
                                    <p:anim calcmode="lin" valueType="num">
                                      <p:cBhvr additive="base">
                                        <p:cTn id="84" dur="400" fill="hold" decel="100000"/>
                                        <p:tgtEl>
                                          <p:spTgt spid="26"/>
                                        </p:tgtEl>
                                        <p:attrNameLst>
                                          <p:attrName>ppt_h</p:attrName>
                                        </p:attrNameLst>
                                      </p:cBhvr>
                                      <p:tavLst>
                                        <p:tav tm="0">
                                          <p:val>
                                            <p:strVal val="0"/>
                                          </p:val>
                                        </p:tav>
                                        <p:tav tm="100000">
                                          <p:val>
                                            <p:strVal val="#ppt_h"/>
                                          </p:val>
                                        </p:tav>
                                      </p:tavLst>
                                    </p:anim>
                                    <p:animEffect transition="in" filter="fade">
                                      <p:cBhvr>
                                        <p:cTn id="85" dur="400"/>
                                        <p:tgtEl>
                                          <p:spTgt spid="26"/>
                                        </p:tgtEl>
                                      </p:cBhvr>
                                    </p:animEffect>
                                  </p:childTnLst>
                                </p:cTn>
                              </p:par>
                            </p:childTnLst>
                          </p:cTn>
                        </p:par>
                        <p:par>
                          <p:cTn id="86" fill="hold">
                            <p:stCondLst>
                              <p:cond delay="400"/>
                            </p:stCondLst>
                            <p:childTnLst>
                              <p:par>
                                <p:cTn id="87" presetID="53" presetClass="entr" presetSubtype="32" fill="hold" grpId="0" nodeType="after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additive="base">
                                        <p:cTn id="89" dur="380" fill="hold" accel="60000"/>
                                        <p:tgtEl>
                                          <p:spTgt spid="27"/>
                                        </p:tgtEl>
                                        <p:attrNameLst>
                                          <p:attrName>ppt_w</p:attrName>
                                        </p:attrNameLst>
                                      </p:cBhvr>
                                      <p:tavLst>
                                        <p:tav tm="0">
                                          <p:val>
                                            <p:strVal val="#ppt_w*2.2"/>
                                          </p:val>
                                        </p:tav>
                                        <p:tav tm="100000">
                                          <p:val>
                                            <p:strVal val="#ppt_w"/>
                                          </p:val>
                                        </p:tav>
                                      </p:tavLst>
                                    </p:anim>
                                    <p:anim calcmode="lin" valueType="num">
                                      <p:cBhvr additive="base">
                                        <p:cTn id="90" dur="380" fill="hold" accel="60000"/>
                                        <p:tgtEl>
                                          <p:spTgt spid="27"/>
                                        </p:tgtEl>
                                        <p:attrNameLst>
                                          <p:attrName>ppt_h</p:attrName>
                                        </p:attrNameLst>
                                      </p:cBhvr>
                                      <p:tavLst>
                                        <p:tav tm="0">
                                          <p:val>
                                            <p:strVal val="#ppt_h*2.2"/>
                                          </p:val>
                                        </p:tav>
                                        <p:tav tm="100000">
                                          <p:val>
                                            <p:strVal val="#ppt_h"/>
                                          </p:val>
                                        </p:tav>
                                      </p:tavLst>
                                    </p:anim>
                                    <p:animEffect transition="in" filter="fade">
                                      <p:cBhvr>
                                        <p:cTn id="91" dur="228"/>
                                        <p:tgtEl>
                                          <p:spTgt spid="27"/>
                                        </p:tgtEl>
                                      </p:cBhvr>
                                    </p:animEffect>
                                  </p:childTnLst>
                                </p:cTn>
                              </p:par>
                            </p:childTnLst>
                          </p:cTn>
                        </p:par>
                        <p:par>
                          <p:cTn id="92" fill="hold">
                            <p:stCondLst>
                              <p:cond delay="780"/>
                            </p:stCondLst>
                            <p:childTnLst>
                              <p:par>
                                <p:cTn id="93" presetID="10" presetClass="entr" presetSubtype="0" fill="hold" grpId="0" nodeType="afterEffect">
                                  <p:stCondLst>
                                    <p:cond delay="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600"/>
                                        <p:tgtEl>
                                          <p:spTgt spid="28"/>
                                        </p:tgtEl>
                                      </p:cBhvr>
                                    </p:animEffect>
                                  </p:childTnLst>
                                </p:cTn>
                              </p:par>
                            </p:childTnLst>
                          </p:cTn>
                        </p:par>
                      </p:childTnLst>
                    </p:cTn>
                  </p:par>
                  <p:par>
                    <p:cTn id="96" fill="hold">
                      <p:stCondLst>
                        <p:cond delay="indefinite"/>
                      </p:stCondLst>
                      <p:childTnLst>
                        <p:par>
                          <p:cTn id="97" fill="hold">
                            <p:stCondLst>
                              <p:cond delay="0"/>
                            </p:stCondLst>
                            <p:childTnLst>
                              <p:par>
                                <p:cTn id="98" presetID="0" presetClass="path" presetSubtype="0" fill="hold" nodeType="clickEffect" accel="40000" decel="40000">
                                  <p:stCondLst>
                                    <p:cond delay="0"/>
                                  </p:stCondLst>
                                  <p:childTnLst>
                                    <p:animMotion origin="layout" path="M 0 0 C 0 -0.3111 0 -0.6222 0 -0.9333 E" pathEditMode="relative" rAng="0" ptsTypes="">
                                      <p:cBhvr>
                                        <p:cTn id="99" dur="4118" fill="hold"/>
                                        <p:tgtEl>
                                          <p:spTgt spid="19"/>
                                        </p:tgtEl>
                                        <p:attrNameLst>
                                          <p:attrName>ppt_x</p:attrName>
                                          <p:attrName>ppt_y</p:attrName>
                                        </p:attrNameLst>
                                      </p:cBhvr>
                                      <p:rCtr x="0" y="0"/>
                                    </p:animMotion>
                                  </p:childTnLst>
                                </p:cTn>
                              </p:par>
                            </p:childTnLst>
                          </p:cTn>
                        </p:par>
                        <p:par>
                          <p:cTn id="100" fill="hold">
                            <p:stCondLst>
                              <p:cond delay="4118"/>
                            </p:stCondLst>
                            <p:childTnLst>
                              <p:par>
                                <p:cTn id="101" presetID="10" presetClass="exit" presetSubtype="0" fill="hold" nodeType="afterEffect">
                                  <p:stCondLst>
                                    <p:cond delay="0"/>
                                  </p:stCondLst>
                                  <p:childTnLst>
                                    <p:animEffect transition="out" filter="fade">
                                      <p:cBhvr>
                                        <p:cTn id="102" dur="350"/>
                                        <p:tgtEl>
                                          <p:spTgt spid="19"/>
                                        </p:tgtEl>
                                      </p:cBhvr>
                                    </p:animEffect>
                                    <p:set>
                                      <p:cBhvr>
                                        <p:cTn id="103" dur="1" fill="hold">
                                          <p:stCondLst>
                                            <p:cond delay="349"/>
                                          </p:stCondLst>
                                        </p:cTn>
                                        <p:tgtEl>
                                          <p:spTgt spid="19"/>
                                        </p:tgtEl>
                                        <p:attrNameLst>
                                          <p:attrName>style.visibility</p:attrName>
                                        </p:attrNameLst>
                                      </p:cBhvr>
                                      <p:to>
                                        <p:strVal val="hidden"/>
                                      </p:to>
                                    </p:set>
                                  </p:childTnLst>
                                </p:cTn>
                              </p:par>
                            </p:childTnLst>
                          </p:cTn>
                        </p:par>
                        <p:par>
                          <p:cTn id="104" fill="hold">
                            <p:stCondLst>
                              <p:cond delay="4468"/>
                            </p:stCondLst>
                            <p:childTnLst>
                              <p:par>
                                <p:cTn id="105" presetID="0" presetClass="path" presetSubtype="0" fill="hold" nodeType="afterEffect" accel="40000" decel="40000">
                                  <p:stCondLst>
                                    <p:cond delay="0"/>
                                  </p:stCondLst>
                                  <p:childTnLst>
                                    <p:animMotion origin="layout" path="M 0 0 C -0.1075 0 -0.215 0 -0.3225 0 E" pathEditMode="relative" rAng="0" ptsTypes="">
                                      <p:cBhvr>
                                        <p:cTn id="106" dur="2529" fill="hold"/>
                                        <p:tgtEl>
                                          <p:spTgt spid="20"/>
                                        </p:tgtEl>
                                        <p:attrNameLst>
                                          <p:attrName>ppt_x</p:attrName>
                                          <p:attrName>ppt_y</p:attrName>
                                        </p:attrNameLst>
                                      </p:cBhvr>
                                      <p:rCtr x="0" y="0"/>
                                    </p:animMotion>
                                  </p:childTnLst>
                                </p:cTn>
                              </p:par>
                            </p:childTnLst>
                          </p:cTn>
                        </p:par>
                        <p:par>
                          <p:cTn id="107" fill="hold">
                            <p:stCondLst>
                              <p:cond delay="6997"/>
                            </p:stCondLst>
                            <p:childTnLst>
                              <p:par>
                                <p:cTn id="108" presetID="10" presetClass="exit" presetSubtype="0" fill="hold" nodeType="afterEffect">
                                  <p:stCondLst>
                                    <p:cond delay="0"/>
                                  </p:stCondLst>
                                  <p:childTnLst>
                                    <p:animEffect transition="out" filter="fade">
                                      <p:cBhvr>
                                        <p:cTn id="109" dur="350"/>
                                        <p:tgtEl>
                                          <p:spTgt spid="20"/>
                                        </p:tgtEl>
                                      </p:cBhvr>
                                    </p:animEffect>
                                    <p:set>
                                      <p:cBhvr>
                                        <p:cTn id="110" dur="1" fill="hold">
                                          <p:stCondLst>
                                            <p:cond delay="34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21" grpId="0" animBg="1"/>
      <p:bldP spid="15" grpId="0" animBg="1"/>
      <p:bldP spid="16" grpId="0" animBg="1"/>
      <p:bldP spid="22" grpId="0" animBg="1"/>
      <p:bldP spid="23" grpId="0" animBg="1"/>
      <p:bldP spid="22" grpId="1" animBg="1"/>
      <p:bldP spid="23" grpId="1" animBg="1"/>
      <p:bldP spid="24" grpId="0" animBg="1"/>
      <p:bldP spid="25" grpId="0" animBg="1"/>
      <p:bldP spid="26" grpId="0" animBg="1"/>
      <p:bldP spid="27" grpId="0" animBg="1"/>
      <p:bldP spid="2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5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DAUERLICHTZEICHEN</a:t>
            </a:r>
            <a:endParaRPr lang="en-US" sz="1300" dirty="0"/>
          </a:p>
        </p:txBody>
      </p:sp>
      <p:sp>
        <p:nvSpPr>
          <p:cNvPr id="6" name="e45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Signale über dem Fahrstreifen</a:t>
            </a:r>
            <a:endParaRPr lang="en-US" sz="4400" dirty="0"/>
          </a:p>
        </p:txBody>
      </p:sp>
      <p:sp>
        <p:nvSpPr>
          <p:cNvPr id="7" name="e45_3"/>
          <p:cNvSpPr/>
          <p:nvPr/>
        </p:nvSpPr>
        <p:spPr>
          <a:xfrm>
            <a:off x="731520" y="2331720"/>
            <a:ext cx="10698480" cy="201168"/>
          </a:xfrm>
          <a:prstGeom prst="rect">
            <a:avLst/>
          </a:prstGeom>
          <a:solidFill>
            <a:srgbClr val="2A3140"/>
          </a:solidFill>
          <a:ln/>
        </p:spPr>
      </p:sp>
      <p:pic>
        <p:nvPicPr>
          <p:cNvPr id="8" name="e45_4" descr="/tmp/claude-0/-home-user-Fahrlehrer-Kompass-/11378f77-94a8-55e9-a697-0f3efd4c20b9/scratchpad/bau/art/dauer_x.png">    </p:cNvPr>
          <p:cNvPicPr>
            <a:picLocks noChangeAspect="1"/>
          </p:cNvPicPr>
          <p:nvPr/>
        </p:nvPicPr>
        <p:blipFill>
          <a:blip r:embed="rId2"/>
          <a:stretch>
            <a:fillRect/>
          </a:stretch>
        </p:blipFill>
        <p:spPr>
          <a:xfrm>
            <a:off x="1691640" y="2651760"/>
            <a:ext cx="1828800" cy="1828800"/>
          </a:xfrm>
          <a:prstGeom prst="rect">
            <a:avLst/>
          </a:prstGeom>
        </p:spPr>
      </p:pic>
      <p:sp>
        <p:nvSpPr>
          <p:cNvPr id="9" name="e45_5"/>
          <p:cNvSpPr txBox="1"/>
          <p:nvPr/>
        </p:nvSpPr>
        <p:spPr>
          <a:xfrm>
            <a:off x="1280160" y="4617720"/>
            <a:ext cx="2651760" cy="548640"/>
          </a:xfrm>
          <a:prstGeom prst="rect">
            <a:avLst/>
          </a:prstGeom>
          <a:noFill/>
          <a:ln/>
        </p:spPr>
        <p:txBody>
          <a:bodyPr wrap="square" lIns="0" tIns="0" rIns="0" bIns="0" rtlCol="0" anchor="t"/>
          <a:lstStyle/>
          <a:p>
            <a:pPr algn="ctr" indent="0" marL="0">
              <a:buNone/>
            </a:pPr>
            <a:r>
              <a:rPr lang="en-US" sz="3000" b="1" dirty="0">
                <a:solidFill>
                  <a:srgbClr val="FF3030"/>
                </a:solidFill>
                <a:latin typeface="Cambria" pitchFamily="34" charset="0"/>
                <a:ea typeface="Cambria" pitchFamily="34" charset="-122"/>
                <a:cs typeface="Cambria" pitchFamily="34" charset="-120"/>
              </a:rPr>
              <a:t>Gesperrt</a:t>
            </a:r>
            <a:endParaRPr lang="en-US" sz="3000" dirty="0"/>
          </a:p>
        </p:txBody>
      </p:sp>
      <p:sp>
        <p:nvSpPr>
          <p:cNvPr id="10" name="e45_6"/>
          <p:cNvSpPr txBox="1"/>
          <p:nvPr/>
        </p:nvSpPr>
        <p:spPr>
          <a:xfrm>
            <a:off x="109728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Diesen Fahrstreifen nicht benutzen.</a:t>
            </a:r>
            <a:endParaRPr lang="en-US" sz="1600" dirty="0"/>
          </a:p>
        </p:txBody>
      </p:sp>
      <p:pic>
        <p:nvPicPr>
          <p:cNvPr id="11" name="e45_7" descr="/tmp/claude-0/-home-user-Fahrlehrer-Kompass-/11378f77-94a8-55e9-a697-0f3efd4c20b9/scratchpad/bau/art/dauer_down.png">    </p:cNvPr>
          <p:cNvPicPr>
            <a:picLocks noChangeAspect="1"/>
          </p:cNvPicPr>
          <p:nvPr/>
        </p:nvPicPr>
        <p:blipFill>
          <a:blip r:embed="rId3"/>
          <a:stretch>
            <a:fillRect/>
          </a:stretch>
        </p:blipFill>
        <p:spPr>
          <a:xfrm>
            <a:off x="5303520" y="2651760"/>
            <a:ext cx="1828800" cy="1828800"/>
          </a:xfrm>
          <a:prstGeom prst="rect">
            <a:avLst/>
          </a:prstGeom>
        </p:spPr>
      </p:pic>
      <p:sp>
        <p:nvSpPr>
          <p:cNvPr id="12" name="e45_8"/>
          <p:cNvSpPr txBox="1"/>
          <p:nvPr/>
        </p:nvSpPr>
        <p:spPr>
          <a:xfrm>
            <a:off x="4892040" y="4617720"/>
            <a:ext cx="2651760" cy="548640"/>
          </a:xfrm>
          <a:prstGeom prst="rect">
            <a:avLst/>
          </a:prstGeom>
          <a:noFill/>
          <a:ln/>
        </p:spPr>
        <p:txBody>
          <a:bodyPr wrap="square" lIns="0" tIns="0" rIns="0" bIns="0" rtlCol="0" anchor="t"/>
          <a:lstStyle/>
          <a:p>
            <a:pPr algn="ctr" indent="0" marL="0">
              <a:buNone/>
            </a:pPr>
            <a:r>
              <a:rPr lang="en-US" sz="3000" b="1" dirty="0">
                <a:solidFill>
                  <a:srgbClr val="35E07F"/>
                </a:solidFill>
                <a:latin typeface="Cambria" pitchFamily="34" charset="0"/>
                <a:ea typeface="Cambria" pitchFamily="34" charset="-122"/>
                <a:cs typeface="Cambria" pitchFamily="34" charset="-120"/>
              </a:rPr>
              <a:t>Frei</a:t>
            </a:r>
            <a:endParaRPr lang="en-US" sz="3000" dirty="0"/>
          </a:p>
        </p:txBody>
      </p:sp>
      <p:sp>
        <p:nvSpPr>
          <p:cNvPr id="13" name="e45_9"/>
          <p:cNvSpPr txBox="1"/>
          <p:nvPr/>
        </p:nvSpPr>
        <p:spPr>
          <a:xfrm>
            <a:off x="470916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Der Fahrstreifen ist freigegeben.</a:t>
            </a:r>
            <a:endParaRPr lang="en-US" sz="1600" dirty="0"/>
          </a:p>
        </p:txBody>
      </p:sp>
      <p:pic>
        <p:nvPicPr>
          <p:cNvPr id="14" name="e45_10" descr="/tmp/claude-0/-home-user-Fahrlehrer-Kompass-/11378f77-94a8-55e9-a697-0f3efd4c20b9/scratchpad/bau/art/dauer_diag.png">    </p:cNvPr>
          <p:cNvPicPr>
            <a:picLocks noChangeAspect="1"/>
          </p:cNvPicPr>
          <p:nvPr/>
        </p:nvPicPr>
        <p:blipFill>
          <a:blip r:embed="rId4"/>
          <a:stretch>
            <a:fillRect/>
          </a:stretch>
        </p:blipFill>
        <p:spPr>
          <a:xfrm>
            <a:off x="8915400" y="2651760"/>
            <a:ext cx="1828800" cy="1828800"/>
          </a:xfrm>
          <a:prstGeom prst="rect">
            <a:avLst/>
          </a:prstGeom>
        </p:spPr>
      </p:pic>
      <p:sp>
        <p:nvSpPr>
          <p:cNvPr id="15" name="e45_11"/>
          <p:cNvSpPr txBox="1"/>
          <p:nvPr/>
        </p:nvSpPr>
        <p:spPr>
          <a:xfrm>
            <a:off x="8503920" y="4617720"/>
            <a:ext cx="2651760" cy="548640"/>
          </a:xfrm>
          <a:prstGeom prst="rect">
            <a:avLst/>
          </a:prstGeom>
          <a:noFill/>
          <a:ln/>
        </p:spPr>
        <p:txBody>
          <a:bodyPr wrap="square" lIns="0" tIns="0" rIns="0" bIns="0" rtlCol="0" anchor="t"/>
          <a:lstStyle/>
          <a:p>
            <a:pPr algn="ctr" indent="0" marL="0">
              <a:buNone/>
            </a:pPr>
            <a:r>
              <a:rPr lang="en-US" sz="3000" b="1" dirty="0">
                <a:solidFill>
                  <a:srgbClr val="FFC21A"/>
                </a:solidFill>
                <a:latin typeface="Cambria" pitchFamily="34" charset="0"/>
                <a:ea typeface="Cambria" pitchFamily="34" charset="-122"/>
                <a:cs typeface="Cambria" pitchFamily="34" charset="-120"/>
              </a:rPr>
              <a:t>Wechseln</a:t>
            </a:r>
            <a:endParaRPr lang="en-US" sz="3000" dirty="0"/>
          </a:p>
        </p:txBody>
      </p:sp>
      <p:sp>
        <p:nvSpPr>
          <p:cNvPr id="16" name="e45_12"/>
          <p:cNvSpPr txBox="1"/>
          <p:nvPr/>
        </p:nvSpPr>
        <p:spPr>
          <a:xfrm>
            <a:off x="8321040" y="5166360"/>
            <a:ext cx="3017520" cy="73152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Fahrstreifen in Pfeilrichtung wechseln. Blinkt gelb.</a:t>
            </a:r>
            <a:endParaRPr lang="en-US" sz="1600" dirty="0"/>
          </a:p>
        </p:txBody>
      </p:sp>
      <p:sp>
        <p:nvSpPr>
          <p:cNvPr id="17" name="e45_13"/>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z. B. in Tunneln, auf Brücken und Autobahnen · § 37 Abs. 3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42" presetClass="entr" presetSubtype="0" fill="hold" grpId="0" nodeType="withEffect">
                                  <p:stCondLst>
                                    <p:cond delay="165"/>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650"/>
                                        <p:tgtEl>
                                          <p:spTgt spid="17"/>
                                        </p:tgtEl>
                                      </p:cBhvr>
                                    </p:animEffect>
                                    <p:anim calcmode="lin" valueType="num">
                                      <p:cBhvr additive="base">
                                        <p:cTn id="21"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22" dur="650" fill="hold" decel="100000"/>
                                        <p:tgtEl>
                                          <p:spTgt spid="17"/>
                                        </p:tgtEl>
                                        <p:attrNameLst>
                                          <p:attrName>ppt_y</p:attrName>
                                        </p:attrNameLst>
                                      </p:cBhvr>
                                      <p:tavLst>
                                        <p:tav tm="0">
                                          <p:val>
                                            <p:strVal val="#ppt_y+.05"/>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decel="100000"/>
                                        <p:tgtEl>
                                          <p:spTgt spid="8"/>
                                        </p:tgtEl>
                                        <p:attrNameLst>
                                          <p:attrName>ppt_w</p:attrName>
                                        </p:attrNameLst>
                                      </p:cBhvr>
                                      <p:tavLst>
                                        <p:tav tm="0">
                                          <p:val>
                                            <p:strVal val="0"/>
                                          </p:val>
                                        </p:tav>
                                        <p:tav tm="100000">
                                          <p:val>
                                            <p:strVal val="#ppt_w"/>
                                          </p:val>
                                        </p:tav>
                                      </p:tavLst>
                                    </p:anim>
                                    <p:anim calcmode="lin" valueType="num">
                                      <p:cBhvr additive="base">
                                        <p:cTn id="28" dur="500" fill="hold" decel="100000"/>
                                        <p:tgtEl>
                                          <p:spTgt spid="8"/>
                                        </p:tgtEl>
                                        <p:attrNameLst>
                                          <p:attrName>ppt_h</p:attrName>
                                        </p:attrNameLst>
                                      </p:cBhvr>
                                      <p:tavLst>
                                        <p:tav tm="0">
                                          <p:val>
                                            <p:strVal val="0"/>
                                          </p:val>
                                        </p:tav>
                                        <p:tav tm="100000">
                                          <p:val>
                                            <p:strVal val="#ppt_h"/>
                                          </p:val>
                                        </p:tav>
                                      </p:tavLst>
                                    </p:anim>
                                    <p:animEffect transition="in" filter="fade">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anim calcmode="lin" valueType="num">
                                      <p:cBhvr additive="base">
                                        <p:cTn id="35"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6" dur="450" fill="hold" decel="100000"/>
                                        <p:tgtEl>
                                          <p:spTgt spid="9"/>
                                        </p:tgtEl>
                                        <p:attrNameLst>
                                          <p:attrName>ppt_y</p:attrName>
                                        </p:attrNameLst>
                                      </p:cBhvr>
                                      <p:tavLst>
                                        <p:tav tm="0">
                                          <p:val>
                                            <p:strVal val="#ppt_y+.18"/>
                                          </p:val>
                                        </p:tav>
                                        <p:tav tm="100000">
                                          <p:val>
                                            <p:strVal val="#ppt_y"/>
                                          </p:val>
                                        </p:tav>
                                      </p:tavLst>
                                    </p:anim>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3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additive="base">
                                        <p:cTn id="44" dur="500" fill="hold" decel="100000"/>
                                        <p:tgtEl>
                                          <p:spTgt spid="11"/>
                                        </p:tgtEl>
                                        <p:attrNameLst>
                                          <p:attrName>ppt_w</p:attrName>
                                        </p:attrNameLst>
                                      </p:cBhvr>
                                      <p:tavLst>
                                        <p:tav tm="0">
                                          <p:val>
                                            <p:strVal val="0"/>
                                          </p:val>
                                        </p:tav>
                                        <p:tav tm="100000">
                                          <p:val>
                                            <p:strVal val="#ppt_w"/>
                                          </p:val>
                                        </p:tav>
                                      </p:tavLst>
                                    </p:anim>
                                    <p:anim calcmode="lin" valueType="num">
                                      <p:cBhvr additive="base">
                                        <p:cTn id="45" dur="500" fill="hold" decel="100000"/>
                                        <p:tgtEl>
                                          <p:spTgt spid="11"/>
                                        </p:tgtEl>
                                        <p:attrNameLst>
                                          <p:attrName>ppt_h</p:attrName>
                                        </p:attrNameLst>
                                      </p:cBhvr>
                                      <p:tavLst>
                                        <p:tav tm="0">
                                          <p:val>
                                            <p:strVal val="0"/>
                                          </p:val>
                                        </p:tav>
                                        <p:tav tm="100000">
                                          <p:val>
                                            <p:strVal val="#ppt_h"/>
                                          </p:val>
                                        </p:tav>
                                      </p:tavLst>
                                    </p:anim>
                                    <p:animEffect transition="in" filter="fad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450"/>
                                        <p:tgtEl>
                                          <p:spTgt spid="12"/>
                                        </p:tgtEl>
                                      </p:cBhvr>
                                    </p:animEffect>
                                    <p:anim calcmode="lin" valueType="num">
                                      <p:cBhvr additive="base">
                                        <p:cTn id="52"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53" dur="450" fill="hold" decel="100000"/>
                                        <p:tgtEl>
                                          <p:spTgt spid="12"/>
                                        </p:tgtEl>
                                        <p:attrNameLst>
                                          <p:attrName>ppt_y</p:attrName>
                                        </p:attrNameLst>
                                      </p:cBhvr>
                                      <p:tavLst>
                                        <p:tav tm="0">
                                          <p:val>
                                            <p:strVal val="#ppt_y+.18"/>
                                          </p:val>
                                        </p:tav>
                                        <p:tav tm="100000">
                                          <p:val>
                                            <p:strVal val="#ppt_y"/>
                                          </p:val>
                                        </p:tav>
                                      </p:tavLst>
                                    </p:anim>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3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decel="100000"/>
                                        <p:tgtEl>
                                          <p:spTgt spid="14"/>
                                        </p:tgtEl>
                                        <p:attrNameLst>
                                          <p:attrName>ppt_w</p:attrName>
                                        </p:attrNameLst>
                                      </p:cBhvr>
                                      <p:tavLst>
                                        <p:tav tm="0">
                                          <p:val>
                                            <p:strVal val="0"/>
                                          </p:val>
                                        </p:tav>
                                        <p:tav tm="100000">
                                          <p:val>
                                            <p:strVal val="#ppt_w"/>
                                          </p:val>
                                        </p:tav>
                                      </p:tavLst>
                                    </p:anim>
                                    <p:anim calcmode="lin" valueType="num">
                                      <p:cBhvr additive="base">
                                        <p:cTn id="62" dur="500" fill="hold" decel="100000"/>
                                        <p:tgtEl>
                                          <p:spTgt spid="14"/>
                                        </p:tgtEl>
                                        <p:attrNameLst>
                                          <p:attrName>ppt_h</p:attrName>
                                        </p:attrNameLst>
                                      </p:cBhvr>
                                      <p:tavLst>
                                        <p:tav tm="0">
                                          <p:val>
                                            <p:strVal val="0"/>
                                          </p:val>
                                        </p:tav>
                                        <p:tav tm="100000">
                                          <p:val>
                                            <p:strVal val="#ppt_h"/>
                                          </p:val>
                                        </p:tav>
                                      </p:tavLst>
                                    </p:anim>
                                    <p:animEffect transition="in" filter="fade">
                                      <p:cBhvr>
                                        <p:cTn id="63" dur="500"/>
                                        <p:tgtEl>
                                          <p:spTgt spid="14"/>
                                        </p:tgtEl>
                                      </p:cBhvr>
                                    </p:animEffect>
                                  </p:childTnLst>
                                </p:cTn>
                              </p:par>
                            </p:childTnLst>
                          </p:cTn>
                        </p:par>
                        <p:par>
                          <p:cTn id="64" fill="hold">
                            <p:stCondLst>
                              <p:cond delay="500"/>
                            </p:stCondLst>
                            <p:childTnLst>
                              <p:par>
                                <p:cTn id="65" presetID="35" presetClass="emph" presetSubtype="0" fill="hold" nodeType="afterEffect" repeatCount="indefinite">
                                  <p:stCondLst>
                                    <p:cond delay="0"/>
                                  </p:stCondLst>
                                  <p:childTnLst>
                                    <p:anim calcmode="discrete" valueType="str">
                                      <p:cBhvr override="childStyle">
                                        <p:cTn id="66" dur="900"/>
                                        <p:tgtEl>
                                          <p:spTgt spid="14"/>
                                        </p:tgtEl>
                                        <p:attrNameLst>
                                          <p:attrName>style.visibility</p:attrName>
                                        </p:attrNameLst>
                                      </p:cBhvr>
                                      <p:tavLst>
                                        <p:tav tm="0">
                                          <p:val>
                                            <p:strVal val="hidden"/>
                                          </p:val>
                                        </p:tav>
                                        <p:tav tm="50000">
                                          <p:val>
                                            <p:strVal val="visible"/>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450"/>
                                        <p:tgtEl>
                                          <p:spTgt spid="15"/>
                                        </p:tgtEl>
                                      </p:cBhvr>
                                    </p:animEffect>
                                    <p:anim calcmode="lin" valueType="num">
                                      <p:cBhvr additive="base">
                                        <p:cTn id="72"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73" dur="450" fill="hold" decel="100000"/>
                                        <p:tgtEl>
                                          <p:spTgt spid="15"/>
                                        </p:tgtEl>
                                        <p:attrNameLst>
                                          <p:attrName>ppt_y</p:attrName>
                                        </p:attrNameLst>
                                      </p:cBhvr>
                                      <p:tavLst>
                                        <p:tav tm="0">
                                          <p:val>
                                            <p:strVal val="#ppt_y+.18"/>
                                          </p:val>
                                        </p:tav>
                                        <p:tav tm="100000">
                                          <p:val>
                                            <p:strVal val="#ppt_y"/>
                                          </p:val>
                                        </p:tav>
                                      </p:tavLst>
                                    </p:anim>
                                  </p:childTnLst>
                                </p:cTn>
                              </p:par>
                              <p:par>
                                <p:cTn id="74" presetID="10"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7" grpId="0" animBg="1"/>
      <p:bldP spid="9" grpId="0" animBg="1"/>
      <p:bldP spid="10" grpId="0" animBg="1"/>
      <p:bldP spid="12" grpId="0" animBg="1"/>
      <p:bldP spid="13" grpId="0" animBg="1"/>
      <p:bldP spid="15" grpId="0" animBg="1"/>
      <p:bldP spid="1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46_1"/>
          <p:cNvSpPr txBox="1"/>
          <p:nvPr/>
        </p:nvSpPr>
        <p:spPr>
          <a:xfrm>
            <a:off x="731520" y="1463040"/>
            <a:ext cx="10698480" cy="320040"/>
          </a:xfrm>
          <a:prstGeom prst="rect">
            <a:avLst/>
          </a:prstGeom>
          <a:noFill/>
          <a:ln/>
        </p:spPr>
        <p:txBody>
          <a:bodyPr wrap="square" lIns="0" tIns="0" rIns="0" bIns="0" rtlCol="0" anchor="t"/>
          <a:lstStyle/>
          <a:p>
            <a:pPr algn="ctr" indent="0" marL="0">
              <a:buNone/>
            </a:pPr>
            <a:r>
              <a:rPr lang="en-US" sz="1300" b="1" spc="500" kern="0" dirty="0">
                <a:solidFill>
                  <a:srgbClr val="FF7A1A"/>
                </a:solidFill>
                <a:latin typeface="Calibri" pitchFamily="34" charset="0"/>
                <a:ea typeface="Calibri" pitchFamily="34" charset="-122"/>
                <a:cs typeface="Calibri" pitchFamily="34" charset="-120"/>
              </a:rPr>
              <a:t>KAPITEL 7 · POLIZEI</a:t>
            </a:r>
            <a:endParaRPr lang="en-US" sz="1300" dirty="0"/>
          </a:p>
        </p:txBody>
      </p:sp>
      <p:sp>
        <p:nvSpPr>
          <p:cNvPr id="5" name="e46_2"/>
          <p:cNvSpPr txBox="1"/>
          <p:nvPr/>
        </p:nvSpPr>
        <p:spPr>
          <a:xfrm>
            <a:off x="731520" y="2011680"/>
            <a:ext cx="10698480" cy="1097280"/>
          </a:xfrm>
          <a:prstGeom prst="rect">
            <a:avLst/>
          </a:prstGeom>
          <a:noFill/>
          <a:ln/>
        </p:spPr>
        <p:txBody>
          <a:bodyPr wrap="square" lIns="0" tIns="0" rIns="0" bIns="0" rtlCol="0" anchor="t"/>
          <a:lstStyle/>
          <a:p>
            <a:pPr algn="ctr" indent="0" marL="0">
              <a:lnSpc>
                <a:spcPct val="95000"/>
              </a:lnSpc>
              <a:buNone/>
            </a:pPr>
            <a:r>
              <a:rPr lang="en-US" sz="5800" b="1" dirty="0">
                <a:solidFill>
                  <a:srgbClr val="F5F2EC"/>
                </a:solidFill>
                <a:latin typeface="Cambria" pitchFamily="34" charset="0"/>
                <a:ea typeface="Cambria" pitchFamily="34" charset="-122"/>
                <a:cs typeface="Cambria" pitchFamily="34" charset="-120"/>
              </a:rPr>
              <a:t>Wenn die Polizei regelt,</a:t>
            </a:r>
            <a:endParaRPr lang="en-US" sz="5800" dirty="0"/>
          </a:p>
        </p:txBody>
      </p:sp>
      <p:sp>
        <p:nvSpPr>
          <p:cNvPr id="6" name="e46_3"/>
          <p:cNvSpPr txBox="1"/>
          <p:nvPr/>
        </p:nvSpPr>
        <p:spPr>
          <a:xfrm>
            <a:off x="731520" y="3154680"/>
            <a:ext cx="10698480" cy="1005840"/>
          </a:xfrm>
          <a:prstGeom prst="rect">
            <a:avLst/>
          </a:prstGeom>
          <a:noFill/>
          <a:ln/>
        </p:spPr>
        <p:txBody>
          <a:bodyPr wrap="square" lIns="0" tIns="0" rIns="0" bIns="0" rtlCol="0" anchor="t"/>
          <a:lstStyle/>
          <a:p>
            <a:pPr algn="ctr" indent="0" marL="0">
              <a:buNone/>
            </a:pPr>
            <a:r>
              <a:rPr lang="en-US" sz="5600" b="1" dirty="0">
                <a:solidFill>
                  <a:srgbClr val="5B8CFF"/>
                </a:solidFill>
                <a:effectLst>
                  <a:glow rad="152400">
                    <a:srgbClr val="5B8CFF">
                      <a:alpha val="35000"/>
                    </a:srgbClr>
                  </a:glow>
                </a:effectLst>
                <a:latin typeface="Cambria" pitchFamily="34" charset="0"/>
                <a:ea typeface="Cambria" pitchFamily="34" charset="-122"/>
                <a:cs typeface="Cambria" pitchFamily="34" charset="-120"/>
              </a:rPr>
              <a:t>hat die Ampel Pause.</a:t>
            </a:r>
            <a:endParaRPr lang="en-US" sz="5600" dirty="0"/>
          </a:p>
        </p:txBody>
      </p:sp>
      <p:sp>
        <p:nvSpPr>
          <p:cNvPr id="7" name="e46_4"/>
          <p:cNvSpPr txBox="1"/>
          <p:nvPr/>
        </p:nvSpPr>
        <p:spPr>
          <a:xfrm>
            <a:off x="731520" y="585216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36 Abs. 1 StVO: Zeichen und Weisungen der Polizei gehen allen anderen Anordnungen und Regeln vor.</a:t>
            </a:r>
            <a:endParaRPr lang="en-US" sz="115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650"/>
                                        <p:tgtEl>
                                          <p:spTgt spid="7"/>
                                        </p:tgtEl>
                                      </p:cBhvr>
                                    </p:animEffect>
                                    <p:anim calcmode="lin" valueType="num">
                                      <p:cBhvr additive="base">
                                        <p:cTn id="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7"/>
                                        </p:tgtEl>
                                        <p:attrNameLst>
                                          <p:attrName>ppt_y</p:attrName>
                                        </p:attrNameLst>
                                      </p:cBhvr>
                                      <p:tavLst>
                                        <p:tav tm="0">
                                          <p:val>
                                            <p:strVal val="#ppt_y+.05"/>
                                          </p:val>
                                        </p:tav>
                                        <p:tav tm="100000">
                                          <p:val>
                                            <p:strVal val="#ppt_y"/>
                                          </p:val>
                                        </p:tav>
                                      </p:tavLst>
                                    </p:anim>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600"/>
                                        <p:tgtEl>
                                          <p:spTgt spid="4"/>
                                        </p:tgtEl>
                                      </p:cBhvr>
                                    </p:animEffect>
                                  </p:childTnLst>
                                </p:cTn>
                              </p:par>
                            </p:childTnLst>
                          </p:cTn>
                        </p:par>
                        <p:par>
                          <p:cTn id="13" fill="hold">
                            <p:stCondLst>
                              <p:cond delay="650"/>
                            </p:stCondLst>
                            <p:childTnLst>
                              <p:par>
                                <p:cTn id="14" presetID="10" presetClass="entr" presetSubtype="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1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900"/>
                                        <p:tgtEl>
                                          <p:spTgt spid="6"/>
                                        </p:tgtEl>
                                      </p:cBhvr>
                                    </p:animEffect>
                                    <p:anim calcmode="lin" valueType="num">
                                      <p:cBhvr additive="base">
                                        <p:cTn id="22" dur="900" fill="hold" decel="100000"/>
                                        <p:tgtEl>
                                          <p:spTgt spid="6"/>
                                        </p:tgtEl>
                                        <p:attrNameLst>
                                          <p:attrName>ppt_x</p:attrName>
                                        </p:attrNameLst>
                                      </p:cBhvr>
                                      <p:tavLst>
                                        <p:tav tm="0">
                                          <p:val>
                                            <p:strVal val="#ppt_x"/>
                                          </p:val>
                                        </p:tav>
                                        <p:tav tm="100000">
                                          <p:val>
                                            <p:strVal val="#ppt_x"/>
                                          </p:val>
                                        </p:tav>
                                      </p:tavLst>
                                    </p:anim>
                                    <p:anim calcmode="lin" valueType="num">
                                      <p:cBhvr additive="base">
                                        <p:cTn id="23" dur="900" fill="hold" decel="100000"/>
                                        <p:tgtEl>
                                          <p:spTgt spid="6"/>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7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HANDZEICHEN · § 36 ABS. 2 STVO</a:t>
            </a:r>
            <a:endParaRPr lang="en-US" sz="1300" dirty="0"/>
          </a:p>
        </p:txBody>
      </p:sp>
      <p:sp>
        <p:nvSpPr>
          <p:cNvPr id="6" name="e47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Lies den Polizisten</a:t>
            </a:r>
            <a:endParaRPr lang="en-US" sz="4600" dirty="0"/>
          </a:p>
        </p:txBody>
      </p:sp>
      <p:sp>
        <p:nvSpPr>
          <p:cNvPr id="7" name="e47_3"/>
          <p:cNvSpPr/>
          <p:nvPr/>
        </p:nvSpPr>
        <p:spPr>
          <a:xfrm>
            <a:off x="746608" y="2240280"/>
            <a:ext cx="3429000" cy="3657600"/>
          </a:xfrm>
          <a:prstGeom prst="roundRect">
            <a:avLst>
              <a:gd name="adj" fmla="val 3733"/>
            </a:avLst>
          </a:prstGeom>
          <a:solidFill>
            <a:srgbClr val="12161E"/>
          </a:solidFill>
          <a:ln w="12700">
            <a:solidFill>
              <a:srgbClr val="2A3342"/>
            </a:solidFill>
            <a:prstDash val="solid"/>
          </a:ln>
        </p:spPr>
      </p:sp>
      <p:pic>
        <p:nvPicPr>
          <p:cNvPr id="8" name="e47_4" descr="/tmp/claude-0/-home-user-Fahrlehrer-Kompass-/11378f77-94a8-55e9-a697-0f3efd4c20b9/scratchpad/bau/art/copf_front.png">    </p:cNvPr>
          <p:cNvPicPr>
            <a:picLocks noChangeAspect="1"/>
          </p:cNvPicPr>
          <p:nvPr/>
        </p:nvPicPr>
        <p:blipFill>
          <a:blip r:embed="rId2"/>
          <a:stretch>
            <a:fillRect/>
          </a:stretch>
        </p:blipFill>
        <p:spPr>
          <a:xfrm>
            <a:off x="1043788" y="2423160"/>
            <a:ext cx="1371600" cy="1920240"/>
          </a:xfrm>
          <a:prstGeom prst="rect">
            <a:avLst/>
          </a:prstGeom>
        </p:spPr>
      </p:pic>
      <p:pic>
        <p:nvPicPr>
          <p:cNvPr id="9" name="e47_5" descr="/tmp/claude-0/-home-user-Fahrlehrer-Kompass-/11378f77-94a8-55e9-a697-0f3efd4c20b9/scratchpad/bau/art/copf_back.png">    </p:cNvPr>
          <p:cNvPicPr>
            <a:picLocks noChangeAspect="1"/>
          </p:cNvPicPr>
          <p:nvPr/>
        </p:nvPicPr>
        <p:blipFill>
          <a:blip r:embed="rId3"/>
          <a:stretch>
            <a:fillRect/>
          </a:stretch>
        </p:blipFill>
        <p:spPr>
          <a:xfrm>
            <a:off x="2506828" y="2423160"/>
            <a:ext cx="1371600" cy="1920240"/>
          </a:xfrm>
          <a:prstGeom prst="rect">
            <a:avLst/>
          </a:prstGeom>
        </p:spPr>
      </p:pic>
      <p:sp>
        <p:nvSpPr>
          <p:cNvPr id="10" name="e47_6"/>
          <p:cNvSpPr txBox="1"/>
          <p:nvPr/>
        </p:nvSpPr>
        <p:spPr>
          <a:xfrm>
            <a:off x="74660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Brust oder Rücken</a:t>
            </a:r>
            <a:endParaRPr lang="en-US" sz="2400" dirty="0"/>
          </a:p>
        </p:txBody>
      </p:sp>
      <p:sp>
        <p:nvSpPr>
          <p:cNvPr id="11" name="e47_7"/>
          <p:cNvSpPr txBox="1"/>
          <p:nvPr/>
        </p:nvSpPr>
        <p:spPr>
          <a:xfrm>
            <a:off x="1066648" y="5029200"/>
            <a:ext cx="2788920" cy="548640"/>
          </a:xfrm>
          <a:prstGeom prst="roundRect">
            <a:avLst>
              <a:gd name="adj" fmla="val 41667"/>
            </a:avLst>
          </a:prstGeom>
          <a:solidFill>
            <a:srgbClr val="FF4D4D"/>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HALT</a:t>
            </a:r>
            <a:endParaRPr lang="en-US" sz="1800" dirty="0"/>
          </a:p>
        </p:txBody>
      </p:sp>
      <p:sp>
        <p:nvSpPr>
          <p:cNvPr id="12" name="e47_8"/>
          <p:cNvSpPr/>
          <p:nvPr/>
        </p:nvSpPr>
        <p:spPr>
          <a:xfrm>
            <a:off x="4381348" y="2240280"/>
            <a:ext cx="3429000" cy="3657600"/>
          </a:xfrm>
          <a:prstGeom prst="roundRect">
            <a:avLst>
              <a:gd name="adj" fmla="val 3733"/>
            </a:avLst>
          </a:prstGeom>
          <a:solidFill>
            <a:srgbClr val="12161E"/>
          </a:solidFill>
          <a:ln w="12700">
            <a:solidFill>
              <a:srgbClr val="2A3342"/>
            </a:solidFill>
            <a:prstDash val="solid"/>
          </a:ln>
        </p:spPr>
      </p:sp>
      <p:pic>
        <p:nvPicPr>
          <p:cNvPr id="13" name="e47_9" descr="/tmp/claude-0/-home-user-Fahrlehrer-Kompass-/11378f77-94a8-55e9-a697-0f3efd4c20b9/scratchpad/bau/art/copf_side.png">    </p:cNvPr>
          <p:cNvPicPr>
            <a:picLocks noChangeAspect="1"/>
          </p:cNvPicPr>
          <p:nvPr/>
        </p:nvPicPr>
        <p:blipFill>
          <a:blip r:embed="rId4"/>
          <a:stretch>
            <a:fillRect/>
          </a:stretch>
        </p:blipFill>
        <p:spPr>
          <a:xfrm>
            <a:off x="5410048" y="2423160"/>
            <a:ext cx="1371600" cy="1920240"/>
          </a:xfrm>
          <a:prstGeom prst="rect">
            <a:avLst/>
          </a:prstGeom>
        </p:spPr>
      </p:pic>
      <p:sp>
        <p:nvSpPr>
          <p:cNvPr id="14" name="e47_10"/>
          <p:cNvSpPr txBox="1"/>
          <p:nvPr/>
        </p:nvSpPr>
        <p:spPr>
          <a:xfrm>
            <a:off x="438134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Seite</a:t>
            </a:r>
            <a:endParaRPr lang="en-US" sz="2400" dirty="0"/>
          </a:p>
        </p:txBody>
      </p:sp>
      <p:sp>
        <p:nvSpPr>
          <p:cNvPr id="15" name="e47_11"/>
          <p:cNvSpPr txBox="1"/>
          <p:nvPr/>
        </p:nvSpPr>
        <p:spPr>
          <a:xfrm>
            <a:off x="4701388" y="5029200"/>
            <a:ext cx="2788920" cy="548640"/>
          </a:xfrm>
          <a:prstGeom prst="roundRect">
            <a:avLst>
              <a:gd name="adj" fmla="val 41667"/>
            </a:avLst>
          </a:prstGeom>
          <a:solidFill>
            <a:srgbClr val="4CAF72"/>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FAHREN</a:t>
            </a:r>
            <a:endParaRPr lang="en-US" sz="1800" dirty="0"/>
          </a:p>
        </p:txBody>
      </p:sp>
      <p:sp>
        <p:nvSpPr>
          <p:cNvPr id="16" name="e47_12"/>
          <p:cNvSpPr/>
          <p:nvPr/>
        </p:nvSpPr>
        <p:spPr>
          <a:xfrm>
            <a:off x="8016088" y="2240280"/>
            <a:ext cx="3429000" cy="3657600"/>
          </a:xfrm>
          <a:prstGeom prst="roundRect">
            <a:avLst>
              <a:gd name="adj" fmla="val 3733"/>
            </a:avLst>
          </a:prstGeom>
          <a:solidFill>
            <a:srgbClr val="12161E"/>
          </a:solidFill>
          <a:ln w="12700">
            <a:solidFill>
              <a:srgbClr val="2A3342"/>
            </a:solidFill>
            <a:prstDash val="solid"/>
          </a:ln>
        </p:spPr>
      </p:sp>
      <p:pic>
        <p:nvPicPr>
          <p:cNvPr id="17" name="e47_13" descr="/tmp/claude-0/-home-user-Fahrlehrer-Kompass-/11378f77-94a8-55e9-a697-0f3efd4c20b9/scratchpad/bau/art/copf_up.png">    </p:cNvPr>
          <p:cNvPicPr>
            <a:picLocks noChangeAspect="1"/>
          </p:cNvPicPr>
          <p:nvPr/>
        </p:nvPicPr>
        <p:blipFill>
          <a:blip r:embed="rId5"/>
          <a:stretch>
            <a:fillRect/>
          </a:stretch>
        </p:blipFill>
        <p:spPr>
          <a:xfrm>
            <a:off x="9044788" y="2423160"/>
            <a:ext cx="1371600" cy="1920240"/>
          </a:xfrm>
          <a:prstGeom prst="rect">
            <a:avLst/>
          </a:prstGeom>
        </p:spPr>
      </p:pic>
      <p:sp>
        <p:nvSpPr>
          <p:cNvPr id="18" name="e47_14"/>
          <p:cNvSpPr txBox="1"/>
          <p:nvPr/>
        </p:nvSpPr>
        <p:spPr>
          <a:xfrm>
            <a:off x="8016088" y="4434840"/>
            <a:ext cx="3429000" cy="457200"/>
          </a:xfrm>
          <a:prstGeom prst="rect">
            <a:avLst/>
          </a:prstGeom>
          <a:noFill/>
          <a:ln/>
        </p:spPr>
        <p:txBody>
          <a:bodyPr wrap="square" lIns="0" tIns="0" rIns="0" bIns="0" rtlCol="0" anchor="t"/>
          <a:lstStyle/>
          <a:p>
            <a:pPr algn="ctr" indent="0" marL="0">
              <a:buNone/>
            </a:pPr>
            <a:r>
              <a:rPr lang="en-US" sz="2400" b="1" dirty="0">
                <a:solidFill>
                  <a:srgbClr val="F5F2EC"/>
                </a:solidFill>
                <a:latin typeface="Cambria" pitchFamily="34" charset="0"/>
                <a:ea typeface="Cambria" pitchFamily="34" charset="-122"/>
                <a:cs typeface="Cambria" pitchFamily="34" charset="-120"/>
              </a:rPr>
              <a:t>Arm hoch</a:t>
            </a:r>
            <a:endParaRPr lang="en-US" sz="2400" dirty="0"/>
          </a:p>
        </p:txBody>
      </p:sp>
      <p:sp>
        <p:nvSpPr>
          <p:cNvPr id="19" name="e47_15"/>
          <p:cNvSpPr txBox="1"/>
          <p:nvPr/>
        </p:nvSpPr>
        <p:spPr>
          <a:xfrm>
            <a:off x="8336128" y="5029200"/>
            <a:ext cx="2788920" cy="548640"/>
          </a:xfrm>
          <a:prstGeom prst="roundRect">
            <a:avLst>
              <a:gd name="adj" fmla="val 41667"/>
            </a:avLst>
          </a:prstGeom>
          <a:solidFill>
            <a:srgbClr val="FFB547"/>
          </a:solidFill>
          <a:ln/>
        </p:spPr>
        <p:txBody>
          <a:bodyPr wrap="square" lIns="0" tIns="0" rIns="0" bIns="0" rtlCol="0" anchor="ctr"/>
          <a:lstStyle/>
          <a:p>
            <a:pPr algn="ctr" indent="0" marL="0">
              <a:buNone/>
            </a:pPr>
            <a:r>
              <a:rPr lang="en-US" sz="1800" b="1" dirty="0">
                <a:solidFill>
                  <a:srgbClr val="0A0C10"/>
                </a:solidFill>
                <a:latin typeface="Calibri" pitchFamily="34" charset="0"/>
                <a:ea typeface="Calibri" pitchFamily="34" charset="-122"/>
                <a:cs typeface="Calibri" pitchFamily="34" charset="-120"/>
              </a:rPr>
              <a:t>WARTEN · RÄUMEN</a:t>
            </a:r>
            <a:endParaRPr lang="en-US" sz="1800" dirty="0"/>
          </a:p>
        </p:txBody>
      </p:sp>
      <p:sp>
        <p:nvSpPr>
          <p:cNvPr id="20" name="e47_16"/>
          <p:cNvSpPr txBox="1"/>
          <p:nvPr/>
        </p:nvSpPr>
        <p:spPr>
          <a:xfrm>
            <a:off x="731520" y="6035040"/>
            <a:ext cx="10698480" cy="457200"/>
          </a:xfrm>
          <a:prstGeom prst="rect">
            <a:avLst/>
          </a:prstGeom>
          <a:noFill/>
          <a:ln/>
        </p:spPr>
        <p:txBody>
          <a:bodyPr wrap="square" lIns="0" tIns="0" rIns="0" bIns="0" rtlCol="0" anchor="t"/>
          <a:lstStyle/>
          <a:p>
            <a:pPr algn="ctr" indent="0" marL="0">
              <a:buNone/>
            </a:pPr>
            <a:r>
              <a:rPr lang="en-US" sz="2400" b="1" dirty="0">
                <a:solidFill>
                  <a:srgbClr val="5B8CFF"/>
                </a:solidFill>
                <a:latin typeface="Cambria" pitchFamily="34" charset="0"/>
                <a:ea typeface="Cambria" pitchFamily="34" charset="-122"/>
                <a:cs typeface="Cambria" pitchFamily="34" charset="-120"/>
              </a:rPr>
              <a:t>Brust und Rücken: Halt. Seite: frei. Arm hoch: wie Gelb.</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600"/>
                                        <p:tgtEl>
                                          <p:spTgt spid="7"/>
                                        </p:tgtEl>
                                      </p:cBhvr>
                                    </p:animEffect>
                                    <p:anim calcmode="lin" valueType="num">
                                      <p:cBhvr additive="base">
                                        <p:cTn id="20"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600" fill="hold" decel="100000"/>
                                        <p:tgtEl>
                                          <p:spTgt spid="7"/>
                                        </p:tgtEl>
                                        <p:attrNameLst>
                                          <p:attrName>ppt_y</p:attrName>
                                        </p:attrNameLst>
                                      </p:cBhvr>
                                      <p:tavLst>
                                        <p:tav tm="0">
                                          <p:val>
                                            <p:strVal val="#ppt_y+.18"/>
                                          </p:val>
                                        </p:tav>
                                        <p:tav tm="100000">
                                          <p:val>
                                            <p:strVal val="#ppt_y"/>
                                          </p:val>
                                        </p:tav>
                                      </p:tavLst>
                                    </p:anim>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3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380" fill="hold" accel="60000"/>
                                        <p:tgtEl>
                                          <p:spTgt spid="11"/>
                                        </p:tgtEl>
                                        <p:attrNameLst>
                                          <p:attrName>ppt_w</p:attrName>
                                        </p:attrNameLst>
                                      </p:cBhvr>
                                      <p:tavLst>
                                        <p:tav tm="0">
                                          <p:val>
                                            <p:strVal val="#ppt_w*2.2"/>
                                          </p:val>
                                        </p:tav>
                                        <p:tav tm="100000">
                                          <p:val>
                                            <p:strVal val="#ppt_w"/>
                                          </p:val>
                                        </p:tav>
                                      </p:tavLst>
                                    </p:anim>
                                    <p:anim calcmode="lin" valueType="num">
                                      <p:cBhvr additive="base">
                                        <p:cTn id="36" dur="380" fill="hold" accel="60000"/>
                                        <p:tgtEl>
                                          <p:spTgt spid="11"/>
                                        </p:tgtEl>
                                        <p:attrNameLst>
                                          <p:attrName>ppt_h</p:attrName>
                                        </p:attrNameLst>
                                      </p:cBhvr>
                                      <p:tavLst>
                                        <p:tav tm="0">
                                          <p:val>
                                            <p:strVal val="#ppt_h*2.2"/>
                                          </p:val>
                                        </p:tav>
                                        <p:tav tm="100000">
                                          <p:val>
                                            <p:strVal val="#ppt_h"/>
                                          </p:val>
                                        </p:tav>
                                      </p:tavLst>
                                    </p:anim>
                                    <p:animEffect transition="in" filter="fade">
                                      <p:cBhvr>
                                        <p:cTn id="37" dur="228"/>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600"/>
                                        <p:tgtEl>
                                          <p:spTgt spid="12"/>
                                        </p:tgtEl>
                                      </p:cBhvr>
                                    </p:animEffect>
                                    <p:anim calcmode="lin" valueType="num">
                                      <p:cBhvr additive="base">
                                        <p:cTn id="43"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44" dur="600" fill="hold" decel="100000"/>
                                        <p:tgtEl>
                                          <p:spTgt spid="12"/>
                                        </p:tgtEl>
                                        <p:attrNameLst>
                                          <p:attrName>ppt_y</p:attrName>
                                        </p:attrNameLst>
                                      </p:cBhvr>
                                      <p:tavLst>
                                        <p:tav tm="0">
                                          <p:val>
                                            <p:strVal val="#ppt_y+.18"/>
                                          </p:val>
                                        </p:tav>
                                        <p:tav tm="100000">
                                          <p:val>
                                            <p:strVal val="#ppt_y"/>
                                          </p:val>
                                        </p:tav>
                                      </p:tavLst>
                                    </p:anim>
                                  </p:childTnLst>
                                </p:cTn>
                              </p:par>
                              <p:par>
                                <p:cTn id="45" presetID="10"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300"/>
                                        <p:tgtEl>
                                          <p:spTgt spid="1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3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32"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380" fill="hold" accel="60000"/>
                                        <p:tgtEl>
                                          <p:spTgt spid="15"/>
                                        </p:tgtEl>
                                        <p:attrNameLst>
                                          <p:attrName>ppt_w</p:attrName>
                                        </p:attrNameLst>
                                      </p:cBhvr>
                                      <p:tavLst>
                                        <p:tav tm="0">
                                          <p:val>
                                            <p:strVal val="#ppt_w*2.2"/>
                                          </p:val>
                                        </p:tav>
                                        <p:tav tm="100000">
                                          <p:val>
                                            <p:strVal val="#ppt_w"/>
                                          </p:val>
                                        </p:tav>
                                      </p:tavLst>
                                    </p:anim>
                                    <p:anim calcmode="lin" valueType="num">
                                      <p:cBhvr additive="base">
                                        <p:cTn id="56" dur="380" fill="hold" accel="60000"/>
                                        <p:tgtEl>
                                          <p:spTgt spid="15"/>
                                        </p:tgtEl>
                                        <p:attrNameLst>
                                          <p:attrName>ppt_h</p:attrName>
                                        </p:attrNameLst>
                                      </p:cBhvr>
                                      <p:tavLst>
                                        <p:tav tm="0">
                                          <p:val>
                                            <p:strVal val="#ppt_h*2.2"/>
                                          </p:val>
                                        </p:tav>
                                        <p:tav tm="100000">
                                          <p:val>
                                            <p:strVal val="#ppt_h"/>
                                          </p:val>
                                        </p:tav>
                                      </p:tavLst>
                                    </p:anim>
                                    <p:animEffect transition="in" filter="fade">
                                      <p:cBhvr>
                                        <p:cTn id="57" dur="228"/>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600"/>
                                        <p:tgtEl>
                                          <p:spTgt spid="16"/>
                                        </p:tgtEl>
                                      </p:cBhvr>
                                    </p:animEffect>
                                    <p:anim calcmode="lin" valueType="num">
                                      <p:cBhvr additive="base">
                                        <p:cTn id="63"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64" dur="600" fill="hold" decel="100000"/>
                                        <p:tgtEl>
                                          <p:spTgt spid="16"/>
                                        </p:tgtEl>
                                        <p:attrNameLst>
                                          <p:attrName>ppt_y</p:attrName>
                                        </p:attrNameLst>
                                      </p:cBhvr>
                                      <p:tavLst>
                                        <p:tav tm="0">
                                          <p:val>
                                            <p:strVal val="#ppt_y+.18"/>
                                          </p:val>
                                        </p:tav>
                                        <p:tav tm="100000">
                                          <p:val>
                                            <p:strVal val="#ppt_y"/>
                                          </p:val>
                                        </p:tav>
                                      </p:tavLst>
                                    </p:anim>
                                  </p:childTnLst>
                                </p:cTn>
                              </p:par>
                              <p:par>
                                <p:cTn id="65" presetID="10"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300"/>
                                        <p:tgtEl>
                                          <p:spTgt spid="1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3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32"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 calcmode="lin" valueType="num">
                                      <p:cBhvr additive="base">
                                        <p:cTn id="75"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76" dur="380" fill="hold" accel="60000"/>
                                        <p:tgtEl>
                                          <p:spTgt spid="19"/>
                                        </p:tgtEl>
                                        <p:attrNameLst>
                                          <p:attrName>ppt_h</p:attrName>
                                        </p:attrNameLst>
                                      </p:cBhvr>
                                      <p:tavLst>
                                        <p:tav tm="0">
                                          <p:val>
                                            <p:strVal val="#ppt_h*2.2"/>
                                          </p:val>
                                        </p:tav>
                                        <p:tav tm="100000">
                                          <p:val>
                                            <p:strVal val="#ppt_h"/>
                                          </p:val>
                                        </p:tav>
                                      </p:tavLst>
                                    </p:anim>
                                    <p:animEffect transition="in" filter="fade">
                                      <p:cBhvr>
                                        <p:cTn id="77" dur="228"/>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800"/>
                                        <p:tgtEl>
                                          <p:spTgt spid="20"/>
                                        </p:tgtEl>
                                      </p:cBhvr>
                                    </p:animEffect>
                                    <p:anim calcmode="lin" valueType="num">
                                      <p:cBhvr additive="base">
                                        <p:cTn id="83" dur="800" fill="hold" decel="100000"/>
                                        <p:tgtEl>
                                          <p:spTgt spid="20"/>
                                        </p:tgtEl>
                                        <p:attrNameLst>
                                          <p:attrName>ppt_x</p:attrName>
                                        </p:attrNameLst>
                                      </p:cBhvr>
                                      <p:tavLst>
                                        <p:tav tm="0">
                                          <p:val>
                                            <p:strVal val="#ppt_x"/>
                                          </p:val>
                                        </p:tav>
                                        <p:tav tm="100000">
                                          <p:val>
                                            <p:strVal val="#ppt_x"/>
                                          </p:val>
                                        </p:tav>
                                      </p:tavLst>
                                    </p:anim>
                                    <p:anim calcmode="lin" valueType="num">
                                      <p:cBhvr additive="base">
                                        <p:cTn id="84" dur="800" fill="hold" decel="100000"/>
                                        <p:tgtEl>
                                          <p:spTgt spid="20"/>
                                        </p:tgtEl>
                                        <p:attrNameLst>
                                          <p:attrName>ppt_y</p:attrName>
                                        </p:attrNameLst>
                                      </p:cBhvr>
                                      <p:tavLst>
                                        <p:tav tm="0">
                                          <p:val>
                                            <p:strVal val="#ppt_y+.1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animBg="1"/>
      <p:bldP spid="11" grpId="0" animBg="1"/>
      <p:bldP spid="12" grpId="0" animBg="1"/>
      <p:bldP spid="14" grpId="0" animBg="1"/>
      <p:bldP spid="15" grpId="0" animBg="1"/>
      <p:bldP spid="16" grpId="0" animBg="1"/>
      <p:bldP spid="18" grpId="0" animBg="1"/>
      <p:bldP spid="19" grpId="0" animBg="1"/>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8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POLIZEI AUF DER KREUZUNG</a:t>
            </a:r>
            <a:endParaRPr lang="en-US" sz="1300" dirty="0"/>
          </a:p>
        </p:txBody>
      </p:sp>
      <p:sp>
        <p:nvSpPr>
          <p:cNvPr id="6" name="e48_2"/>
          <p:cNvSpPr txBox="1"/>
          <p:nvPr/>
        </p:nvSpPr>
        <p:spPr>
          <a:xfrm>
            <a:off x="685800" y="1188720"/>
            <a:ext cx="4572000" cy="1828800"/>
          </a:xfrm>
          <a:prstGeom prst="rect">
            <a:avLst/>
          </a:prstGeom>
          <a:noFill/>
          <a:ln/>
        </p:spPr>
        <p:txBody>
          <a:bodyPr wrap="square" lIns="0" tIns="0" rIns="0" bIns="0" rtlCol="0" anchor="t"/>
          <a:lstStyle/>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Wer darf</a:t>
            </a:r>
            <a:endParaRPr lang="en-US" sz="5200" dirty="0"/>
          </a:p>
          <a:p>
            <a:pPr algn="l" indent="0" marL="0">
              <a:lnSpc>
                <a:spcPct val="95000"/>
              </a:lnSpc>
              <a:buNone/>
            </a:pPr>
            <a:r>
              <a:rPr lang="en-US" sz="5200" b="1" dirty="0">
                <a:solidFill>
                  <a:srgbClr val="F5F2EC"/>
                </a:solidFill>
                <a:latin typeface="Cambria" pitchFamily="34" charset="0"/>
                <a:ea typeface="Cambria" pitchFamily="34" charset="-122"/>
                <a:cs typeface="Cambria" pitchFamily="34" charset="-120"/>
              </a:rPr>
              <a:t>fahren?</a:t>
            </a:r>
            <a:endParaRPr lang="en-US" sz="5200" dirty="0"/>
          </a:p>
        </p:txBody>
      </p:sp>
      <p:sp>
        <p:nvSpPr>
          <p:cNvPr id="7" name="e48_3"/>
          <p:cNvSpPr txBox="1"/>
          <p:nvPr/>
        </p:nvSpPr>
        <p:spPr>
          <a:xfrm>
            <a:off x="731520" y="3108960"/>
            <a:ext cx="4023360" cy="1097280"/>
          </a:xfrm>
          <a:prstGeom prst="rect">
            <a:avLst/>
          </a:prstGeom>
          <a:noFill/>
          <a:ln/>
        </p:spPr>
        <p:txBody>
          <a:bodyPr wrap="square" lIns="0" tIns="0" rIns="0" bIns="0" rtlCol="0" anchor="t"/>
          <a:lstStyle/>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Die Arme zeigen nach links und rechts.</a:t>
            </a:r>
            <a:endParaRPr lang="en-US" sz="1800" dirty="0"/>
          </a:p>
          <a:p>
            <a:pPr algn="l" indent="0" marL="0">
              <a:lnSpc>
                <a:spcPct val="108000"/>
              </a:lnSpc>
              <a:buNone/>
            </a:pPr>
            <a:r>
              <a:rPr lang="en-US" sz="1800" dirty="0">
                <a:solidFill>
                  <a:srgbClr val="A7B0BD"/>
                </a:solidFill>
                <a:latin typeface="Calibri" pitchFamily="34" charset="0"/>
                <a:ea typeface="Calibri" pitchFamily="34" charset="-122"/>
                <a:cs typeface="Calibri" pitchFamily="34" charset="-120"/>
              </a:rPr>
              <a:t>Wer sieht Brust oder Rücken? Wer die Seite?</a:t>
            </a:r>
            <a:endParaRPr lang="en-US" sz="1800" dirty="0"/>
          </a:p>
        </p:txBody>
      </p:sp>
      <p:sp>
        <p:nvSpPr>
          <p:cNvPr id="8" name="e48_4"/>
          <p:cNvSpPr/>
          <p:nvPr/>
        </p:nvSpPr>
        <p:spPr>
          <a:xfrm>
            <a:off x="7406640" y="2971800"/>
            <a:ext cx="914400" cy="914400"/>
          </a:xfrm>
          <a:prstGeom prst="ellipse">
            <a:avLst/>
          </a:prstGeom>
          <a:solidFill>
            <a:srgbClr val="5B8CFF">
              <a:alpha val="20000"/>
            </a:srgbClr>
          </a:solidFill>
          <a:ln/>
        </p:spPr>
      </p:sp>
      <p:pic>
        <p:nvPicPr>
          <p:cNvPr id="9" name="e48_5" descr="/tmp/claude-0/-home-user-Fahrlehrer-Kompass-/11378f77-94a8-55e9-a697-0f3efd4c20b9/scratchpad/bau/art/cop_out.png">    </p:cNvPr>
          <p:cNvPicPr>
            <a:picLocks noChangeAspect="1"/>
          </p:cNvPicPr>
          <p:nvPr/>
        </p:nvPicPr>
        <p:blipFill>
          <a:blip r:embed="rId2"/>
          <a:stretch>
            <a:fillRect/>
          </a:stretch>
        </p:blipFill>
        <p:spPr>
          <a:xfrm>
            <a:off x="7479792" y="3223260"/>
            <a:ext cx="768096" cy="411480"/>
          </a:xfrm>
          <a:prstGeom prst="rect">
            <a:avLst/>
          </a:prstGeom>
        </p:spPr>
      </p:pic>
      <p:pic>
        <p:nvPicPr>
          <p:cNvPr id="10" name="e48_6" descr="/tmp/claude-0/-home-user-Fahrlehrer-Kompass-/11378f77-94a8-55e9-a697-0f3efd4c20b9/scratchpad/bau/art/car_du.png">    </p:cNvPr>
          <p:cNvPicPr>
            <a:picLocks noChangeAspect="1"/>
          </p:cNvPicPr>
          <p:nvPr/>
        </p:nvPicPr>
        <p:blipFill>
          <a:blip r:embed="rId3"/>
          <a:stretch>
            <a:fillRect/>
          </a:stretch>
        </p:blipFill>
        <p:spPr>
          <a:xfrm>
            <a:off x="7939278" y="4334256"/>
            <a:ext cx="740664" cy="1481328"/>
          </a:xfrm>
          <a:prstGeom prst="rect">
            <a:avLst/>
          </a:prstGeom>
        </p:spPr>
      </p:pic>
      <p:pic>
        <p:nvPicPr>
          <p:cNvPr id="11" name="e48_7" descr="/tmp/claude-0/-home-user-Fahrlehrer-Kompass-/11378f77-94a8-55e9-a697-0f3efd4c20b9/scratchpad/bau/art/car_blau.png">    </p:cNvPr>
          <p:cNvPicPr>
            <a:picLocks noChangeAspect="1"/>
          </p:cNvPicPr>
          <p:nvPr/>
        </p:nvPicPr>
        <p:blipFill>
          <a:blip r:embed="rId4"/>
          <a:stretch>
            <a:fillRect/>
          </a:stretch>
        </p:blipFill>
        <p:spPr>
          <a:xfrm rot="16200000">
            <a:off x="9139428" y="2242566"/>
            <a:ext cx="740664" cy="1481328"/>
          </a:xfrm>
          <a:prstGeom prst="rect">
            <a:avLst/>
          </a:prstGeom>
        </p:spPr>
      </p:pic>
      <p:pic>
        <p:nvPicPr>
          <p:cNvPr id="12" name="e48_8" descr="/tmp/claude-0/-home-user-Fahrlehrer-Kompass-/11378f77-94a8-55e9-a697-0f3efd4c20b9/scratchpad/bau/art/car_rot.png">    </p:cNvPr>
          <p:cNvPicPr>
            <a:picLocks noChangeAspect="1"/>
          </p:cNvPicPr>
          <p:nvPr/>
        </p:nvPicPr>
        <p:blipFill>
          <a:blip r:embed="rId5"/>
          <a:stretch>
            <a:fillRect/>
          </a:stretch>
        </p:blipFill>
        <p:spPr>
          <a:xfrm rot="10800000">
            <a:off x="7047738" y="1042416"/>
            <a:ext cx="740664" cy="1481328"/>
          </a:xfrm>
          <a:prstGeom prst="rect">
            <a:avLst/>
          </a:prstGeom>
        </p:spPr>
      </p:pic>
      <p:pic>
        <p:nvPicPr>
          <p:cNvPr id="13" name="e48_9" descr="/tmp/claude-0/-home-user-Fahrlehrer-Kompass-/11378f77-94a8-55e9-a697-0f3efd4c20b9/scratchpad/bau/art/car_gruen.png">    </p:cNvPr>
          <p:cNvPicPr>
            <a:picLocks noChangeAspect="1"/>
          </p:cNvPicPr>
          <p:nvPr/>
        </p:nvPicPr>
        <p:blipFill>
          <a:blip r:embed="rId6"/>
          <a:stretch>
            <a:fillRect/>
          </a:stretch>
        </p:blipFill>
        <p:spPr>
          <a:xfrm rot="5400000">
            <a:off x="5847588" y="3134106"/>
            <a:ext cx="740664" cy="1481328"/>
          </a:xfrm>
          <a:prstGeom prst="rect">
            <a:avLst/>
          </a:prstGeom>
        </p:spPr>
      </p:pic>
      <p:sp>
        <p:nvSpPr>
          <p:cNvPr id="14" name="e48_10"/>
          <p:cNvSpPr txBox="1"/>
          <p:nvPr/>
        </p:nvSpPr>
        <p:spPr>
          <a:xfrm>
            <a:off x="9610344" y="2196846"/>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5" name="e48_11"/>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6" name="e48_12"/>
          <p:cNvSpPr txBox="1"/>
          <p:nvPr/>
        </p:nvSpPr>
        <p:spPr>
          <a:xfrm>
            <a:off x="5678424" y="4222242"/>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7" name="e48_13"/>
          <p:cNvSpPr txBox="1"/>
          <p:nvPr/>
        </p:nvSpPr>
        <p:spPr>
          <a:xfrm rot="-180000">
            <a:off x="731520" y="44348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A und C sehen die Seite</a:t>
            </a:r>
            <a:endParaRPr lang="en-US" sz="1900" dirty="0"/>
          </a:p>
        </p:txBody>
      </p:sp>
      <p:sp>
        <p:nvSpPr>
          <p:cNvPr id="18" name="e48_14"/>
          <p:cNvSpPr txBox="1"/>
          <p:nvPr/>
        </p:nvSpPr>
        <p:spPr>
          <a:xfrm rot="-180000">
            <a:off x="731520" y="5120640"/>
            <a:ext cx="3931920" cy="566928"/>
          </a:xfrm>
          <a:prstGeom prst="roundRect">
            <a:avLst>
              <a:gd name="adj" fmla="val 32258"/>
            </a:avLst>
          </a:prstGeom>
          <a:solidFill>
            <a:srgbClr val="4CAF72"/>
          </a:solidFill>
          <a:ln/>
        </p:spPr>
        <p:txBody>
          <a:bodyPr wrap="square" lIns="0" tIns="0" rIns="0" bIns="0" rtlCol="0" anchor="ctr"/>
          <a:lstStyle/>
          <a:p>
            <a:pPr algn="ctr" indent="0" marL="0">
              <a:buNone/>
            </a:pPr>
            <a:r>
              <a:rPr lang="en-US" sz="1900" b="1" spc="100" kern="0" dirty="0">
                <a:solidFill>
                  <a:srgbClr val="0A0C10"/>
                </a:solidFill>
                <a:effectLst>
                  <a:glow rad="177800">
                    <a:srgbClr val="4CAF72">
                      <a:alpha val="45000"/>
                    </a:srgbClr>
                  </a:glow>
                </a:effectLst>
                <a:latin typeface="Calibri" pitchFamily="34" charset="0"/>
                <a:ea typeface="Calibri" pitchFamily="34" charset="-122"/>
                <a:cs typeface="Calibri" pitchFamily="34" charset="-120"/>
              </a:rPr>
              <a:t>Jetzt du und B</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650"/>
                                        <p:tgtEl>
                                          <p:spTgt spid="7"/>
                                        </p:tgtEl>
                                      </p:cBhvr>
                                    </p:animEffect>
                                    <p:anim calcmode="lin" valueType="num">
                                      <p:cBhvr additive="base">
                                        <p:cTn id="18" dur="6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7"/>
                                        </p:tgtEl>
                                        <p:attrNameLst>
                                          <p:attrName>ppt_y</p:attrName>
                                        </p:attrNameLst>
                                      </p:cBhvr>
                                      <p:tavLst>
                                        <p:tav tm="0">
                                          <p:val>
                                            <p:strVal val="#ppt_y+.05"/>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50"/>
                                        <p:tgtEl>
                                          <p:spTgt spid="8"/>
                                        </p:tgtEl>
                                      </p:cBhvr>
                                    </p:animEffect>
                                  </p:childTnLst>
                                </p:cTn>
                              </p:par>
                              <p:par>
                                <p:cTn id="23" presetID="42" presetClass="entr" presetSubtype="0" fill="hold" grpId="0" nodeType="withEffect">
                                  <p:stCondLst>
                                    <p:cond delay="22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50"/>
                                        <p:tgtEl>
                                          <p:spTgt spid="14"/>
                                        </p:tgtEl>
                                      </p:cBhvr>
                                    </p:animEffect>
                                    <p:anim calcmode="lin" valueType="num">
                                      <p:cBhvr additive="base">
                                        <p:cTn id="26" dur="650" fill="hold" decel="100000"/>
                                        <p:tgtEl>
                                          <p:spTgt spid="14"/>
                                        </p:tgtEl>
                                        <p:attrNameLst>
                                          <p:attrName>ppt_x</p:attrName>
                                        </p:attrNameLst>
                                      </p:cBhvr>
                                      <p:tavLst>
                                        <p:tav tm="0">
                                          <p:val>
                                            <p:strVal val="#ppt_x"/>
                                          </p:val>
                                        </p:tav>
                                        <p:tav tm="100000">
                                          <p:val>
                                            <p:strVal val="#ppt_x"/>
                                          </p:val>
                                        </p:tav>
                                      </p:tavLst>
                                    </p:anim>
                                    <p:anim calcmode="lin" valueType="num">
                                      <p:cBhvr additive="base">
                                        <p:cTn id="27" dur="650" fill="hold" decel="100000"/>
                                        <p:tgtEl>
                                          <p:spTgt spid="14"/>
                                        </p:tgtEl>
                                        <p:attrNameLst>
                                          <p:attrName>ppt_y</p:attrName>
                                        </p:attrNameLst>
                                      </p:cBhvr>
                                      <p:tavLst>
                                        <p:tav tm="0">
                                          <p:val>
                                            <p:strVal val="#ppt_y+.05"/>
                                          </p:val>
                                        </p:tav>
                                        <p:tav tm="100000">
                                          <p:val>
                                            <p:strVal val="#ppt_y"/>
                                          </p:val>
                                        </p:tav>
                                      </p:tavLst>
                                    </p:anim>
                                  </p:childTnLst>
                                </p:cTn>
                              </p:par>
                              <p:par>
                                <p:cTn id="28" presetID="42" presetClass="entr" presetSubtype="0" fill="hold" grpId="0" nodeType="withEffect">
                                  <p:stCondLst>
                                    <p:cond delay="275"/>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650"/>
                                        <p:tgtEl>
                                          <p:spTgt spid="15"/>
                                        </p:tgtEl>
                                      </p:cBhvr>
                                    </p:animEffect>
                                    <p:anim calcmode="lin" valueType="num">
                                      <p:cBhvr additive="base">
                                        <p:cTn id="31" dur="650" fill="hold" decel="100000"/>
                                        <p:tgtEl>
                                          <p:spTgt spid="15"/>
                                        </p:tgtEl>
                                        <p:attrNameLst>
                                          <p:attrName>ppt_x</p:attrName>
                                        </p:attrNameLst>
                                      </p:cBhvr>
                                      <p:tavLst>
                                        <p:tav tm="0">
                                          <p:val>
                                            <p:strVal val="#ppt_x"/>
                                          </p:val>
                                        </p:tav>
                                        <p:tav tm="100000">
                                          <p:val>
                                            <p:strVal val="#ppt_x"/>
                                          </p:val>
                                        </p:tav>
                                      </p:tavLst>
                                    </p:anim>
                                    <p:anim calcmode="lin" valueType="num">
                                      <p:cBhvr additive="base">
                                        <p:cTn id="32" dur="650" fill="hold" decel="100000"/>
                                        <p:tgtEl>
                                          <p:spTgt spid="15"/>
                                        </p:tgtEl>
                                        <p:attrNameLst>
                                          <p:attrName>ppt_y</p:attrName>
                                        </p:attrNameLst>
                                      </p:cBhvr>
                                      <p:tavLst>
                                        <p:tav tm="0">
                                          <p:val>
                                            <p:strVal val="#ppt_y+.05"/>
                                          </p:val>
                                        </p:tav>
                                        <p:tav tm="100000">
                                          <p:val>
                                            <p:strVal val="#ppt_y"/>
                                          </p:val>
                                        </p:tav>
                                      </p:tavLst>
                                    </p:anim>
                                  </p:childTnLst>
                                </p:cTn>
                              </p:par>
                              <p:par>
                                <p:cTn id="33" presetID="42"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650"/>
                                        <p:tgtEl>
                                          <p:spTgt spid="16"/>
                                        </p:tgtEl>
                                      </p:cBhvr>
                                    </p:animEffect>
                                    <p:anim calcmode="lin" valueType="num">
                                      <p:cBhvr additive="base">
                                        <p:cTn id="36"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37" dur="650" fill="hold" decel="100000"/>
                                        <p:tgtEl>
                                          <p:spTgt spid="16"/>
                                        </p:tgtEl>
                                        <p:attrNameLst>
                                          <p:attrName>ppt_y</p:attrName>
                                        </p:attrNameLst>
                                      </p:cBhvr>
                                      <p:tavLst>
                                        <p:tav tm="0">
                                          <p:val>
                                            <p:strVal val="#ppt_y+.05"/>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53" presetClass="entr" presetSubtype="32"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380" fill="hold" accel="60000"/>
                                        <p:tgtEl>
                                          <p:spTgt spid="17"/>
                                        </p:tgtEl>
                                        <p:attrNameLst>
                                          <p:attrName>ppt_w</p:attrName>
                                        </p:attrNameLst>
                                      </p:cBhvr>
                                      <p:tavLst>
                                        <p:tav tm="0">
                                          <p:val>
                                            <p:strVal val="#ppt_w*2.2"/>
                                          </p:val>
                                        </p:tav>
                                        <p:tav tm="100000">
                                          <p:val>
                                            <p:strVal val="#ppt_w"/>
                                          </p:val>
                                        </p:tav>
                                      </p:tavLst>
                                    </p:anim>
                                    <p:anim calcmode="lin" valueType="num">
                                      <p:cBhvr additive="base">
                                        <p:cTn id="43" dur="380" fill="hold" accel="60000"/>
                                        <p:tgtEl>
                                          <p:spTgt spid="17"/>
                                        </p:tgtEl>
                                        <p:attrNameLst>
                                          <p:attrName>ppt_h</p:attrName>
                                        </p:attrNameLst>
                                      </p:cBhvr>
                                      <p:tavLst>
                                        <p:tav tm="0">
                                          <p:val>
                                            <p:strVal val="#ppt_h*2.2"/>
                                          </p:val>
                                        </p:tav>
                                        <p:tav tm="100000">
                                          <p:val>
                                            <p:strVal val="#ppt_h"/>
                                          </p:val>
                                        </p:tav>
                                      </p:tavLst>
                                    </p:anim>
                                    <p:animEffect transition="in" filter="fade">
                                      <p:cBhvr>
                                        <p:cTn id="44" dur="228"/>
                                        <p:tgtEl>
                                          <p:spTgt spid="17"/>
                                        </p:tgtEl>
                                      </p:cBhvr>
                                    </p:animEffect>
                                  </p:childTnLst>
                                </p:cTn>
                              </p:par>
                            </p:childTnLst>
                          </p:cTn>
                        </p:par>
                        <p:par>
                          <p:cTn id="45" fill="hold">
                            <p:stCondLst>
                              <p:cond delay="380"/>
                            </p:stCondLst>
                            <p:childTnLst>
                              <p:par>
                                <p:cTn id="46" presetID="0" presetClass="path" presetSubtype="0" fill="hold" nodeType="afterEffect" accel="40000" decel="40000">
                                  <p:stCondLst>
                                    <p:cond delay="0"/>
                                  </p:stCondLst>
                                  <p:childTnLst>
                                    <p:animMotion origin="layout" path="M 0 0 C -0.09 0 -0.18 0 -0.27 0 E" pathEditMode="relative" rAng="0" ptsTypes="">
                                      <p:cBhvr>
                                        <p:cTn id="47" dur="2118" fill="hold"/>
                                        <p:tgtEl>
                                          <p:spTgt spid="11"/>
                                        </p:tgtEl>
                                        <p:attrNameLst>
                                          <p:attrName>ppt_x</p:attrName>
                                          <p:attrName>ppt_y</p:attrName>
                                        </p:attrNameLst>
                                      </p:cBhvr>
                                      <p:rCtr x="0" y="0"/>
                                    </p:animMotion>
                                  </p:childTnLst>
                                </p:cTn>
                              </p:par>
                              <p:par>
                                <p:cTn id="48" presetID="0" presetClass="path" presetSubtype="0" fill="hold" nodeType="withEffect" accel="40000" decel="40000">
                                  <p:stCondLst>
                                    <p:cond delay="0"/>
                                  </p:stCondLst>
                                  <p:childTnLst>
                                    <p:animMotion origin="layout" path="M 0 0 C 0.17 0 0.34 0 0.51 0 E" pathEditMode="relative" rAng="0" ptsTypes="">
                                      <p:cBhvr>
                                        <p:cTn id="49" dur="4000" fill="hold"/>
                                        <p:tgtEl>
                                          <p:spTgt spid="13"/>
                                        </p:tgtEl>
                                        <p:attrNameLst>
                                          <p:attrName>ppt_x</p:attrName>
                                          <p:attrName>ppt_y</p:attrName>
                                        </p:attrNameLst>
                                      </p:cBhvr>
                                      <p:rCtr x="0" y="0"/>
                                    </p:animMotion>
                                  </p:childTnLst>
                                </p:cTn>
                              </p:par>
                            </p:childTnLst>
                          </p:cTn>
                        </p:par>
                        <p:par>
                          <p:cTn id="50" fill="hold">
                            <p:stCondLst>
                              <p:cond delay="4380"/>
                            </p:stCondLst>
                            <p:childTnLst>
                              <p:par>
                                <p:cTn id="51" presetID="10" presetClass="exit" presetSubtype="0" fill="hold" nodeType="afterEffect">
                                  <p:stCondLst>
                                    <p:cond delay="0"/>
                                  </p:stCondLst>
                                  <p:childTnLst>
                                    <p:animEffect transition="out" filter="fade">
                                      <p:cBhvr>
                                        <p:cTn id="52" dur="350"/>
                                        <p:tgtEl>
                                          <p:spTgt spid="11"/>
                                        </p:tgtEl>
                                      </p:cBhvr>
                                    </p:animEffect>
                                    <p:set>
                                      <p:cBhvr>
                                        <p:cTn id="53" dur="1" fill="hold">
                                          <p:stCondLst>
                                            <p:cond delay="349"/>
                                          </p:stCondLst>
                                        </p:cTn>
                                        <p:tgtEl>
                                          <p:spTgt spid="11"/>
                                        </p:tgtEl>
                                        <p:attrNameLst>
                                          <p:attrName>style.visibility</p:attrName>
                                        </p:attrNameLst>
                                      </p:cBhvr>
                                      <p:to>
                                        <p:strVal val="hidden"/>
                                      </p:to>
                                    </p:set>
                                  </p:childTnLst>
                                </p:cTn>
                              </p:par>
                              <p:par>
                                <p:cTn id="54" presetID="10" presetClass="exit" presetSubtype="0" fill="hold" nodeType="withEffect">
                                  <p:stCondLst>
                                    <p:cond delay="0"/>
                                  </p:stCondLst>
                                  <p:childTnLst>
                                    <p:animEffect transition="out" filter="fade">
                                      <p:cBhvr>
                                        <p:cTn id="55" dur="350"/>
                                        <p:tgtEl>
                                          <p:spTgt spid="13"/>
                                        </p:tgtEl>
                                      </p:cBhvr>
                                    </p:animEffect>
                                    <p:set>
                                      <p:cBhvr>
                                        <p:cTn id="56" dur="1" fill="hold">
                                          <p:stCondLst>
                                            <p:cond delay="349"/>
                                          </p:stCondLst>
                                        </p:cTn>
                                        <p:tgtEl>
                                          <p:spTgt spid="1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8" presetClass="emph" presetSubtype="0" fill="hold" nodeType="clickEffect" accel="40000" decel="40000">
                                  <p:stCondLst>
                                    <p:cond delay="0"/>
                                  </p:stCondLst>
                                  <p:childTnLst>
                                    <p:animRot by="5400000">
                                      <p:cBhvr>
                                        <p:cTn id="60" dur="1200" fill="hold"/>
                                        <p:tgtEl>
                                          <p:spTgt spid="9"/>
                                        </p:tgtEl>
                                        <p:attrNameLst>
                                          <p:attrName>r</p:attrName>
                                        </p:attrNameLst>
                                      </p:cBhvr>
                                    </p:animRot>
                                  </p:childTnLst>
                                </p:cTn>
                              </p:par>
                            </p:childTnLst>
                          </p:cTn>
                        </p:par>
                      </p:childTnLst>
                    </p:cTn>
                  </p:par>
                  <p:par>
                    <p:cTn id="61" fill="hold">
                      <p:stCondLst>
                        <p:cond delay="indefinite"/>
                      </p:stCondLst>
                      <p:childTnLst>
                        <p:par>
                          <p:cTn id="62" fill="hold">
                            <p:stCondLst>
                              <p:cond delay="0"/>
                            </p:stCondLst>
                            <p:childTnLst>
                              <p:par>
                                <p:cTn id="63" presetID="53" presetClass="entr" presetSubtype="32"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380" fill="hold" accel="60000"/>
                                        <p:tgtEl>
                                          <p:spTgt spid="18"/>
                                        </p:tgtEl>
                                        <p:attrNameLst>
                                          <p:attrName>ppt_w</p:attrName>
                                        </p:attrNameLst>
                                      </p:cBhvr>
                                      <p:tavLst>
                                        <p:tav tm="0">
                                          <p:val>
                                            <p:strVal val="#ppt_w*2.2"/>
                                          </p:val>
                                        </p:tav>
                                        <p:tav tm="100000">
                                          <p:val>
                                            <p:strVal val="#ppt_w"/>
                                          </p:val>
                                        </p:tav>
                                      </p:tavLst>
                                    </p:anim>
                                    <p:anim calcmode="lin" valueType="num">
                                      <p:cBhvr additive="base">
                                        <p:cTn id="66" dur="380" fill="hold" accel="60000"/>
                                        <p:tgtEl>
                                          <p:spTgt spid="18"/>
                                        </p:tgtEl>
                                        <p:attrNameLst>
                                          <p:attrName>ppt_h</p:attrName>
                                        </p:attrNameLst>
                                      </p:cBhvr>
                                      <p:tavLst>
                                        <p:tav tm="0">
                                          <p:val>
                                            <p:strVal val="#ppt_h*2.2"/>
                                          </p:val>
                                        </p:tav>
                                        <p:tav tm="100000">
                                          <p:val>
                                            <p:strVal val="#ppt_h"/>
                                          </p:val>
                                        </p:tav>
                                      </p:tavLst>
                                    </p:anim>
                                    <p:animEffect transition="in" filter="fade">
                                      <p:cBhvr>
                                        <p:cTn id="67" dur="228"/>
                                        <p:tgtEl>
                                          <p:spTgt spid="18"/>
                                        </p:tgtEl>
                                      </p:cBhvr>
                                    </p:animEffect>
                                  </p:childTnLst>
                                </p:cTn>
                              </p:par>
                            </p:childTnLst>
                          </p:cTn>
                        </p:par>
                        <p:par>
                          <p:cTn id="68" fill="hold">
                            <p:stCondLst>
                              <p:cond delay="380"/>
                            </p:stCondLst>
                            <p:childTnLst>
                              <p:par>
                                <p:cTn id="69" presetID="0" presetClass="path" presetSubtype="0" fill="hold" nodeType="afterEffect" accel="40000" decel="40000">
                                  <p:stCondLst>
                                    <p:cond delay="0"/>
                                  </p:stCondLst>
                                  <p:childTnLst>
                                    <p:animMotion origin="layout" path="M 0 0 C 0 -0.2311 0 -0.4622 0 -0.6933 E" pathEditMode="relative" rAng="0" ptsTypes="">
                                      <p:cBhvr>
                                        <p:cTn id="70" dur="3059" fill="hold"/>
                                        <p:tgtEl>
                                          <p:spTgt spid="10"/>
                                        </p:tgtEl>
                                        <p:attrNameLst>
                                          <p:attrName>ppt_x</p:attrName>
                                          <p:attrName>ppt_y</p:attrName>
                                        </p:attrNameLst>
                                      </p:cBhvr>
                                      <p:rCtr x="0" y="0"/>
                                    </p:animMotion>
                                  </p:childTnLst>
                                </p:cTn>
                              </p:par>
                              <p:par>
                                <p:cTn id="71" presetID="0" presetClass="path" presetSubtype="0" fill="hold" nodeType="withEffect" accel="40000" decel="40000">
                                  <p:stCondLst>
                                    <p:cond delay="0"/>
                                  </p:stCondLst>
                                  <p:childTnLst>
                                    <p:animMotion origin="layout" path="M 0 0 C 0 0.2578 0 0.5156 0 0.7733 E" pathEditMode="relative" rAng="0" ptsTypes="">
                                      <p:cBhvr>
                                        <p:cTn id="72" dur="3412" fill="hold"/>
                                        <p:tgtEl>
                                          <p:spTgt spid="12"/>
                                        </p:tgtEl>
                                        <p:attrNameLst>
                                          <p:attrName>ppt_x</p:attrName>
                                          <p:attrName>ppt_y</p:attrName>
                                        </p:attrNameLst>
                                      </p:cBhvr>
                                      <p:rCtr x="0" y="0"/>
                                    </p:animMotion>
                                  </p:childTnLst>
                                </p:cTn>
                              </p:par>
                            </p:childTnLst>
                          </p:cTn>
                        </p:par>
                        <p:par>
                          <p:cTn id="73" fill="hold">
                            <p:stCondLst>
                              <p:cond delay="3792"/>
                            </p:stCondLst>
                            <p:childTnLst>
                              <p:par>
                                <p:cTn id="74" presetID="10" presetClass="exit" presetSubtype="0" fill="hold" nodeType="afterEffect">
                                  <p:stCondLst>
                                    <p:cond delay="0"/>
                                  </p:stCondLst>
                                  <p:childTnLst>
                                    <p:animEffect transition="out" filter="fade">
                                      <p:cBhvr>
                                        <p:cTn id="75" dur="350"/>
                                        <p:tgtEl>
                                          <p:spTgt spid="10"/>
                                        </p:tgtEl>
                                      </p:cBhvr>
                                    </p:animEffect>
                                    <p:set>
                                      <p:cBhvr>
                                        <p:cTn id="76" dur="1" fill="hold">
                                          <p:stCondLst>
                                            <p:cond delay="349"/>
                                          </p:stCondLst>
                                        </p:cTn>
                                        <p:tgtEl>
                                          <p:spTgt spid="10"/>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350"/>
                                        <p:tgtEl>
                                          <p:spTgt spid="12"/>
                                        </p:tgtEl>
                                      </p:cBhvr>
                                    </p:animEffect>
                                    <p:set>
                                      <p:cBhvr>
                                        <p:cTn id="79" dur="1" fill="hold">
                                          <p:stCondLst>
                                            <p:cond delay="34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4" grpId="0" animBg="1"/>
      <p:bldP spid="15" grpId="0" animBg="1"/>
      <p:bldP spid="16" grpId="0" animBg="1"/>
      <p:bldP spid="17" grpId="0" animBg="1"/>
      <p:bldP spid="1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49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5B8CFF"/>
                </a:solidFill>
                <a:latin typeface="Calibri" pitchFamily="34" charset="0"/>
                <a:ea typeface="Calibri" pitchFamily="34" charset="-122"/>
                <a:cs typeface="Calibri" pitchFamily="34" charset="-120"/>
              </a:rPr>
              <a:t>VERKEHRSKONTROLLE</a:t>
            </a:r>
            <a:endParaRPr lang="en-US" sz="1300" dirty="0"/>
          </a:p>
        </p:txBody>
      </p:sp>
      <p:sp>
        <p:nvSpPr>
          <p:cNvPr id="6" name="e49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So hält dich die Polizei an</a:t>
            </a:r>
            <a:endParaRPr lang="en-US" sz="4400" dirty="0"/>
          </a:p>
        </p:txBody>
      </p:sp>
      <p:sp>
        <p:nvSpPr>
          <p:cNvPr id="7" name="e49_3"/>
          <p:cNvSpPr/>
          <p:nvPr/>
        </p:nvSpPr>
        <p:spPr>
          <a:xfrm>
            <a:off x="746608" y="2286000"/>
            <a:ext cx="3429000" cy="3017520"/>
          </a:xfrm>
          <a:prstGeom prst="roundRect">
            <a:avLst>
              <a:gd name="adj" fmla="val 4242"/>
            </a:avLst>
          </a:prstGeom>
          <a:solidFill>
            <a:srgbClr val="12161E"/>
          </a:solidFill>
          <a:ln w="12700">
            <a:solidFill>
              <a:srgbClr val="2A3342"/>
            </a:solidFill>
            <a:prstDash val="solid"/>
          </a:ln>
        </p:spPr>
      </p:sp>
      <p:sp>
        <p:nvSpPr>
          <p:cNvPr id="8" name="e49_4"/>
          <p:cNvSpPr/>
          <p:nvPr/>
        </p:nvSpPr>
        <p:spPr>
          <a:xfrm>
            <a:off x="2415388" y="3291840"/>
            <a:ext cx="91440" cy="502920"/>
          </a:xfrm>
          <a:prstGeom prst="rect">
            <a:avLst/>
          </a:prstGeom>
          <a:solidFill>
            <a:srgbClr val="5B6474"/>
          </a:solidFill>
          <a:ln/>
        </p:spPr>
      </p:sp>
      <p:sp>
        <p:nvSpPr>
          <p:cNvPr id="9" name="e49_5"/>
          <p:cNvSpPr/>
          <p:nvPr/>
        </p:nvSpPr>
        <p:spPr>
          <a:xfrm>
            <a:off x="1958188" y="2468880"/>
            <a:ext cx="1005840" cy="1005840"/>
          </a:xfrm>
          <a:prstGeom prst="ellipse">
            <a:avLst/>
          </a:prstGeom>
          <a:solidFill>
            <a:srgbClr val="D32F2F"/>
          </a:solidFill>
          <a:ln w="76200">
            <a:solidFill>
              <a:srgbClr val="FFFFFF"/>
            </a:solidFill>
            <a:prstDash val="solid"/>
          </a:ln>
        </p:spPr>
      </p:sp>
      <p:sp>
        <p:nvSpPr>
          <p:cNvPr id="10" name="e49_6"/>
          <p:cNvSpPr/>
          <p:nvPr/>
        </p:nvSpPr>
        <p:spPr>
          <a:xfrm>
            <a:off x="2186788" y="2697480"/>
            <a:ext cx="548640" cy="548640"/>
          </a:xfrm>
          <a:prstGeom prst="ellipse">
            <a:avLst/>
          </a:prstGeom>
          <a:solidFill>
            <a:srgbClr val="FFFFFF"/>
          </a:solidFill>
          <a:ln/>
        </p:spPr>
      </p:sp>
      <p:sp>
        <p:nvSpPr>
          <p:cNvPr id="11" name="e49_7"/>
          <p:cNvSpPr txBox="1"/>
          <p:nvPr/>
        </p:nvSpPr>
        <p:spPr>
          <a:xfrm>
            <a:off x="92948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Winkerkelle</a:t>
            </a:r>
            <a:endParaRPr lang="en-US" sz="2100" dirty="0"/>
          </a:p>
        </p:txBody>
      </p:sp>
      <p:sp>
        <p:nvSpPr>
          <p:cNvPr id="12" name="e49_8"/>
          <p:cNvSpPr txBox="1"/>
          <p:nvPr/>
        </p:nvSpPr>
        <p:spPr>
          <a:xfrm>
            <a:off x="92948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aus der Hand oder aus dem Auto</a:t>
            </a:r>
            <a:endParaRPr lang="en-US" sz="1600" dirty="0"/>
          </a:p>
        </p:txBody>
      </p:sp>
      <p:sp>
        <p:nvSpPr>
          <p:cNvPr id="13" name="e49_9"/>
          <p:cNvSpPr/>
          <p:nvPr/>
        </p:nvSpPr>
        <p:spPr>
          <a:xfrm>
            <a:off x="4381348" y="2286000"/>
            <a:ext cx="3429000" cy="3017520"/>
          </a:xfrm>
          <a:prstGeom prst="roundRect">
            <a:avLst>
              <a:gd name="adj" fmla="val 4242"/>
            </a:avLst>
          </a:prstGeom>
          <a:solidFill>
            <a:srgbClr val="12161E"/>
          </a:solidFill>
          <a:ln w="12700">
            <a:solidFill>
              <a:srgbClr val="2A3342"/>
            </a:solidFill>
            <a:prstDash val="solid"/>
          </a:ln>
        </p:spPr>
      </p:sp>
      <p:sp>
        <p:nvSpPr>
          <p:cNvPr id="14" name="e49_10"/>
          <p:cNvSpPr/>
          <p:nvPr/>
        </p:nvSpPr>
        <p:spPr>
          <a:xfrm>
            <a:off x="5592928" y="2560320"/>
            <a:ext cx="1005840" cy="1005840"/>
          </a:xfrm>
          <a:prstGeom prst="ellipse">
            <a:avLst/>
          </a:prstGeom>
          <a:solidFill>
            <a:srgbClr val="FF2E2E"/>
          </a:solidFill>
          <a:ln/>
        </p:spPr>
      </p:sp>
      <p:sp>
        <p:nvSpPr>
          <p:cNvPr id="15" name="e49_11"/>
          <p:cNvSpPr txBox="1"/>
          <p:nvPr/>
        </p:nvSpPr>
        <p:spPr>
          <a:xfrm>
            <a:off x="456422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Rote Leuchte</a:t>
            </a:r>
            <a:endParaRPr lang="en-US" sz="2100" dirty="0"/>
          </a:p>
        </p:txBody>
      </p:sp>
      <p:sp>
        <p:nvSpPr>
          <p:cNvPr id="16" name="e49_12"/>
          <p:cNvSpPr txBox="1"/>
          <p:nvPr/>
        </p:nvSpPr>
        <p:spPr>
          <a:xfrm>
            <a:off x="456422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auch aus dem fahrenden Auto</a:t>
            </a:r>
            <a:endParaRPr lang="en-US" sz="1600" dirty="0"/>
          </a:p>
        </p:txBody>
      </p:sp>
      <p:sp>
        <p:nvSpPr>
          <p:cNvPr id="17" name="e49_13"/>
          <p:cNvSpPr/>
          <p:nvPr/>
        </p:nvSpPr>
        <p:spPr>
          <a:xfrm>
            <a:off x="8016088" y="2286000"/>
            <a:ext cx="3429000" cy="3017520"/>
          </a:xfrm>
          <a:prstGeom prst="roundRect">
            <a:avLst>
              <a:gd name="adj" fmla="val 4242"/>
            </a:avLst>
          </a:prstGeom>
          <a:solidFill>
            <a:srgbClr val="12161E"/>
          </a:solidFill>
          <a:ln w="12700">
            <a:solidFill>
              <a:srgbClr val="2A3342"/>
            </a:solidFill>
            <a:prstDash val="solid"/>
          </a:ln>
        </p:spPr>
      </p:sp>
      <p:sp>
        <p:nvSpPr>
          <p:cNvPr id="18" name="e49_14"/>
          <p:cNvSpPr txBox="1"/>
          <p:nvPr/>
        </p:nvSpPr>
        <p:spPr>
          <a:xfrm>
            <a:off x="8473288" y="2514600"/>
            <a:ext cx="2514600" cy="1188720"/>
          </a:xfrm>
          <a:prstGeom prst="roundRect">
            <a:avLst>
              <a:gd name="adj" fmla="val 7692"/>
            </a:avLst>
          </a:prstGeom>
          <a:solidFill>
            <a:srgbClr val="0A0A0A"/>
          </a:solidFill>
          <a:ln/>
        </p:spPr>
        <p:txBody>
          <a:bodyPr wrap="square" lIns="0" tIns="0" rIns="0" bIns="0" rtlCol="0" anchor="ctr"/>
          <a:lstStyle/>
          <a:p>
            <a:pPr algn="ctr" indent="0" marL="0">
              <a:buNone/>
            </a:pPr>
            <a:r>
              <a:rPr lang="en-US" sz="3000" b="1" dirty="0">
                <a:solidFill>
                  <a:srgbClr val="FF3030"/>
                </a:solidFill>
                <a:effectLst>
                  <a:glow rad="101600">
                    <a:srgbClr val="FF3030">
                      <a:alpha val="60000"/>
                    </a:srgbClr>
                  </a:glow>
                </a:effectLst>
                <a:latin typeface="Calibri" pitchFamily="34" charset="0"/>
                <a:ea typeface="Calibri" pitchFamily="34" charset="-122"/>
                <a:cs typeface="Calibri" pitchFamily="34" charset="-120"/>
              </a:rPr>
              <a:t>STOP</a:t>
            </a:r>
            <a:endParaRPr lang="en-US" sz="3000" dirty="0"/>
          </a:p>
          <a:p>
            <a:pPr algn="ctr" indent="0" marL="0">
              <a:buNone/>
            </a:pPr>
            <a:r>
              <a:rPr lang="en-US" sz="3000" b="1" dirty="0">
                <a:solidFill>
                  <a:srgbClr val="FF3030"/>
                </a:solidFill>
                <a:effectLst>
                  <a:glow rad="101600">
                    <a:srgbClr val="FF3030">
                      <a:alpha val="60000"/>
                    </a:srgbClr>
                  </a:glow>
                </a:effectLst>
                <a:latin typeface="Calibri" pitchFamily="34" charset="0"/>
                <a:ea typeface="Calibri" pitchFamily="34" charset="-122"/>
                <a:cs typeface="Calibri" pitchFamily="34" charset="-120"/>
              </a:rPr>
              <a:t>POLIZEI</a:t>
            </a:r>
            <a:endParaRPr lang="en-US" sz="3000" dirty="0"/>
          </a:p>
        </p:txBody>
      </p:sp>
      <p:sp>
        <p:nvSpPr>
          <p:cNvPr id="19" name="e49_15"/>
          <p:cNvSpPr txBox="1"/>
          <p:nvPr/>
        </p:nvSpPr>
        <p:spPr>
          <a:xfrm>
            <a:off x="8198968" y="3931920"/>
            <a:ext cx="3063240" cy="457200"/>
          </a:xfrm>
          <a:prstGeom prst="rect">
            <a:avLst/>
          </a:prstGeom>
          <a:noFill/>
          <a:ln/>
        </p:spPr>
        <p:txBody>
          <a:bodyPr wrap="square" lIns="0" tIns="0" rIns="0" bIns="0" rtlCol="0" anchor="t"/>
          <a:lstStyle/>
          <a:p>
            <a:pPr algn="ctr" indent="0" marL="0">
              <a:buNone/>
            </a:pPr>
            <a:r>
              <a:rPr lang="en-US" sz="2100" b="1" dirty="0">
                <a:solidFill>
                  <a:srgbClr val="F5F2EC"/>
                </a:solidFill>
                <a:latin typeface="Calibri" pitchFamily="34" charset="0"/>
                <a:ea typeface="Calibri" pitchFamily="34" charset="-122"/>
                <a:cs typeface="Calibri" pitchFamily="34" charset="-120"/>
              </a:rPr>
              <a:t>Anzeige am Streifenwagen</a:t>
            </a:r>
            <a:endParaRPr lang="en-US" sz="2100" dirty="0"/>
          </a:p>
        </p:txBody>
      </p:sp>
      <p:sp>
        <p:nvSpPr>
          <p:cNvPr id="20" name="e49_16"/>
          <p:cNvSpPr txBox="1"/>
          <p:nvPr/>
        </p:nvSpPr>
        <p:spPr>
          <a:xfrm>
            <a:off x="8198968" y="4434840"/>
            <a:ext cx="3063240" cy="640080"/>
          </a:xfrm>
          <a:prstGeom prst="rect">
            <a:avLst/>
          </a:prstGeom>
          <a:noFill/>
          <a:ln/>
        </p:spPr>
        <p:txBody>
          <a:bodyPr wrap="square" lIns="0" tIns="0" rIns="0" bIns="0" rtlCol="0" anchor="t"/>
          <a:lstStyle/>
          <a:p>
            <a:pPr algn="ctr" indent="0" marL="0">
              <a:buNone/>
            </a:pPr>
            <a:r>
              <a:rPr lang="en-US" sz="1600" dirty="0">
                <a:solidFill>
                  <a:srgbClr val="A7B0BD"/>
                </a:solidFill>
                <a:latin typeface="Calibri" pitchFamily="34" charset="0"/>
                <a:ea typeface="Calibri" pitchFamily="34" charset="-122"/>
                <a:cs typeface="Calibri" pitchFamily="34" charset="-120"/>
              </a:rPr>
              <a:t>„Stop Polizei“ oder „Bitte folgen“</a:t>
            </a:r>
            <a:endParaRPr lang="en-US" sz="1600" dirty="0"/>
          </a:p>
        </p:txBody>
      </p:sp>
      <p:sp>
        <p:nvSpPr>
          <p:cNvPr id="21" name="e49_17"/>
          <p:cNvSpPr txBox="1"/>
          <p:nvPr/>
        </p:nvSpPr>
        <p:spPr>
          <a:xfrm>
            <a:off x="731520" y="5577840"/>
            <a:ext cx="10698480" cy="457200"/>
          </a:xfrm>
          <a:prstGeom prst="rect">
            <a:avLst/>
          </a:prstGeom>
          <a:noFill/>
          <a:ln/>
        </p:spPr>
        <p:txBody>
          <a:bodyPr wrap="square" lIns="0" tIns="0" rIns="0" bIns="0" rtlCol="0" anchor="t"/>
          <a:lstStyle/>
          <a:p>
            <a:pPr algn="ctr" indent="0" marL="0">
              <a:buNone/>
            </a:pPr>
            <a:r>
              <a:rPr lang="en-US" sz="2200" b="1" dirty="0">
                <a:solidFill>
                  <a:srgbClr val="5B8CFF"/>
                </a:solidFill>
                <a:latin typeface="Cambria" pitchFamily="34" charset="0"/>
                <a:ea typeface="Cambria" pitchFamily="34" charset="-122"/>
                <a:cs typeface="Cambria" pitchFamily="34" charset="-120"/>
              </a:rPr>
              <a:t>Blinken, rechts ran, anhalten. Führerschein und Fahrzeugschein dabeihaben.</a:t>
            </a:r>
            <a:endParaRPr lang="en-US" sz="2200" dirty="0"/>
          </a:p>
        </p:txBody>
      </p:sp>
      <p:sp>
        <p:nvSpPr>
          <p:cNvPr id="22" name="e49_18"/>
          <p:cNvSpPr txBox="1"/>
          <p:nvPr/>
        </p:nvSpPr>
        <p:spPr>
          <a:xfrm>
            <a:off x="731520" y="6263640"/>
            <a:ext cx="10698480" cy="274320"/>
          </a:xfrm>
          <a:prstGeom prst="rect">
            <a:avLst/>
          </a:prstGeom>
          <a:noFill/>
          <a:ln/>
        </p:spPr>
        <p:txBody>
          <a:bodyPr wrap="square" lIns="0" tIns="0" rIns="0" bIns="0" rtlCol="0" anchor="t"/>
          <a:lstStyle/>
          <a:p>
            <a:pPr algn="l" indent="0" marL="0">
              <a:buNone/>
            </a:pPr>
            <a:r>
              <a:rPr lang="en-US" sz="1150" dirty="0">
                <a:solidFill>
                  <a:srgbClr val="8C95A3"/>
                </a:solidFill>
                <a:latin typeface="Calibri" pitchFamily="34" charset="0"/>
                <a:ea typeface="Calibri" pitchFamily="34" charset="-122"/>
                <a:cs typeface="Calibri" pitchFamily="34" charset="-120"/>
              </a:rPr>
              <a:t>§ 36 Abs. 5 StVO</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11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650"/>
                                        <p:tgtEl>
                                          <p:spTgt spid="22"/>
                                        </p:tgtEl>
                                      </p:cBhvr>
                                    </p:animEffect>
                                    <p:anim calcmode="lin" valueType="num">
                                      <p:cBhvr additive="base">
                                        <p:cTn id="18" dur="650" fill="hold" decel="100000"/>
                                        <p:tgtEl>
                                          <p:spTgt spid="22"/>
                                        </p:tgtEl>
                                        <p:attrNameLst>
                                          <p:attrName>ppt_x</p:attrName>
                                        </p:attrNameLst>
                                      </p:cBhvr>
                                      <p:tavLst>
                                        <p:tav tm="0">
                                          <p:val>
                                            <p:strVal val="#ppt_x"/>
                                          </p:val>
                                        </p:tav>
                                        <p:tav tm="100000">
                                          <p:val>
                                            <p:strVal val="#ppt_x"/>
                                          </p:val>
                                        </p:tav>
                                      </p:tavLst>
                                    </p:anim>
                                    <p:anim calcmode="lin" valueType="num">
                                      <p:cBhvr additive="base">
                                        <p:cTn id="19" dur="650" fill="hold" decel="100000"/>
                                        <p:tgtEl>
                                          <p:spTgt spid="22"/>
                                        </p:tgtEl>
                                        <p:attrNameLst>
                                          <p:attrName>ppt_y</p:attrName>
                                        </p:attrNameLst>
                                      </p:cBhvr>
                                      <p:tavLst>
                                        <p:tav tm="0">
                                          <p:val>
                                            <p:strVal val="#ppt_y+.05"/>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600"/>
                                        <p:tgtEl>
                                          <p:spTgt spid="7"/>
                                        </p:tgtEl>
                                      </p:cBhvr>
                                    </p:animEffect>
                                    <p:anim calcmode="lin" valueType="num">
                                      <p:cBhvr additive="base">
                                        <p:cTn id="25"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26" dur="600" fill="hold" decel="100000"/>
                                        <p:tgtEl>
                                          <p:spTgt spid="7"/>
                                        </p:tgtEl>
                                        <p:attrNameLst>
                                          <p:attrName>ppt_y</p:attrName>
                                        </p:attrNameLst>
                                      </p:cBhvr>
                                      <p:tavLst>
                                        <p:tav tm="0">
                                          <p:val>
                                            <p:strVal val="#ppt_y+.18"/>
                                          </p:val>
                                        </p:tav>
                                        <p:tav tm="100000">
                                          <p:val>
                                            <p:strVal val="#ppt_y"/>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3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300"/>
                                        <p:tgtEl>
                                          <p:spTgt spid="1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300"/>
                                        <p:tgtEl>
                                          <p:spTgt spid="1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anim calcmode="lin" valueType="num">
                                      <p:cBhvr additive="base">
                                        <p:cTn id="47"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48" dur="600" fill="hold" decel="100000"/>
                                        <p:tgtEl>
                                          <p:spTgt spid="13"/>
                                        </p:tgtEl>
                                        <p:attrNameLst>
                                          <p:attrName>ppt_y</p:attrName>
                                        </p:attrNameLst>
                                      </p:cBhvr>
                                      <p:tavLst>
                                        <p:tav tm="0">
                                          <p:val>
                                            <p:strVal val="#ppt_y+.18"/>
                                          </p:val>
                                        </p:tav>
                                        <p:tav tm="100000">
                                          <p:val>
                                            <p:strVal val="#ppt_y"/>
                                          </p:val>
                                        </p:tav>
                                      </p:tavLst>
                                    </p:anim>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3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3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anim calcmode="lin" valueType="num">
                                      <p:cBhvr additive="base">
                                        <p:cTn id="63" dur="600" fill="hold" decel="100000"/>
                                        <p:tgtEl>
                                          <p:spTgt spid="17"/>
                                        </p:tgtEl>
                                        <p:attrNameLst>
                                          <p:attrName>ppt_x</p:attrName>
                                        </p:attrNameLst>
                                      </p:cBhvr>
                                      <p:tavLst>
                                        <p:tav tm="0">
                                          <p:val>
                                            <p:strVal val="#ppt_x"/>
                                          </p:val>
                                        </p:tav>
                                        <p:tav tm="100000">
                                          <p:val>
                                            <p:strVal val="#ppt_x"/>
                                          </p:val>
                                        </p:tav>
                                      </p:tavLst>
                                    </p:anim>
                                    <p:anim calcmode="lin" valueType="num">
                                      <p:cBhvr additive="base">
                                        <p:cTn id="64" dur="600" fill="hold" decel="100000"/>
                                        <p:tgtEl>
                                          <p:spTgt spid="17"/>
                                        </p:tgtEl>
                                        <p:attrNameLst>
                                          <p:attrName>ppt_y</p:attrName>
                                        </p:attrNameLst>
                                      </p:cBhvr>
                                      <p:tavLst>
                                        <p:tav tm="0">
                                          <p:val>
                                            <p:strVal val="#ppt_y+.18"/>
                                          </p:val>
                                        </p:tav>
                                        <p:tav tm="100000">
                                          <p:val>
                                            <p:strVal val="#ppt_y"/>
                                          </p:val>
                                        </p:tav>
                                      </p:tavLst>
                                    </p:anim>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300"/>
                                        <p:tgtEl>
                                          <p:spTgt spid="1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300"/>
                                        <p:tgtEl>
                                          <p:spTgt spid="19"/>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300"/>
                                        <p:tgtEl>
                                          <p:spTgt spid="20"/>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2"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0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GRUPPENARBEIT</a:t>
            </a:r>
            <a:endParaRPr lang="en-US" sz="1300" dirty="0"/>
          </a:p>
        </p:txBody>
      </p:sp>
      <p:sp>
        <p:nvSpPr>
          <p:cNvPr id="6" name="e50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600" b="1" dirty="0">
                <a:solidFill>
                  <a:srgbClr val="F5F2EC"/>
                </a:solidFill>
                <a:latin typeface="Cambria" pitchFamily="34" charset="0"/>
                <a:ea typeface="Cambria" pitchFamily="34" charset="-122"/>
                <a:cs typeface="Cambria" pitchFamily="34" charset="-120"/>
              </a:rPr>
              <a:t>Ihr baut das Rätsel.</a:t>
            </a:r>
            <a:endParaRPr lang="en-US" sz="4600" dirty="0"/>
          </a:p>
        </p:txBody>
      </p:sp>
      <p:sp>
        <p:nvSpPr>
          <p:cNvPr id="7" name="e50_3"/>
          <p:cNvSpPr/>
          <p:nvPr/>
        </p:nvSpPr>
        <p:spPr>
          <a:xfrm>
            <a:off x="731520"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8" name="e50_4"/>
          <p:cNvSpPr txBox="1"/>
          <p:nvPr/>
        </p:nvSpPr>
        <p:spPr>
          <a:xfrm>
            <a:off x="1005840"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1</a:t>
            </a:r>
            <a:endParaRPr lang="en-US" sz="1500" dirty="0"/>
          </a:p>
        </p:txBody>
      </p:sp>
      <p:sp>
        <p:nvSpPr>
          <p:cNvPr id="9" name="e50_5"/>
          <p:cNvSpPr txBox="1"/>
          <p:nvPr/>
        </p:nvSpPr>
        <p:spPr>
          <a:xfrm>
            <a:off x="1005840"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Abknickende Vorfahrt</a:t>
            </a:r>
            <a:endParaRPr lang="en-US" sz="2300" dirty="0"/>
          </a:p>
        </p:txBody>
      </p:sp>
      <p:sp>
        <p:nvSpPr>
          <p:cNvPr id="10" name="e50_6"/>
          <p:cNvSpPr txBox="1"/>
          <p:nvPr/>
        </p:nvSpPr>
        <p:spPr>
          <a:xfrm>
            <a:off x="1005840"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Zusatzzeichen, Blinken, rechts vor links auf den Nebenstraßen</a:t>
            </a:r>
            <a:endParaRPr lang="en-US" sz="1600" dirty="0"/>
          </a:p>
        </p:txBody>
      </p:sp>
      <p:sp>
        <p:nvSpPr>
          <p:cNvPr id="11" name="e50_7"/>
          <p:cNvSpPr/>
          <p:nvPr/>
        </p:nvSpPr>
        <p:spPr>
          <a:xfrm>
            <a:off x="4361688"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2" name="e50_8"/>
          <p:cNvSpPr txBox="1"/>
          <p:nvPr/>
        </p:nvSpPr>
        <p:spPr>
          <a:xfrm>
            <a:off x="4636008"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2</a:t>
            </a:r>
            <a:endParaRPr lang="en-US" sz="1500" dirty="0"/>
          </a:p>
        </p:txBody>
      </p:sp>
      <p:sp>
        <p:nvSpPr>
          <p:cNvPr id="13" name="e50_9"/>
          <p:cNvSpPr txBox="1"/>
          <p:nvPr/>
        </p:nvSpPr>
        <p:spPr>
          <a:xfrm>
            <a:off x="4636008"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Kreisverkehr</a:t>
            </a:r>
            <a:endParaRPr lang="en-US" sz="2300" dirty="0"/>
          </a:p>
        </p:txBody>
      </p:sp>
      <p:sp>
        <p:nvSpPr>
          <p:cNvPr id="14" name="e50_10"/>
          <p:cNvSpPr txBox="1"/>
          <p:nvPr/>
        </p:nvSpPr>
        <p:spPr>
          <a:xfrm>
            <a:off x="4636008"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Rein ohne, raus mit, Fußgänger, Mittelinsel</a:t>
            </a:r>
            <a:endParaRPr lang="en-US" sz="1600" dirty="0"/>
          </a:p>
        </p:txBody>
      </p:sp>
      <p:sp>
        <p:nvSpPr>
          <p:cNvPr id="15" name="e50_11"/>
          <p:cNvSpPr/>
          <p:nvPr/>
        </p:nvSpPr>
        <p:spPr>
          <a:xfrm>
            <a:off x="7991856" y="2286000"/>
            <a:ext cx="3429000" cy="2103120"/>
          </a:xfrm>
          <a:prstGeom prst="roundRect">
            <a:avLst>
              <a:gd name="adj" fmla="val 6087"/>
            </a:avLst>
          </a:prstGeom>
          <a:solidFill>
            <a:srgbClr val="12161E"/>
          </a:solidFill>
          <a:ln w="12700">
            <a:solidFill>
              <a:srgbClr val="2A3342"/>
            </a:solidFill>
            <a:prstDash val="solid"/>
          </a:ln>
          <a:effectLst>
            <a:outerShdw sx="100000" sy="100000" kx="0" ky="0" algn="bl" rotWithShape="0" blurRad="228600" dist="50800" dir="5400000">
              <a:srgbClr val="000000">
                <a:alpha val="55000"/>
              </a:srgbClr>
            </a:outerShdw>
          </a:effectLst>
        </p:spPr>
      </p:sp>
      <p:sp>
        <p:nvSpPr>
          <p:cNvPr id="16" name="e50_12"/>
          <p:cNvSpPr txBox="1"/>
          <p:nvPr/>
        </p:nvSpPr>
        <p:spPr>
          <a:xfrm>
            <a:off x="8266176" y="2468880"/>
            <a:ext cx="2926080" cy="365760"/>
          </a:xfrm>
          <a:prstGeom prst="rect">
            <a:avLst/>
          </a:prstGeom>
          <a:noFill/>
          <a:ln/>
        </p:spPr>
        <p:txBody>
          <a:bodyPr wrap="square" lIns="0" tIns="0" rIns="0" bIns="0" rtlCol="0" anchor="t"/>
          <a:lstStyle/>
          <a:p>
            <a:pPr algn="l" indent="0" marL="0">
              <a:buNone/>
            </a:pPr>
            <a:r>
              <a:rPr lang="en-US" sz="1500" b="1" spc="300" kern="0" dirty="0">
                <a:solidFill>
                  <a:srgbClr val="FF7A1A"/>
                </a:solidFill>
                <a:latin typeface="Calibri" pitchFamily="34" charset="0"/>
                <a:ea typeface="Calibri" pitchFamily="34" charset="-122"/>
                <a:cs typeface="Calibri" pitchFamily="34" charset="-120"/>
              </a:rPr>
              <a:t>Gruppe 3</a:t>
            </a:r>
            <a:endParaRPr lang="en-US" sz="1500" dirty="0"/>
          </a:p>
        </p:txBody>
      </p:sp>
      <p:sp>
        <p:nvSpPr>
          <p:cNvPr id="17" name="e50_13"/>
          <p:cNvSpPr txBox="1"/>
          <p:nvPr/>
        </p:nvSpPr>
        <p:spPr>
          <a:xfrm>
            <a:off x="8266176" y="2834640"/>
            <a:ext cx="2926080" cy="822960"/>
          </a:xfrm>
          <a:prstGeom prst="rect">
            <a:avLst/>
          </a:prstGeom>
          <a:noFill/>
          <a:ln/>
        </p:spPr>
        <p:txBody>
          <a:bodyPr wrap="square" lIns="0" tIns="0" rIns="0" bIns="0" rtlCol="0" anchor="t"/>
          <a:lstStyle/>
          <a:p>
            <a:pPr algn="l" indent="0" marL="0">
              <a:buNone/>
            </a:pPr>
            <a:r>
              <a:rPr lang="en-US" sz="2300" b="1" dirty="0">
                <a:solidFill>
                  <a:srgbClr val="F5F2EC"/>
                </a:solidFill>
                <a:latin typeface="Cambria" pitchFamily="34" charset="0"/>
                <a:ea typeface="Cambria" pitchFamily="34" charset="-122"/>
                <a:cs typeface="Cambria" pitchFamily="34" charset="-120"/>
              </a:rPr>
              <a:t>Ampel, Grünpfeil, Polizei</a:t>
            </a:r>
            <a:endParaRPr lang="en-US" sz="2300" dirty="0"/>
          </a:p>
        </p:txBody>
      </p:sp>
      <p:sp>
        <p:nvSpPr>
          <p:cNvPr id="18" name="e50_14"/>
          <p:cNvSpPr txBox="1"/>
          <p:nvPr/>
        </p:nvSpPr>
        <p:spPr>
          <a:xfrm>
            <a:off x="8266176" y="3611880"/>
            <a:ext cx="2926080" cy="731520"/>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Grünpfeil-Test, Stromausfall, Handzeichen</a:t>
            </a:r>
            <a:endParaRPr lang="en-US" sz="1600" dirty="0"/>
          </a:p>
        </p:txBody>
      </p:sp>
      <p:sp>
        <p:nvSpPr>
          <p:cNvPr id="19" name="e50_15"/>
          <p:cNvSpPr txBox="1"/>
          <p:nvPr/>
        </p:nvSpPr>
        <p:spPr>
          <a:xfrm>
            <a:off x="731520" y="4617720"/>
            <a:ext cx="7680960" cy="822960"/>
          </a:xfrm>
          <a:prstGeom prst="rect">
            <a:avLst/>
          </a:prstGeom>
          <a:noFill/>
          <a:ln/>
        </p:spPr>
        <p:txBody>
          <a:bodyPr wrap="square" lIns="0" tIns="0" rIns="0" bIns="0" rtlCol="0" anchor="t"/>
          <a:lstStyle/>
          <a:p>
            <a:pPr algn="l" indent="0" marL="0">
              <a:buNone/>
            </a:pPr>
            <a:r>
              <a:rPr lang="en-US" sz="2000" dirty="0">
                <a:solidFill>
                  <a:srgbClr val="F5F2EC"/>
                </a:solidFill>
                <a:latin typeface="Calibri" pitchFamily="34" charset="0"/>
                <a:ea typeface="Calibri" pitchFamily="34" charset="-122"/>
                <a:cs typeface="Calibri" pitchFamily="34" charset="-120"/>
              </a:rPr>
              <a:t>Auftrag: </a:t>
            </a:r>
            <a:pPr algn="l" indent="0" marL="0">
              <a:buNone/>
            </a:pPr>
            <a:r>
              <a:rPr lang="en-US" sz="2000" b="1" dirty="0">
                <a:solidFill>
                  <a:srgbClr val="FF7A1A"/>
                </a:solidFill>
                <a:latin typeface="Calibri" pitchFamily="34" charset="0"/>
                <a:ea typeface="Calibri" pitchFamily="34" charset="-122"/>
                <a:cs typeface="Calibri" pitchFamily="34" charset="-120"/>
              </a:rPr>
              <a:t>Kreuzung von oben, 3 Autos, eure Frage „Wer fährt zuerst?“</a:t>
            </a:r>
            <a:pPr algn="l" indent="0" marL="0">
              <a:buNone/>
            </a:pPr>
            <a:r>
              <a:rPr lang="en-US" sz="2000" dirty="0">
                <a:solidFill>
                  <a:srgbClr val="F5F2EC"/>
                </a:solidFill>
                <a:latin typeface="Calibri" pitchFamily="34" charset="0"/>
                <a:ea typeface="Calibri" pitchFamily="34" charset="-122"/>
                <a:cs typeface="Calibri" pitchFamily="34" charset="-120"/>
              </a:rPr>
              <a:t> Dazu 3 Regeln und 1 Merksatz.</a:t>
            </a:r>
            <a:endParaRPr lang="en-US" sz="2000" dirty="0"/>
          </a:p>
        </p:txBody>
      </p:sp>
      <p:pic>
        <p:nvPicPr>
          <p:cNvPr id="20" name="e50_16" descr="preencoded.png">    </p:cNvPr>
          <p:cNvPicPr>
            <a:picLocks noChangeAspect="1"/>
          </p:cNvPicPr>
          <p:nvPr/>
        </p:nvPicPr>
        <p:blipFill>
          <a:blip r:embed="rId2"/>
          <a:stretch>
            <a:fillRect/>
          </a:stretch>
        </p:blipFill>
        <p:spPr>
          <a:xfrm>
            <a:off x="8778240" y="4800600"/>
            <a:ext cx="731520" cy="731520"/>
          </a:xfrm>
          <a:prstGeom prst="rect">
            <a:avLst/>
          </a:prstGeom>
        </p:spPr>
      </p:pic>
      <p:sp>
        <p:nvSpPr>
          <p:cNvPr id="21" name="e50_17"/>
          <p:cNvSpPr txBox="1"/>
          <p:nvPr/>
        </p:nvSpPr>
        <p:spPr>
          <a:xfrm>
            <a:off x="9601200" y="4617720"/>
            <a:ext cx="2011680" cy="1005840"/>
          </a:xfrm>
          <a:prstGeom prst="rect">
            <a:avLst/>
          </a:prstGeom>
          <a:noFill/>
          <a:ln/>
        </p:spPr>
        <p:txBody>
          <a:bodyPr wrap="square" lIns="0" tIns="0" rIns="0" bIns="0" rtlCol="0" anchor="t"/>
          <a:lstStyle/>
          <a:p>
            <a:pPr algn="l" indent="0" marL="0">
              <a:buNone/>
            </a:pPr>
            <a:r>
              <a:rPr lang="en-US" sz="5000" b="1" dirty="0">
                <a:solidFill>
                  <a:srgbClr val="FF7A1A"/>
                </a:solidFill>
                <a:effectLst>
                  <a:glow rad="152400">
                    <a:srgbClr val="FF7A1A">
                      <a:alpha val="40000"/>
                    </a:srgbClr>
                  </a:glow>
                </a:effectLst>
                <a:latin typeface="Cambria" pitchFamily="34" charset="0"/>
                <a:ea typeface="Cambria" pitchFamily="34" charset="-122"/>
                <a:cs typeface="Cambria" pitchFamily="34" charset="-120"/>
              </a:rPr>
              <a:t>15 MIN</a:t>
            </a:r>
            <a:endParaRPr lang="en-US" sz="5000" dirty="0"/>
          </a:p>
        </p:txBody>
      </p:sp>
      <p:sp>
        <p:nvSpPr>
          <p:cNvPr id="22" name="e50_18"/>
          <p:cNvSpPr txBox="1"/>
          <p:nvPr/>
        </p:nvSpPr>
        <p:spPr>
          <a:xfrm>
            <a:off x="731520" y="5806440"/>
            <a:ext cx="10698480" cy="411480"/>
          </a:xfrm>
          <a:prstGeom prst="rect">
            <a:avLst/>
          </a:prstGeom>
          <a:noFill/>
          <a:ln/>
        </p:spPr>
        <p:txBody>
          <a:bodyPr wrap="square" lIns="0" tIns="0" rIns="0" bIns="0" rtlCol="0" anchor="t"/>
          <a:lstStyle/>
          <a:p>
            <a:pPr algn="l" indent="0" marL="0">
              <a:lnSpc>
                <a:spcPct val="108000"/>
              </a:lnSpc>
              <a:buNone/>
            </a:pPr>
            <a:r>
              <a:rPr lang="en-US" sz="1700" i="1" dirty="0">
                <a:solidFill>
                  <a:srgbClr val="A7B0BD"/>
                </a:solidFill>
                <a:latin typeface="Calibri" pitchFamily="34" charset="0"/>
                <a:ea typeface="Calibri" pitchFamily="34" charset="-122"/>
                <a:cs typeface="Calibri" pitchFamily="34" charset="-120"/>
              </a:rPr>
              <a:t>Dann 2 Minuten pro Gruppe: Die Klasse rät zuerst, ihr löst auf.</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slow" p14:dur="10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anim calcmode="lin" valueType="num">
                                      <p:cBhvr additive="base">
                                        <p:cTn id="18" dur="550" fill="hold" decel="100000"/>
                                        <p:tgtEl>
                                          <p:spTgt spid="7"/>
                                        </p:tgtEl>
                                        <p:attrNameLst>
                                          <p:attrName>ppt_x</p:attrName>
                                        </p:attrNameLst>
                                      </p:cBhvr>
                                      <p:tavLst>
                                        <p:tav tm="0">
                                          <p:val>
                                            <p:strVal val="#ppt_x"/>
                                          </p:val>
                                        </p:tav>
                                        <p:tav tm="100000">
                                          <p:val>
                                            <p:strVal val="#ppt_x"/>
                                          </p:val>
                                        </p:tav>
                                      </p:tavLst>
                                    </p:anim>
                                    <p:anim calcmode="lin" valueType="num">
                                      <p:cBhvr additive="base">
                                        <p:cTn id="19" dur="550" fill="hold" decel="100000"/>
                                        <p:tgtEl>
                                          <p:spTgt spid="7"/>
                                        </p:tgtEl>
                                        <p:attrNameLst>
                                          <p:attrName>ppt_y</p:attrName>
                                        </p:attrNameLst>
                                      </p:cBhvr>
                                      <p:tavLst>
                                        <p:tav tm="0">
                                          <p:val>
                                            <p:strVal val="#ppt_y+.18"/>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30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300"/>
                                        <p:tgtEl>
                                          <p:spTgt spid="10"/>
                                        </p:tgtEl>
                                      </p:cBhvr>
                                    </p:animEffect>
                                  </p:childTnLst>
                                </p:cTn>
                              </p:par>
                            </p:childTnLst>
                          </p:cTn>
                        </p:par>
                        <p:par>
                          <p:cTn id="29" fill="hold">
                            <p:stCondLst>
                              <p:cond delay="705"/>
                            </p:stCondLst>
                            <p:childTnLst>
                              <p:par>
                                <p:cTn id="30" presetID="42" presetClass="entr" presetSubtype="0"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50"/>
                                        <p:tgtEl>
                                          <p:spTgt spid="11"/>
                                        </p:tgtEl>
                                      </p:cBhvr>
                                    </p:animEffect>
                                    <p:anim calcmode="lin" valueType="num">
                                      <p:cBhvr additive="base">
                                        <p:cTn id="33" dur="55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550" fill="hold" decel="100000"/>
                                        <p:tgtEl>
                                          <p:spTgt spid="11"/>
                                        </p:tgtEl>
                                        <p:attrNameLst>
                                          <p:attrName>ppt_y</p:attrName>
                                        </p:attrNameLst>
                                      </p:cBhvr>
                                      <p:tavLst>
                                        <p:tav tm="0">
                                          <p:val>
                                            <p:strVal val="#ppt_y+.18"/>
                                          </p:val>
                                        </p:tav>
                                        <p:tav tm="100000">
                                          <p:val>
                                            <p:strVal val="#ppt_y"/>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3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300"/>
                                        <p:tgtEl>
                                          <p:spTgt spid="14"/>
                                        </p:tgtEl>
                                      </p:cBhvr>
                                    </p:animEffect>
                                  </p:childTnLst>
                                </p:cTn>
                              </p:par>
                            </p:childTnLst>
                          </p:cTn>
                        </p:par>
                        <p:par>
                          <p:cTn id="44" fill="hold">
                            <p:stCondLst>
                              <p:cond delay="1255"/>
                            </p:stCondLst>
                            <p:childTnLst>
                              <p:par>
                                <p:cTn id="45" presetID="42" presetClass="entr" presetSubtype="0"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550"/>
                                        <p:tgtEl>
                                          <p:spTgt spid="15"/>
                                        </p:tgtEl>
                                      </p:cBhvr>
                                    </p:animEffect>
                                    <p:anim calcmode="lin" valueType="num">
                                      <p:cBhvr additive="base">
                                        <p:cTn id="48" dur="550" fill="hold" decel="100000"/>
                                        <p:tgtEl>
                                          <p:spTgt spid="15"/>
                                        </p:tgtEl>
                                        <p:attrNameLst>
                                          <p:attrName>ppt_x</p:attrName>
                                        </p:attrNameLst>
                                      </p:cBhvr>
                                      <p:tavLst>
                                        <p:tav tm="0">
                                          <p:val>
                                            <p:strVal val="#ppt_x"/>
                                          </p:val>
                                        </p:tav>
                                        <p:tav tm="100000">
                                          <p:val>
                                            <p:strVal val="#ppt_x"/>
                                          </p:val>
                                        </p:tav>
                                      </p:tavLst>
                                    </p:anim>
                                    <p:anim calcmode="lin" valueType="num">
                                      <p:cBhvr additive="base">
                                        <p:cTn id="49" dur="550" fill="hold" decel="100000"/>
                                        <p:tgtEl>
                                          <p:spTgt spid="15"/>
                                        </p:tgtEl>
                                        <p:attrNameLst>
                                          <p:attrName>ppt_y</p:attrName>
                                        </p:attrNameLst>
                                      </p:cBhvr>
                                      <p:tavLst>
                                        <p:tav tm="0">
                                          <p:val>
                                            <p:strVal val="#ppt_y+.18"/>
                                          </p:val>
                                        </p:tav>
                                        <p:tav tm="100000">
                                          <p:val>
                                            <p:strVal val="#ppt_y"/>
                                          </p:val>
                                        </p:tav>
                                      </p:tavLst>
                                    </p:anim>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0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300"/>
                                        <p:tgtEl>
                                          <p:spTgt spid="1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3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6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400" fill="hold" decel="100000"/>
                                        <p:tgtEl>
                                          <p:spTgt spid="20"/>
                                        </p:tgtEl>
                                        <p:attrNameLst>
                                          <p:attrName>ppt_w</p:attrName>
                                        </p:attrNameLst>
                                      </p:cBhvr>
                                      <p:tavLst>
                                        <p:tav tm="0">
                                          <p:val>
                                            <p:strVal val="0"/>
                                          </p:val>
                                        </p:tav>
                                        <p:tav tm="100000">
                                          <p:val>
                                            <p:strVal val="#ppt_w"/>
                                          </p:val>
                                        </p:tav>
                                      </p:tavLst>
                                    </p:anim>
                                    <p:anim calcmode="lin" valueType="num">
                                      <p:cBhvr additive="base">
                                        <p:cTn id="69" dur="400" fill="hold" decel="100000"/>
                                        <p:tgtEl>
                                          <p:spTgt spid="20"/>
                                        </p:tgtEl>
                                        <p:attrNameLst>
                                          <p:attrName>ppt_h</p:attrName>
                                        </p:attrNameLst>
                                      </p:cBhvr>
                                      <p:tavLst>
                                        <p:tav tm="0">
                                          <p:val>
                                            <p:strVal val="0"/>
                                          </p:val>
                                        </p:tav>
                                        <p:tav tm="100000">
                                          <p:val>
                                            <p:strVal val="#ppt_h"/>
                                          </p:val>
                                        </p:tav>
                                      </p:tavLst>
                                    </p:anim>
                                    <p:animEffect transition="in" filter="fade">
                                      <p:cBhvr>
                                        <p:cTn id="70" dur="400"/>
                                        <p:tgtEl>
                                          <p:spTgt spid="20"/>
                                        </p:tgtEl>
                                      </p:cBhvr>
                                    </p:animEffect>
                                  </p:childTnLst>
                                </p:cTn>
                              </p:par>
                            </p:childTnLst>
                          </p:cTn>
                        </p:par>
                        <p:par>
                          <p:cTn id="71" fill="hold">
                            <p:stCondLst>
                              <p:cond delay="400"/>
                            </p:stCondLst>
                            <p:childTnLst>
                              <p:par>
                                <p:cTn id="72" presetID="53" presetClass="entr" presetSubtype="32" fill="hold" grpId="0" nodeType="afterEffect">
                                  <p:stCondLst>
                                    <p:cond delay="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420" fill="hold" accel="60000"/>
                                        <p:tgtEl>
                                          <p:spTgt spid="21"/>
                                        </p:tgtEl>
                                        <p:attrNameLst>
                                          <p:attrName>ppt_w</p:attrName>
                                        </p:attrNameLst>
                                      </p:cBhvr>
                                      <p:tavLst>
                                        <p:tav tm="0">
                                          <p:val>
                                            <p:strVal val="#ppt_w*2.2"/>
                                          </p:val>
                                        </p:tav>
                                        <p:tav tm="100000">
                                          <p:val>
                                            <p:strVal val="#ppt_w"/>
                                          </p:val>
                                        </p:tav>
                                      </p:tavLst>
                                    </p:anim>
                                    <p:anim calcmode="lin" valueType="num">
                                      <p:cBhvr additive="base">
                                        <p:cTn id="75" dur="420" fill="hold" accel="60000"/>
                                        <p:tgtEl>
                                          <p:spTgt spid="21"/>
                                        </p:tgtEl>
                                        <p:attrNameLst>
                                          <p:attrName>ppt_h</p:attrName>
                                        </p:attrNameLst>
                                      </p:cBhvr>
                                      <p:tavLst>
                                        <p:tav tm="0">
                                          <p:val>
                                            <p:strVal val="#ppt_h*2.2"/>
                                          </p:val>
                                        </p:tav>
                                        <p:tav tm="100000">
                                          <p:val>
                                            <p:strVal val="#ppt_h"/>
                                          </p:val>
                                        </p:tav>
                                      </p:tavLst>
                                    </p:anim>
                                    <p:animEffect transition="in" filter="fade">
                                      <p:cBhvr>
                                        <p:cTn id="76" dur="252"/>
                                        <p:tgtEl>
                                          <p:spTgt spid="21"/>
                                        </p:tgtEl>
                                      </p:cBhvr>
                                    </p:animEffect>
                                  </p:childTnLst>
                                </p:cTn>
                              </p:par>
                            </p:childTnLst>
                          </p:cTn>
                        </p:par>
                        <p:par>
                          <p:cTn id="77" fill="hold">
                            <p:stCondLst>
                              <p:cond delay="820"/>
                            </p:stCondLst>
                            <p:childTnLst>
                              <p:par>
                                <p:cTn id="78" presetID="10" presetClass="entr" presetSubtype="0" fill="hold" grpId="0" nodeType="after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animBg="1"/>
      <p:bldP spid="2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1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SO GEHT EUER PLAKAT</a:t>
            </a:r>
            <a:endParaRPr lang="en-US" sz="1300" dirty="0"/>
          </a:p>
        </p:txBody>
      </p:sp>
      <p:sp>
        <p:nvSpPr>
          <p:cNvPr id="6" name="e51_2"/>
          <p:cNvSpPr txBox="1"/>
          <p:nvPr/>
        </p:nvSpPr>
        <p:spPr>
          <a:xfrm>
            <a:off x="685800" y="1188720"/>
            <a:ext cx="5760720" cy="914400"/>
          </a:xfrm>
          <a:prstGeom prst="rect">
            <a:avLst/>
          </a:prstGeom>
          <a:noFill/>
          <a:ln/>
        </p:spPr>
        <p:txBody>
          <a:bodyPr wrap="square" lIns="0" tIns="0" rIns="0" bIns="0" rtlCol="0" anchor="t"/>
          <a:lstStyle/>
          <a:p>
            <a:pPr algn="l" indent="0" marL="0">
              <a:lnSpc>
                <a:spcPct val="95000"/>
              </a:lnSpc>
              <a:buNone/>
            </a:pPr>
            <a:r>
              <a:rPr lang="en-US" sz="4200" b="1" dirty="0">
                <a:solidFill>
                  <a:srgbClr val="F5F2EC"/>
                </a:solidFill>
                <a:latin typeface="Cambria" pitchFamily="34" charset="0"/>
                <a:ea typeface="Cambria" pitchFamily="34" charset="-122"/>
                <a:cs typeface="Cambria" pitchFamily="34" charset="-120"/>
              </a:rPr>
              <a:t>4 Schritte zum Plakat</a:t>
            </a:r>
            <a:endParaRPr lang="en-US" sz="4200" dirty="0"/>
          </a:p>
        </p:txBody>
      </p:sp>
      <p:sp>
        <p:nvSpPr>
          <p:cNvPr id="7" name="e51_3"/>
          <p:cNvSpPr/>
          <p:nvPr/>
        </p:nvSpPr>
        <p:spPr>
          <a:xfrm>
            <a:off x="731520" y="2286000"/>
            <a:ext cx="731520" cy="731520"/>
          </a:xfrm>
          <a:prstGeom prst="ellipse">
            <a:avLst/>
          </a:prstGeom>
          <a:solidFill>
            <a:srgbClr val="241A12"/>
          </a:solidFill>
          <a:ln w="25400">
            <a:solidFill>
              <a:srgbClr val="FF7A1A"/>
            </a:solidFill>
            <a:prstDash val="solid"/>
          </a:ln>
        </p:spPr>
      </p:sp>
      <p:pic>
        <p:nvPicPr>
          <p:cNvPr id="8" name="e51_4" descr="preencoded.png">    </p:cNvPr>
          <p:cNvPicPr>
            <a:picLocks noChangeAspect="1"/>
          </p:cNvPicPr>
          <p:nvPr/>
        </p:nvPicPr>
        <p:blipFill>
          <a:blip r:embed="rId2"/>
          <a:stretch>
            <a:fillRect/>
          </a:stretch>
        </p:blipFill>
        <p:spPr>
          <a:xfrm>
            <a:off x="896112" y="2450592"/>
            <a:ext cx="402336" cy="402336"/>
          </a:xfrm>
          <a:prstGeom prst="rect">
            <a:avLst/>
          </a:prstGeom>
        </p:spPr>
      </p:pic>
      <p:sp>
        <p:nvSpPr>
          <p:cNvPr id="9" name="e51_5"/>
          <p:cNvSpPr txBox="1"/>
          <p:nvPr/>
        </p:nvSpPr>
        <p:spPr>
          <a:xfrm>
            <a:off x="1645920" y="2267712"/>
            <a:ext cx="457200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Kreuzung groß zeichnen</a:t>
            </a:r>
            <a:endParaRPr lang="en-US" sz="2100" dirty="0"/>
          </a:p>
        </p:txBody>
      </p:sp>
      <p:sp>
        <p:nvSpPr>
          <p:cNvPr id="10" name="e51_6"/>
          <p:cNvSpPr txBox="1"/>
          <p:nvPr/>
        </p:nvSpPr>
        <p:spPr>
          <a:xfrm>
            <a:off x="1645920" y="2670048"/>
            <a:ext cx="457200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Von oben, mit Lineal. Schilder dazu.</a:t>
            </a:r>
            <a:endParaRPr lang="en-US" sz="1600" dirty="0"/>
          </a:p>
        </p:txBody>
      </p:sp>
      <p:sp>
        <p:nvSpPr>
          <p:cNvPr id="11" name="e51_7"/>
          <p:cNvSpPr/>
          <p:nvPr/>
        </p:nvSpPr>
        <p:spPr>
          <a:xfrm>
            <a:off x="731520" y="3273552"/>
            <a:ext cx="731520" cy="731520"/>
          </a:xfrm>
          <a:prstGeom prst="ellipse">
            <a:avLst/>
          </a:prstGeom>
          <a:solidFill>
            <a:srgbClr val="241A12"/>
          </a:solidFill>
          <a:ln w="25400">
            <a:solidFill>
              <a:srgbClr val="FF7A1A"/>
            </a:solidFill>
            <a:prstDash val="solid"/>
          </a:ln>
        </p:spPr>
      </p:sp>
      <p:pic>
        <p:nvPicPr>
          <p:cNvPr id="12" name="e51_8" descr="preencoded.png">    </p:cNvPr>
          <p:cNvPicPr>
            <a:picLocks noChangeAspect="1"/>
          </p:cNvPicPr>
          <p:nvPr/>
        </p:nvPicPr>
        <p:blipFill>
          <a:blip r:embed="rId3"/>
          <a:stretch>
            <a:fillRect/>
          </a:stretch>
        </p:blipFill>
        <p:spPr>
          <a:xfrm>
            <a:off x="896112" y="3438144"/>
            <a:ext cx="402336" cy="402336"/>
          </a:xfrm>
          <a:prstGeom prst="rect">
            <a:avLst/>
          </a:prstGeom>
        </p:spPr>
      </p:pic>
      <p:sp>
        <p:nvSpPr>
          <p:cNvPr id="13" name="e51_9"/>
          <p:cNvSpPr txBox="1"/>
          <p:nvPr/>
        </p:nvSpPr>
        <p:spPr>
          <a:xfrm>
            <a:off x="1645920" y="3255264"/>
            <a:ext cx="457200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Autos als Klebezettel</a:t>
            </a:r>
            <a:endParaRPr lang="en-US" sz="2100" dirty="0"/>
          </a:p>
        </p:txBody>
      </p:sp>
      <p:sp>
        <p:nvSpPr>
          <p:cNvPr id="14" name="e51_10"/>
          <p:cNvSpPr txBox="1"/>
          <p:nvPr/>
        </p:nvSpPr>
        <p:spPr>
          <a:xfrm>
            <a:off x="1645920" y="3657600"/>
            <a:ext cx="457200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A, B, C drauf. So könnt ihr sie verschieben.</a:t>
            </a:r>
            <a:endParaRPr lang="en-US" sz="1600" dirty="0"/>
          </a:p>
        </p:txBody>
      </p:sp>
      <p:sp>
        <p:nvSpPr>
          <p:cNvPr id="15" name="e51_11"/>
          <p:cNvSpPr/>
          <p:nvPr/>
        </p:nvSpPr>
        <p:spPr>
          <a:xfrm>
            <a:off x="731520" y="4261104"/>
            <a:ext cx="731520" cy="731520"/>
          </a:xfrm>
          <a:prstGeom prst="ellipse">
            <a:avLst/>
          </a:prstGeom>
          <a:solidFill>
            <a:srgbClr val="241A12"/>
          </a:solidFill>
          <a:ln w="25400">
            <a:solidFill>
              <a:srgbClr val="FF7A1A"/>
            </a:solidFill>
            <a:prstDash val="solid"/>
          </a:ln>
        </p:spPr>
      </p:sp>
      <p:pic>
        <p:nvPicPr>
          <p:cNvPr id="16" name="e51_12" descr="preencoded.png">    </p:cNvPr>
          <p:cNvPicPr>
            <a:picLocks noChangeAspect="1"/>
          </p:cNvPicPr>
          <p:nvPr/>
        </p:nvPicPr>
        <p:blipFill>
          <a:blip r:embed="rId4"/>
          <a:stretch>
            <a:fillRect/>
          </a:stretch>
        </p:blipFill>
        <p:spPr>
          <a:xfrm>
            <a:off x="896112" y="4425696"/>
            <a:ext cx="402336" cy="402336"/>
          </a:xfrm>
          <a:prstGeom prst="rect">
            <a:avLst/>
          </a:prstGeom>
        </p:spPr>
      </p:pic>
      <p:sp>
        <p:nvSpPr>
          <p:cNvPr id="17" name="e51_13"/>
          <p:cNvSpPr txBox="1"/>
          <p:nvPr/>
        </p:nvSpPr>
        <p:spPr>
          <a:xfrm>
            <a:off x="1645920" y="4242816"/>
            <a:ext cx="457200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Pfeile in Farbe</a:t>
            </a:r>
            <a:endParaRPr lang="en-US" sz="2100" dirty="0"/>
          </a:p>
        </p:txBody>
      </p:sp>
      <p:sp>
        <p:nvSpPr>
          <p:cNvPr id="18" name="e51_14"/>
          <p:cNvSpPr txBox="1"/>
          <p:nvPr/>
        </p:nvSpPr>
        <p:spPr>
          <a:xfrm>
            <a:off x="1645920" y="4645152"/>
            <a:ext cx="457200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Grün fährt zuerst, Rot wartet. 1, 2, 3 nummerieren.</a:t>
            </a:r>
            <a:endParaRPr lang="en-US" sz="1600" dirty="0"/>
          </a:p>
        </p:txBody>
      </p:sp>
      <p:sp>
        <p:nvSpPr>
          <p:cNvPr id="19" name="e51_15"/>
          <p:cNvSpPr/>
          <p:nvPr/>
        </p:nvSpPr>
        <p:spPr>
          <a:xfrm>
            <a:off x="731520" y="5248656"/>
            <a:ext cx="731520" cy="731520"/>
          </a:xfrm>
          <a:prstGeom prst="ellipse">
            <a:avLst/>
          </a:prstGeom>
          <a:solidFill>
            <a:srgbClr val="241A12"/>
          </a:solidFill>
          <a:ln w="25400">
            <a:solidFill>
              <a:srgbClr val="FF7A1A"/>
            </a:solidFill>
            <a:prstDash val="solid"/>
          </a:ln>
        </p:spPr>
      </p:sp>
      <p:pic>
        <p:nvPicPr>
          <p:cNvPr id="20" name="e51_16" descr="preencoded.png">    </p:cNvPr>
          <p:cNvPicPr>
            <a:picLocks noChangeAspect="1"/>
          </p:cNvPicPr>
          <p:nvPr/>
        </p:nvPicPr>
        <p:blipFill>
          <a:blip r:embed="rId5"/>
          <a:stretch>
            <a:fillRect/>
          </a:stretch>
        </p:blipFill>
        <p:spPr>
          <a:xfrm>
            <a:off x="896112" y="5413248"/>
            <a:ext cx="402336" cy="402336"/>
          </a:xfrm>
          <a:prstGeom prst="rect">
            <a:avLst/>
          </a:prstGeom>
        </p:spPr>
      </p:pic>
      <p:sp>
        <p:nvSpPr>
          <p:cNvPr id="21" name="e51_17"/>
          <p:cNvSpPr txBox="1"/>
          <p:nvPr/>
        </p:nvSpPr>
        <p:spPr>
          <a:xfrm>
            <a:off x="1645920" y="5230368"/>
            <a:ext cx="4572000" cy="411480"/>
          </a:xfrm>
          <a:prstGeom prst="rect">
            <a:avLst/>
          </a:prstGeom>
          <a:noFill/>
          <a:ln/>
        </p:spPr>
        <p:txBody>
          <a:bodyPr wrap="square" lIns="0" tIns="0" rIns="0" bIns="0" rtlCol="0" anchor="t"/>
          <a:lstStyle/>
          <a:p>
            <a:pPr algn="l" indent="0" marL="0">
              <a:buNone/>
            </a:pPr>
            <a:r>
              <a:rPr lang="en-US" sz="2100" b="1" dirty="0">
                <a:solidFill>
                  <a:srgbClr val="F5F2EC"/>
                </a:solidFill>
                <a:latin typeface="Calibri" pitchFamily="34" charset="0"/>
                <a:ea typeface="Calibri" pitchFamily="34" charset="-122"/>
                <a:cs typeface="Calibri" pitchFamily="34" charset="-120"/>
              </a:rPr>
              <a:t>Merksatz unten</a:t>
            </a:r>
            <a:endParaRPr lang="en-US" sz="2100" dirty="0"/>
          </a:p>
        </p:txBody>
      </p:sp>
      <p:sp>
        <p:nvSpPr>
          <p:cNvPr id="22" name="e51_18"/>
          <p:cNvSpPr txBox="1"/>
          <p:nvPr/>
        </p:nvSpPr>
        <p:spPr>
          <a:xfrm>
            <a:off x="1645920" y="5632704"/>
            <a:ext cx="4572000" cy="384048"/>
          </a:xfrm>
          <a:prstGeom prst="rect">
            <a:avLst/>
          </a:prstGeom>
          <a:noFill/>
          <a:ln/>
        </p:spPr>
        <p:txBody>
          <a:bodyPr wrap="square" lIns="0" tIns="0" rIns="0" bIns="0" rtlCol="0" anchor="t"/>
          <a:lstStyle/>
          <a:p>
            <a:pPr algn="l" indent="0" marL="0">
              <a:buNone/>
            </a:pPr>
            <a:r>
              <a:rPr lang="en-US" sz="1600" dirty="0">
                <a:solidFill>
                  <a:srgbClr val="A7B0BD"/>
                </a:solidFill>
                <a:latin typeface="Calibri" pitchFamily="34" charset="0"/>
                <a:ea typeface="Calibri" pitchFamily="34" charset="-122"/>
                <a:cs typeface="Calibri" pitchFamily="34" charset="-120"/>
              </a:rPr>
              <a:t>Höchstens 8 Wörter. Groß.</a:t>
            </a:r>
            <a:endParaRPr lang="en-US" sz="1600" dirty="0"/>
          </a:p>
        </p:txBody>
      </p:sp>
      <p:sp>
        <p:nvSpPr>
          <p:cNvPr id="23" name="e51_19"/>
          <p:cNvSpPr/>
          <p:nvPr/>
        </p:nvSpPr>
        <p:spPr>
          <a:xfrm>
            <a:off x="6812280" y="1234440"/>
            <a:ext cx="4663440" cy="4892040"/>
          </a:xfrm>
          <a:prstGeom prst="roundRect">
            <a:avLst>
              <a:gd name="adj" fmla="val 980"/>
            </a:avLst>
          </a:prstGeom>
          <a:solidFill>
            <a:srgbClr val="F4EFE6"/>
          </a:solidFill>
          <a:ln/>
          <a:effectLst>
            <a:outerShdw sx="100000" sy="100000" kx="0" ky="0" algn="bl" rotWithShape="0" blurRad="228600" dist="50800" dir="5400000">
              <a:srgbClr val="000000">
                <a:alpha val="55000"/>
              </a:srgbClr>
            </a:outerShdw>
          </a:effectLst>
        </p:spPr>
      </p:sp>
      <p:sp>
        <p:nvSpPr>
          <p:cNvPr id="24" name="e51_20"/>
          <p:cNvSpPr txBox="1"/>
          <p:nvPr/>
        </p:nvSpPr>
        <p:spPr>
          <a:xfrm>
            <a:off x="6995160" y="1371600"/>
            <a:ext cx="4297680" cy="457200"/>
          </a:xfrm>
          <a:prstGeom prst="rect">
            <a:avLst/>
          </a:prstGeom>
          <a:noFill/>
          <a:ln/>
        </p:spPr>
        <p:txBody>
          <a:bodyPr wrap="square" lIns="0" tIns="0" rIns="0" bIns="0" rtlCol="0" anchor="t"/>
          <a:lstStyle/>
          <a:p>
            <a:pPr algn="ctr" indent="0" marL="0">
              <a:buNone/>
            </a:pPr>
            <a:r>
              <a:rPr lang="en-US" sz="2000" b="1" dirty="0">
                <a:solidFill>
                  <a:srgbClr val="1F2A3A"/>
                </a:solidFill>
                <a:latin typeface="Calibri" pitchFamily="34" charset="0"/>
                <a:ea typeface="Calibri" pitchFamily="34" charset="-122"/>
                <a:cs typeface="Calibri" pitchFamily="34" charset="-120"/>
              </a:rPr>
              <a:t>WER FÄHRT ZUERST?</a:t>
            </a:r>
            <a:endParaRPr lang="en-US" sz="2000" dirty="0"/>
          </a:p>
        </p:txBody>
      </p:sp>
      <p:sp>
        <p:nvSpPr>
          <p:cNvPr id="25" name="e51_21"/>
          <p:cNvSpPr/>
          <p:nvPr/>
        </p:nvSpPr>
        <p:spPr>
          <a:xfrm>
            <a:off x="8732520" y="1965960"/>
            <a:ext cx="914400" cy="3017520"/>
          </a:xfrm>
          <a:prstGeom prst="rect">
            <a:avLst/>
          </a:prstGeom>
          <a:solidFill>
            <a:srgbClr val="9AA3AE"/>
          </a:solidFill>
          <a:ln/>
        </p:spPr>
      </p:sp>
      <p:sp>
        <p:nvSpPr>
          <p:cNvPr id="26" name="e51_22"/>
          <p:cNvSpPr/>
          <p:nvPr/>
        </p:nvSpPr>
        <p:spPr>
          <a:xfrm>
            <a:off x="7178040" y="3017520"/>
            <a:ext cx="4023360" cy="914400"/>
          </a:xfrm>
          <a:prstGeom prst="rect">
            <a:avLst/>
          </a:prstGeom>
          <a:solidFill>
            <a:srgbClr val="9AA3AE"/>
          </a:solidFill>
          <a:ln/>
        </p:spPr>
      </p:sp>
      <p:sp>
        <p:nvSpPr>
          <p:cNvPr id="27" name="e51_23"/>
          <p:cNvSpPr txBox="1"/>
          <p:nvPr/>
        </p:nvSpPr>
        <p:spPr>
          <a:xfrm rot="-240000">
            <a:off x="9208008" y="4389120"/>
            <a:ext cx="384048" cy="384048"/>
          </a:xfrm>
          <a:prstGeom prst="rect">
            <a:avLst/>
          </a:prstGeom>
          <a:solidFill>
            <a:srgbClr val="FFE066"/>
          </a:solidFill>
          <a:ln/>
        </p:spPr>
        <p:txBody>
          <a:bodyPr wrap="square" lIns="0" tIns="0" rIns="0" bIns="0" rtlCol="0" anchor="ctr"/>
          <a:lstStyle/>
          <a:p>
            <a:pPr algn="ctr" indent="0" marL="0">
              <a:buNone/>
            </a:pPr>
            <a:r>
              <a:rPr lang="en-US" sz="1600" b="1" dirty="0">
                <a:solidFill>
                  <a:srgbClr val="1F2A3A"/>
                </a:solidFill>
                <a:latin typeface="Calibri" pitchFamily="34" charset="0"/>
                <a:ea typeface="Calibri" pitchFamily="34" charset="-122"/>
                <a:cs typeface="Calibri" pitchFamily="34" charset="-120"/>
              </a:rPr>
              <a:t>A</a:t>
            </a:r>
            <a:endParaRPr lang="en-US" sz="1600" dirty="0"/>
          </a:p>
        </p:txBody>
      </p:sp>
      <p:sp>
        <p:nvSpPr>
          <p:cNvPr id="28" name="e51_24"/>
          <p:cNvSpPr txBox="1"/>
          <p:nvPr/>
        </p:nvSpPr>
        <p:spPr>
          <a:xfrm rot="-240000">
            <a:off x="10378440" y="3063240"/>
            <a:ext cx="384048" cy="384048"/>
          </a:xfrm>
          <a:prstGeom prst="rect">
            <a:avLst/>
          </a:prstGeom>
          <a:solidFill>
            <a:srgbClr val="A5D8FF"/>
          </a:solidFill>
          <a:ln/>
        </p:spPr>
        <p:txBody>
          <a:bodyPr wrap="square" lIns="0" tIns="0" rIns="0" bIns="0" rtlCol="0" anchor="ctr"/>
          <a:lstStyle/>
          <a:p>
            <a:pPr algn="ctr" indent="0" marL="0">
              <a:buNone/>
            </a:pPr>
            <a:r>
              <a:rPr lang="en-US" sz="1600" b="1" dirty="0">
                <a:solidFill>
                  <a:srgbClr val="1F2A3A"/>
                </a:solidFill>
                <a:latin typeface="Calibri" pitchFamily="34" charset="0"/>
                <a:ea typeface="Calibri" pitchFamily="34" charset="-122"/>
                <a:cs typeface="Calibri" pitchFamily="34" charset="-120"/>
              </a:rPr>
              <a:t>B</a:t>
            </a:r>
            <a:endParaRPr lang="en-US" sz="1600" dirty="0"/>
          </a:p>
        </p:txBody>
      </p:sp>
      <p:sp>
        <p:nvSpPr>
          <p:cNvPr id="29" name="e51_25"/>
          <p:cNvSpPr txBox="1"/>
          <p:nvPr/>
        </p:nvSpPr>
        <p:spPr>
          <a:xfrm rot="-240000">
            <a:off x="8750808" y="2103120"/>
            <a:ext cx="384048" cy="384048"/>
          </a:xfrm>
          <a:prstGeom prst="rect">
            <a:avLst/>
          </a:prstGeom>
          <a:solidFill>
            <a:srgbClr val="FFB3C1"/>
          </a:solidFill>
          <a:ln/>
        </p:spPr>
        <p:txBody>
          <a:bodyPr wrap="square" lIns="0" tIns="0" rIns="0" bIns="0" rtlCol="0" anchor="ctr"/>
          <a:lstStyle/>
          <a:p>
            <a:pPr algn="ctr" indent="0" marL="0">
              <a:buNone/>
            </a:pPr>
            <a:r>
              <a:rPr lang="en-US" sz="1600" b="1" dirty="0">
                <a:solidFill>
                  <a:srgbClr val="1F2A3A"/>
                </a:solidFill>
                <a:latin typeface="Calibri" pitchFamily="34" charset="0"/>
                <a:ea typeface="Calibri" pitchFamily="34" charset="-122"/>
                <a:cs typeface="Calibri" pitchFamily="34" charset="-120"/>
              </a:rPr>
              <a:t>C</a:t>
            </a:r>
            <a:endParaRPr lang="en-US" sz="1600" dirty="0"/>
          </a:p>
        </p:txBody>
      </p:sp>
      <p:sp>
        <p:nvSpPr>
          <p:cNvPr id="30" name="e51_26"/>
          <p:cNvSpPr/>
          <p:nvPr/>
        </p:nvSpPr>
        <p:spPr>
          <a:xfrm flipH="1">
            <a:off x="9006840" y="3291840"/>
            <a:ext cx="1554480" cy="914"/>
          </a:xfrm>
          <a:prstGeom prst="line">
            <a:avLst/>
          </a:prstGeom>
          <a:noFill/>
          <a:ln w="38100">
            <a:solidFill>
              <a:srgbClr val="2E9E5B"/>
            </a:solidFill>
            <a:prstDash val="solid"/>
            <a:tailEnd type="triangle"/>
          </a:ln>
        </p:spPr>
      </p:sp>
      <p:sp>
        <p:nvSpPr>
          <p:cNvPr id="31" name="e51_27"/>
          <p:cNvSpPr txBox="1"/>
          <p:nvPr/>
        </p:nvSpPr>
        <p:spPr>
          <a:xfrm>
            <a:off x="7086600" y="5120640"/>
            <a:ext cx="4114800" cy="365760"/>
          </a:xfrm>
          <a:prstGeom prst="rect">
            <a:avLst/>
          </a:prstGeom>
          <a:noFill/>
          <a:ln/>
        </p:spPr>
        <p:txBody>
          <a:bodyPr wrap="square" lIns="0" tIns="0" rIns="0" bIns="0" rtlCol="0" anchor="t"/>
          <a:lstStyle/>
          <a:p>
            <a:pPr algn="l" indent="0" marL="0">
              <a:buNone/>
            </a:pPr>
            <a:r>
              <a:rPr lang="en-US" sz="1500" dirty="0">
                <a:solidFill>
                  <a:srgbClr val="3A4455"/>
                </a:solidFill>
                <a:latin typeface="Calibri" pitchFamily="34" charset="0"/>
                <a:ea typeface="Calibri" pitchFamily="34" charset="-122"/>
                <a:cs typeface="Calibri" pitchFamily="34" charset="-120"/>
              </a:rPr>
              <a:t>Regeln: 1 · 2 · 3</a:t>
            </a:r>
            <a:endParaRPr lang="en-US" sz="1500" dirty="0"/>
          </a:p>
        </p:txBody>
      </p:sp>
      <p:sp>
        <p:nvSpPr>
          <p:cNvPr id="32" name="e51_28"/>
          <p:cNvSpPr txBox="1"/>
          <p:nvPr/>
        </p:nvSpPr>
        <p:spPr>
          <a:xfrm>
            <a:off x="7086600" y="5577840"/>
            <a:ext cx="4114800" cy="411480"/>
          </a:xfrm>
          <a:prstGeom prst="rect">
            <a:avLst/>
          </a:prstGeom>
          <a:noFill/>
          <a:ln/>
        </p:spPr>
        <p:txBody>
          <a:bodyPr wrap="square" lIns="0" tIns="0" rIns="0" bIns="0" rtlCol="0" anchor="t"/>
          <a:lstStyle/>
          <a:p>
            <a:pPr algn="l" indent="0" marL="0">
              <a:buNone/>
            </a:pPr>
            <a:r>
              <a:rPr lang="en-US" sz="1600" b="1" dirty="0">
                <a:solidFill>
                  <a:srgbClr val="C0501A"/>
                </a:solidFill>
                <a:latin typeface="Calibri" pitchFamily="34" charset="0"/>
                <a:ea typeface="Calibri" pitchFamily="34" charset="-122"/>
                <a:cs typeface="Calibri" pitchFamily="34" charset="-120"/>
              </a:rPr>
              <a:t>MERKSATZ: ______________</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800"/>
                                        <p:tgtEl>
                                          <p:spTgt spid="23"/>
                                        </p:tgtEl>
                                      </p:cBhvr>
                                    </p:animEffect>
                                    <p:anim calcmode="lin" valueType="num">
                                      <p:cBhvr additive="base">
                                        <p:cTn id="18" dur="800" fill="hold" decel="100000"/>
                                        <p:tgtEl>
                                          <p:spTgt spid="23"/>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23"/>
                                        </p:tgtEl>
                                        <p:attrNameLst>
                                          <p:attrName>ppt_y</p:attrName>
                                        </p:attrNameLst>
                                      </p:cBhvr>
                                      <p:tavLst>
                                        <p:tav tm="0">
                                          <p:val>
                                            <p:strVal val="#ppt_y+.18"/>
                                          </p:val>
                                        </p:tav>
                                        <p:tav tm="100000">
                                          <p:val>
                                            <p:strVal val="#ppt_y"/>
                                          </p:val>
                                        </p:tav>
                                      </p:tavLst>
                                    </p:anim>
                                  </p:childTnLst>
                                </p:cTn>
                              </p:par>
                              <p:par>
                                <p:cTn id="20"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600"/>
                                        <p:tgtEl>
                                          <p:spTgt spid="2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600"/>
                                        <p:tgtEl>
                                          <p:spTgt spid="2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600"/>
                                        <p:tgtEl>
                                          <p:spTgt spid="26"/>
                                        </p:tgtEl>
                                      </p:cBhvr>
                                    </p:animEffect>
                                  </p:childTnLst>
                                </p:cTn>
                              </p:par>
                            </p:childTnLst>
                          </p:cTn>
                        </p:par>
                        <p:par>
                          <p:cTn id="29" fill="hold">
                            <p:stCondLst>
                              <p:cond delay="800"/>
                            </p:stCondLst>
                            <p:childTnLst>
                              <p:par>
                                <p:cTn id="30" presetID="53" presetClass="entr" presetSubtype="16" fill="hold" grpId="0" nodeType="afterEffect">
                                  <p:stCondLst>
                                    <p:cond delay="0"/>
                                  </p:stCondLst>
                                  <p:childTnLst>
                                    <p:set>
                                      <p:cBhvr>
                                        <p:cTn id="31" dur="1" fill="hold">
                                          <p:stCondLst>
                                            <p:cond delay="0"/>
                                          </p:stCondLst>
                                        </p:cTn>
                                        <p:tgtEl>
                                          <p:spTgt spid="27"/>
                                        </p:tgtEl>
                                        <p:attrNameLst>
                                          <p:attrName>style.visibility</p:attrName>
                                        </p:attrNameLst>
                                      </p:cBhvr>
                                      <p:to>
                                        <p:strVal val="visible"/>
                                      </p:to>
                                    </p:set>
                                    <p:anim calcmode="lin" valueType="num">
                                      <p:cBhvr additive="base">
                                        <p:cTn id="32" dur="300" fill="hold" decel="100000"/>
                                        <p:tgtEl>
                                          <p:spTgt spid="27"/>
                                        </p:tgtEl>
                                        <p:attrNameLst>
                                          <p:attrName>ppt_w</p:attrName>
                                        </p:attrNameLst>
                                      </p:cBhvr>
                                      <p:tavLst>
                                        <p:tav tm="0">
                                          <p:val>
                                            <p:strVal val="0"/>
                                          </p:val>
                                        </p:tav>
                                        <p:tav tm="100000">
                                          <p:val>
                                            <p:strVal val="#ppt_w"/>
                                          </p:val>
                                        </p:tav>
                                      </p:tavLst>
                                    </p:anim>
                                    <p:anim calcmode="lin" valueType="num">
                                      <p:cBhvr additive="base">
                                        <p:cTn id="33" dur="300" fill="hold" decel="100000"/>
                                        <p:tgtEl>
                                          <p:spTgt spid="27"/>
                                        </p:tgtEl>
                                        <p:attrNameLst>
                                          <p:attrName>ppt_h</p:attrName>
                                        </p:attrNameLst>
                                      </p:cBhvr>
                                      <p:tavLst>
                                        <p:tav tm="0">
                                          <p:val>
                                            <p:strVal val="0"/>
                                          </p:val>
                                        </p:tav>
                                        <p:tav tm="100000">
                                          <p:val>
                                            <p:strVal val="#ppt_h"/>
                                          </p:val>
                                        </p:tav>
                                      </p:tavLst>
                                    </p:anim>
                                    <p:animEffect transition="in" filter="fade">
                                      <p:cBhvr>
                                        <p:cTn id="34" dur="300"/>
                                        <p:tgtEl>
                                          <p:spTgt spid="27"/>
                                        </p:tgtEl>
                                      </p:cBhvr>
                                    </p:animEffect>
                                  </p:childTnLst>
                                </p:cTn>
                              </p:par>
                            </p:childTnLst>
                          </p:cTn>
                        </p:par>
                        <p:par>
                          <p:cTn id="35" fill="hold">
                            <p:stCondLst>
                              <p:cond delay="1100"/>
                            </p:stCondLst>
                            <p:childTnLst>
                              <p:par>
                                <p:cTn id="36" presetID="53" presetClass="entr" presetSubtype="16"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 calcmode="lin" valueType="num">
                                      <p:cBhvr additive="base">
                                        <p:cTn id="38" dur="300" fill="hold" decel="100000"/>
                                        <p:tgtEl>
                                          <p:spTgt spid="28"/>
                                        </p:tgtEl>
                                        <p:attrNameLst>
                                          <p:attrName>ppt_w</p:attrName>
                                        </p:attrNameLst>
                                      </p:cBhvr>
                                      <p:tavLst>
                                        <p:tav tm="0">
                                          <p:val>
                                            <p:strVal val="0"/>
                                          </p:val>
                                        </p:tav>
                                        <p:tav tm="100000">
                                          <p:val>
                                            <p:strVal val="#ppt_w"/>
                                          </p:val>
                                        </p:tav>
                                      </p:tavLst>
                                    </p:anim>
                                    <p:anim calcmode="lin" valueType="num">
                                      <p:cBhvr additive="base">
                                        <p:cTn id="39" dur="300" fill="hold" decel="100000"/>
                                        <p:tgtEl>
                                          <p:spTgt spid="28"/>
                                        </p:tgtEl>
                                        <p:attrNameLst>
                                          <p:attrName>ppt_h</p:attrName>
                                        </p:attrNameLst>
                                      </p:cBhvr>
                                      <p:tavLst>
                                        <p:tav tm="0">
                                          <p:val>
                                            <p:strVal val="0"/>
                                          </p:val>
                                        </p:tav>
                                        <p:tav tm="100000">
                                          <p:val>
                                            <p:strVal val="#ppt_h"/>
                                          </p:val>
                                        </p:tav>
                                      </p:tavLst>
                                    </p:anim>
                                    <p:animEffect transition="in" filter="fade">
                                      <p:cBhvr>
                                        <p:cTn id="40" dur="300"/>
                                        <p:tgtEl>
                                          <p:spTgt spid="28"/>
                                        </p:tgtEl>
                                      </p:cBhvr>
                                    </p:animEffect>
                                  </p:childTnLst>
                                </p:cTn>
                              </p:par>
                            </p:childTnLst>
                          </p:cTn>
                        </p:par>
                        <p:par>
                          <p:cTn id="41" fill="hold">
                            <p:stCondLst>
                              <p:cond delay="1400"/>
                            </p:stCondLst>
                            <p:childTnLst>
                              <p:par>
                                <p:cTn id="42" presetID="53" presetClass="entr" presetSubtype="16" fill="hold" grpId="0" nodeType="afterEffect">
                                  <p:stCondLst>
                                    <p:cond delay="0"/>
                                  </p:stCondLst>
                                  <p:childTnLst>
                                    <p:set>
                                      <p:cBhvr>
                                        <p:cTn id="43" dur="1" fill="hold">
                                          <p:stCondLst>
                                            <p:cond delay="0"/>
                                          </p:stCondLst>
                                        </p:cTn>
                                        <p:tgtEl>
                                          <p:spTgt spid="29"/>
                                        </p:tgtEl>
                                        <p:attrNameLst>
                                          <p:attrName>style.visibility</p:attrName>
                                        </p:attrNameLst>
                                      </p:cBhvr>
                                      <p:to>
                                        <p:strVal val="visible"/>
                                      </p:to>
                                    </p:set>
                                    <p:anim calcmode="lin" valueType="num">
                                      <p:cBhvr additive="base">
                                        <p:cTn id="44" dur="300" fill="hold" decel="100000"/>
                                        <p:tgtEl>
                                          <p:spTgt spid="29"/>
                                        </p:tgtEl>
                                        <p:attrNameLst>
                                          <p:attrName>ppt_w</p:attrName>
                                        </p:attrNameLst>
                                      </p:cBhvr>
                                      <p:tavLst>
                                        <p:tav tm="0">
                                          <p:val>
                                            <p:strVal val="0"/>
                                          </p:val>
                                        </p:tav>
                                        <p:tav tm="100000">
                                          <p:val>
                                            <p:strVal val="#ppt_w"/>
                                          </p:val>
                                        </p:tav>
                                      </p:tavLst>
                                    </p:anim>
                                    <p:anim calcmode="lin" valueType="num">
                                      <p:cBhvr additive="base">
                                        <p:cTn id="45" dur="300" fill="hold" decel="100000"/>
                                        <p:tgtEl>
                                          <p:spTgt spid="29"/>
                                        </p:tgtEl>
                                        <p:attrNameLst>
                                          <p:attrName>ppt_h</p:attrName>
                                        </p:attrNameLst>
                                      </p:cBhvr>
                                      <p:tavLst>
                                        <p:tav tm="0">
                                          <p:val>
                                            <p:strVal val="0"/>
                                          </p:val>
                                        </p:tav>
                                        <p:tav tm="100000">
                                          <p:val>
                                            <p:strVal val="#ppt_h"/>
                                          </p:val>
                                        </p:tav>
                                      </p:tavLst>
                                    </p:anim>
                                    <p:animEffect transition="in" filter="fade">
                                      <p:cBhvr>
                                        <p:cTn id="46" dur="300"/>
                                        <p:tgtEl>
                                          <p:spTgt spid="29"/>
                                        </p:tgtEl>
                                      </p:cBhvr>
                                    </p:animEffect>
                                  </p:childTnLst>
                                </p:cTn>
                              </p:par>
                            </p:childTnLst>
                          </p:cTn>
                        </p:par>
                        <p:par>
                          <p:cTn id="47" fill="hold">
                            <p:stCondLst>
                              <p:cond delay="1700"/>
                            </p:stCondLst>
                            <p:childTnLst>
                              <p:par>
                                <p:cTn id="48" presetID="22" presetClass="entr" presetSubtype="8"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7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600"/>
                                        <p:tgtEl>
                                          <p:spTgt spid="3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fade">
                                      <p:cBhvr>
                                        <p:cTn id="56" dur="6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350" fill="hold" decel="100000"/>
                                        <p:tgtEl>
                                          <p:spTgt spid="7"/>
                                        </p:tgtEl>
                                        <p:attrNameLst>
                                          <p:attrName>ppt_w</p:attrName>
                                        </p:attrNameLst>
                                      </p:cBhvr>
                                      <p:tavLst>
                                        <p:tav tm="0">
                                          <p:val>
                                            <p:strVal val="0"/>
                                          </p:val>
                                        </p:tav>
                                        <p:tav tm="100000">
                                          <p:val>
                                            <p:strVal val="#ppt_w"/>
                                          </p:val>
                                        </p:tav>
                                      </p:tavLst>
                                    </p:anim>
                                    <p:anim calcmode="lin" valueType="num">
                                      <p:cBhvr additive="base">
                                        <p:cTn id="62" dur="350" fill="hold" decel="100000"/>
                                        <p:tgtEl>
                                          <p:spTgt spid="7"/>
                                        </p:tgtEl>
                                        <p:attrNameLst>
                                          <p:attrName>ppt_h</p:attrName>
                                        </p:attrNameLst>
                                      </p:cBhvr>
                                      <p:tavLst>
                                        <p:tav tm="0">
                                          <p:val>
                                            <p:strVal val="0"/>
                                          </p:val>
                                        </p:tav>
                                        <p:tav tm="100000">
                                          <p:val>
                                            <p:strVal val="#ppt_h"/>
                                          </p:val>
                                        </p:tav>
                                      </p:tavLst>
                                    </p:anim>
                                    <p:animEffect transition="in" filter="fade">
                                      <p:cBhvr>
                                        <p:cTn id="63" dur="350"/>
                                        <p:tgtEl>
                                          <p:spTgt spid="7"/>
                                        </p:tgtEl>
                                      </p:cBhvr>
                                    </p:animEffect>
                                  </p:childTnLst>
                                </p:cTn>
                              </p:par>
                              <p:par>
                                <p:cTn id="64" presetID="10" presetClass="entr" presetSubtype="0" fill="hold" nodeType="with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250"/>
                                        <p:tgtEl>
                                          <p:spTgt spid="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250"/>
                                        <p:tgtEl>
                                          <p:spTgt spid="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25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1"/>
                                        </p:tgtEl>
                                        <p:attrNameLst>
                                          <p:attrName>style.visibility</p:attrName>
                                        </p:attrNameLst>
                                      </p:cBhvr>
                                      <p:to>
                                        <p:strVal val="visible"/>
                                      </p:to>
                                    </p:set>
                                    <p:anim calcmode="lin" valueType="num">
                                      <p:cBhvr additive="base">
                                        <p:cTn id="77" dur="350" fill="hold" decel="100000"/>
                                        <p:tgtEl>
                                          <p:spTgt spid="11"/>
                                        </p:tgtEl>
                                        <p:attrNameLst>
                                          <p:attrName>ppt_w</p:attrName>
                                        </p:attrNameLst>
                                      </p:cBhvr>
                                      <p:tavLst>
                                        <p:tav tm="0">
                                          <p:val>
                                            <p:strVal val="0"/>
                                          </p:val>
                                        </p:tav>
                                        <p:tav tm="100000">
                                          <p:val>
                                            <p:strVal val="#ppt_w"/>
                                          </p:val>
                                        </p:tav>
                                      </p:tavLst>
                                    </p:anim>
                                    <p:anim calcmode="lin" valueType="num">
                                      <p:cBhvr additive="base">
                                        <p:cTn id="78" dur="350" fill="hold" decel="100000"/>
                                        <p:tgtEl>
                                          <p:spTgt spid="11"/>
                                        </p:tgtEl>
                                        <p:attrNameLst>
                                          <p:attrName>ppt_h</p:attrName>
                                        </p:attrNameLst>
                                      </p:cBhvr>
                                      <p:tavLst>
                                        <p:tav tm="0">
                                          <p:val>
                                            <p:strVal val="0"/>
                                          </p:val>
                                        </p:tav>
                                        <p:tav tm="100000">
                                          <p:val>
                                            <p:strVal val="#ppt_h"/>
                                          </p:val>
                                        </p:tav>
                                      </p:tavLst>
                                    </p:anim>
                                    <p:animEffect transition="in" filter="fade">
                                      <p:cBhvr>
                                        <p:cTn id="79" dur="350"/>
                                        <p:tgtEl>
                                          <p:spTgt spid="11"/>
                                        </p:tgtEl>
                                      </p:cBhvr>
                                    </p:animEffect>
                                  </p:childTnLst>
                                </p:cTn>
                              </p:par>
                              <p:par>
                                <p:cTn id="80" presetID="10" presetClass="entr" presetSubtype="0" fill="hold" nodeType="with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fade">
                                      <p:cBhvr>
                                        <p:cTn id="82" dur="250"/>
                                        <p:tgtEl>
                                          <p:spTgt spid="12"/>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3"/>
                                        </p:tgtEl>
                                        <p:attrNameLst>
                                          <p:attrName>style.visibility</p:attrName>
                                        </p:attrNameLst>
                                      </p:cBhvr>
                                      <p:to>
                                        <p:strVal val="visible"/>
                                      </p:to>
                                    </p:set>
                                    <p:animEffect transition="in" filter="fade">
                                      <p:cBhvr>
                                        <p:cTn id="85" dur="250"/>
                                        <p:tgtEl>
                                          <p:spTgt spid="13"/>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14"/>
                                        </p:tgtEl>
                                        <p:attrNameLst>
                                          <p:attrName>style.visibility</p:attrName>
                                        </p:attrNameLst>
                                      </p:cBhvr>
                                      <p:to>
                                        <p:strVal val="visible"/>
                                      </p:to>
                                    </p:set>
                                    <p:animEffect transition="in" filter="fade">
                                      <p:cBhvr>
                                        <p:cTn id="88" dur="250"/>
                                        <p:tgtEl>
                                          <p:spTgt spid="14"/>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 calcmode="lin" valueType="num">
                                      <p:cBhvr additive="base">
                                        <p:cTn id="93" dur="350" fill="hold" decel="100000"/>
                                        <p:tgtEl>
                                          <p:spTgt spid="15"/>
                                        </p:tgtEl>
                                        <p:attrNameLst>
                                          <p:attrName>ppt_w</p:attrName>
                                        </p:attrNameLst>
                                      </p:cBhvr>
                                      <p:tavLst>
                                        <p:tav tm="0">
                                          <p:val>
                                            <p:strVal val="0"/>
                                          </p:val>
                                        </p:tav>
                                        <p:tav tm="100000">
                                          <p:val>
                                            <p:strVal val="#ppt_w"/>
                                          </p:val>
                                        </p:tav>
                                      </p:tavLst>
                                    </p:anim>
                                    <p:anim calcmode="lin" valueType="num">
                                      <p:cBhvr additive="base">
                                        <p:cTn id="94" dur="350" fill="hold" decel="100000"/>
                                        <p:tgtEl>
                                          <p:spTgt spid="15"/>
                                        </p:tgtEl>
                                        <p:attrNameLst>
                                          <p:attrName>ppt_h</p:attrName>
                                        </p:attrNameLst>
                                      </p:cBhvr>
                                      <p:tavLst>
                                        <p:tav tm="0">
                                          <p:val>
                                            <p:strVal val="0"/>
                                          </p:val>
                                        </p:tav>
                                        <p:tav tm="100000">
                                          <p:val>
                                            <p:strVal val="#ppt_h"/>
                                          </p:val>
                                        </p:tav>
                                      </p:tavLst>
                                    </p:anim>
                                    <p:animEffect transition="in" filter="fade">
                                      <p:cBhvr>
                                        <p:cTn id="95" dur="350"/>
                                        <p:tgtEl>
                                          <p:spTgt spid="15"/>
                                        </p:tgtEl>
                                      </p:cBhvr>
                                    </p:animEffect>
                                  </p:childTnLst>
                                </p:cTn>
                              </p:par>
                              <p:par>
                                <p:cTn id="96" presetID="10" presetClass="entr" presetSubtype="0" fill="hold" nodeType="with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250"/>
                                        <p:tgtEl>
                                          <p:spTgt spid="1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250"/>
                                        <p:tgtEl>
                                          <p:spTgt spid="1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250"/>
                                        <p:tgtEl>
                                          <p:spTgt spid="18"/>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19"/>
                                        </p:tgtEl>
                                        <p:attrNameLst>
                                          <p:attrName>style.visibility</p:attrName>
                                        </p:attrNameLst>
                                      </p:cBhvr>
                                      <p:to>
                                        <p:strVal val="visible"/>
                                      </p:to>
                                    </p:set>
                                    <p:anim calcmode="lin" valueType="num">
                                      <p:cBhvr additive="base">
                                        <p:cTn id="109" dur="350" fill="hold" decel="100000"/>
                                        <p:tgtEl>
                                          <p:spTgt spid="19"/>
                                        </p:tgtEl>
                                        <p:attrNameLst>
                                          <p:attrName>ppt_w</p:attrName>
                                        </p:attrNameLst>
                                      </p:cBhvr>
                                      <p:tavLst>
                                        <p:tav tm="0">
                                          <p:val>
                                            <p:strVal val="0"/>
                                          </p:val>
                                        </p:tav>
                                        <p:tav tm="100000">
                                          <p:val>
                                            <p:strVal val="#ppt_w"/>
                                          </p:val>
                                        </p:tav>
                                      </p:tavLst>
                                    </p:anim>
                                    <p:anim calcmode="lin" valueType="num">
                                      <p:cBhvr additive="base">
                                        <p:cTn id="110" dur="350" fill="hold" decel="100000"/>
                                        <p:tgtEl>
                                          <p:spTgt spid="19"/>
                                        </p:tgtEl>
                                        <p:attrNameLst>
                                          <p:attrName>ppt_h</p:attrName>
                                        </p:attrNameLst>
                                      </p:cBhvr>
                                      <p:tavLst>
                                        <p:tav tm="0">
                                          <p:val>
                                            <p:strVal val="0"/>
                                          </p:val>
                                        </p:tav>
                                        <p:tav tm="100000">
                                          <p:val>
                                            <p:strVal val="#ppt_h"/>
                                          </p:val>
                                        </p:tav>
                                      </p:tavLst>
                                    </p:anim>
                                    <p:animEffect transition="in" filter="fade">
                                      <p:cBhvr>
                                        <p:cTn id="111" dur="350"/>
                                        <p:tgtEl>
                                          <p:spTgt spid="19"/>
                                        </p:tgtEl>
                                      </p:cBhvr>
                                    </p:animEffect>
                                  </p:childTnLst>
                                </p:cTn>
                              </p:par>
                              <p:par>
                                <p:cTn id="112" presetID="10" presetClass="entr" presetSubtype="0" fill="hold" nodeType="with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fade">
                                      <p:cBhvr>
                                        <p:cTn id="114" dur="250"/>
                                        <p:tgtEl>
                                          <p:spTgt spid="2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1"/>
                                        </p:tgtEl>
                                        <p:attrNameLst>
                                          <p:attrName>style.visibility</p:attrName>
                                        </p:attrNameLst>
                                      </p:cBhvr>
                                      <p:to>
                                        <p:strVal val="visible"/>
                                      </p:to>
                                    </p:set>
                                    <p:animEffect transition="in" filter="fade">
                                      <p:cBhvr>
                                        <p:cTn id="117" dur="250"/>
                                        <p:tgtEl>
                                          <p:spTgt spid="2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2"/>
                                        </p:tgtEl>
                                        <p:attrNameLst>
                                          <p:attrName>style.visibility</p:attrName>
                                        </p:attrNameLst>
                                      </p:cBhvr>
                                      <p:to>
                                        <p:strVal val="visible"/>
                                      </p:to>
                                    </p:set>
                                    <p:animEffect transition="in" filter="fade">
                                      <p:cBhvr>
                                        <p:cTn id="120" dur="2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7" grpId="0" animBg="1"/>
      <p:bldP spid="9" grpId="0" animBg="1"/>
      <p:bldP spid="10" grpId="0" animBg="1"/>
      <p:bldP spid="11" grpId="0" animBg="1"/>
      <p:bldP spid="13" grpId="0" animBg="1"/>
      <p:bldP spid="14" grpId="0" animBg="1"/>
      <p:bldP spid="15" grpId="0" animBg="1"/>
      <p:bldP spid="17" grpId="0" animBg="1"/>
      <p:bldP spid="18" grpId="0" animBg="1"/>
      <p:bldP spid="19" grpId="0" animBg="1"/>
      <p:bldP spid="21" grpId="0" animBg="1"/>
      <p:bldP spid="2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2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DAS RÄTSEL DES ABENDS</a:t>
            </a:r>
            <a:endParaRPr lang="en-US" sz="1300" dirty="0"/>
          </a:p>
        </p:txBody>
      </p:sp>
      <p:sp>
        <p:nvSpPr>
          <p:cNvPr id="6" name="e52_2"/>
          <p:cNvSpPr txBox="1"/>
          <p:nvPr/>
        </p:nvSpPr>
        <p:spPr>
          <a:xfrm>
            <a:off x="685800" y="1188720"/>
            <a:ext cx="4572000" cy="914400"/>
          </a:xfrm>
          <a:prstGeom prst="rect">
            <a:avLst/>
          </a:prstGeom>
          <a:noFill/>
          <a:ln/>
        </p:spPr>
        <p:txBody>
          <a:bodyPr wrap="square" lIns="0" tIns="0" rIns="0" bIns="0" rtlCol="0" anchor="t"/>
          <a:lstStyle/>
          <a:p>
            <a:pPr algn="l" indent="0" marL="0">
              <a:lnSpc>
                <a:spcPct val="95000"/>
              </a:lnSpc>
              <a:buNone/>
            </a:pPr>
            <a:r>
              <a:rPr lang="en-US" sz="5000" b="1" dirty="0">
                <a:solidFill>
                  <a:srgbClr val="F5F2EC"/>
                </a:solidFill>
                <a:latin typeface="Cambria" pitchFamily="34" charset="0"/>
                <a:ea typeface="Cambria" pitchFamily="34" charset="-122"/>
                <a:cs typeface="Cambria" pitchFamily="34" charset="-120"/>
              </a:rPr>
              <a:t>Die Auflösung</a:t>
            </a:r>
            <a:endParaRPr lang="en-US" sz="5000" dirty="0"/>
          </a:p>
        </p:txBody>
      </p:sp>
      <p:pic>
        <p:nvPicPr>
          <p:cNvPr id="7" name="e52_3" descr="/tmp/claude-0/-home-user-Fahrlehrer-Kompass-/11378f77-94a8-55e9-a697-0f3efd4c20b9/scratchpad/bau/art/ov_abk.png">    </p:cNvPr>
          <p:cNvPicPr>
            <a:picLocks noChangeAspect="1"/>
          </p:cNvPicPr>
          <p:nvPr/>
        </p:nvPicPr>
        <p:blipFill>
          <a:blip r:embed="rId2"/>
          <a:stretch>
            <a:fillRect/>
          </a:stretch>
        </p:blipFill>
        <p:spPr>
          <a:xfrm>
            <a:off x="0" y="0"/>
            <a:ext cx="12191695" cy="6858000"/>
          </a:xfrm>
          <a:prstGeom prst="rect">
            <a:avLst/>
          </a:prstGeom>
        </p:spPr>
      </p:pic>
      <p:pic>
        <p:nvPicPr>
          <p:cNvPr id="8" name="e52_4" descr="Verkehrszeichen 306">    </p:cNvPr>
          <p:cNvPicPr>
            <a:picLocks noChangeAspect="1"/>
          </p:cNvPicPr>
          <p:nvPr/>
        </p:nvPicPr>
        <p:blipFill>
          <a:blip r:embed="rId3"/>
          <a:stretch>
            <a:fillRect/>
          </a:stretch>
        </p:blipFill>
        <p:spPr>
          <a:xfrm>
            <a:off x="9340596" y="4503420"/>
            <a:ext cx="457200" cy="457200"/>
          </a:xfrm>
          <a:prstGeom prst="rect">
            <a:avLst/>
          </a:prstGeom>
        </p:spPr>
      </p:pic>
      <p:pic>
        <p:nvPicPr>
          <p:cNvPr id="9" name="e52_5" descr="/tmp/claude-0/-home-user-Fahrlehrer-Kompass-/11378f77-94a8-55e9-a697-0f3efd4c20b9/scratchpad/bau/art/zz_SW.png">    </p:cNvPr>
          <p:cNvPicPr>
            <a:picLocks noChangeAspect="1"/>
          </p:cNvPicPr>
          <p:nvPr/>
        </p:nvPicPr>
        <p:blipFill>
          <a:blip r:embed="rId4"/>
          <a:stretch>
            <a:fillRect/>
          </a:stretch>
        </p:blipFill>
        <p:spPr>
          <a:xfrm>
            <a:off x="9313164" y="4997196"/>
            <a:ext cx="594360" cy="457200"/>
          </a:xfrm>
          <a:prstGeom prst="rect">
            <a:avLst/>
          </a:prstGeom>
        </p:spPr>
      </p:pic>
      <p:pic>
        <p:nvPicPr>
          <p:cNvPr id="10" name="e52_6" descr="Verkehrszeichen 205">    </p:cNvPr>
          <p:cNvPicPr>
            <a:picLocks noChangeAspect="1"/>
          </p:cNvPicPr>
          <p:nvPr/>
        </p:nvPicPr>
        <p:blipFill>
          <a:blip r:embed="rId5"/>
          <a:stretch>
            <a:fillRect/>
          </a:stretch>
        </p:blipFill>
        <p:spPr>
          <a:xfrm>
            <a:off x="9029700" y="1970532"/>
            <a:ext cx="520337" cy="457200"/>
          </a:xfrm>
          <a:prstGeom prst="rect">
            <a:avLst/>
          </a:prstGeom>
        </p:spPr>
      </p:pic>
      <p:pic>
        <p:nvPicPr>
          <p:cNvPr id="11" name="e52_7" descr="Verkehrszeichen 205">    </p:cNvPr>
          <p:cNvPicPr>
            <a:picLocks noChangeAspect="1"/>
          </p:cNvPicPr>
          <p:nvPr/>
        </p:nvPicPr>
        <p:blipFill>
          <a:blip r:embed="rId6"/>
          <a:stretch>
            <a:fillRect/>
          </a:stretch>
        </p:blipFill>
        <p:spPr>
          <a:xfrm>
            <a:off x="6342235" y="1970532"/>
            <a:ext cx="520337" cy="457200"/>
          </a:xfrm>
          <a:prstGeom prst="rect">
            <a:avLst/>
          </a:prstGeom>
        </p:spPr>
      </p:pic>
      <p:pic>
        <p:nvPicPr>
          <p:cNvPr id="12" name="e52_8" descr="/tmp/claude-0/-home-user-Fahrlehrer-Kompass-/11378f77-94a8-55e9-a697-0f3efd4c20b9/scratchpad/bau/art/car_blau.png">    </p:cNvPr>
          <p:cNvPicPr>
            <a:picLocks noChangeAspect="1"/>
          </p:cNvPicPr>
          <p:nvPr/>
        </p:nvPicPr>
        <p:blipFill>
          <a:blip r:embed="rId7"/>
          <a:stretch>
            <a:fillRect/>
          </a:stretch>
        </p:blipFill>
        <p:spPr>
          <a:xfrm>
            <a:off x="7939278" y="4334256"/>
            <a:ext cx="740664" cy="1481328"/>
          </a:xfrm>
          <a:prstGeom prst="rect">
            <a:avLst/>
          </a:prstGeom>
        </p:spPr>
      </p:pic>
      <p:pic>
        <p:nvPicPr>
          <p:cNvPr id="13" name="e52_9" descr="/tmp/claude-0/-home-user-Fahrlehrer-Kompass-/11378f77-94a8-55e9-a697-0f3efd4c20b9/scratchpad/bau/art/car_rot.png">    </p:cNvPr>
          <p:cNvPicPr>
            <a:picLocks noChangeAspect="1"/>
          </p:cNvPicPr>
          <p:nvPr/>
        </p:nvPicPr>
        <p:blipFill>
          <a:blip r:embed="rId8"/>
          <a:stretch>
            <a:fillRect/>
          </a:stretch>
        </p:blipFill>
        <p:spPr>
          <a:xfrm rot="10800000">
            <a:off x="7047738" y="1042416"/>
            <a:ext cx="740664" cy="1481328"/>
          </a:xfrm>
          <a:prstGeom prst="rect">
            <a:avLst/>
          </a:prstGeom>
        </p:spPr>
      </p:pic>
      <p:pic>
        <p:nvPicPr>
          <p:cNvPr id="14" name="e52_10" descr="/tmp/claude-0/-home-user-Fahrlehrer-Kompass-/11378f77-94a8-55e9-a697-0f3efd4c20b9/scratchpad/bau/art/car_gruen.png">    </p:cNvPr>
          <p:cNvPicPr>
            <a:picLocks noChangeAspect="1"/>
          </p:cNvPicPr>
          <p:nvPr/>
        </p:nvPicPr>
        <p:blipFill>
          <a:blip r:embed="rId9"/>
          <a:stretch>
            <a:fillRect/>
          </a:stretch>
        </p:blipFill>
        <p:spPr>
          <a:xfrm rot="16200000">
            <a:off x="9139428" y="2242566"/>
            <a:ext cx="740664" cy="1481328"/>
          </a:xfrm>
          <a:prstGeom prst="rect">
            <a:avLst/>
          </a:prstGeom>
        </p:spPr>
      </p:pic>
      <p:pic>
        <p:nvPicPr>
          <p:cNvPr id="15" name="e52_11" descr="/tmp/claude-0/-home-user-Fahrlehrer-Kompass-/11378f77-94a8-55e9-a697-0f3efd4c20b9/scratchpad/bau/art/blink_L.png">    </p:cNvPr>
          <p:cNvPicPr>
            <a:picLocks noChangeAspect="1"/>
          </p:cNvPicPr>
          <p:nvPr/>
        </p:nvPicPr>
        <p:blipFill>
          <a:blip r:embed="rId10"/>
          <a:stretch>
            <a:fillRect/>
          </a:stretch>
        </p:blipFill>
        <p:spPr>
          <a:xfrm>
            <a:off x="7939278" y="4334256"/>
            <a:ext cx="740664" cy="1481328"/>
          </a:xfrm>
          <a:prstGeom prst="rect">
            <a:avLst/>
          </a:prstGeom>
        </p:spPr>
      </p:pic>
      <p:sp>
        <p:nvSpPr>
          <p:cNvPr id="16" name="e52_12"/>
          <p:cNvSpPr txBox="1"/>
          <p:nvPr/>
        </p:nvSpPr>
        <p:spPr>
          <a:xfrm>
            <a:off x="8657082" y="5175504"/>
            <a:ext cx="438912" cy="438912"/>
          </a:xfrm>
          <a:prstGeom prst="ellipse">
            <a:avLst/>
          </a:prstGeom>
          <a:solidFill>
            <a:srgbClr val="6F9BD1"/>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A</a:t>
            </a:r>
            <a:endParaRPr lang="en-US" sz="2000" dirty="0"/>
          </a:p>
        </p:txBody>
      </p:sp>
      <p:sp>
        <p:nvSpPr>
          <p:cNvPr id="17" name="e52_13"/>
          <p:cNvSpPr txBox="1"/>
          <p:nvPr/>
        </p:nvSpPr>
        <p:spPr>
          <a:xfrm>
            <a:off x="6631686" y="1243584"/>
            <a:ext cx="438912" cy="438912"/>
          </a:xfrm>
          <a:prstGeom prst="ellipse">
            <a:avLst/>
          </a:prstGeom>
          <a:solidFill>
            <a:srgbClr val="E08892"/>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B</a:t>
            </a:r>
            <a:endParaRPr lang="en-US" sz="2000" dirty="0"/>
          </a:p>
        </p:txBody>
      </p:sp>
      <p:sp>
        <p:nvSpPr>
          <p:cNvPr id="18" name="e52_14"/>
          <p:cNvSpPr txBox="1"/>
          <p:nvPr/>
        </p:nvSpPr>
        <p:spPr>
          <a:xfrm>
            <a:off x="9610344" y="2196846"/>
            <a:ext cx="438912" cy="438912"/>
          </a:xfrm>
          <a:prstGeom prst="ellipse">
            <a:avLst/>
          </a:prstGeom>
          <a:solidFill>
            <a:srgbClr val="7FD1A3"/>
          </a:solidFill>
          <a:ln w="19050">
            <a:solidFill>
              <a:srgbClr val="FFFFFF"/>
            </a:solidFill>
          </a:ln>
        </p:spPr>
        <p:txBody>
          <a:bodyPr wrap="square" lIns="0" tIns="0" rIns="0" bIns="0" rtlCol="0" anchor="ctr"/>
          <a:lstStyle/>
          <a:p>
            <a:pPr algn="ctr" indent="0" marL="0">
              <a:buNone/>
            </a:pPr>
            <a:r>
              <a:rPr lang="en-US" sz="2000" b="1" dirty="0">
                <a:solidFill>
                  <a:srgbClr val="0A0C10"/>
                </a:solidFill>
                <a:latin typeface="Calibri" pitchFamily="34" charset="0"/>
                <a:ea typeface="Calibri" pitchFamily="34" charset="-122"/>
                <a:cs typeface="Calibri" pitchFamily="34" charset="-120"/>
              </a:rPr>
              <a:t>C</a:t>
            </a:r>
            <a:endParaRPr lang="en-US" sz="2000" dirty="0"/>
          </a:p>
        </p:txBody>
      </p:sp>
      <p:sp>
        <p:nvSpPr>
          <p:cNvPr id="19" name="e52_15"/>
          <p:cNvSpPr txBox="1"/>
          <p:nvPr/>
        </p:nvSpPr>
        <p:spPr>
          <a:xfrm>
            <a:off x="8602218" y="571500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1</a:t>
            </a:r>
            <a:endParaRPr lang="en-US" sz="2600" dirty="0"/>
          </a:p>
        </p:txBody>
      </p:sp>
      <p:sp>
        <p:nvSpPr>
          <p:cNvPr id="20" name="e52_16"/>
          <p:cNvSpPr txBox="1"/>
          <p:nvPr/>
        </p:nvSpPr>
        <p:spPr>
          <a:xfrm>
            <a:off x="6576822" y="594360"/>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2</a:t>
            </a:r>
            <a:endParaRPr lang="en-US" sz="2600" dirty="0"/>
          </a:p>
        </p:txBody>
      </p:sp>
      <p:sp>
        <p:nvSpPr>
          <p:cNvPr id="21" name="e52_17"/>
          <p:cNvSpPr txBox="1"/>
          <p:nvPr/>
        </p:nvSpPr>
        <p:spPr>
          <a:xfrm>
            <a:off x="10149840" y="2141982"/>
            <a:ext cx="548640" cy="548640"/>
          </a:xfrm>
          <a:prstGeom prst="ellipse">
            <a:avLst/>
          </a:prstGeom>
          <a:solidFill>
            <a:srgbClr val="FF7A1A"/>
          </a:solidFill>
          <a:ln/>
        </p:spPr>
        <p:txBody>
          <a:bodyPr wrap="square" lIns="0" tIns="0" rIns="0" bIns="0" rtlCol="0" anchor="ctr"/>
          <a:lstStyle/>
          <a:p>
            <a:pPr algn="ctr" indent="0" marL="0">
              <a:buNone/>
            </a:pPr>
            <a:r>
              <a:rPr lang="en-US" sz="2600" b="1" dirty="0">
                <a:solidFill>
                  <a:srgbClr val="1A0E05"/>
                </a:solidFill>
                <a:effectLst>
                  <a:glow rad="152400">
                    <a:srgbClr val="FF7A1A">
                      <a:alpha val="55000"/>
                    </a:srgbClr>
                  </a:glow>
                </a:effectLst>
                <a:latin typeface="Cambria" pitchFamily="34" charset="0"/>
                <a:ea typeface="Cambria" pitchFamily="34" charset="-122"/>
                <a:cs typeface="Cambria" pitchFamily="34" charset="-120"/>
              </a:rPr>
              <a:t>3</a:t>
            </a:r>
            <a:endParaRPr lang="en-US" sz="2600" dirty="0"/>
          </a:p>
        </p:txBody>
      </p:sp>
      <p:sp>
        <p:nvSpPr>
          <p:cNvPr id="22" name="e52_18"/>
          <p:cNvSpPr txBox="1"/>
          <p:nvPr/>
        </p:nvSpPr>
        <p:spPr>
          <a:xfrm>
            <a:off x="731520" y="2377440"/>
            <a:ext cx="4572000" cy="1188720"/>
          </a:xfrm>
          <a:prstGeom prst="roundRect">
            <a:avLst>
              <a:gd name="adj" fmla="val 7692"/>
            </a:avLst>
          </a:prstGeom>
          <a:solidFill>
            <a:srgbClr val="12161E"/>
          </a:solidFill>
          <a:ln w="12700">
            <a:solidFill>
              <a:srgbClr val="2A3342"/>
            </a:solidFill>
          </a:ln>
        </p:spPr>
        <p:txBody>
          <a:bodyPr wrap="square" lIns="101600" tIns="101600" rIns="101600" bIns="101600" rtlCol="0" anchor="ctr"/>
          <a:lstStyle/>
          <a:p>
            <a:pPr algn="l" indent="0" marL="0">
              <a:lnSpc>
                <a:spcPct val="110000"/>
              </a:lnSpc>
              <a:buNone/>
            </a:pPr>
            <a:r>
              <a:rPr lang="en-US" sz="1800" dirty="0">
                <a:solidFill>
                  <a:srgbClr val="F5F2EC"/>
                </a:solidFill>
                <a:latin typeface="Calibri" pitchFamily="34" charset="0"/>
                <a:ea typeface="Calibri" pitchFamily="34" charset="-122"/>
                <a:cs typeface="Calibri" pitchFamily="34" charset="-120"/>
              </a:rPr>
              <a:t>A ist auf der Vorfahrtstraße. B und C sind auf Nebenstraßen: rechts vor links, B kommt für C von rechts.</a:t>
            </a:r>
            <a:endParaRPr lang="en-US" sz="1800" dirty="0"/>
          </a:p>
        </p:txBody>
      </p:sp>
      <p:sp>
        <p:nvSpPr>
          <p:cNvPr id="23" name="e52_19"/>
          <p:cNvSpPr txBox="1"/>
          <p:nvPr/>
        </p:nvSpPr>
        <p:spPr>
          <a:xfrm>
            <a:off x="731520" y="3840480"/>
            <a:ext cx="2377440" cy="640080"/>
          </a:xfrm>
          <a:prstGeom prst="roundRect">
            <a:avLst>
              <a:gd name="adj" fmla="val 35714"/>
            </a:avLst>
          </a:prstGeom>
          <a:solidFill>
            <a:srgbClr val="FF7A1A"/>
          </a:solidFill>
          <a:ln/>
        </p:spPr>
        <p:txBody>
          <a:bodyPr wrap="square" lIns="0" tIns="0" rIns="0" bIns="0" rtlCol="0" anchor="ctr"/>
          <a:lstStyle/>
          <a:p>
            <a:pPr algn="ctr" indent="0" marL="0">
              <a:buNone/>
            </a:pPr>
            <a:r>
              <a:rPr lang="en-US" sz="2400" b="1" dirty="0">
                <a:solidFill>
                  <a:srgbClr val="0A0C10"/>
                </a:solidFill>
                <a:latin typeface="Calibri" pitchFamily="34" charset="0"/>
                <a:ea typeface="Calibri" pitchFamily="34" charset="-122"/>
                <a:cs typeface="Calibri" pitchFamily="34" charset="-120"/>
              </a:rPr>
              <a:t>A · B · C</a:t>
            </a:r>
            <a:endParaRPr lang="en-US" sz="2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par>
                                <p:cTn id="15" presetID="10" presetClass="entr" presetSubtype="0" fill="hold" nodeType="withEffect">
                                  <p:stCondLst>
                                    <p:cond delay="11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50"/>
                                        <p:tgtEl>
                                          <p:spTgt spid="7"/>
                                        </p:tgtEl>
                                      </p:cBhvr>
                                    </p:animEffect>
                                  </p:childTnLst>
                                </p:cTn>
                              </p:par>
                              <p:par>
                                <p:cTn id="18" presetID="10" presetClass="entr" presetSubtype="0" fill="hold" nodeType="withEffect">
                                  <p:stCondLst>
                                    <p:cond delay="165"/>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50"/>
                                        <p:tgtEl>
                                          <p:spTgt spid="8"/>
                                        </p:tgtEl>
                                      </p:cBhvr>
                                    </p:animEffect>
                                  </p:childTnLst>
                                </p:cTn>
                              </p:par>
                              <p:par>
                                <p:cTn id="21" presetID="10" presetClass="entr" presetSubtype="0" fill="hold" nodeType="withEffect">
                                  <p:stCondLst>
                                    <p:cond delay="22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50"/>
                                        <p:tgtEl>
                                          <p:spTgt spid="9"/>
                                        </p:tgtEl>
                                      </p:cBhvr>
                                    </p:animEffect>
                                  </p:childTnLst>
                                </p:cTn>
                              </p:par>
                              <p:par>
                                <p:cTn id="24" presetID="10" presetClass="entr" presetSubtype="0" fill="hold" nodeType="withEffect">
                                  <p:stCondLst>
                                    <p:cond delay="275"/>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50"/>
                                        <p:tgtEl>
                                          <p:spTgt spid="10"/>
                                        </p:tgtEl>
                                      </p:cBhvr>
                                    </p:animEffect>
                                  </p:childTnLst>
                                </p:cTn>
                              </p:par>
                              <p:par>
                                <p:cTn id="27" presetID="10" presetClass="entr" presetSubtype="0" fill="hold" nodeType="withEffect">
                                  <p:stCondLst>
                                    <p:cond delay="33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50"/>
                                        <p:tgtEl>
                                          <p:spTgt spid="11"/>
                                        </p:tgtEl>
                                      </p:cBhvr>
                                    </p:animEffect>
                                  </p:childTnLst>
                                </p:cTn>
                              </p:par>
                              <p:par>
                                <p:cTn id="30" presetID="42" presetClass="entr" presetSubtype="0" fill="hold" grpId="0" nodeType="withEffect">
                                  <p:stCondLst>
                                    <p:cond delay="385"/>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50"/>
                                        <p:tgtEl>
                                          <p:spTgt spid="16"/>
                                        </p:tgtEl>
                                      </p:cBhvr>
                                    </p:animEffect>
                                    <p:anim calcmode="lin" valueType="num">
                                      <p:cBhvr additive="base">
                                        <p:cTn id="33" dur="650" fill="hold" decel="100000"/>
                                        <p:tgtEl>
                                          <p:spTgt spid="16"/>
                                        </p:tgtEl>
                                        <p:attrNameLst>
                                          <p:attrName>ppt_x</p:attrName>
                                        </p:attrNameLst>
                                      </p:cBhvr>
                                      <p:tavLst>
                                        <p:tav tm="0">
                                          <p:val>
                                            <p:strVal val="#ppt_x"/>
                                          </p:val>
                                        </p:tav>
                                        <p:tav tm="100000">
                                          <p:val>
                                            <p:strVal val="#ppt_x"/>
                                          </p:val>
                                        </p:tav>
                                      </p:tavLst>
                                    </p:anim>
                                    <p:anim calcmode="lin" valueType="num">
                                      <p:cBhvr additive="base">
                                        <p:cTn id="34" dur="650" fill="hold" decel="100000"/>
                                        <p:tgtEl>
                                          <p:spTgt spid="16"/>
                                        </p:tgtEl>
                                        <p:attrNameLst>
                                          <p:attrName>ppt_y</p:attrName>
                                        </p:attrNameLst>
                                      </p:cBhvr>
                                      <p:tavLst>
                                        <p:tav tm="0">
                                          <p:val>
                                            <p:strVal val="#ppt_y+.05"/>
                                          </p:val>
                                        </p:tav>
                                        <p:tav tm="100000">
                                          <p:val>
                                            <p:strVal val="#ppt_y"/>
                                          </p:val>
                                        </p:tav>
                                      </p:tavLst>
                                    </p:anim>
                                  </p:childTnLst>
                                </p:cTn>
                              </p:par>
                              <p:par>
                                <p:cTn id="35" presetID="42" presetClass="entr" presetSubtype="0" fill="hold" grpId="0" nodeType="withEffect">
                                  <p:stCondLst>
                                    <p:cond delay="44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50"/>
                                        <p:tgtEl>
                                          <p:spTgt spid="17"/>
                                        </p:tgtEl>
                                      </p:cBhvr>
                                    </p:animEffect>
                                    <p:anim calcmode="lin" valueType="num">
                                      <p:cBhvr additive="base">
                                        <p:cTn id="38" dur="650" fill="hold" decel="100000"/>
                                        <p:tgtEl>
                                          <p:spTgt spid="17"/>
                                        </p:tgtEl>
                                        <p:attrNameLst>
                                          <p:attrName>ppt_x</p:attrName>
                                        </p:attrNameLst>
                                      </p:cBhvr>
                                      <p:tavLst>
                                        <p:tav tm="0">
                                          <p:val>
                                            <p:strVal val="#ppt_x"/>
                                          </p:val>
                                        </p:tav>
                                        <p:tav tm="100000">
                                          <p:val>
                                            <p:strVal val="#ppt_x"/>
                                          </p:val>
                                        </p:tav>
                                      </p:tavLst>
                                    </p:anim>
                                    <p:anim calcmode="lin" valueType="num">
                                      <p:cBhvr additive="base">
                                        <p:cTn id="39" dur="650" fill="hold" decel="100000"/>
                                        <p:tgtEl>
                                          <p:spTgt spid="17"/>
                                        </p:tgtEl>
                                        <p:attrNameLst>
                                          <p:attrName>ppt_y</p:attrName>
                                        </p:attrNameLst>
                                      </p:cBhvr>
                                      <p:tavLst>
                                        <p:tav tm="0">
                                          <p:val>
                                            <p:strVal val="#ppt_y+.05"/>
                                          </p:val>
                                        </p:tav>
                                        <p:tav tm="100000">
                                          <p:val>
                                            <p:strVal val="#ppt_y"/>
                                          </p:val>
                                        </p:tav>
                                      </p:tavLst>
                                    </p:anim>
                                  </p:childTnLst>
                                </p:cTn>
                              </p:par>
                              <p:par>
                                <p:cTn id="40" presetID="42" presetClass="entr" presetSubtype="0" fill="hold" grpId="0" nodeType="withEffect">
                                  <p:stCondLst>
                                    <p:cond delay="495"/>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650"/>
                                        <p:tgtEl>
                                          <p:spTgt spid="18"/>
                                        </p:tgtEl>
                                      </p:cBhvr>
                                    </p:animEffect>
                                    <p:anim calcmode="lin" valueType="num">
                                      <p:cBhvr additive="base">
                                        <p:cTn id="43" dur="650" fill="hold" decel="100000"/>
                                        <p:tgtEl>
                                          <p:spTgt spid="18"/>
                                        </p:tgtEl>
                                        <p:attrNameLst>
                                          <p:attrName>ppt_x</p:attrName>
                                        </p:attrNameLst>
                                      </p:cBhvr>
                                      <p:tavLst>
                                        <p:tav tm="0">
                                          <p:val>
                                            <p:strVal val="#ppt_x"/>
                                          </p:val>
                                        </p:tav>
                                        <p:tav tm="100000">
                                          <p:val>
                                            <p:strVal val="#ppt_x"/>
                                          </p:val>
                                        </p:tav>
                                      </p:tavLst>
                                    </p:anim>
                                    <p:anim calcmode="lin" valueType="num">
                                      <p:cBhvr additive="base">
                                        <p:cTn id="44" dur="650" fill="hold" decel="100000"/>
                                        <p:tgtEl>
                                          <p:spTgt spid="18"/>
                                        </p:tgtEl>
                                        <p:attrNameLst>
                                          <p:attrName>ppt_y</p:attrName>
                                        </p:attrNameLst>
                                      </p:cBhvr>
                                      <p:tavLst>
                                        <p:tav tm="0">
                                          <p:val>
                                            <p:strVal val="#ppt_y+.05"/>
                                          </p:val>
                                        </p:tav>
                                        <p:tav tm="100000">
                                          <p:val>
                                            <p:strVal val="#ppt_y"/>
                                          </p:val>
                                        </p:tav>
                                      </p:tavLst>
                                    </p:anim>
                                  </p:childTnLst>
                                </p:cTn>
                              </p:par>
                              <p:par>
                                <p:cTn id="45" presetID="10"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fade">
                                      <p:cBhvr>
                                        <p:cTn id="47" dur="150"/>
                                        <p:tgtEl>
                                          <p:spTgt spid="15"/>
                                        </p:tgtEl>
                                      </p:cBhvr>
                                    </p:animEffect>
                                  </p:childTnLst>
                                </p:cTn>
                              </p:par>
                              <p:par>
                                <p:cTn id="48" presetID="35" presetClass="emph" presetSubtype="0" fill="hold" nodeType="withEffect" repeatCount="indefinite">
                                  <p:stCondLst>
                                    <p:cond delay="0"/>
                                  </p:stCondLst>
                                  <p:childTnLst>
                                    <p:anim calcmode="discrete" valueType="str">
                                      <p:cBhvr override="childStyle">
                                        <p:cTn id="49" dur="700"/>
                                        <p:tgtEl>
                                          <p:spTgt spid="15"/>
                                        </p:tgtEl>
                                        <p:attrNameLst>
                                          <p:attrName>style.visibility</p:attrName>
                                        </p:attrNameLst>
                                      </p:cBhvr>
                                      <p:tavLst>
                                        <p:tav tm="0">
                                          <p:val>
                                            <p:strVal val="hidden"/>
                                          </p:val>
                                        </p:tav>
                                        <p:tav tm="50000">
                                          <p:val>
                                            <p:strVal val="visible"/>
                                          </p:val>
                                        </p:tav>
                                      </p:tavLst>
                                    </p:anim>
                                  </p:childTnLst>
                                </p:cTn>
                              </p:par>
                            </p:childTnLst>
                          </p:cTn>
                        </p:par>
                      </p:childTnLst>
                    </p:cTn>
                  </p:par>
                  <p:par>
                    <p:cTn id="50" fill="hold">
                      <p:stCondLst>
                        <p:cond delay="indefinite"/>
                      </p:stCondLst>
                      <p:childTnLst>
                        <p:par>
                          <p:cTn id="51" fill="hold">
                            <p:stCondLst>
                              <p:cond delay="0"/>
                            </p:stCondLst>
                            <p:childTnLst>
                              <p:par>
                                <p:cTn id="52" presetID="53" presetClass="entr" presetSubtype="32"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380" fill="hold" accel="60000"/>
                                        <p:tgtEl>
                                          <p:spTgt spid="19"/>
                                        </p:tgtEl>
                                        <p:attrNameLst>
                                          <p:attrName>ppt_w</p:attrName>
                                        </p:attrNameLst>
                                      </p:cBhvr>
                                      <p:tavLst>
                                        <p:tav tm="0">
                                          <p:val>
                                            <p:strVal val="#ppt_w*2.2"/>
                                          </p:val>
                                        </p:tav>
                                        <p:tav tm="100000">
                                          <p:val>
                                            <p:strVal val="#ppt_w"/>
                                          </p:val>
                                        </p:tav>
                                      </p:tavLst>
                                    </p:anim>
                                    <p:anim calcmode="lin" valueType="num">
                                      <p:cBhvr additive="base">
                                        <p:cTn id="55" dur="380" fill="hold" accel="60000"/>
                                        <p:tgtEl>
                                          <p:spTgt spid="19"/>
                                        </p:tgtEl>
                                        <p:attrNameLst>
                                          <p:attrName>ppt_h</p:attrName>
                                        </p:attrNameLst>
                                      </p:cBhvr>
                                      <p:tavLst>
                                        <p:tav tm="0">
                                          <p:val>
                                            <p:strVal val="#ppt_h*2.2"/>
                                          </p:val>
                                        </p:tav>
                                        <p:tav tm="100000">
                                          <p:val>
                                            <p:strVal val="#ppt_h"/>
                                          </p:val>
                                        </p:tav>
                                      </p:tavLst>
                                    </p:anim>
                                    <p:animEffect transition="in" filter="fade">
                                      <p:cBhvr>
                                        <p:cTn id="56" dur="228"/>
                                        <p:tgtEl>
                                          <p:spTgt spid="19"/>
                                        </p:tgtEl>
                                      </p:cBhvr>
                                    </p:animEffect>
                                  </p:childTnLst>
                                </p:cTn>
                              </p:par>
                            </p:childTnLst>
                          </p:cTn>
                        </p:par>
                        <p:par>
                          <p:cTn id="57" fill="hold">
                            <p:stCondLst>
                              <p:cond delay="380"/>
                            </p:stCondLst>
                            <p:childTnLst>
                              <p:par>
                                <p:cTn id="58" presetID="0" presetClass="path" presetSubtype="0" fill="hold" nodeType="afterEffect" accel="50000">
                                  <p:stCondLst>
                                    <p:cond delay="0"/>
                                  </p:stCondLst>
                                  <p:childTnLst>
                                    <p:animMotion origin="layout" path="M 0 0 C 0 -0.0439 0 -0.0878 0 -0.1317 E" pathEditMode="relative" rAng="0" ptsTypes="">
                                      <p:cBhvr>
                                        <p:cTn id="59" dur="581" fill="hold"/>
                                        <p:tgtEl>
                                          <p:spTgt spid="12"/>
                                        </p:tgtEl>
                                        <p:attrNameLst>
                                          <p:attrName>ppt_x</p:attrName>
                                          <p:attrName>ppt_y</p:attrName>
                                        </p:attrNameLst>
                                      </p:cBhvr>
                                      <p:rCtr x="0" y="0"/>
                                    </p:animMotion>
                                  </p:childTnLst>
                                </p:cTn>
                              </p:par>
                              <p:par>
                                <p:cTn id="60" presetID="0" presetClass="path" presetSubtype="0" fill="hold" nodeType="withEffect" accel="50000">
                                  <p:stCondLst>
                                    <p:cond delay="0"/>
                                  </p:stCondLst>
                                  <p:childTnLst>
                                    <p:animMotion origin="layout" path="M 0 0 C 0 -0.0439 0 -0.0878 0 -0.1317 E" pathEditMode="relative" rAng="0" ptsTypes="">
                                      <p:cBhvr>
                                        <p:cTn id="61" dur="581" fill="hold"/>
                                        <p:tgtEl>
                                          <p:spTgt spid="15"/>
                                        </p:tgtEl>
                                        <p:attrNameLst>
                                          <p:attrName>ppt_x</p:attrName>
                                          <p:attrName>ppt_y</p:attrName>
                                        </p:attrNameLst>
                                      </p:cBhvr>
                                      <p:rCtr x="0" y="0"/>
                                    </p:animMotion>
                                  </p:childTnLst>
                                </p:cTn>
                              </p:par>
                            </p:childTnLst>
                          </p:cTn>
                        </p:par>
                        <p:par>
                          <p:cTn id="62" fill="hold">
                            <p:stCondLst>
                              <p:cond delay="961"/>
                            </p:stCondLst>
                            <p:childTnLst>
                              <p:par>
                                <p:cTn id="63" presetID="0" presetClass="path" presetSubtype="0" fill="hold" nodeType="afterEffect">
                                  <p:stCondLst>
                                    <p:cond delay="0"/>
                                  </p:stCondLst>
                                  <p:childTnLst>
                                    <p:animMotion origin="layout" path="M 0 -0.1317 C 0 -0.2274 -0.0437 -0.305 -0.0975 -0.305 E" pathEditMode="relative" rAng="0" ptsTypes="">
                                      <p:cBhvr>
                                        <p:cTn id="64" dur="1201" fill="hold"/>
                                        <p:tgtEl>
                                          <p:spTgt spid="12"/>
                                        </p:tgtEl>
                                        <p:attrNameLst>
                                          <p:attrName>ppt_x</p:attrName>
                                          <p:attrName>ppt_y</p:attrName>
                                        </p:attrNameLst>
                                      </p:cBhvr>
                                      <p:rCtr x="0" y="0"/>
                                    </p:animMotion>
                                  </p:childTnLst>
                                </p:cTn>
                              </p:par>
                              <p:par>
                                <p:cTn id="65" presetID="8" presetClass="emph" presetSubtype="0" fill="hold" nodeType="withEffect">
                                  <p:stCondLst>
                                    <p:cond delay="0"/>
                                  </p:stCondLst>
                                  <p:childTnLst>
                                    <p:animRot by="-5400000">
                                      <p:cBhvr>
                                        <p:cTn id="66" dur="1201" fill="hold"/>
                                        <p:tgtEl>
                                          <p:spTgt spid="12"/>
                                        </p:tgtEl>
                                        <p:attrNameLst>
                                          <p:attrName>r</p:attrName>
                                        </p:attrNameLst>
                                      </p:cBhvr>
                                    </p:animRot>
                                  </p:childTnLst>
                                </p:cTn>
                              </p:par>
                              <p:par>
                                <p:cTn id="67" presetID="0" presetClass="path" presetSubtype="0" fill="hold" nodeType="withEffect">
                                  <p:stCondLst>
                                    <p:cond delay="0"/>
                                  </p:stCondLst>
                                  <p:childTnLst>
                                    <p:animMotion origin="layout" path="M 0 -0.1317 C 0 -0.2274 -0.0437 -0.305 -0.0975 -0.305 E" pathEditMode="relative" rAng="0" ptsTypes="">
                                      <p:cBhvr>
                                        <p:cTn id="68" dur="1201" fill="hold"/>
                                        <p:tgtEl>
                                          <p:spTgt spid="15"/>
                                        </p:tgtEl>
                                        <p:attrNameLst>
                                          <p:attrName>ppt_x</p:attrName>
                                          <p:attrName>ppt_y</p:attrName>
                                        </p:attrNameLst>
                                      </p:cBhvr>
                                      <p:rCtr x="0" y="0"/>
                                    </p:animMotion>
                                  </p:childTnLst>
                                </p:cTn>
                              </p:par>
                              <p:par>
                                <p:cTn id="69" presetID="8" presetClass="emph" presetSubtype="0" fill="hold" nodeType="withEffect">
                                  <p:stCondLst>
                                    <p:cond delay="0"/>
                                  </p:stCondLst>
                                  <p:childTnLst>
                                    <p:animRot by="-5400000">
                                      <p:cBhvr>
                                        <p:cTn id="70" dur="1201" fill="hold"/>
                                        <p:tgtEl>
                                          <p:spTgt spid="15"/>
                                        </p:tgtEl>
                                        <p:attrNameLst>
                                          <p:attrName>r</p:attrName>
                                        </p:attrNameLst>
                                      </p:cBhvr>
                                    </p:animRot>
                                  </p:childTnLst>
                                </p:cTn>
                              </p:par>
                            </p:childTnLst>
                          </p:cTn>
                        </p:par>
                        <p:par>
                          <p:cTn id="71" fill="hold">
                            <p:stCondLst>
                              <p:cond delay="2162"/>
                            </p:stCondLst>
                            <p:childTnLst>
                              <p:par>
                                <p:cTn id="72" presetID="0" presetClass="path" presetSubtype="0" fill="hold" nodeType="afterEffect" decel="50000">
                                  <p:stCondLst>
                                    <p:cond delay="0"/>
                                  </p:stCondLst>
                                  <p:childTnLst>
                                    <p:animMotion origin="layout" path="M -0.0975 -0.305 C -0.1375 -0.305 -0.1775 -0.305 -0.2175 -0.305 E" pathEditMode="relative" rAng="0" ptsTypes="">
                                      <p:cBhvr>
                                        <p:cTn id="73" dur="941" fill="hold"/>
                                        <p:tgtEl>
                                          <p:spTgt spid="12"/>
                                        </p:tgtEl>
                                        <p:attrNameLst>
                                          <p:attrName>ppt_x</p:attrName>
                                          <p:attrName>ppt_y</p:attrName>
                                        </p:attrNameLst>
                                      </p:cBhvr>
                                      <p:rCtr x="0" y="0"/>
                                    </p:animMotion>
                                  </p:childTnLst>
                                </p:cTn>
                              </p:par>
                              <p:par>
                                <p:cTn id="74" presetID="0" presetClass="path" presetSubtype="0" fill="hold" nodeType="withEffect" decel="50000">
                                  <p:stCondLst>
                                    <p:cond delay="0"/>
                                  </p:stCondLst>
                                  <p:childTnLst>
                                    <p:animMotion origin="layout" path="M -0.0975 -0.305 C -0.1375 -0.305 -0.1775 -0.305 -0.2175 -0.305 E" pathEditMode="relative" rAng="0" ptsTypes="">
                                      <p:cBhvr>
                                        <p:cTn id="75" dur="941" fill="hold"/>
                                        <p:tgtEl>
                                          <p:spTgt spid="15"/>
                                        </p:tgtEl>
                                        <p:attrNameLst>
                                          <p:attrName>ppt_x</p:attrName>
                                          <p:attrName>ppt_y</p:attrName>
                                        </p:attrNameLst>
                                      </p:cBhvr>
                                      <p:rCtr x="0" y="0"/>
                                    </p:animMotion>
                                  </p:childTnLst>
                                </p:cTn>
                              </p:par>
                            </p:childTnLst>
                          </p:cTn>
                        </p:par>
                        <p:par>
                          <p:cTn id="76" fill="hold">
                            <p:stCondLst>
                              <p:cond delay="3103"/>
                            </p:stCondLst>
                            <p:childTnLst>
                              <p:par>
                                <p:cTn id="77" presetID="10" presetClass="exit" presetSubtype="0" fill="hold" nodeType="afterEffect">
                                  <p:stCondLst>
                                    <p:cond delay="0"/>
                                  </p:stCondLst>
                                  <p:childTnLst>
                                    <p:animEffect transition="out" filter="fade">
                                      <p:cBhvr>
                                        <p:cTn id="78" dur="350"/>
                                        <p:tgtEl>
                                          <p:spTgt spid="12"/>
                                        </p:tgtEl>
                                      </p:cBhvr>
                                    </p:animEffect>
                                    <p:set>
                                      <p:cBhvr>
                                        <p:cTn id="79" dur="1" fill="hold">
                                          <p:stCondLst>
                                            <p:cond delay="349"/>
                                          </p:stCondLst>
                                        </p:cTn>
                                        <p:tgtEl>
                                          <p:spTgt spid="12"/>
                                        </p:tgtEl>
                                        <p:attrNameLst>
                                          <p:attrName>style.visibility</p:attrName>
                                        </p:attrNameLst>
                                      </p:cBhvr>
                                      <p:to>
                                        <p:strVal val="hidden"/>
                                      </p:to>
                                    </p:set>
                                  </p:childTnLst>
                                </p:cTn>
                              </p:par>
                              <p:par>
                                <p:cTn id="80" presetID="10" presetClass="exit" presetSubtype="0" fill="hold" nodeType="withEffect">
                                  <p:stCondLst>
                                    <p:cond delay="0"/>
                                  </p:stCondLst>
                                  <p:childTnLst>
                                    <p:animEffect transition="out" filter="fade">
                                      <p:cBhvr>
                                        <p:cTn id="81" dur="350"/>
                                        <p:tgtEl>
                                          <p:spTgt spid="15"/>
                                        </p:tgtEl>
                                      </p:cBhvr>
                                    </p:animEffect>
                                    <p:set>
                                      <p:cBhvr>
                                        <p:cTn id="82" dur="1" fill="hold">
                                          <p:stCondLst>
                                            <p:cond delay="349"/>
                                          </p:stCondLst>
                                        </p:cTn>
                                        <p:tgtEl>
                                          <p:spTgt spid="15"/>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53" presetClass="entr" presetSubtype="32" fill="hold" grpId="0" nodeType="clickEffect">
                                  <p:stCondLst>
                                    <p:cond delay="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380" fill="hold" accel="60000"/>
                                        <p:tgtEl>
                                          <p:spTgt spid="20"/>
                                        </p:tgtEl>
                                        <p:attrNameLst>
                                          <p:attrName>ppt_w</p:attrName>
                                        </p:attrNameLst>
                                      </p:cBhvr>
                                      <p:tavLst>
                                        <p:tav tm="0">
                                          <p:val>
                                            <p:strVal val="#ppt_w*2.2"/>
                                          </p:val>
                                        </p:tav>
                                        <p:tav tm="100000">
                                          <p:val>
                                            <p:strVal val="#ppt_w"/>
                                          </p:val>
                                        </p:tav>
                                      </p:tavLst>
                                    </p:anim>
                                    <p:anim calcmode="lin" valueType="num">
                                      <p:cBhvr additive="base">
                                        <p:cTn id="88" dur="380" fill="hold" accel="60000"/>
                                        <p:tgtEl>
                                          <p:spTgt spid="20"/>
                                        </p:tgtEl>
                                        <p:attrNameLst>
                                          <p:attrName>ppt_h</p:attrName>
                                        </p:attrNameLst>
                                      </p:cBhvr>
                                      <p:tavLst>
                                        <p:tav tm="0">
                                          <p:val>
                                            <p:strVal val="#ppt_h*2.2"/>
                                          </p:val>
                                        </p:tav>
                                        <p:tav tm="100000">
                                          <p:val>
                                            <p:strVal val="#ppt_h"/>
                                          </p:val>
                                        </p:tav>
                                      </p:tavLst>
                                    </p:anim>
                                    <p:animEffect transition="in" filter="fade">
                                      <p:cBhvr>
                                        <p:cTn id="89" dur="228"/>
                                        <p:tgtEl>
                                          <p:spTgt spid="20"/>
                                        </p:tgtEl>
                                      </p:cBhvr>
                                    </p:animEffect>
                                  </p:childTnLst>
                                </p:cTn>
                              </p:par>
                            </p:childTnLst>
                          </p:cTn>
                        </p:par>
                        <p:par>
                          <p:cTn id="90" fill="hold">
                            <p:stCondLst>
                              <p:cond delay="380"/>
                            </p:stCondLst>
                            <p:childTnLst>
                              <p:par>
                                <p:cTn id="91" presetID="0" presetClass="path" presetSubtype="0" fill="hold" nodeType="afterEffect" accel="40000" decel="40000">
                                  <p:stCondLst>
                                    <p:cond delay="0"/>
                                  </p:stCondLst>
                                  <p:childTnLst>
                                    <p:animMotion origin="layout" path="M 0 0 C 0 0.2222 0 0.4444 0 0.6667 E" pathEditMode="relative" rAng="0" ptsTypes="">
                                      <p:cBhvr>
                                        <p:cTn id="92" dur="2941" fill="hold"/>
                                        <p:tgtEl>
                                          <p:spTgt spid="13"/>
                                        </p:tgtEl>
                                        <p:attrNameLst>
                                          <p:attrName>ppt_x</p:attrName>
                                          <p:attrName>ppt_y</p:attrName>
                                        </p:attrNameLst>
                                      </p:cBhvr>
                                      <p:rCtr x="0" y="0"/>
                                    </p:animMotion>
                                  </p:childTnLst>
                                </p:cTn>
                              </p:par>
                            </p:childTnLst>
                          </p:cTn>
                        </p:par>
                        <p:par>
                          <p:cTn id="93" fill="hold">
                            <p:stCondLst>
                              <p:cond delay="3321"/>
                            </p:stCondLst>
                            <p:childTnLst>
                              <p:par>
                                <p:cTn id="94" presetID="10" presetClass="exit" presetSubtype="0" fill="hold" nodeType="afterEffect">
                                  <p:stCondLst>
                                    <p:cond delay="0"/>
                                  </p:stCondLst>
                                  <p:childTnLst>
                                    <p:animEffect transition="out" filter="fade">
                                      <p:cBhvr>
                                        <p:cTn id="95" dur="350"/>
                                        <p:tgtEl>
                                          <p:spTgt spid="13"/>
                                        </p:tgtEl>
                                      </p:cBhvr>
                                    </p:animEffect>
                                    <p:set>
                                      <p:cBhvr>
                                        <p:cTn id="96" dur="1" fill="hold">
                                          <p:stCondLst>
                                            <p:cond delay="349"/>
                                          </p:stCondLst>
                                        </p:cTn>
                                        <p:tgtEl>
                                          <p:spTgt spid="13"/>
                                        </p:tgtEl>
                                        <p:attrNameLst>
                                          <p:attrName>style.visibility</p:attrName>
                                        </p:attrNameLst>
                                      </p:cBhvr>
                                      <p:to>
                                        <p:strVal val="hidden"/>
                                      </p:to>
                                    </p:set>
                                  </p:childTnLst>
                                </p:cTn>
                              </p:par>
                            </p:childTnLst>
                          </p:cTn>
                        </p:par>
                      </p:childTnLst>
                    </p:cTn>
                  </p:par>
                  <p:par>
                    <p:cTn id="97" fill="hold">
                      <p:stCondLst>
                        <p:cond delay="indefinite"/>
                      </p:stCondLst>
                      <p:childTnLst>
                        <p:par>
                          <p:cTn id="98" fill="hold">
                            <p:stCondLst>
                              <p:cond delay="0"/>
                            </p:stCondLst>
                            <p:childTnLst>
                              <p:par>
                                <p:cTn id="99" presetID="53" presetClass="entr" presetSubtype="32"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 calcmode="lin" valueType="num">
                                      <p:cBhvr additive="base">
                                        <p:cTn id="101" dur="380" fill="hold" accel="60000"/>
                                        <p:tgtEl>
                                          <p:spTgt spid="21"/>
                                        </p:tgtEl>
                                        <p:attrNameLst>
                                          <p:attrName>ppt_w</p:attrName>
                                        </p:attrNameLst>
                                      </p:cBhvr>
                                      <p:tavLst>
                                        <p:tav tm="0">
                                          <p:val>
                                            <p:strVal val="#ppt_w*2.2"/>
                                          </p:val>
                                        </p:tav>
                                        <p:tav tm="100000">
                                          <p:val>
                                            <p:strVal val="#ppt_w"/>
                                          </p:val>
                                        </p:tav>
                                      </p:tavLst>
                                    </p:anim>
                                    <p:anim calcmode="lin" valueType="num">
                                      <p:cBhvr additive="base">
                                        <p:cTn id="102" dur="380" fill="hold" accel="60000"/>
                                        <p:tgtEl>
                                          <p:spTgt spid="21"/>
                                        </p:tgtEl>
                                        <p:attrNameLst>
                                          <p:attrName>ppt_h</p:attrName>
                                        </p:attrNameLst>
                                      </p:cBhvr>
                                      <p:tavLst>
                                        <p:tav tm="0">
                                          <p:val>
                                            <p:strVal val="#ppt_h*2.2"/>
                                          </p:val>
                                        </p:tav>
                                        <p:tav tm="100000">
                                          <p:val>
                                            <p:strVal val="#ppt_h"/>
                                          </p:val>
                                        </p:tav>
                                      </p:tavLst>
                                    </p:anim>
                                    <p:animEffect transition="in" filter="fade">
                                      <p:cBhvr>
                                        <p:cTn id="103" dur="228"/>
                                        <p:tgtEl>
                                          <p:spTgt spid="21"/>
                                        </p:tgtEl>
                                      </p:cBhvr>
                                    </p:animEffect>
                                  </p:childTnLst>
                                </p:cTn>
                              </p:par>
                            </p:childTnLst>
                          </p:cTn>
                        </p:par>
                        <p:par>
                          <p:cTn id="104" fill="hold">
                            <p:stCondLst>
                              <p:cond delay="380"/>
                            </p:stCondLst>
                            <p:childTnLst>
                              <p:par>
                                <p:cTn id="105" presetID="0" presetClass="path" presetSubtype="0" fill="hold" nodeType="afterEffect" accel="40000" decel="40000">
                                  <p:stCondLst>
                                    <p:cond delay="0"/>
                                  </p:stCondLst>
                                  <p:childTnLst>
                                    <p:animMotion origin="layout" path="M 0 0 C -0.09 0 -0.18 0 -0.27 0 E" pathEditMode="relative" rAng="0" ptsTypes="">
                                      <p:cBhvr>
                                        <p:cTn id="106" dur="2118" fill="hold"/>
                                        <p:tgtEl>
                                          <p:spTgt spid="14"/>
                                        </p:tgtEl>
                                        <p:attrNameLst>
                                          <p:attrName>ppt_x</p:attrName>
                                          <p:attrName>ppt_y</p:attrName>
                                        </p:attrNameLst>
                                      </p:cBhvr>
                                      <p:rCtr x="0" y="0"/>
                                    </p:animMotion>
                                  </p:childTnLst>
                                </p:cTn>
                              </p:par>
                            </p:childTnLst>
                          </p:cTn>
                        </p:par>
                        <p:par>
                          <p:cTn id="107" fill="hold">
                            <p:stCondLst>
                              <p:cond delay="2498"/>
                            </p:stCondLst>
                            <p:childTnLst>
                              <p:par>
                                <p:cTn id="108" presetID="10" presetClass="exit" presetSubtype="0" fill="hold" nodeType="afterEffect">
                                  <p:stCondLst>
                                    <p:cond delay="0"/>
                                  </p:stCondLst>
                                  <p:childTnLst>
                                    <p:animEffect transition="out" filter="fade">
                                      <p:cBhvr>
                                        <p:cTn id="109" dur="350"/>
                                        <p:tgtEl>
                                          <p:spTgt spid="14"/>
                                        </p:tgtEl>
                                      </p:cBhvr>
                                    </p:animEffect>
                                    <p:set>
                                      <p:cBhvr>
                                        <p:cTn id="110" dur="1" fill="hold">
                                          <p:stCondLst>
                                            <p:cond delay="349"/>
                                          </p:stCondLst>
                                        </p:cTn>
                                        <p:tgtEl>
                                          <p:spTgt spid="14"/>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600"/>
                                        <p:tgtEl>
                                          <p:spTgt spid="22"/>
                                        </p:tgtEl>
                                      </p:cBhvr>
                                    </p:animEffect>
                                    <p:anim calcmode="lin" valueType="num">
                                      <p:cBhvr additive="base">
                                        <p:cTn id="116" dur="600" fill="hold" decel="100000"/>
                                        <p:tgtEl>
                                          <p:spTgt spid="22"/>
                                        </p:tgtEl>
                                        <p:attrNameLst>
                                          <p:attrName>ppt_x</p:attrName>
                                        </p:attrNameLst>
                                      </p:cBhvr>
                                      <p:tavLst>
                                        <p:tav tm="0">
                                          <p:val>
                                            <p:strVal val="#ppt_x"/>
                                          </p:val>
                                        </p:tav>
                                        <p:tav tm="100000">
                                          <p:val>
                                            <p:strVal val="#ppt_x"/>
                                          </p:val>
                                        </p:tav>
                                      </p:tavLst>
                                    </p:anim>
                                    <p:anim calcmode="lin" valueType="num">
                                      <p:cBhvr additive="base">
                                        <p:cTn id="117" dur="600" fill="hold" decel="100000"/>
                                        <p:tgtEl>
                                          <p:spTgt spid="22"/>
                                        </p:tgtEl>
                                        <p:attrNameLst>
                                          <p:attrName>ppt_y</p:attrName>
                                        </p:attrNameLst>
                                      </p:cBhvr>
                                      <p:tavLst>
                                        <p:tav tm="0">
                                          <p:val>
                                            <p:strVal val="#ppt_y+.18"/>
                                          </p:val>
                                        </p:tav>
                                        <p:tav tm="100000">
                                          <p:val>
                                            <p:strVal val="#ppt_y"/>
                                          </p:val>
                                        </p:tav>
                                      </p:tavLst>
                                    </p:anim>
                                  </p:childTnLst>
                                </p:cTn>
                              </p:par>
                            </p:childTnLst>
                          </p:cTn>
                        </p:par>
                        <p:par>
                          <p:cTn id="118" fill="hold">
                            <p:stCondLst>
                              <p:cond delay="600"/>
                            </p:stCondLst>
                            <p:childTnLst>
                              <p:par>
                                <p:cTn id="119" presetID="53" presetClass="entr" presetSubtype="32" fill="hold" grpId="0" nodeType="afterEffect">
                                  <p:stCondLst>
                                    <p:cond delay="0"/>
                                  </p:stCondLst>
                                  <p:childTnLst>
                                    <p:set>
                                      <p:cBhvr>
                                        <p:cTn id="120" dur="1" fill="hold">
                                          <p:stCondLst>
                                            <p:cond delay="0"/>
                                          </p:stCondLst>
                                        </p:cTn>
                                        <p:tgtEl>
                                          <p:spTgt spid="23"/>
                                        </p:tgtEl>
                                        <p:attrNameLst>
                                          <p:attrName>style.visibility</p:attrName>
                                        </p:attrNameLst>
                                      </p:cBhvr>
                                      <p:to>
                                        <p:strVal val="visible"/>
                                      </p:to>
                                    </p:set>
                                    <p:anim calcmode="lin" valueType="num">
                                      <p:cBhvr additive="base">
                                        <p:cTn id="121" dur="380" fill="hold" accel="60000"/>
                                        <p:tgtEl>
                                          <p:spTgt spid="23"/>
                                        </p:tgtEl>
                                        <p:attrNameLst>
                                          <p:attrName>ppt_w</p:attrName>
                                        </p:attrNameLst>
                                      </p:cBhvr>
                                      <p:tavLst>
                                        <p:tav tm="0">
                                          <p:val>
                                            <p:strVal val="#ppt_w*2.2"/>
                                          </p:val>
                                        </p:tav>
                                        <p:tav tm="100000">
                                          <p:val>
                                            <p:strVal val="#ppt_w"/>
                                          </p:val>
                                        </p:tav>
                                      </p:tavLst>
                                    </p:anim>
                                    <p:anim calcmode="lin" valueType="num">
                                      <p:cBhvr additive="base">
                                        <p:cTn id="122" dur="380" fill="hold" accel="60000"/>
                                        <p:tgtEl>
                                          <p:spTgt spid="23"/>
                                        </p:tgtEl>
                                        <p:attrNameLst>
                                          <p:attrName>ppt_h</p:attrName>
                                        </p:attrNameLst>
                                      </p:cBhvr>
                                      <p:tavLst>
                                        <p:tav tm="0">
                                          <p:val>
                                            <p:strVal val="#ppt_h*2.2"/>
                                          </p:val>
                                        </p:tav>
                                        <p:tav tm="100000">
                                          <p:val>
                                            <p:strVal val="#ppt_h"/>
                                          </p:val>
                                        </p:tav>
                                      </p:tavLst>
                                    </p:anim>
                                    <p:animEffect transition="in" filter="fade">
                                      <p:cBhvr>
                                        <p:cTn id="123" dur="228"/>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ft"/>
          <p:cNvSpPr txBox="1"/>
          <p:nvPr/>
        </p:nvSpPr>
        <p:spPr>
          <a:xfrm>
            <a:off x="9174175" y="292608"/>
            <a:ext cx="2560320" cy="228600"/>
          </a:xfrm>
          <a:prstGeom prst="rect">
            <a:avLst/>
          </a:prstGeom>
          <a:noFill/>
          <a:ln/>
        </p:spPr>
        <p:txBody>
          <a:bodyPr wrap="square" lIns="0" tIns="0" rIns="0" bIns="0" rtlCol="0" anchor="t"/>
          <a:lstStyle/>
          <a:p>
            <a:pPr algn="r" indent="0" marL="0">
              <a:buNone/>
            </a:pPr>
            <a:r>
              <a:rPr lang="en-US" sz="1000" b="1" spc="300" kern="0" dirty="0">
                <a:solidFill>
                  <a:srgbClr val="6E7888"/>
                </a:solidFill>
                <a:latin typeface="Calibri" pitchFamily="34" charset="0"/>
                <a:ea typeface="Calibri" pitchFamily="34" charset="-122"/>
                <a:cs typeface="Calibri" pitchFamily="34" charset="-120"/>
              </a:rPr>
              <a:t>FAHRLEHRER SERBAND</a:t>
            </a:r>
            <a:endParaRPr lang="en-US" sz="1000" dirty="0"/>
          </a:p>
        </p:txBody>
      </p:sp>
      <p:sp>
        <p:nvSpPr>
          <p:cNvPr id="5" name="e53_1"/>
          <p:cNvSpPr txBox="1"/>
          <p:nvPr/>
        </p:nvSpPr>
        <p:spPr>
          <a:xfrm>
            <a:off x="731520" y="822960"/>
            <a:ext cx="8229600" cy="320040"/>
          </a:xfrm>
          <a:prstGeom prst="rect">
            <a:avLst/>
          </a:prstGeom>
          <a:noFill/>
          <a:ln/>
        </p:spPr>
        <p:txBody>
          <a:bodyPr wrap="square" lIns="0" tIns="0" rIns="0" bIns="0" rtlCol="0" anchor="t"/>
          <a:lstStyle/>
          <a:p>
            <a:pPr algn="l" indent="0" marL="0">
              <a:buNone/>
            </a:pPr>
            <a:r>
              <a:rPr lang="en-US" sz="1300" b="1" spc="500" kern="0" dirty="0">
                <a:solidFill>
                  <a:srgbClr val="FF7A1A"/>
                </a:solidFill>
                <a:latin typeface="Calibri" pitchFamily="34" charset="0"/>
                <a:ea typeface="Calibri" pitchFamily="34" charset="-122"/>
                <a:cs typeface="Calibri" pitchFamily="34" charset="-120"/>
              </a:rPr>
              <a:t>ZUM MITNEHMEN</a:t>
            </a:r>
            <a:endParaRPr lang="en-US" sz="1300" dirty="0"/>
          </a:p>
        </p:txBody>
      </p:sp>
      <p:sp>
        <p:nvSpPr>
          <p:cNvPr id="6" name="e53_2"/>
          <p:cNvSpPr txBox="1"/>
          <p:nvPr/>
        </p:nvSpPr>
        <p:spPr>
          <a:xfrm>
            <a:off x="685800" y="1188720"/>
            <a:ext cx="10972800" cy="914400"/>
          </a:xfrm>
          <a:prstGeom prst="rect">
            <a:avLst/>
          </a:prstGeom>
          <a:noFill/>
          <a:ln/>
        </p:spPr>
        <p:txBody>
          <a:bodyPr wrap="square" lIns="0" tIns="0" rIns="0" bIns="0" rtlCol="0" anchor="t"/>
          <a:lstStyle/>
          <a:p>
            <a:pPr algn="l" indent="0" marL="0">
              <a:lnSpc>
                <a:spcPct val="95000"/>
              </a:lnSpc>
              <a:buNone/>
            </a:pPr>
            <a:r>
              <a:rPr lang="en-US" sz="4400" b="1" dirty="0">
                <a:solidFill>
                  <a:srgbClr val="F5F2EC"/>
                </a:solidFill>
                <a:latin typeface="Cambria" pitchFamily="34" charset="0"/>
                <a:ea typeface="Cambria" pitchFamily="34" charset="-122"/>
                <a:cs typeface="Cambria" pitchFamily="34" charset="-120"/>
              </a:rPr>
              <a:t>Sechs Sätze für die Kreuzung</a:t>
            </a:r>
            <a:endParaRPr lang="en-US" sz="4400" dirty="0"/>
          </a:p>
        </p:txBody>
      </p:sp>
      <p:sp>
        <p:nvSpPr>
          <p:cNvPr id="7" name="e53_3"/>
          <p:cNvSpPr/>
          <p:nvPr/>
        </p:nvSpPr>
        <p:spPr>
          <a:xfrm>
            <a:off x="7315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8" name="e53_4" descr="preencoded.png">    </p:cNvPr>
          <p:cNvPicPr>
            <a:picLocks noChangeAspect="1"/>
          </p:cNvPicPr>
          <p:nvPr/>
        </p:nvPicPr>
        <p:blipFill>
          <a:blip r:embed="rId2"/>
          <a:stretch>
            <a:fillRect/>
          </a:stretch>
        </p:blipFill>
        <p:spPr>
          <a:xfrm>
            <a:off x="1005840" y="2578608"/>
            <a:ext cx="512064" cy="512064"/>
          </a:xfrm>
          <a:prstGeom prst="rect">
            <a:avLst/>
          </a:prstGeom>
        </p:spPr>
      </p:pic>
      <p:sp>
        <p:nvSpPr>
          <p:cNvPr id="9" name="e53_5"/>
          <p:cNvSpPr txBox="1"/>
          <p:nvPr/>
        </p:nvSpPr>
        <p:spPr>
          <a:xfrm>
            <a:off x="17373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Polizei › Ampel › Schild › rechts vor links.</a:t>
            </a:r>
            <a:endParaRPr lang="en-US" sz="1900" dirty="0"/>
          </a:p>
        </p:txBody>
      </p:sp>
      <p:sp>
        <p:nvSpPr>
          <p:cNvPr id="10" name="e53_6"/>
          <p:cNvSpPr/>
          <p:nvPr/>
        </p:nvSpPr>
        <p:spPr>
          <a:xfrm>
            <a:off x="6217920" y="233172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1" name="e53_7" descr="preencoded.png">    </p:cNvPr>
          <p:cNvPicPr>
            <a:picLocks noChangeAspect="1"/>
          </p:cNvPicPr>
          <p:nvPr/>
        </p:nvPicPr>
        <p:blipFill>
          <a:blip r:embed="rId3"/>
          <a:stretch>
            <a:fillRect/>
          </a:stretch>
        </p:blipFill>
        <p:spPr>
          <a:xfrm>
            <a:off x="6492240" y="2578608"/>
            <a:ext cx="512064" cy="512064"/>
          </a:xfrm>
          <a:prstGeom prst="rect">
            <a:avLst/>
          </a:prstGeom>
        </p:spPr>
      </p:pic>
      <p:sp>
        <p:nvSpPr>
          <p:cNvPr id="12" name="e53_8"/>
          <p:cNvSpPr txBox="1"/>
          <p:nvPr/>
        </p:nvSpPr>
        <p:spPr>
          <a:xfrm>
            <a:off x="7223760" y="240487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Rechts vor links gilt, wenn nichts anderes geregelt ist.</a:t>
            </a:r>
            <a:endParaRPr lang="en-US" sz="1900" dirty="0"/>
          </a:p>
        </p:txBody>
      </p:sp>
      <p:sp>
        <p:nvSpPr>
          <p:cNvPr id="13" name="e53_9"/>
          <p:cNvSpPr/>
          <p:nvPr/>
        </p:nvSpPr>
        <p:spPr>
          <a:xfrm>
            <a:off x="7315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4" name="e53_10" descr="preencoded.png">    </p:cNvPr>
          <p:cNvPicPr>
            <a:picLocks noChangeAspect="1"/>
          </p:cNvPicPr>
          <p:nvPr/>
        </p:nvPicPr>
        <p:blipFill>
          <a:blip r:embed="rId4"/>
          <a:stretch>
            <a:fillRect/>
          </a:stretch>
        </p:blipFill>
        <p:spPr>
          <a:xfrm>
            <a:off x="1005840" y="3767328"/>
            <a:ext cx="512064" cy="512064"/>
          </a:xfrm>
          <a:prstGeom prst="rect">
            <a:avLst/>
          </a:prstGeom>
        </p:spPr>
      </p:pic>
      <p:sp>
        <p:nvSpPr>
          <p:cNvPr id="15" name="e53_11"/>
          <p:cNvSpPr txBox="1"/>
          <p:nvPr/>
        </p:nvSpPr>
        <p:spPr>
          <a:xfrm>
            <a:off x="17373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Wer einfährt, lässt alle vor und blinkt.</a:t>
            </a:r>
            <a:endParaRPr lang="en-US" sz="1900" dirty="0"/>
          </a:p>
        </p:txBody>
      </p:sp>
      <p:sp>
        <p:nvSpPr>
          <p:cNvPr id="16" name="e53_12"/>
          <p:cNvSpPr/>
          <p:nvPr/>
        </p:nvSpPr>
        <p:spPr>
          <a:xfrm>
            <a:off x="6217920" y="352044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17" name="e53_13" descr="preencoded.png">    </p:cNvPr>
          <p:cNvPicPr>
            <a:picLocks noChangeAspect="1"/>
          </p:cNvPicPr>
          <p:nvPr/>
        </p:nvPicPr>
        <p:blipFill>
          <a:blip r:embed="rId5"/>
          <a:stretch>
            <a:fillRect/>
          </a:stretch>
        </p:blipFill>
        <p:spPr>
          <a:xfrm>
            <a:off x="6492240" y="3767328"/>
            <a:ext cx="512064" cy="512064"/>
          </a:xfrm>
          <a:prstGeom prst="rect">
            <a:avLst/>
          </a:prstGeom>
        </p:spPr>
      </p:pic>
      <p:sp>
        <p:nvSpPr>
          <p:cNvPr id="18" name="e53_14"/>
          <p:cNvSpPr txBox="1"/>
          <p:nvPr/>
        </p:nvSpPr>
        <p:spPr>
          <a:xfrm>
            <a:off x="7223760" y="359359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Abknickende Vorfahrt: Wer dem Knick folgt, blinkt.</a:t>
            </a:r>
            <a:endParaRPr lang="en-US" sz="1900" dirty="0"/>
          </a:p>
        </p:txBody>
      </p:sp>
      <p:sp>
        <p:nvSpPr>
          <p:cNvPr id="19" name="e53_15"/>
          <p:cNvSpPr/>
          <p:nvPr/>
        </p:nvSpPr>
        <p:spPr>
          <a:xfrm>
            <a:off x="7315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0" name="e53_16" descr="preencoded.png">    </p:cNvPr>
          <p:cNvPicPr>
            <a:picLocks noChangeAspect="1"/>
          </p:cNvPicPr>
          <p:nvPr/>
        </p:nvPicPr>
        <p:blipFill>
          <a:blip r:embed="rId6"/>
          <a:stretch>
            <a:fillRect/>
          </a:stretch>
        </p:blipFill>
        <p:spPr>
          <a:xfrm>
            <a:off x="1005840" y="4956048"/>
            <a:ext cx="512064" cy="512064"/>
          </a:xfrm>
          <a:prstGeom prst="rect">
            <a:avLst/>
          </a:prstGeom>
        </p:spPr>
      </p:pic>
      <p:sp>
        <p:nvSpPr>
          <p:cNvPr id="21" name="e53_17"/>
          <p:cNvSpPr txBox="1"/>
          <p:nvPr/>
        </p:nvSpPr>
        <p:spPr>
          <a:xfrm>
            <a:off x="17373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Kreisverkehr: rein ohne, raus mit Blinker.</a:t>
            </a:r>
            <a:endParaRPr lang="en-US" sz="1900" dirty="0"/>
          </a:p>
        </p:txBody>
      </p:sp>
      <p:sp>
        <p:nvSpPr>
          <p:cNvPr id="22" name="e53_18"/>
          <p:cNvSpPr/>
          <p:nvPr/>
        </p:nvSpPr>
        <p:spPr>
          <a:xfrm>
            <a:off x="6217920" y="4709160"/>
            <a:ext cx="5212080" cy="1005840"/>
          </a:xfrm>
          <a:prstGeom prst="roundRect">
            <a:avLst>
              <a:gd name="adj" fmla="val 12727"/>
            </a:avLst>
          </a:prstGeom>
          <a:solidFill>
            <a:srgbClr val="12161E"/>
          </a:solidFill>
          <a:ln w="12700">
            <a:solidFill>
              <a:srgbClr val="3A4455"/>
            </a:solidFill>
            <a:prstDash val="solid"/>
          </a:ln>
          <a:effectLst>
            <a:outerShdw sx="100000" sy="100000" kx="0" ky="0" algn="bl" rotWithShape="0" blurRad="228600" dist="50800" dir="5400000">
              <a:srgbClr val="000000">
                <a:alpha val="55000"/>
              </a:srgbClr>
            </a:outerShdw>
          </a:effectLst>
        </p:spPr>
      </p:sp>
      <p:pic>
        <p:nvPicPr>
          <p:cNvPr id="23" name="e53_19" descr="preencoded.png">    </p:cNvPr>
          <p:cNvPicPr>
            <a:picLocks noChangeAspect="1"/>
          </p:cNvPicPr>
          <p:nvPr/>
        </p:nvPicPr>
        <p:blipFill>
          <a:blip r:embed="rId7"/>
          <a:stretch>
            <a:fillRect/>
          </a:stretch>
        </p:blipFill>
        <p:spPr>
          <a:xfrm>
            <a:off x="6492240" y="4956048"/>
            <a:ext cx="512064" cy="512064"/>
          </a:xfrm>
          <a:prstGeom prst="rect">
            <a:avLst/>
          </a:prstGeom>
        </p:spPr>
      </p:pic>
      <p:sp>
        <p:nvSpPr>
          <p:cNvPr id="24" name="e53_20"/>
          <p:cNvSpPr txBox="1"/>
          <p:nvPr/>
        </p:nvSpPr>
        <p:spPr>
          <a:xfrm>
            <a:off x="7223760" y="4782312"/>
            <a:ext cx="4069080" cy="859536"/>
          </a:xfrm>
          <a:prstGeom prst="rect">
            <a:avLst/>
          </a:prstGeom>
          <a:noFill/>
          <a:ln/>
        </p:spPr>
        <p:txBody>
          <a:bodyPr wrap="square" lIns="0" tIns="0" rIns="0" bIns="0" rtlCol="0" anchor="ctr"/>
          <a:lstStyle/>
          <a:p>
            <a:pPr algn="l" indent="0" marL="0">
              <a:buNone/>
            </a:pPr>
            <a:r>
              <a:rPr lang="en-US" sz="1900" b="1" dirty="0">
                <a:solidFill>
                  <a:srgbClr val="F5F2EC"/>
                </a:solidFill>
                <a:latin typeface="Calibri" pitchFamily="34" charset="0"/>
                <a:ea typeface="Calibri" pitchFamily="34" charset="-122"/>
                <a:cs typeface="Calibri" pitchFamily="34" charset="-120"/>
              </a:rPr>
              <a:t>Grünpfeil: erst anhalten, dann alle mit Grün vorlassen.</a:t>
            </a:r>
            <a:endParaRPr lang="en-US" sz="19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50"/>
                                        <p:tgtEl>
                                          <p:spTgt spid="5"/>
                                        </p:tgtEl>
                                      </p:cBhvr>
                                    </p:animEffect>
                                    <p:anim calcmode="lin" valueType="num">
                                      <p:cBhvr additive="base">
                                        <p:cTn id="8" dur="650" fill="hold" decel="100000"/>
                                        <p:tgtEl>
                                          <p:spTgt spid="5"/>
                                        </p:tgtEl>
                                        <p:attrNameLst>
                                          <p:attrName>ppt_x</p:attrName>
                                        </p:attrNameLst>
                                      </p:cBhvr>
                                      <p:tavLst>
                                        <p:tav tm="0">
                                          <p:val>
                                            <p:strVal val="#ppt_x"/>
                                          </p:val>
                                        </p:tav>
                                        <p:tav tm="100000">
                                          <p:val>
                                            <p:strVal val="#ppt_x"/>
                                          </p:val>
                                        </p:tav>
                                      </p:tavLst>
                                    </p:anim>
                                    <p:anim calcmode="lin" valueType="num">
                                      <p:cBhvr additive="base">
                                        <p:cTn id="9" dur="650" fill="hold" decel="100000"/>
                                        <p:tgtEl>
                                          <p:spTgt spid="5"/>
                                        </p:tgtEl>
                                        <p:attrNameLst>
                                          <p:attrName>ppt_y</p:attrName>
                                        </p:attrNameLst>
                                      </p:cBhvr>
                                      <p:tavLst>
                                        <p:tav tm="0">
                                          <p:val>
                                            <p:strVal val="#ppt_y+.05"/>
                                          </p:val>
                                        </p:tav>
                                        <p:tav tm="100000">
                                          <p:val>
                                            <p:strVal val="#ppt_y"/>
                                          </p:val>
                                        </p:tav>
                                      </p:tavLst>
                                    </p:anim>
                                  </p:childTnLst>
                                </p:cTn>
                              </p:par>
                              <p:par>
                                <p:cTn id="10" presetID="42" presetClass="entr" presetSubtype="0" fill="hold" grpId="0" nodeType="withEffect">
                                  <p:stCondLst>
                                    <p:cond delay="55"/>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650"/>
                                        <p:tgtEl>
                                          <p:spTgt spid="6"/>
                                        </p:tgtEl>
                                      </p:cBhvr>
                                    </p:animEffect>
                                    <p:anim calcmode="lin" valueType="num">
                                      <p:cBhvr additive="base">
                                        <p:cTn id="13" dur="650" fill="hold" decel="100000"/>
                                        <p:tgtEl>
                                          <p:spTgt spid="6"/>
                                        </p:tgtEl>
                                        <p:attrNameLst>
                                          <p:attrName>ppt_x</p:attrName>
                                        </p:attrNameLst>
                                      </p:cBhvr>
                                      <p:tavLst>
                                        <p:tav tm="0">
                                          <p:val>
                                            <p:strVal val="#ppt_x"/>
                                          </p:val>
                                        </p:tav>
                                        <p:tav tm="100000">
                                          <p:val>
                                            <p:strVal val="#ppt_x"/>
                                          </p:val>
                                        </p:tav>
                                      </p:tavLst>
                                    </p:anim>
                                    <p:anim calcmode="lin" valueType="num">
                                      <p:cBhvr additive="base">
                                        <p:cTn id="14" dur="650" fill="hold" decel="100000"/>
                                        <p:tgtEl>
                                          <p:spTgt spid="6"/>
                                        </p:tgtEl>
                                        <p:attrNameLst>
                                          <p:attrName>ppt_y</p:attrName>
                                        </p:attrNameLst>
                                      </p:cBhvr>
                                      <p:tavLst>
                                        <p:tav tm="0">
                                          <p:val>
                                            <p:strVal val="#ppt_y+.05"/>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additive="base">
                                        <p:cTn id="20" dur="500" fill="hold" decel="100000"/>
                                        <p:tgtEl>
                                          <p:spTgt spid="7"/>
                                        </p:tgtEl>
                                        <p:attrNameLst>
                                          <p:attrName>ppt_x</p:attrName>
                                        </p:attrNameLst>
                                      </p:cBhvr>
                                      <p:tavLst>
                                        <p:tav tm="0">
                                          <p:val>
                                            <p:strVal val="#ppt_x"/>
                                          </p:val>
                                        </p:tav>
                                        <p:tav tm="100000">
                                          <p:val>
                                            <p:strVal val="#ppt_x"/>
                                          </p:val>
                                        </p:tav>
                                      </p:tavLst>
                                    </p:anim>
                                    <p:anim calcmode="lin" valueType="num">
                                      <p:cBhvr additive="base">
                                        <p:cTn id="21" dur="500" fill="hold" decel="100000"/>
                                        <p:tgtEl>
                                          <p:spTgt spid="7"/>
                                        </p:tgtEl>
                                        <p:attrNameLst>
                                          <p:attrName>ppt_y</p:attrName>
                                        </p:attrNameLst>
                                      </p:cBhvr>
                                      <p:tavLst>
                                        <p:tav tm="0">
                                          <p:val>
                                            <p:strVal val="#ppt_y+.18"/>
                                          </p:val>
                                        </p:tav>
                                        <p:tav tm="100000">
                                          <p:val>
                                            <p:strVal val="#ppt_y"/>
                                          </p:val>
                                        </p:tav>
                                      </p:tavLst>
                                    </p:anim>
                                  </p:childTnLst>
                                </p:cTn>
                              </p:par>
                              <p:par>
                                <p:cTn id="22" presetID="53" presetClass="entr" presetSubtype="16"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300" fill="hold" decel="100000"/>
                                        <p:tgtEl>
                                          <p:spTgt spid="8"/>
                                        </p:tgtEl>
                                        <p:attrNameLst>
                                          <p:attrName>ppt_w</p:attrName>
                                        </p:attrNameLst>
                                      </p:cBhvr>
                                      <p:tavLst>
                                        <p:tav tm="0">
                                          <p:val>
                                            <p:strVal val="0"/>
                                          </p:val>
                                        </p:tav>
                                        <p:tav tm="100000">
                                          <p:val>
                                            <p:strVal val="#ppt_w"/>
                                          </p:val>
                                        </p:tav>
                                      </p:tavLst>
                                    </p:anim>
                                    <p:anim calcmode="lin" valueType="num">
                                      <p:cBhvr additive="base">
                                        <p:cTn id="25" dur="300" fill="hold" decel="100000"/>
                                        <p:tgtEl>
                                          <p:spTgt spid="8"/>
                                        </p:tgtEl>
                                        <p:attrNameLst>
                                          <p:attrName>ppt_h</p:attrName>
                                        </p:attrNameLst>
                                      </p:cBhvr>
                                      <p:tavLst>
                                        <p:tav tm="0">
                                          <p:val>
                                            <p:strVal val="0"/>
                                          </p:val>
                                        </p:tav>
                                        <p:tav tm="100000">
                                          <p:val>
                                            <p:strVal val="#ppt_h"/>
                                          </p:val>
                                        </p:tav>
                                      </p:tavLst>
                                    </p:anim>
                                    <p:animEffect transition="in" filter="fade">
                                      <p:cBhvr>
                                        <p:cTn id="26" dur="300"/>
                                        <p:tgtEl>
                                          <p:spTgt spid="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3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anim calcmode="lin" valueType="num">
                                      <p:cBhvr additive="base">
                                        <p:cTn id="35"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36" dur="500" fill="hold" decel="100000"/>
                                        <p:tgtEl>
                                          <p:spTgt spid="10"/>
                                        </p:tgtEl>
                                        <p:attrNameLst>
                                          <p:attrName>ppt_y</p:attrName>
                                        </p:attrNameLst>
                                      </p:cBhvr>
                                      <p:tavLst>
                                        <p:tav tm="0">
                                          <p:val>
                                            <p:strVal val="#ppt_y+.18"/>
                                          </p:val>
                                        </p:tav>
                                        <p:tav tm="100000">
                                          <p:val>
                                            <p:strVal val="#ppt_y"/>
                                          </p:val>
                                        </p:tav>
                                      </p:tavLst>
                                    </p:anim>
                                  </p:childTnLst>
                                </p:cTn>
                              </p:par>
                              <p:par>
                                <p:cTn id="37" presetID="53" presetClass="entr" presetSubtype="16"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300" fill="hold" decel="100000"/>
                                        <p:tgtEl>
                                          <p:spTgt spid="11"/>
                                        </p:tgtEl>
                                        <p:attrNameLst>
                                          <p:attrName>ppt_w</p:attrName>
                                        </p:attrNameLst>
                                      </p:cBhvr>
                                      <p:tavLst>
                                        <p:tav tm="0">
                                          <p:val>
                                            <p:strVal val="0"/>
                                          </p:val>
                                        </p:tav>
                                        <p:tav tm="100000">
                                          <p:val>
                                            <p:strVal val="#ppt_w"/>
                                          </p:val>
                                        </p:tav>
                                      </p:tavLst>
                                    </p:anim>
                                    <p:anim calcmode="lin" valueType="num">
                                      <p:cBhvr additive="base">
                                        <p:cTn id="40" dur="300" fill="hold" decel="100000"/>
                                        <p:tgtEl>
                                          <p:spTgt spid="11"/>
                                        </p:tgtEl>
                                        <p:attrNameLst>
                                          <p:attrName>ppt_h</p:attrName>
                                        </p:attrNameLst>
                                      </p:cBhvr>
                                      <p:tavLst>
                                        <p:tav tm="0">
                                          <p:val>
                                            <p:strVal val="0"/>
                                          </p:val>
                                        </p:tav>
                                        <p:tav tm="100000">
                                          <p:val>
                                            <p:strVal val="#ppt_h"/>
                                          </p:val>
                                        </p:tav>
                                      </p:tavLst>
                                    </p:anim>
                                    <p:animEffect transition="in" filter="fade">
                                      <p:cBhvr>
                                        <p:cTn id="41" dur="3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300"/>
                                        <p:tgtEl>
                                          <p:spTgt spid="12"/>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500"/>
                                        <p:tgtEl>
                                          <p:spTgt spid="13"/>
                                        </p:tgtEl>
                                      </p:cBhvr>
                                    </p:animEffect>
                                    <p:anim calcmode="lin" valueType="num">
                                      <p:cBhvr additive="base">
                                        <p:cTn id="50"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51" dur="500" fill="hold" decel="100000"/>
                                        <p:tgtEl>
                                          <p:spTgt spid="13"/>
                                        </p:tgtEl>
                                        <p:attrNameLst>
                                          <p:attrName>ppt_y</p:attrName>
                                        </p:attrNameLst>
                                      </p:cBhvr>
                                      <p:tavLst>
                                        <p:tav tm="0">
                                          <p:val>
                                            <p:strVal val="#ppt_y+.18"/>
                                          </p:val>
                                        </p:tav>
                                        <p:tav tm="100000">
                                          <p:val>
                                            <p:strVal val="#ppt_y"/>
                                          </p:val>
                                        </p:tav>
                                      </p:tavLst>
                                    </p:anim>
                                  </p:childTnLst>
                                </p:cTn>
                              </p:par>
                              <p:par>
                                <p:cTn id="52" presetID="53" presetClass="entr" presetSubtype="16" fill="hold" nodeType="withEffect">
                                  <p:stCondLst>
                                    <p:cond delay="0"/>
                                  </p:stCondLst>
                                  <p:childTnLst>
                                    <p:set>
                                      <p:cBhvr>
                                        <p:cTn id="53" dur="1" fill="hold">
                                          <p:stCondLst>
                                            <p:cond delay="0"/>
                                          </p:stCondLst>
                                        </p:cTn>
                                        <p:tgtEl>
                                          <p:spTgt spid="14"/>
                                        </p:tgtEl>
                                        <p:attrNameLst>
                                          <p:attrName>style.visibility</p:attrName>
                                        </p:attrNameLst>
                                      </p:cBhvr>
                                      <p:to>
                                        <p:strVal val="visible"/>
                                      </p:to>
                                    </p:set>
                                    <p:anim calcmode="lin" valueType="num">
                                      <p:cBhvr additive="base">
                                        <p:cTn id="54" dur="300" fill="hold" decel="100000"/>
                                        <p:tgtEl>
                                          <p:spTgt spid="14"/>
                                        </p:tgtEl>
                                        <p:attrNameLst>
                                          <p:attrName>ppt_w</p:attrName>
                                        </p:attrNameLst>
                                      </p:cBhvr>
                                      <p:tavLst>
                                        <p:tav tm="0">
                                          <p:val>
                                            <p:strVal val="0"/>
                                          </p:val>
                                        </p:tav>
                                        <p:tav tm="100000">
                                          <p:val>
                                            <p:strVal val="#ppt_w"/>
                                          </p:val>
                                        </p:tav>
                                      </p:tavLst>
                                    </p:anim>
                                    <p:anim calcmode="lin" valueType="num">
                                      <p:cBhvr additive="base">
                                        <p:cTn id="55" dur="300" fill="hold" decel="100000"/>
                                        <p:tgtEl>
                                          <p:spTgt spid="14"/>
                                        </p:tgtEl>
                                        <p:attrNameLst>
                                          <p:attrName>ppt_h</p:attrName>
                                        </p:attrNameLst>
                                      </p:cBhvr>
                                      <p:tavLst>
                                        <p:tav tm="0">
                                          <p:val>
                                            <p:strVal val="0"/>
                                          </p:val>
                                        </p:tav>
                                        <p:tav tm="100000">
                                          <p:val>
                                            <p:strVal val="#ppt_h"/>
                                          </p:val>
                                        </p:tav>
                                      </p:tavLst>
                                    </p:anim>
                                    <p:animEffect transition="in" filter="fade">
                                      <p:cBhvr>
                                        <p:cTn id="56" dur="300"/>
                                        <p:tgtEl>
                                          <p:spTgt spid="1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300"/>
                                        <p:tgtEl>
                                          <p:spTgt spid="15"/>
                                        </p:tgtEl>
                                      </p:cBhvr>
                                    </p:animEffect>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anim calcmode="lin" valueType="num">
                                      <p:cBhvr additive="base">
                                        <p:cTn id="65"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66" dur="500" fill="hold" decel="100000"/>
                                        <p:tgtEl>
                                          <p:spTgt spid="16"/>
                                        </p:tgtEl>
                                        <p:attrNameLst>
                                          <p:attrName>ppt_y</p:attrName>
                                        </p:attrNameLst>
                                      </p:cBhvr>
                                      <p:tavLst>
                                        <p:tav tm="0">
                                          <p:val>
                                            <p:strVal val="#ppt_y+.18"/>
                                          </p:val>
                                        </p:tav>
                                        <p:tav tm="100000">
                                          <p:val>
                                            <p:strVal val="#ppt_y"/>
                                          </p:val>
                                        </p:tav>
                                      </p:tavLst>
                                    </p:anim>
                                  </p:childTnLst>
                                </p:cTn>
                              </p:par>
                              <p:par>
                                <p:cTn id="67" presetID="53" presetClass="entr" presetSubtype="16" fill="hold" nodeType="withEffect">
                                  <p:stCondLst>
                                    <p:cond delay="0"/>
                                  </p:stCondLst>
                                  <p:childTnLst>
                                    <p:set>
                                      <p:cBhvr>
                                        <p:cTn id="68" dur="1" fill="hold">
                                          <p:stCondLst>
                                            <p:cond delay="0"/>
                                          </p:stCondLst>
                                        </p:cTn>
                                        <p:tgtEl>
                                          <p:spTgt spid="17"/>
                                        </p:tgtEl>
                                        <p:attrNameLst>
                                          <p:attrName>style.visibility</p:attrName>
                                        </p:attrNameLst>
                                      </p:cBhvr>
                                      <p:to>
                                        <p:strVal val="visible"/>
                                      </p:to>
                                    </p:set>
                                    <p:anim calcmode="lin" valueType="num">
                                      <p:cBhvr additive="base">
                                        <p:cTn id="69" dur="300" fill="hold" decel="100000"/>
                                        <p:tgtEl>
                                          <p:spTgt spid="17"/>
                                        </p:tgtEl>
                                        <p:attrNameLst>
                                          <p:attrName>ppt_w</p:attrName>
                                        </p:attrNameLst>
                                      </p:cBhvr>
                                      <p:tavLst>
                                        <p:tav tm="0">
                                          <p:val>
                                            <p:strVal val="0"/>
                                          </p:val>
                                        </p:tav>
                                        <p:tav tm="100000">
                                          <p:val>
                                            <p:strVal val="#ppt_w"/>
                                          </p:val>
                                        </p:tav>
                                      </p:tavLst>
                                    </p:anim>
                                    <p:anim calcmode="lin" valueType="num">
                                      <p:cBhvr additive="base">
                                        <p:cTn id="70" dur="300" fill="hold" decel="100000"/>
                                        <p:tgtEl>
                                          <p:spTgt spid="17"/>
                                        </p:tgtEl>
                                        <p:attrNameLst>
                                          <p:attrName>ppt_h</p:attrName>
                                        </p:attrNameLst>
                                      </p:cBhvr>
                                      <p:tavLst>
                                        <p:tav tm="0">
                                          <p:val>
                                            <p:strVal val="0"/>
                                          </p:val>
                                        </p:tav>
                                        <p:tav tm="100000">
                                          <p:val>
                                            <p:strVal val="#ppt_h"/>
                                          </p:val>
                                        </p:tav>
                                      </p:tavLst>
                                    </p:anim>
                                    <p:animEffect transition="in" filter="fade">
                                      <p:cBhvr>
                                        <p:cTn id="71" dur="300"/>
                                        <p:tgtEl>
                                          <p:spTgt spid="1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300"/>
                                        <p:tgtEl>
                                          <p:spTgt spid="18"/>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9"/>
                                        </p:tgtEl>
                                        <p:attrNameLst>
                                          <p:attrName>style.visibility</p:attrName>
                                        </p:attrNameLst>
                                      </p:cBhvr>
                                      <p:to>
                                        <p:strVal val="visible"/>
                                      </p:to>
                                    </p:set>
                                    <p:animEffect transition="in" filter="fade">
                                      <p:cBhvr>
                                        <p:cTn id="79" dur="500"/>
                                        <p:tgtEl>
                                          <p:spTgt spid="19"/>
                                        </p:tgtEl>
                                      </p:cBhvr>
                                    </p:animEffect>
                                    <p:anim calcmode="lin" valueType="num">
                                      <p:cBhvr additive="base">
                                        <p:cTn id="80"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81" dur="500" fill="hold" decel="100000"/>
                                        <p:tgtEl>
                                          <p:spTgt spid="19"/>
                                        </p:tgtEl>
                                        <p:attrNameLst>
                                          <p:attrName>ppt_y</p:attrName>
                                        </p:attrNameLst>
                                      </p:cBhvr>
                                      <p:tavLst>
                                        <p:tav tm="0">
                                          <p:val>
                                            <p:strVal val="#ppt_y+.18"/>
                                          </p:val>
                                        </p:tav>
                                        <p:tav tm="100000">
                                          <p:val>
                                            <p:strVal val="#ppt_y"/>
                                          </p:val>
                                        </p:tav>
                                      </p:tavLst>
                                    </p:anim>
                                  </p:childTnLst>
                                </p:cTn>
                              </p:par>
                              <p:par>
                                <p:cTn id="82" presetID="53" presetClass="entr" presetSubtype="16" fill="hold" nodeType="withEffect">
                                  <p:stCondLst>
                                    <p:cond delay="0"/>
                                  </p:stCondLst>
                                  <p:childTnLst>
                                    <p:set>
                                      <p:cBhvr>
                                        <p:cTn id="83" dur="1" fill="hold">
                                          <p:stCondLst>
                                            <p:cond delay="0"/>
                                          </p:stCondLst>
                                        </p:cTn>
                                        <p:tgtEl>
                                          <p:spTgt spid="20"/>
                                        </p:tgtEl>
                                        <p:attrNameLst>
                                          <p:attrName>style.visibility</p:attrName>
                                        </p:attrNameLst>
                                      </p:cBhvr>
                                      <p:to>
                                        <p:strVal val="visible"/>
                                      </p:to>
                                    </p:set>
                                    <p:anim calcmode="lin" valueType="num">
                                      <p:cBhvr additive="base">
                                        <p:cTn id="84" dur="300" fill="hold" decel="100000"/>
                                        <p:tgtEl>
                                          <p:spTgt spid="20"/>
                                        </p:tgtEl>
                                        <p:attrNameLst>
                                          <p:attrName>ppt_w</p:attrName>
                                        </p:attrNameLst>
                                      </p:cBhvr>
                                      <p:tavLst>
                                        <p:tav tm="0">
                                          <p:val>
                                            <p:strVal val="0"/>
                                          </p:val>
                                        </p:tav>
                                        <p:tav tm="100000">
                                          <p:val>
                                            <p:strVal val="#ppt_w"/>
                                          </p:val>
                                        </p:tav>
                                      </p:tavLst>
                                    </p:anim>
                                    <p:anim calcmode="lin" valueType="num">
                                      <p:cBhvr additive="base">
                                        <p:cTn id="85" dur="300" fill="hold" decel="100000"/>
                                        <p:tgtEl>
                                          <p:spTgt spid="20"/>
                                        </p:tgtEl>
                                        <p:attrNameLst>
                                          <p:attrName>ppt_h</p:attrName>
                                        </p:attrNameLst>
                                      </p:cBhvr>
                                      <p:tavLst>
                                        <p:tav tm="0">
                                          <p:val>
                                            <p:strVal val="0"/>
                                          </p:val>
                                        </p:tav>
                                        <p:tav tm="100000">
                                          <p:val>
                                            <p:strVal val="#ppt_h"/>
                                          </p:val>
                                        </p:tav>
                                      </p:tavLst>
                                    </p:anim>
                                    <p:animEffect transition="in" filter="fade">
                                      <p:cBhvr>
                                        <p:cTn id="86" dur="300"/>
                                        <p:tgtEl>
                                          <p:spTgt spid="2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300"/>
                                        <p:tgtEl>
                                          <p:spTgt spid="21"/>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anim calcmode="lin" valueType="num">
                                      <p:cBhvr additive="base">
                                        <p:cTn id="95" dur="500" fill="hold" decel="100000"/>
                                        <p:tgtEl>
                                          <p:spTgt spid="22"/>
                                        </p:tgtEl>
                                        <p:attrNameLst>
                                          <p:attrName>ppt_x</p:attrName>
                                        </p:attrNameLst>
                                      </p:cBhvr>
                                      <p:tavLst>
                                        <p:tav tm="0">
                                          <p:val>
                                            <p:strVal val="#ppt_x"/>
                                          </p:val>
                                        </p:tav>
                                        <p:tav tm="100000">
                                          <p:val>
                                            <p:strVal val="#ppt_x"/>
                                          </p:val>
                                        </p:tav>
                                      </p:tavLst>
                                    </p:anim>
                                    <p:anim calcmode="lin" valueType="num">
                                      <p:cBhvr additive="base">
                                        <p:cTn id="96" dur="500" fill="hold" decel="100000"/>
                                        <p:tgtEl>
                                          <p:spTgt spid="22"/>
                                        </p:tgtEl>
                                        <p:attrNameLst>
                                          <p:attrName>ppt_y</p:attrName>
                                        </p:attrNameLst>
                                      </p:cBhvr>
                                      <p:tavLst>
                                        <p:tav tm="0">
                                          <p:val>
                                            <p:strVal val="#ppt_y+.18"/>
                                          </p:val>
                                        </p:tav>
                                        <p:tav tm="100000">
                                          <p:val>
                                            <p:strVal val="#ppt_y"/>
                                          </p:val>
                                        </p:tav>
                                      </p:tavLst>
                                    </p:anim>
                                  </p:childTnLst>
                                </p:cTn>
                              </p:par>
                              <p:par>
                                <p:cTn id="97" presetID="53" presetClass="entr" presetSubtype="16" fill="hold" nodeType="withEffect">
                                  <p:stCondLst>
                                    <p:cond delay="0"/>
                                  </p:stCondLst>
                                  <p:childTnLst>
                                    <p:set>
                                      <p:cBhvr>
                                        <p:cTn id="98" dur="1" fill="hold">
                                          <p:stCondLst>
                                            <p:cond delay="0"/>
                                          </p:stCondLst>
                                        </p:cTn>
                                        <p:tgtEl>
                                          <p:spTgt spid="23"/>
                                        </p:tgtEl>
                                        <p:attrNameLst>
                                          <p:attrName>style.visibility</p:attrName>
                                        </p:attrNameLst>
                                      </p:cBhvr>
                                      <p:to>
                                        <p:strVal val="visible"/>
                                      </p:to>
                                    </p:set>
                                    <p:anim calcmode="lin" valueType="num">
                                      <p:cBhvr additive="base">
                                        <p:cTn id="99" dur="300" fill="hold" decel="100000"/>
                                        <p:tgtEl>
                                          <p:spTgt spid="23"/>
                                        </p:tgtEl>
                                        <p:attrNameLst>
                                          <p:attrName>ppt_w</p:attrName>
                                        </p:attrNameLst>
                                      </p:cBhvr>
                                      <p:tavLst>
                                        <p:tav tm="0">
                                          <p:val>
                                            <p:strVal val="0"/>
                                          </p:val>
                                        </p:tav>
                                        <p:tav tm="100000">
                                          <p:val>
                                            <p:strVal val="#ppt_w"/>
                                          </p:val>
                                        </p:tav>
                                      </p:tavLst>
                                    </p:anim>
                                    <p:anim calcmode="lin" valueType="num">
                                      <p:cBhvr additive="base">
                                        <p:cTn id="100" dur="300" fill="hold" decel="100000"/>
                                        <p:tgtEl>
                                          <p:spTgt spid="23"/>
                                        </p:tgtEl>
                                        <p:attrNameLst>
                                          <p:attrName>ppt_h</p:attrName>
                                        </p:attrNameLst>
                                      </p:cBhvr>
                                      <p:tavLst>
                                        <p:tav tm="0">
                                          <p:val>
                                            <p:strVal val="0"/>
                                          </p:val>
                                        </p:tav>
                                        <p:tav tm="100000">
                                          <p:val>
                                            <p:strVal val="#ppt_h"/>
                                          </p:val>
                                        </p:tav>
                                      </p:tavLst>
                                    </p:anim>
                                    <p:animEffect transition="in" filter="fade">
                                      <p:cBhvr>
                                        <p:cTn id="101" dur="300"/>
                                        <p:tgtEl>
                                          <p:spTgt spid="2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sp>
        <p:nvSpPr>
          <p:cNvPr id="4" name="e54_1"/>
          <p:cNvSpPr txBox="1"/>
          <p:nvPr/>
        </p:nvSpPr>
        <p:spPr>
          <a:xfrm>
            <a:off x="731520" y="2103120"/>
            <a:ext cx="10698480" cy="1097280"/>
          </a:xfrm>
          <a:prstGeom prst="rect">
            <a:avLst/>
          </a:prstGeom>
          <a:noFill/>
          <a:ln/>
        </p:spPr>
        <p:txBody>
          <a:bodyPr wrap="square" lIns="0" tIns="0" rIns="0" bIns="0" rtlCol="0" anchor="t"/>
          <a:lstStyle/>
          <a:p>
            <a:pPr algn="ctr" indent="0" marL="0">
              <a:lnSpc>
                <a:spcPct val="95000"/>
              </a:lnSpc>
              <a:buNone/>
            </a:pPr>
            <a:r>
              <a:rPr lang="en-US" sz="6400" b="1" dirty="0">
                <a:solidFill>
                  <a:srgbClr val="F5F2EC"/>
                </a:solidFill>
                <a:latin typeface="Cambria" pitchFamily="34" charset="0"/>
                <a:ea typeface="Cambria" pitchFamily="34" charset="-122"/>
                <a:cs typeface="Cambria" pitchFamily="34" charset="-120"/>
              </a:rPr>
              <a:t>Vorfahrt wird gewährt.</a:t>
            </a:r>
            <a:endParaRPr lang="en-US" sz="6400" dirty="0"/>
          </a:p>
        </p:txBody>
      </p:sp>
      <p:sp>
        <p:nvSpPr>
          <p:cNvPr id="5" name="e54_2"/>
          <p:cNvSpPr txBox="1"/>
          <p:nvPr/>
        </p:nvSpPr>
        <p:spPr>
          <a:xfrm>
            <a:off x="731520" y="3383280"/>
            <a:ext cx="10698480" cy="1097280"/>
          </a:xfrm>
          <a:prstGeom prst="rect">
            <a:avLst/>
          </a:prstGeom>
          <a:noFill/>
          <a:ln/>
        </p:spPr>
        <p:txBody>
          <a:bodyPr wrap="square" lIns="0" tIns="0" rIns="0" bIns="0" rtlCol="0" anchor="t"/>
          <a:lstStyle/>
          <a:p>
            <a:pPr algn="ctr" indent="0" marL="0">
              <a:buNone/>
            </a:pPr>
            <a:r>
              <a:rPr lang="en-US" sz="6000" b="1" dirty="0">
                <a:solidFill>
                  <a:srgbClr val="FF7A1A"/>
                </a:solidFill>
                <a:effectLst>
                  <a:glow rad="177800">
                    <a:srgbClr val="FF7A1A">
                      <a:alpha val="35000"/>
                    </a:srgbClr>
                  </a:glow>
                </a:effectLst>
                <a:latin typeface="Cambria" pitchFamily="34" charset="0"/>
                <a:ea typeface="Cambria" pitchFamily="34" charset="-122"/>
                <a:cs typeface="Cambria" pitchFamily="34" charset="-120"/>
              </a:rPr>
              <a:t>Nicht genommen.</a:t>
            </a:r>
            <a:endParaRPr lang="en-US" sz="6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4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7080B"/>
        </a:solidFill>
      </p:bgPr>
    </p:bg>
    <p:spTree>
      <p:nvGrpSpPr>
        <p:cNvPr id="2" name=""/>
        <p:cNvGrpSpPr/>
        <p:nvPr/>
      </p:nvGrpSpPr>
      <p:grpSpPr>
        <a:xfrm>
          <a:off x="0" y="0"/>
          <a:ext cx="0" cy="0"/>
          <a:chOff x="0" y="0"/>
          <a:chExt cx="0" cy="0"/>
        </a:xfrm>
      </p:grpSpPr>
      <p:pic>
        <p:nvPicPr>
          <p:cNvPr id="3" name="!!bg" descr="Hintergrund">    </p:cNvPr>
          <p:cNvPicPr>
            <a:picLocks noChangeAspect="1"/>
          </p:cNvPicPr>
          <p:nvPr/>
        </p:nvPicPr>
        <p:blipFill>
          <a:blip r:embed="rId1"/>
          <a:stretch>
            <a:fillRect/>
          </a:stretch>
        </p:blipFill>
        <p:spPr>
          <a:xfrm>
            <a:off x="0" y="0"/>
            <a:ext cx="12191695" cy="6858000"/>
          </a:xfrm>
          <a:prstGeom prst="rect">
            <a:avLst/>
          </a:prstGeom>
        </p:spPr>
      </p:pic>
      <p:pic>
        <p:nvPicPr>
          <p:cNvPr id="4" name="e55_1" descr="preencoded.png">    </p:cNvPr>
          <p:cNvPicPr>
            <a:picLocks noChangeAspect="1"/>
          </p:cNvPicPr>
          <p:nvPr/>
        </p:nvPicPr>
        <p:blipFill>
          <a:blip r:embed="rId2"/>
          <a:stretch>
            <a:fillRect/>
          </a:stretch>
        </p:blipFill>
        <p:spPr>
          <a:xfrm>
            <a:off x="5547208" y="1371600"/>
            <a:ext cx="1097280" cy="1097280"/>
          </a:xfrm>
          <a:prstGeom prst="rect">
            <a:avLst/>
          </a:prstGeom>
        </p:spPr>
      </p:pic>
      <p:sp>
        <p:nvSpPr>
          <p:cNvPr id="5" name="e55_2"/>
          <p:cNvSpPr txBox="1"/>
          <p:nvPr/>
        </p:nvSpPr>
        <p:spPr>
          <a:xfrm>
            <a:off x="731520" y="2606040"/>
            <a:ext cx="10698480" cy="1280160"/>
          </a:xfrm>
          <a:prstGeom prst="rect">
            <a:avLst/>
          </a:prstGeom>
          <a:noFill/>
          <a:ln/>
        </p:spPr>
        <p:txBody>
          <a:bodyPr wrap="square" lIns="0" tIns="0" rIns="0" bIns="0" rtlCol="0" anchor="t"/>
          <a:lstStyle/>
          <a:p>
            <a:pPr algn="ctr" indent="0" marL="0">
              <a:lnSpc>
                <a:spcPct val="95000"/>
              </a:lnSpc>
              <a:buNone/>
            </a:pPr>
            <a:r>
              <a:rPr lang="en-US" sz="9600" b="1" dirty="0">
                <a:solidFill>
                  <a:srgbClr val="F5F2EC"/>
                </a:solidFill>
                <a:latin typeface="Cambria" pitchFamily="34" charset="0"/>
                <a:ea typeface="Cambria" pitchFamily="34" charset="-122"/>
                <a:cs typeface="Cambria" pitchFamily="34" charset="-120"/>
              </a:rPr>
              <a:t>Pause</a:t>
            </a:r>
            <a:endParaRPr lang="en-US" sz="9600" dirty="0"/>
          </a:p>
        </p:txBody>
      </p:sp>
      <p:sp>
        <p:nvSpPr>
          <p:cNvPr id="6" name="e55_3"/>
          <p:cNvSpPr txBox="1"/>
          <p:nvPr/>
        </p:nvSpPr>
        <p:spPr>
          <a:xfrm>
            <a:off x="731520" y="3931920"/>
            <a:ext cx="10698480" cy="640080"/>
          </a:xfrm>
          <a:prstGeom prst="rect">
            <a:avLst/>
          </a:prstGeom>
          <a:noFill/>
          <a:ln/>
        </p:spPr>
        <p:txBody>
          <a:bodyPr wrap="square" lIns="0" tIns="0" rIns="0" bIns="0" rtlCol="0" anchor="t"/>
          <a:lstStyle/>
          <a:p>
            <a:pPr algn="ctr" indent="0" marL="0">
              <a:buNone/>
            </a:pPr>
            <a:r>
              <a:rPr lang="en-US" sz="3600" i="1" dirty="0">
                <a:solidFill>
                  <a:srgbClr val="FF7A1A"/>
                </a:solidFill>
                <a:latin typeface="Cambria" pitchFamily="34" charset="0"/>
                <a:ea typeface="Cambria" pitchFamily="34" charset="-122"/>
                <a:cs typeface="Cambria" pitchFamily="34" charset="-120"/>
              </a:rPr>
              <a:t>15 Minuten</a:t>
            </a:r>
            <a:endParaRPr lang="en-US" sz="3600" dirty="0"/>
          </a:p>
        </p:txBody>
      </p:sp>
      <p:sp>
        <p:nvSpPr>
          <p:cNvPr id="7" name="e55_4"/>
          <p:cNvSpPr txBox="1"/>
          <p:nvPr/>
        </p:nvSpPr>
        <p:spPr>
          <a:xfrm>
            <a:off x="731520" y="4937760"/>
            <a:ext cx="10698480" cy="457200"/>
          </a:xfrm>
          <a:prstGeom prst="rect">
            <a:avLst/>
          </a:prstGeom>
          <a:noFill/>
          <a:ln/>
        </p:spPr>
        <p:txBody>
          <a:bodyPr wrap="square" lIns="0" tIns="0" rIns="0" bIns="0" rtlCol="0" anchor="t"/>
          <a:lstStyle/>
          <a:p>
            <a:pPr algn="ctr" indent="0" marL="0">
              <a:buNone/>
            </a:pPr>
            <a:r>
              <a:rPr lang="en-US" sz="2000" dirty="0">
                <a:solidFill>
                  <a:srgbClr val="A7B0BD"/>
                </a:solidFill>
                <a:latin typeface="Calibri" pitchFamily="34" charset="0"/>
                <a:ea typeface="Calibri" pitchFamily="34" charset="-122"/>
                <a:cs typeface="Calibri" pitchFamily="34" charset="-120"/>
              </a:rPr>
              <a:t>Danach: Lektion 6 · Verkehrszeichen und Verkehrseinrichtungen</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00" fill="hold" decel="100000"/>
                                        <p:tgtEl>
                                          <p:spTgt spid="4"/>
                                        </p:tgtEl>
                                        <p:attrNameLst>
                                          <p:attrName>ppt_w</p:attrName>
                                        </p:attrNameLst>
                                      </p:cBhvr>
                                      <p:tavLst>
                                        <p:tav tm="0">
                                          <p:val>
                                            <p:strVal val="0"/>
                                          </p:val>
                                        </p:tav>
                                        <p:tav tm="100000">
                                          <p:val>
                                            <p:strVal val="#ppt_w"/>
                                          </p:val>
                                        </p:tav>
                                      </p:tavLst>
                                    </p:anim>
                                    <p:anim calcmode="lin" valueType="num">
                                      <p:cBhvr additive="base">
                                        <p:cTn id="8" dur="700" fill="hold" decel="100000"/>
                                        <p:tgtEl>
                                          <p:spTgt spid="4"/>
                                        </p:tgtEl>
                                        <p:attrNameLst>
                                          <p:attrName>ppt_h</p:attrName>
                                        </p:attrNameLst>
                                      </p:cBhvr>
                                      <p:tavLst>
                                        <p:tav tm="0">
                                          <p:val>
                                            <p:strVal val="0"/>
                                          </p:val>
                                        </p:tav>
                                        <p:tav tm="100000">
                                          <p:val>
                                            <p:strVal val="#ppt_h"/>
                                          </p:val>
                                        </p:tav>
                                      </p:tavLst>
                                    </p:anim>
                                    <p:animEffect transition="in" filter="fade">
                                      <p:cBhvr>
                                        <p:cTn id="9" dur="700"/>
                                        <p:tgtEl>
                                          <p:spTgt spid="4"/>
                                        </p:tgtEl>
                                      </p:cBhvr>
                                    </p:animEffect>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900"/>
                                        <p:tgtEl>
                                          <p:spTgt spid="5"/>
                                        </p:tgtEl>
                                      </p:cBhvr>
                                    </p:animEffect>
                                    <p:anim calcmode="lin" valueType="num">
                                      <p:cBhvr additive="base">
                                        <p:cTn id="14" dur="900" fill="hold" decel="100000"/>
                                        <p:tgtEl>
                                          <p:spTgt spid="5"/>
                                        </p:tgtEl>
                                        <p:attrNameLst>
                                          <p:attrName>ppt_x</p:attrName>
                                        </p:attrNameLst>
                                      </p:cBhvr>
                                      <p:tavLst>
                                        <p:tav tm="0">
                                          <p:val>
                                            <p:strVal val="#ppt_x"/>
                                          </p:val>
                                        </p:tav>
                                        <p:tav tm="100000">
                                          <p:val>
                                            <p:strVal val="#ppt_x"/>
                                          </p:val>
                                        </p:tav>
                                      </p:tavLst>
                                    </p:anim>
                                    <p:anim calcmode="lin" valueType="num">
                                      <p:cBhvr additive="base">
                                        <p:cTn id="15" dur="900" fill="hold" decel="100000"/>
                                        <p:tgtEl>
                                          <p:spTgt spid="5"/>
                                        </p:tgtEl>
                                        <p:attrNameLst>
                                          <p:attrName>ppt_y</p:attrName>
                                        </p:attrNameLst>
                                      </p:cBhvr>
                                      <p:tavLst>
                                        <p:tav tm="0">
                                          <p:val>
                                            <p:strVal val="#ppt_y+.18"/>
                                          </p:val>
                                        </p:tav>
                                        <p:tav tm="100000">
                                          <p:val>
                                            <p:strVal val="#ppt_y"/>
                                          </p:val>
                                        </p:tav>
                                      </p:tavLst>
                                    </p:anim>
                                  </p:childTnLst>
                                </p:cTn>
                              </p:par>
                            </p:childTnLst>
                          </p:cTn>
                        </p:par>
                        <p:par>
                          <p:cTn id="16" fill="hold">
                            <p:stCondLst>
                              <p:cond delay="1600"/>
                            </p:stCondLst>
                            <p:childTnLst>
                              <p:par>
                                <p:cTn id="17" presetID="10" presetClass="entr" presetSubtype="0" fill="hold" grpId="0"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600"/>
                                        <p:tgtEl>
                                          <p:spTgt spid="6"/>
                                        </p:tgtEl>
                                      </p:cBhvr>
                                    </p:animEffect>
                                  </p:childTnLst>
                                </p:cTn>
                              </p:par>
                            </p:childTnLst>
                          </p:cTn>
                        </p:par>
                        <p:par>
                          <p:cTn id="20" fill="hold">
                            <p:stCondLst>
                              <p:cond delay="22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Lektion 5 – Grundregel, Vorfahrt und Verkehrsregelungen</dc:title>
  <dc:subject>PptxGenJS Presentation</dc:subject>
  <dc:creator>Fahrlehrer Serband · Fahrschule Boost</dc:creator>
  <cp:lastModifiedBy>Fahrlehrer Serband · Fahrschule Boost</cp:lastModifiedBy>
  <cp:revision>1</cp:revision>
  <dcterms:created xsi:type="dcterms:W3CDTF">2026-09-27T21:46:01Z</dcterms:created>
  <dcterms:modified xsi:type="dcterms:W3CDTF">2026-09-27T21:46:01Z</dcterms:modified>
</cp:coreProperties>
</file>