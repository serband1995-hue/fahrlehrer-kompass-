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0. Minute
▶ Begrüßen. Heute geht es um drei Situationen, in denen Sekunden zählen: nachts und bei Nebel, wenn Blaulicht kommt, und im Tunnel.
🖱 Alles baut sich von selbst auf.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ca. 2. Minute
▶ Licht aus im Raum, wenn möglich. Situation schildern: Landstraße, 22 Uhr, du fährst 80 km/h mit Abblendlicht.
❓ Frage: Seht ihr etwas auf der Straße?
🖱 Klick 1: Ein Fußgänger in dunkler Kleidung taucht auf. Viele sehen ihn erst jetzt.
🖱 Klick 2: Die Entfernung: 25 Meter.
➜ Weiter: Schaffst du es noch anzuhalten?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Rechnen wir mit der Faustformel.
🖱 Klick 1: Reaktionsweg: 80 geteilt durch 10, mal 3 = 24 Meter. So weit fährst du, bevor du überhaupt bremst. Der Fußgänger steht bei 25 Metern.
🖱 Klick 2: Selbst mit Gefahrbremsung kommen noch 32 Meter Bremsweg dazu: (80/10)² : 2 = 32. Zusammen 56 Meter.
🖱 Klick 3: Stempel. Keine Chance.
❓ Frage: Was hätte ihm oder dir geholfen? ✅ Langsamer fahren, Fernlicht wenn möglich, und er: helle Kleidung oder Reflektoren. Genau darum geht es jetzt.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Unser Fahrplan für heute: drei besondere Situationen. Am Ende arbeitet jede Gruppe eines davon aus.
🖱 3 Klicks: je Kapitel eine Karte.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ca. 6. Minute
▶ Kapitel 1. Erst die Lichter am Auto, dann Blendung, Nebel und Wild.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Diese Symbole seht ihr im Cockpit.
🖱 Immer im Wechsel, 10 Klicks: Symbol fliegt ein → ❓ Welche Leuchte ist das, wann benutzt man sie? → Klick: Auflösung darunter.
1. Standlicht: nur zum Halten oder Parken. Mit Standlicht allein darf man nicht fahren (§ 17 Abs. 2 StVO).
2. Abblendlicht: bei Dämmerung, Dunkelheit, erheblicher Sichtbehinderung und im Tunnel (Zeichen 327).
3. Fernlicht: bei Dunkelheit auf Straßen ohne durchgehende Beleuchtung, wenn du niemanden blendest (auch innerorts erlaubt).
4. Nebelscheinwerfer: wenn Nebel, Schnee oder Regen die Sicht erheblich behindern.
5. Nebelschlussleuchte: nur bei Nebel und Sicht unter 50 m (§ 17 Abs. 3 StVO).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Häufiger Fehler: Das Auto ist vorne hell, also denkt man, das Licht ist an.
🖱 Klick 1: Vorne hell.
🖱 Klick 2: ❓ Und hinten? ✅ Bei vielen Autos bleiben mit Tagfahrlicht die Rückleuchten aus. Von hinten bist du in der Dämmerung, im Regen oder im Tunnel fast unsichtbar.
🖱 Klick 3: Merksatz: Sobald es dunkler wird: Abblendlicht an. Lichtschalter auf AUTO ist gut, aber im Nebel oft nicht genug, dann selbst einschalten.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Das Abblendlicht leuchtet etwa 50 bis 60 Meter weit. Aber wann siehst du einen Menschen darin?
🖱 Immer im Wechsel, 6 Klicks: Person erscheint → ❓ Ab wie viel Metern siehst du sie? → Klick: Entfernung.
1. Dunkle Kleidung: erst bei etwa 25 Metern.
2. Helle Kleidung: etwa 40 Meter.
3. Mit Reflektoren: bis zu 140 Meter. Also mehr als das Fünffache.
❓ Frage: Was heißt das für euch als Fußgänger oder Radfahrer? ✅ Helle Kleidung und Reflektoren. Gesehen werden ist genauso wichtig wie sehen.
➜ Weiter: Und mit Fernlicht?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Fernlicht leuchtet mindestens 100 Meter weit, moderne Scheinwerfer noch weiter. Jetzt siehst du alle drei.
❓ Frage: Wann musst du abblenden? Sammeln.
🖱 3 Klicks: Gegenverkehr. Wenn du dicht hinter jemandem fährst. Und auf Straßen mit ausreichender Beleuchtung ist Fernlicht nicht erlaubt (§ 17 Abs. 2 StVO).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Jemand blendet dich. Für einige Sekunden bist du praktisch blind.
🖱 Immer im Wechsel, 6 Klicks: Schritt erscheint → kurz fragen, warum → Klick: Erklärung.
1. Nicht in die Scheinwerfer schauen, sondern an den rechten Fahrbahnrand.
2. Tempo runter.
3. Wenn nötig anhalten. Nicht zurückblenden, sonst sind zwei Fahrer blind.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Die wichtigste Regel für die Nacht: Du musst innerhalb der Strecke anhalten können, die du überblickst (§ 3 Abs. 1 StVO). Man sagt: Fahren auf Sicht.
▶ Die gestrichelte Linie ist die Reichweite des Abblendlichts, rund 50 bis 60 Meter.
🖱 Immer im Wechsel, 6 Klicks: Tempo erscheint → ❓ Wie lang ist der Anhalteweg? Rechnen lassen → Klick: Balken (normale Bremsung, Faustformel).
50 km/h: 15 + 25 = 40 m. Passt.
80 km/h: 24 + 64 = 88 m. Deutlich zu lang.
100 km/h: 30 + 100 = 130 m. Mehr als doppelt so weit wie dein Licht.
🖱 Klick 7: Die rote Linie: Dunkel gekleidete Menschen siehst du erst bei 25 m. Selbst bei 50 km/h (40 m) wird es dann knapp. Zurück zu Folie 2!
🖱 Klick 8: Merksatz.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Klare Nacht. Vor dir ein Auto, rechts und links die Leitpfosten.
🖱 Klick 1: Nebel zieht auf. Behindert er die Sicht erheblich: Abblendlicht, auch am Tag. Dann sind auch Nebelscheinwerfer erlaubt (§ 17 Abs. 3 StVO). Kein Fernlicht: Der Nebel wirft das Licht zurück und blendet dich selbst.
🖱 Klick 2: Dichter Nebel. Das Auto vor dir ist weg. Sicht unter 50 m: höchstens 50 km/h (§ 3 Abs. 1 StVO, gilt auch bei Schnee und Regen). Nur bei Nebel darf jetzt die Nebelschlussleuchte an.
🖱 Klick 3: Trick: Leitpfosten stehen auf gerader Strecke alle 50 m (in Kurven dichter). Siehst du nur noch den nächsten, hast du etwa 50 m Sicht.
Wichtig: Nebelschlussleuchte wieder aus, wenn die Sicht besser wird. Sie blendet den Hintermann.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Eine Zahl für alles: 50.
🖱 Immer im Wechsel, 6 Klicks: Kreis mit Frage erscheint → raten lassen → Klick: Zahl.
Sicht unter 50 Meter. Dann höchstens 50 km/h (auch bei Schnee oder Regen). Und erst dann darf die Nebelschlussleuchte an, aber nur bei Nebel, nicht bei Regen oder Schnee.
❓ Frage: Gilt das auch auf der Autobahn? ✅ Ja, überall.
❓ Frage: Reicht 50 km/h bei 50 m Sicht? ✅ Knapp: 40 m Anhalteweg auf trockener Straße. Im Nebel ist die Straße meist nass, also langsamer.
🖱 Klick 7: Merksatz.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Zeichen 142-10: Wildwechsel. Besonders in der Dämmerung, im Herbst und im Frühjahr.
❓ Frage: Ein Reh steht im Licht. Was tust du?
🖱 3 Klicks: Abblenden (Fernlicht macht Tiere orientierungslos). Bremsen. Hupen.
🖱 Klick 4: Stempel. Nicht ausweichen! Wer ausweicht, landet oft am Baum oder im Gegenverkehr. Lenkrad festhalten.
🖱 Klick 5: Wild kommt selten allein. Mit Nachzüglern rechnen.
🖱 Klick 6: Gekracht? Warnblinker, Unfallstelle sichern, Polizei 110 rufen. Tier nicht anfassen. Wildunfallbescheinigung für die Versicherung holen. Tier nie mitnehmen, das ist Wilderei.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Kurzer Check. Frage vorlesen, Klasse antworten lassen, dann klicken.
🖱 Immer im Wechsel, 6 Klicks: Frage fliegt ein → antworten lassen → Klick: Antwort.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ca. 35. Minute
▶ Kapitel 2. Stell dir vor, im Rückspiegel blinkt es blau und du hörst das Horn.
❓ Frage: Was ist euer erster Gedanke? Viele sagen: Panik. Genau das wollen wir heute abstellen.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Drei Signale, drei Bedeutungen (§ 38 StVO).
🖱 Immer im Wechsel, 6 Klicks: Signal erscheint → ❓ Was will es von dir? → Klick: Bedeutung.
1. Blaulicht und Einsatzhorn zusammen: Alle müssen sofort freie Bahn schaffen. Das ist das Wegerecht.
2. Blaulicht allein: Warnung, z. B. an einer Unfallstelle oder bei einer Kolonne. Kein Platzmachen vorgeschrieben, aber aufpassen.
3. Gelbes Blinklicht: warnt vor Gefahren, z. B. Pannenhilfe, Müllabfuhr, Winterdienst. Kein Vorrecht.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Zwei Begriffe, die oft verwechselt werden.
🖱 Klick 1: Begriff „Sonderrecht“. ❓ Was könnte das heißen?
🖱 Klick 2: ✅ Sonderrechte (§ 35 StVO): Polizei, Feuerwehr, Rettungsdienst usw. dürfen im Einsatz von Regeln abweichen, z. B. bei Rot fahren oder schneller fahren. Aber nur mit Rücksicht.
🖱 Klick 3: Begriff „Wegerecht“. ❓ Und das?
🖱 Klick 4: ✅ Wegerecht (§ 38 StVO): Nur mit Blaulicht UND Horn. Dann musst DU Platz machen.
🖱 Klick 5: ❓ Ein Polizeiauto fährt nur mit Blaulicht, ohne Horn. Musst du Platz machen?
🖱 Klick 6: ✅ Nein, kein Wegerecht. Aber aufmerksam bleiben und nicht behindern.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Blaulicht und Horn hinter dir. So geht es ruhig und sicher.
🖱 Immer im Wechsel, 8 Klicks: Schritt erscheint → ❓ Wie genau? → Klick: Erklärung.
1. Ruhe bewahren, Spiegel checken: Woher kommt es?
2. Rechts ran, langsamer werden, notfalls anhalten. Blinker setzen, damit der Fahrer weiß, was du vorhast.
3. An der roten Ampel: nicht in Panik über die Kreuzung. Nur wenn es gar nicht anders geht, vorsichtig vorrollen, ohne jemanden zu gefährden.
4. Nicht direkt hinterherfahren und mit weiteren Einsatzfahrzeugen rechnen.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Stau auf der Autobahn, drei Fahrstreifen. Noch ist kein Blaulicht zu sehen.
❓ Frage: Wann bildest du die Rettungsgasse? Erst wenn du das Horn hörst?
🖱 Klick: ✅ Nein! Sobald der Verkehr nur noch Schritttempo fährt oder steht (§ 11 Abs. 2 StVO). Gilt auf Autobahnen und auf Außerortsstraßen mit mindestens zwei Fahrstreifen pro Richtung.
❓ Frage vor dem Weiterklicken: Du bist ganz links, ich bin in der Mitte, er ist rechts. Wer fährt wohin? Mit den Händen zeigen lassen.
➜ Weiterklicken: Die Autos weichen aus.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Die Autos weichen aus. Regel: Wer ganz links fährt, fährt nach links. Alle anderen fahren nach rechts. Die Gasse ist also zwischen der linken Spur und der daneben.
❓ Frage: Wo ist die Gasse bei zwei Spuren? Erst raten lassen.
🖱 Klick 1: Die Regel erscheint.
🖱 Klick 2: Der Rettungswagen fährt durch.
🖱 Klick 3: Bei zwei Spuren liegt die Gasse genau in der Mitte.
Tipp: Nicht in die Gasse nachrücken und nicht hinterherfahren.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Kein Kavaliersdelikt. Regelsätze laut Bußgeldkatalog.
🖱 Immer im Wechsel, 8 Klicks: Verstoß erscheint → ❓ Was schätzt ihr, was kostet das? → Klick: Strafe.
1. Keine Rettungsgasse gebildet: 200 € und 2 Punkte.
2. Dadurch ein Einsatzfahrzeug behindert: 240 €, 2 Punkte und 1 Monat Fahrverbot.
3. Selbst durch die Rettungsgasse fahren: 240 €, 2 Punkte, 1 Monat Fahrverbot.
4. Bei Blaulicht und Horn keine freie Bahn geschaffen: 240 €, 2 Punkte, 1 Monat Fahrverbot.
▶ Das Schlimmste ist nicht das Geld: Jede Minute Verzögerung kann ein Leben kosten.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Kurzer Check zu Blaulicht.
🖱 Immer im Wechsel, 6 Klicks: Frage fliegt ein → antworten lassen → Klick: Antwort.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ca. 52. Minute
▶ Kapitel 3. Der Tunnel ist eng, dunkel und man kann nicht einfach ausweichen. Deshalb gelten besondere Regeln.
❓ Frage: Wer fährt ungern durch Tunnel? Kurz Hände heben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Fünf Dinge vor und im Tunnel.
🖱 Immer im Wechsel, 10 Klicks: Regel erscheint → ❓ Warum? → Klick: Erklärung.
1. Abblendlicht an, auch wenn der Tunnel beleuchtet ist (Zeichen 327). Tagfahrlicht reicht nicht.
2. Sonnenbrille ab. Die Augen brauchen Zeit, sich an das Dunkel zu gewöhnen.
3. Radio an: Viele Tunnel senden Durchsagen über den Verkehrsfunk.
4. Genug Abstand halten. Faustregel: halber Tacho in Metern, also bei 80 km/h 40 m.
5. Wenden ist verboten (Zeichen 327). Nicht rückwärts fahren, nur im Notfall halten, am besten in der Pannenbucht.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Du fährst im Tunnel. Vorne raucht es. Der Rauch kommt auf dich zu.
❓ Frage: A, B oder C? Abstimmen lassen, Hände hoch.
🖱 Klick 1–3: Die Antworten A, B, C fliegen einzeln ein. Dann abstimmen lassen.
🖱 Klick 4: A ist falsch. Wenden ist im Tunnel verboten und blockiert die Feuerwehr.
🖱 Klick 5: B ist falsch. Rauch ist die größte Gefahr, das Auto schützt dich nicht.
🖱 Klick 6: C ist richtig. Darunter erscheint, wie genau: Warnblinker, rechts ran, Motor aus, Schlüssel stecken lassen (die Feuerwehr muss das Auto wegfahren können), Tür nicht abschließen. Dann zu Fuß zum nächsten Notausgang, weg vom Rauch. Notausgänge sind grün beleuchtet.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Zwei weitere Notfälle im Tunnel. Brand hatten wir gerade.
▶ Das sind Empfehlungen von ADAC und Autobahn GmbH.
🖱 Klick 1: Stau. ❓ Was tust du?
🖱 Klick 2: ✅ Warnblinker, mindestens 5 m Abstand zum Vordermann, bei längerem Stillstand Motor aus. Rettungsgasse gilt natürlich auch hier.
🖱 Klick 3: Panne. ❓ Und jetzt?
🖱 Klick 4: ✅ Warnblinker, möglichst in die Pannenbucht, Warnweste, Hilfe über die Notrufstation rufen.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❓ Frage: Warum soll man im Tunnel die Notrufstation nehmen und nicht das Handy?
🖱 Klick: ✅ Weil die Tunnelzentrale sofort sieht, wo du bist. Sie kann den Tunnel sperren, Durchsagen machen und Hilfe genau an die richtige Stelle schicken.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Letzter Check.
🖱 Immer im Wechsel, 6 Klicks: Frage fliegt ein → antworten lassen → Klick: Antwort.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Zur Lektion 11 gehört laut Rahmenplan noch mehr. Das machen wir in einer eigenen Einheit.
🖱 Klick: Die Themen erscheinen: Verhalten nach einem Unfall, Bußgeld und Fahrverbot, Punkte in Flensburg, Entzug der Fahrerlaubnis, Versicherung und Regress, MPU.
Probezeit und Seminare kommen gleich nach der Pause in Lektion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ca. 65. Minute (15 Min. Arbeit + 5 Min. Vorstellen)
▶ Drei Gruppen, drei Themen. Jede Gruppe bekommt ein Arbeitsblatt.
🖱 Klick 1–3: Die drei Gruppen.
🖱 Klick 4: 15 Minuten. Danach stellt jede Gruppe ihr Plakat in 1 Minute vor. Nur zwei Personen kommen nach vorne.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ca. 86. Minute
▶ Drei Sätze, die ihr mitnehmt. Gemeinsam laut vorlesen lassen.
🖱 3 Klicks.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ca. 90. Minute. Ende Lektion 11.
▶ Pause! Die Frage für nach der Pause schon mal mitgeben. Nicht auflösen, sie wird in Lektion 12 aufgelöst.
➜ Nach der Pause: weiter mit Lektion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10-2.png"/><Relationship Id="rId3" Type="http://schemas.openxmlformats.org/officeDocument/2006/relationships/image" Target="../media/image-19-5.png"/><Relationship Id="rId4" Type="http://schemas.openxmlformats.org/officeDocument/2006/relationships/image" Target="../media/image-31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6-2.png"/><Relationship Id="rId3" Type="http://schemas.openxmlformats.org/officeDocument/2006/relationships/image" Target="../media/image-17-3.png"/><Relationship Id="rId4" Type="http://schemas.openxmlformats.org/officeDocument/2006/relationships/image" Target="../media/image-16-2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3.png"/><Relationship Id="rId8" Type="http://schemas.openxmlformats.org/officeDocument/2006/relationships/image" Target="../media/image-20-2.png"/><Relationship Id="rId9" Type="http://schemas.openxmlformats.org/officeDocument/2006/relationships/image" Target="../media/image-2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3.png"/><Relationship Id="rId8" Type="http://schemas.openxmlformats.org/officeDocument/2006/relationships/image" Target="../media/image-20-2.png"/><Relationship Id="rId9" Type="http://schemas.openxmlformats.org/officeDocument/2006/relationships/image" Target="../media/image-20-9.png"/><Relationship Id="rId10" Type="http://schemas.openxmlformats.org/officeDocument/2006/relationships/image" Target="../media/image-21-10.png"/><Relationship Id="rId11" Type="http://schemas.openxmlformats.org/officeDocument/2006/relationships/image" Target="../media/image-16-2.png"/><Relationship Id="rId12" Type="http://schemas.openxmlformats.org/officeDocument/2006/relationships/image" Target="../media/image-16-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3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19-4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10-2.png"/><Relationship Id="rId3" Type="http://schemas.openxmlformats.org/officeDocument/2006/relationships/image" Target="../media/image-19-5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10-2.png"/><Relationship Id="rId3" Type="http://schemas.openxmlformats.org/officeDocument/2006/relationships/image" Target="../media/image-19-5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!!logo" descr="/tmp/claude-0/-home-user-Fahrlehrer-Kompass-/018b7d63-84f4-5712-a986-965872121e15/scratchpad/bau/art/boos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2377440" cy="933502"/>
          </a:xfrm>
          <a:prstGeom prst="rect">
            <a:avLst/>
          </a:prstGeom>
        </p:spPr>
      </p:pic>
      <p:sp>
        <p:nvSpPr>
          <p:cNvPr id="5" name="!!kick"/>
          <p:cNvSpPr txBox="1"/>
          <p:nvPr/>
        </p:nvSpPr>
        <p:spPr>
          <a:xfrm>
            <a:off x="73152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11 · GRUNDSTOFF</a:t>
            </a:r>
            <a:endParaRPr lang="en-US" sz="1300" dirty="0"/>
          </a:p>
        </p:txBody>
      </p:sp>
      <p:sp>
        <p:nvSpPr>
          <p:cNvPr id="6" name="!!t"/>
          <p:cNvSpPr txBox="1"/>
          <p:nvPr/>
        </p:nvSpPr>
        <p:spPr>
          <a:xfrm>
            <a:off x="685800" y="28803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Besondere</a:t>
            </a:r>
            <a:endParaRPr lang="en-US" sz="8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Situationen</a:t>
            </a:r>
            <a:endParaRPr lang="en-US" sz="8000" dirty="0"/>
          </a:p>
        </p:txBody>
      </p:sp>
      <p:sp>
        <p:nvSpPr>
          <p:cNvPr id="7" name="!!sub"/>
          <p:cNvSpPr txBox="1"/>
          <p:nvPr/>
        </p:nvSpPr>
        <p:spPr>
          <a:xfrm>
            <a:off x="731520" y="5440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 &amp; Sicht  ·  Blaulicht  ·  Tunnel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11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1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!!k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LANDSTRASSE · 22 UHR · 80 KM/H</a:t>
            </a:r>
            <a:endParaRPr lang="en-US" sz="1300" dirty="0"/>
          </a:p>
        </p:txBody>
      </p:sp>
      <p:sp>
        <p:nvSpPr>
          <p:cNvPr id="6" name="!!t"/>
          <p:cNvSpPr txBox="1"/>
          <p:nvPr/>
        </p:nvSpPr>
        <p:spPr>
          <a:xfrm>
            <a:off x="685800" y="1188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Siehst du ihn?</a:t>
            </a:r>
            <a:endParaRPr lang="en-US" sz="5400" dirty="0"/>
          </a:p>
        </p:txBody>
      </p:sp>
      <p:pic>
        <p:nvPicPr>
          <p:cNvPr id="7" name="!!beam" descr="/tmp/claude-0/-home-user-Fahrlehrer-Kompass-/018b7d63-84f4-5712-a986-965872121e15/scratchpad/bau/art/b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977640"/>
            <a:ext cx="4754880" cy="1005840"/>
          </a:xfrm>
          <a:prstGeom prst="rect">
            <a:avLst/>
          </a:prstGeom>
        </p:spPr>
      </p:pic>
      <p:pic>
        <p:nvPicPr>
          <p:cNvPr id="8" name="!!car" descr="/tmp/claude-0/-home-user-Fahrlehrer-Kompass-/018b7d63-84f4-5712-a986-965872121e15/scratchpad/bau/art/car_d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7200" y="4023360"/>
            <a:ext cx="457200" cy="914400"/>
          </a:xfrm>
          <a:prstGeom prst="rect">
            <a:avLst/>
          </a:prstGeom>
        </p:spPr>
      </p:pic>
      <p:pic>
        <p:nvPicPr>
          <p:cNvPr id="9" name="!!p25" descr="/tmp/claude-0/-home-user-Fahrlehrer-Kompass-/018b7d63-84f4-5712-a986-965872121e15/scratchpad/bau/art/ped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4553712"/>
            <a:ext cx="237744" cy="475488"/>
          </a:xfrm>
          <a:prstGeom prst="rect">
            <a:avLst/>
          </a:prstGeom>
        </p:spPr>
      </p:pic>
      <p:sp>
        <p:nvSpPr>
          <p:cNvPr id="10" name="!!l25"/>
          <p:cNvSpPr txBox="1"/>
          <p:nvPr/>
        </p:nvSpPr>
        <p:spPr>
          <a:xfrm>
            <a:off x="2468880" y="539496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1A202B"/>
          </a:solidFill>
          <a:ln w="12700">
            <a:solidFill>
              <a:srgbClr val="3A44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</a:t>
            </a:r>
            <a:endParaRPr lang="en-US" sz="16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!!k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LANDSTRASSE · 22 UHR · 80 KM/H</a:t>
            </a:r>
            <a:endParaRPr lang="en-US" sz="1300" dirty="0"/>
          </a:p>
        </p:txBody>
      </p:sp>
      <p:sp>
        <p:nvSpPr>
          <p:cNvPr id="6" name="!!t"/>
          <p:cNvSpPr txBox="1"/>
          <p:nvPr/>
        </p:nvSpPr>
        <p:spPr>
          <a:xfrm>
            <a:off x="685800" y="1188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Schaffst du es anzuhalten?</a:t>
            </a:r>
            <a:endParaRPr lang="en-US" sz="5400" dirty="0"/>
          </a:p>
        </p:txBody>
      </p:sp>
      <p:pic>
        <p:nvPicPr>
          <p:cNvPr id="7" name="!!beam" descr="/tmp/claude-0/-home-user-Fahrlehrer-Kompass-/018b7d63-84f4-5712-a986-965872121e15/scratchpad/bau/art/b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977640"/>
            <a:ext cx="4754880" cy="1005840"/>
          </a:xfrm>
          <a:prstGeom prst="rect">
            <a:avLst/>
          </a:prstGeom>
        </p:spPr>
      </p:pic>
      <p:pic>
        <p:nvPicPr>
          <p:cNvPr id="8" name="!!car" descr="/tmp/claude-0/-home-user-Fahrlehrer-Kompass-/018b7d63-84f4-5712-a986-965872121e15/scratchpad/bau/art/car_d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7200" y="4023360"/>
            <a:ext cx="457200" cy="914400"/>
          </a:xfrm>
          <a:prstGeom prst="rect">
            <a:avLst/>
          </a:prstGeom>
        </p:spPr>
      </p:pic>
      <p:pic>
        <p:nvPicPr>
          <p:cNvPr id="9" name="!!p25" descr="/tmp/claude-0/-home-user-Fahrlehrer-Kompass-/018b7d63-84f4-5712-a986-965872121e15/scratchpad/bau/art/ped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4553712"/>
            <a:ext cx="237744" cy="475488"/>
          </a:xfrm>
          <a:prstGeom prst="rect">
            <a:avLst/>
          </a:prstGeom>
        </p:spPr>
      </p:pic>
      <p:sp>
        <p:nvSpPr>
          <p:cNvPr id="10" name="!!l25"/>
          <p:cNvSpPr txBox="1"/>
          <p:nvPr/>
        </p:nvSpPr>
        <p:spPr>
          <a:xfrm>
            <a:off x="2468880" y="539496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1A202B"/>
          </a:solidFill>
          <a:ln w="12700">
            <a:solidFill>
              <a:srgbClr val="3A44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</a:t>
            </a:r>
            <a:endParaRPr lang="en-US" sz="1600" dirty="0"/>
          </a:p>
        </p:txBody>
      </p:sp>
      <p:sp>
        <p:nvSpPr>
          <p:cNvPr id="11" name="e3_1"/>
          <p:cNvSpPr/>
          <p:nvPr/>
        </p:nvSpPr>
        <p:spPr>
          <a:xfrm>
            <a:off x="1097280" y="5989320"/>
            <a:ext cx="1755648" cy="292608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2" name="e3_2"/>
          <p:cNvSpPr txBox="1"/>
          <p:nvPr/>
        </p:nvSpPr>
        <p:spPr>
          <a:xfrm>
            <a:off x="1097280" y="63367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Reaktion 24 m</a:t>
            </a:r>
            <a:endParaRPr lang="en-US" sz="1800" dirty="0"/>
          </a:p>
        </p:txBody>
      </p:sp>
      <p:sp>
        <p:nvSpPr>
          <p:cNvPr id="13" name="e3_3"/>
          <p:cNvSpPr/>
          <p:nvPr/>
        </p:nvSpPr>
        <p:spPr>
          <a:xfrm>
            <a:off x="2852928" y="5989320"/>
            <a:ext cx="2340864" cy="292608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14" name="e3_4"/>
          <p:cNvSpPr txBox="1"/>
          <p:nvPr/>
        </p:nvSpPr>
        <p:spPr>
          <a:xfrm>
            <a:off x="2944368" y="63367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Gefahrbremsung 32 m = 56 m</a:t>
            </a:r>
            <a:endParaRPr lang="en-US" sz="1800" dirty="0"/>
          </a:p>
        </p:txBody>
      </p:sp>
      <p:sp>
        <p:nvSpPr>
          <p:cNvPr id="15" name="e3_5"/>
          <p:cNvSpPr txBox="1"/>
          <p:nvPr/>
        </p:nvSpPr>
        <p:spPr>
          <a:xfrm rot="-240000">
            <a:off x="7589520" y="5669280"/>
            <a:ext cx="3840480" cy="777240"/>
          </a:xfrm>
          <a:prstGeom prst="roundRect">
            <a:avLst>
              <a:gd name="adj" fmla="val 23529"/>
            </a:avLst>
          </a:prstGeom>
          <a:solidFill>
            <a:srgbClr val="FF4D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300" kern="0" dirty="0">
                <a:solidFill>
                  <a:srgbClr val="FFFFFF"/>
                </a:solidFill>
                <a:effectLst>
                  <a:glow rad="203200">
                    <a:srgbClr val="FF4D4D">
                      <a:alpha val="450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KEINE CHANCE</a:t>
            </a:r>
            <a:endParaRPr lang="en-US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20" fill="hold" ac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20" fill="hold" ac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52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4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300" dirty="0"/>
          </a:p>
        </p:txBody>
      </p:sp>
      <p:sp>
        <p:nvSpPr>
          <p:cNvPr id="6" name="e4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Situationen, in denen Sekunden zählen</a:t>
            </a:r>
            <a:endParaRPr lang="en-US" sz="4000" dirty="0"/>
          </a:p>
        </p:txBody>
      </p:sp>
      <p:sp>
        <p:nvSpPr>
          <p:cNvPr id="7" name="e4_3"/>
          <p:cNvSpPr/>
          <p:nvPr/>
        </p:nvSpPr>
        <p:spPr>
          <a:xfrm>
            <a:off x="731520" y="2514600"/>
            <a:ext cx="3429000" cy="3108960"/>
          </a:xfrm>
          <a:prstGeom prst="roundRect">
            <a:avLst>
              <a:gd name="adj" fmla="val 4118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</p:sp>
      <p:sp>
        <p:nvSpPr>
          <p:cNvPr id="8" name="e4_4"/>
          <p:cNvSpPr txBox="1"/>
          <p:nvPr/>
        </p:nvSpPr>
        <p:spPr>
          <a:xfrm>
            <a:off x="1051560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pic>
        <p:nvPicPr>
          <p:cNvPr id="9" name="e4_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926080"/>
            <a:ext cx="640080" cy="640080"/>
          </a:xfrm>
          <a:prstGeom prst="rect">
            <a:avLst/>
          </a:prstGeom>
        </p:spPr>
      </p:pic>
      <p:sp>
        <p:nvSpPr>
          <p:cNvPr id="10" name="e4_6"/>
          <p:cNvSpPr txBox="1"/>
          <p:nvPr/>
        </p:nvSpPr>
        <p:spPr>
          <a:xfrm>
            <a:off x="105156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Licht &amp; Sicht</a:t>
            </a:r>
            <a:endParaRPr lang="en-US" sz="3000" dirty="0"/>
          </a:p>
        </p:txBody>
      </p:sp>
      <p:sp>
        <p:nvSpPr>
          <p:cNvPr id="11" name="e4_7"/>
          <p:cNvSpPr txBox="1"/>
          <p:nvPr/>
        </p:nvSpPr>
        <p:spPr>
          <a:xfrm>
            <a:off x="1051560" y="4572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Nacht, Blendung, Nebel, Wild</a:t>
            </a:r>
            <a:endParaRPr lang="en-US" sz="1700" dirty="0"/>
          </a:p>
        </p:txBody>
      </p:sp>
      <p:sp>
        <p:nvSpPr>
          <p:cNvPr id="12" name="e4_8"/>
          <p:cNvSpPr/>
          <p:nvPr/>
        </p:nvSpPr>
        <p:spPr>
          <a:xfrm>
            <a:off x="4361688" y="2514600"/>
            <a:ext cx="3429000" cy="3108960"/>
          </a:xfrm>
          <a:prstGeom prst="roundRect">
            <a:avLst>
              <a:gd name="adj" fmla="val 4118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</p:sp>
      <p:sp>
        <p:nvSpPr>
          <p:cNvPr id="13" name="e4_9"/>
          <p:cNvSpPr txBox="1"/>
          <p:nvPr/>
        </p:nvSpPr>
        <p:spPr>
          <a:xfrm>
            <a:off x="4681728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pic>
        <p:nvPicPr>
          <p:cNvPr id="14" name="e4_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926080"/>
            <a:ext cx="640080" cy="640080"/>
          </a:xfrm>
          <a:prstGeom prst="rect">
            <a:avLst/>
          </a:prstGeom>
        </p:spPr>
      </p:pic>
      <p:sp>
        <p:nvSpPr>
          <p:cNvPr id="15" name="e4_11"/>
          <p:cNvSpPr txBox="1"/>
          <p:nvPr/>
        </p:nvSpPr>
        <p:spPr>
          <a:xfrm>
            <a:off x="4681728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Blaulicht</a:t>
            </a:r>
            <a:endParaRPr lang="en-US" sz="3000" dirty="0"/>
          </a:p>
        </p:txBody>
      </p:sp>
      <p:sp>
        <p:nvSpPr>
          <p:cNvPr id="16" name="e4_12"/>
          <p:cNvSpPr txBox="1"/>
          <p:nvPr/>
        </p:nvSpPr>
        <p:spPr>
          <a:xfrm>
            <a:off x="4681728" y="4572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Platz machen, Rettungsgasse</a:t>
            </a:r>
            <a:endParaRPr lang="en-US" sz="1700" dirty="0"/>
          </a:p>
        </p:txBody>
      </p:sp>
      <p:sp>
        <p:nvSpPr>
          <p:cNvPr id="17" name="e4_13"/>
          <p:cNvSpPr/>
          <p:nvPr/>
        </p:nvSpPr>
        <p:spPr>
          <a:xfrm>
            <a:off x="7991856" y="2514600"/>
            <a:ext cx="3429000" cy="3108960"/>
          </a:xfrm>
          <a:prstGeom prst="roundRect">
            <a:avLst>
              <a:gd name="adj" fmla="val 4118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</p:sp>
      <p:sp>
        <p:nvSpPr>
          <p:cNvPr id="18" name="e4_14"/>
          <p:cNvSpPr txBox="1"/>
          <p:nvPr/>
        </p:nvSpPr>
        <p:spPr>
          <a:xfrm>
            <a:off x="8311896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pic>
        <p:nvPicPr>
          <p:cNvPr id="19" name="e4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6456" y="2926080"/>
            <a:ext cx="640080" cy="640080"/>
          </a:xfrm>
          <a:prstGeom prst="rect">
            <a:avLst/>
          </a:prstGeom>
        </p:spPr>
      </p:pic>
      <p:sp>
        <p:nvSpPr>
          <p:cNvPr id="20" name="e4_16"/>
          <p:cNvSpPr txBox="1"/>
          <p:nvPr/>
        </p:nvSpPr>
        <p:spPr>
          <a:xfrm>
            <a:off x="8311896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Tunnel</a:t>
            </a:r>
            <a:endParaRPr lang="en-US" sz="3000" dirty="0"/>
          </a:p>
        </p:txBody>
      </p:sp>
      <p:sp>
        <p:nvSpPr>
          <p:cNvPr id="21" name="e4_17"/>
          <p:cNvSpPr txBox="1"/>
          <p:nvPr/>
        </p:nvSpPr>
        <p:spPr>
          <a:xfrm>
            <a:off x="8311896" y="4572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Stau, Panne, Brand</a:t>
            </a:r>
            <a:endParaRPr lang="en-US" sz="1700" dirty="0"/>
          </a:p>
        </p:txBody>
      </p:sp>
      <p:pic>
        <p:nvPicPr>
          <p:cNvPr id="22" name="e4_1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897880"/>
            <a:ext cx="384048" cy="384048"/>
          </a:xfrm>
          <a:prstGeom prst="rect">
            <a:avLst/>
          </a:prstGeom>
        </p:spPr>
      </p:pic>
      <p:sp>
        <p:nvSpPr>
          <p:cNvPr id="23" name="e4_19"/>
          <p:cNvSpPr txBox="1"/>
          <p:nvPr/>
        </p:nvSpPr>
        <p:spPr>
          <a:xfrm>
            <a:off x="1280160" y="5897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Danach: Gruppenarbeit, jede Gruppe ein Thema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e5_1"/>
          <p:cNvSpPr txBox="1"/>
          <p:nvPr/>
        </p:nvSpPr>
        <p:spPr>
          <a:xfrm>
            <a:off x="73152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FF7A1A"/>
                </a:solidFill>
                <a:effectLst>
                  <a:glow rad="228600">
                    <a:srgbClr val="FF7A1A">
                      <a:alpha val="30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0" dirty="0"/>
          </a:p>
        </p:txBody>
      </p:sp>
      <p:sp>
        <p:nvSpPr>
          <p:cNvPr id="5" name="e5_2"/>
          <p:cNvSpPr txBox="1"/>
          <p:nvPr/>
        </p:nvSpPr>
        <p:spPr>
          <a:xfrm>
            <a:off x="731520" y="3611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Licht &amp; Sicht</a:t>
            </a:r>
            <a:endParaRPr lang="en-US" sz="6600" dirty="0"/>
          </a:p>
        </p:txBody>
      </p:sp>
      <p:sp>
        <p:nvSpPr>
          <p:cNvPr id="6" name="e5_3"/>
          <p:cNvSpPr txBox="1"/>
          <p:nvPr/>
        </p:nvSpPr>
        <p:spPr>
          <a:xfrm>
            <a:off x="777240" y="4846320"/>
            <a:ext cx="100584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381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Sehen und gesehen werden</a:t>
            </a:r>
            <a:endParaRPr lang="en-US" sz="24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9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9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6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COCKPIT-CHECK</a:t>
            </a:r>
            <a:endParaRPr lang="en-US" sz="1300" dirty="0"/>
          </a:p>
        </p:txBody>
      </p:sp>
      <p:sp>
        <p:nvSpPr>
          <p:cNvPr id="6" name="e6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Leuchte ist das? Und wann?</a:t>
            </a:r>
            <a:endParaRPr lang="en-US" sz="4000" dirty="0"/>
          </a:p>
        </p:txBody>
      </p:sp>
      <p:sp>
        <p:nvSpPr>
          <p:cNvPr id="7" name="e6_3"/>
          <p:cNvSpPr/>
          <p:nvPr/>
        </p:nvSpPr>
        <p:spPr>
          <a:xfrm>
            <a:off x="623164" y="2377440"/>
            <a:ext cx="2057400" cy="3840480"/>
          </a:xfrm>
          <a:prstGeom prst="roundRect">
            <a:avLst>
              <a:gd name="adj" fmla="val 5333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pic>
        <p:nvPicPr>
          <p:cNvPr id="8" name="e6_4" descr="/tmp/claude-0/-home-user-Fahrlehrer-Kompass-/018b7d63-84f4-5712-a986-965872121e15/scratchpad/bau/art/sym_st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56" y="2606040"/>
            <a:ext cx="1271016" cy="1152144"/>
          </a:xfrm>
          <a:prstGeom prst="rect">
            <a:avLst/>
          </a:prstGeom>
        </p:spPr>
      </p:pic>
      <p:sp>
        <p:nvSpPr>
          <p:cNvPr id="9" name="e6_5"/>
          <p:cNvSpPr txBox="1"/>
          <p:nvPr/>
        </p:nvSpPr>
        <p:spPr>
          <a:xfrm>
            <a:off x="760324" y="3977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Standlicht</a:t>
            </a:r>
            <a:endParaRPr lang="en-US" sz="2000" dirty="0"/>
          </a:p>
        </p:txBody>
      </p:sp>
      <p:sp>
        <p:nvSpPr>
          <p:cNvPr id="10" name="e6_6"/>
          <p:cNvSpPr txBox="1"/>
          <p:nvPr/>
        </p:nvSpPr>
        <p:spPr>
          <a:xfrm>
            <a:off x="714604" y="470916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Halten oder Parken. Nie zum Fahren.</a:t>
            </a:r>
            <a:endParaRPr lang="en-US" sz="1700" dirty="0"/>
          </a:p>
        </p:txBody>
      </p:sp>
      <p:sp>
        <p:nvSpPr>
          <p:cNvPr id="11" name="e6_7"/>
          <p:cNvSpPr/>
          <p:nvPr/>
        </p:nvSpPr>
        <p:spPr>
          <a:xfrm>
            <a:off x="2845156" y="2377440"/>
            <a:ext cx="2057400" cy="3840480"/>
          </a:xfrm>
          <a:prstGeom prst="roundRect">
            <a:avLst>
              <a:gd name="adj" fmla="val 5333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pic>
        <p:nvPicPr>
          <p:cNvPr id="12" name="e6_8" descr="/tmp/claude-0/-home-user-Fahrlehrer-Kompass-/018b7d63-84f4-5712-a986-965872121e15/scratchpad/bau/art/sym_abbl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348" y="2606040"/>
            <a:ext cx="1271016" cy="1152144"/>
          </a:xfrm>
          <a:prstGeom prst="rect">
            <a:avLst/>
          </a:prstGeom>
        </p:spPr>
      </p:pic>
      <p:sp>
        <p:nvSpPr>
          <p:cNvPr id="13" name="e6_9"/>
          <p:cNvSpPr txBox="1"/>
          <p:nvPr/>
        </p:nvSpPr>
        <p:spPr>
          <a:xfrm>
            <a:off x="2982316" y="3977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Abblendlicht</a:t>
            </a:r>
            <a:endParaRPr lang="en-US" sz="2000" dirty="0"/>
          </a:p>
        </p:txBody>
      </p:sp>
      <p:sp>
        <p:nvSpPr>
          <p:cNvPr id="14" name="e6_10"/>
          <p:cNvSpPr txBox="1"/>
          <p:nvPr/>
        </p:nvSpPr>
        <p:spPr>
          <a:xfrm>
            <a:off x="2936596" y="470916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Dunkel, schlechte Sicht, Tunnel</a:t>
            </a:r>
            <a:endParaRPr lang="en-US" sz="1700" dirty="0"/>
          </a:p>
        </p:txBody>
      </p:sp>
      <p:sp>
        <p:nvSpPr>
          <p:cNvPr id="15" name="e6_11"/>
          <p:cNvSpPr/>
          <p:nvPr/>
        </p:nvSpPr>
        <p:spPr>
          <a:xfrm>
            <a:off x="5067148" y="2377440"/>
            <a:ext cx="2057400" cy="3840480"/>
          </a:xfrm>
          <a:prstGeom prst="roundRect">
            <a:avLst>
              <a:gd name="adj" fmla="val 5333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pic>
        <p:nvPicPr>
          <p:cNvPr id="16" name="e6_12" descr="/tmp/claude-0/-home-user-Fahrlehrer-Kompass-/018b7d63-84f4-5712-a986-965872121e15/scratchpad/bau/art/sym_fe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340" y="2606040"/>
            <a:ext cx="1271016" cy="1152144"/>
          </a:xfrm>
          <a:prstGeom prst="rect">
            <a:avLst/>
          </a:prstGeom>
        </p:spPr>
      </p:pic>
      <p:sp>
        <p:nvSpPr>
          <p:cNvPr id="17" name="e6_13"/>
          <p:cNvSpPr txBox="1"/>
          <p:nvPr/>
        </p:nvSpPr>
        <p:spPr>
          <a:xfrm>
            <a:off x="5204308" y="3977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Fernlicht</a:t>
            </a:r>
            <a:endParaRPr lang="en-US" sz="2000" dirty="0"/>
          </a:p>
        </p:txBody>
      </p:sp>
      <p:sp>
        <p:nvSpPr>
          <p:cNvPr id="18" name="e6_14"/>
          <p:cNvSpPr txBox="1"/>
          <p:nvPr/>
        </p:nvSpPr>
        <p:spPr>
          <a:xfrm>
            <a:off x="5158588" y="470916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Unbeleuchtete Straße, niemand wird geblendet</a:t>
            </a:r>
            <a:endParaRPr lang="en-US" sz="1700" dirty="0"/>
          </a:p>
        </p:txBody>
      </p:sp>
      <p:sp>
        <p:nvSpPr>
          <p:cNvPr id="19" name="e6_15"/>
          <p:cNvSpPr/>
          <p:nvPr/>
        </p:nvSpPr>
        <p:spPr>
          <a:xfrm>
            <a:off x="7289140" y="2377440"/>
            <a:ext cx="2057400" cy="3840480"/>
          </a:xfrm>
          <a:prstGeom prst="roundRect">
            <a:avLst>
              <a:gd name="adj" fmla="val 5333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pic>
        <p:nvPicPr>
          <p:cNvPr id="20" name="e6_16" descr="/tmp/claude-0/-home-user-Fahrlehrer-Kompass-/018b7d63-84f4-5712-a986-965872121e15/scratchpad/bau/art/sym_nebelv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2332" y="2606040"/>
            <a:ext cx="1271016" cy="1152144"/>
          </a:xfrm>
          <a:prstGeom prst="rect">
            <a:avLst/>
          </a:prstGeom>
        </p:spPr>
      </p:pic>
      <p:sp>
        <p:nvSpPr>
          <p:cNvPr id="21" name="e6_17"/>
          <p:cNvSpPr txBox="1"/>
          <p:nvPr/>
        </p:nvSpPr>
        <p:spPr>
          <a:xfrm>
            <a:off x="7426300" y="3977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Nebel­scheinwerfer</a:t>
            </a:r>
            <a:endParaRPr lang="en-US" sz="2000" dirty="0"/>
          </a:p>
        </p:txBody>
      </p:sp>
      <p:sp>
        <p:nvSpPr>
          <p:cNvPr id="22" name="e6_18"/>
          <p:cNvSpPr txBox="1"/>
          <p:nvPr/>
        </p:nvSpPr>
        <p:spPr>
          <a:xfrm>
            <a:off x="7380580" y="470916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Nebel, Schnee, Regen: starke Sichtbehinderung</a:t>
            </a:r>
            <a:endParaRPr lang="en-US" sz="1700" dirty="0"/>
          </a:p>
        </p:txBody>
      </p:sp>
      <p:sp>
        <p:nvSpPr>
          <p:cNvPr id="23" name="e6_19"/>
          <p:cNvSpPr/>
          <p:nvPr/>
        </p:nvSpPr>
        <p:spPr>
          <a:xfrm>
            <a:off x="9511132" y="2377440"/>
            <a:ext cx="2057400" cy="3840480"/>
          </a:xfrm>
          <a:prstGeom prst="roundRect">
            <a:avLst>
              <a:gd name="adj" fmla="val 5333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pic>
        <p:nvPicPr>
          <p:cNvPr id="24" name="e6_20" descr="/tmp/claude-0/-home-user-Fahrlehrer-Kompass-/018b7d63-84f4-5712-a986-965872121e15/scratchpad/bau/art/sym_nebel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4324" y="2606040"/>
            <a:ext cx="1271016" cy="1152144"/>
          </a:xfrm>
          <a:prstGeom prst="rect">
            <a:avLst/>
          </a:prstGeom>
        </p:spPr>
      </p:pic>
      <p:sp>
        <p:nvSpPr>
          <p:cNvPr id="25" name="e6_21"/>
          <p:cNvSpPr txBox="1"/>
          <p:nvPr/>
        </p:nvSpPr>
        <p:spPr>
          <a:xfrm>
            <a:off x="9648292" y="3977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Nebel­schlussleuchte</a:t>
            </a:r>
            <a:endParaRPr lang="en-US" sz="2000" dirty="0"/>
          </a:p>
        </p:txBody>
      </p:sp>
      <p:sp>
        <p:nvSpPr>
          <p:cNvPr id="26" name="e6_22"/>
          <p:cNvSpPr txBox="1"/>
          <p:nvPr/>
        </p:nvSpPr>
        <p:spPr>
          <a:xfrm>
            <a:off x="9602572" y="470916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bei Nebel und Sicht unter 50 m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e7_1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Tagfahrlicht ist kein Abblendlicht.</a:t>
            </a:r>
            <a:endParaRPr lang="en-US" sz="5800" dirty="0"/>
          </a:p>
        </p:txBody>
      </p:sp>
      <p:sp>
        <p:nvSpPr>
          <p:cNvPr id="5" name="e7_2"/>
          <p:cNvSpPr txBox="1"/>
          <p:nvPr/>
        </p:nvSpPr>
        <p:spPr>
          <a:xfrm>
            <a:off x="2377440" y="3566160"/>
            <a:ext cx="3383280" cy="731520"/>
          </a:xfrm>
          <a:prstGeom prst="roundRect">
            <a:avLst>
              <a:gd name="adj" fmla="val 31250"/>
            </a:avLst>
          </a:prstGeom>
          <a:solidFill>
            <a:srgbClr val="12161E"/>
          </a:solidFill>
          <a:ln w="12700">
            <a:solidFill>
              <a:srgbClr val="3FD1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Vorne hell  ✓</a:t>
            </a:r>
            <a:endParaRPr lang="en-US" sz="2400" dirty="0"/>
          </a:p>
        </p:txBody>
      </p:sp>
      <p:sp>
        <p:nvSpPr>
          <p:cNvPr id="6" name="e7_3"/>
          <p:cNvSpPr txBox="1"/>
          <p:nvPr/>
        </p:nvSpPr>
        <p:spPr>
          <a:xfrm>
            <a:off x="6400800" y="3566160"/>
            <a:ext cx="3383280" cy="731520"/>
          </a:xfrm>
          <a:prstGeom prst="roundRect">
            <a:avLst>
              <a:gd name="adj" fmla="val 31250"/>
            </a:avLst>
          </a:prstGeom>
          <a:solidFill>
            <a:srgbClr val="12161E"/>
          </a:solidFill>
          <a:ln w="12700">
            <a:solidFill>
              <a:srgbClr val="FF4D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Hinten oft dunkel  ✗</a:t>
            </a:r>
            <a:endParaRPr lang="en-US" sz="2400" dirty="0"/>
          </a:p>
        </p:txBody>
      </p:sp>
      <p:sp>
        <p:nvSpPr>
          <p:cNvPr id="7" name="e7_4"/>
          <p:cNvSpPr txBox="1"/>
          <p:nvPr/>
        </p:nvSpPr>
        <p:spPr>
          <a:xfrm>
            <a:off x="731520" y="4800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Wird es dunkler: </a:t>
            </a:r>
            <a:pPr algn="ctr" indent="0" marL="0">
              <a:buNone/>
            </a:pPr>
            <a:r>
              <a:rPr lang="en-US" sz="3600" i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Abblendlicht an.</a:t>
            </a:r>
            <a:endParaRPr lang="en-US" sz="36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8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!!k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SEHEN UND GESEHEN WERDEN</a:t>
            </a:r>
            <a:endParaRPr lang="en-US" sz="1300" dirty="0"/>
          </a:p>
        </p:txBody>
      </p:sp>
      <p:sp>
        <p:nvSpPr>
          <p:cNvPr id="6" name="!!t"/>
          <p:cNvSpPr txBox="1"/>
          <p:nvPr/>
        </p:nvSpPr>
        <p:spPr>
          <a:xfrm>
            <a:off x="685800" y="1188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Abblendlicht: rund 50–60 m</a:t>
            </a:r>
            <a:endParaRPr lang="en-US" sz="4800" dirty="0"/>
          </a:p>
        </p:txBody>
      </p:sp>
      <p:pic>
        <p:nvPicPr>
          <p:cNvPr id="7" name="!!beam" descr="/tmp/claude-0/-home-user-Fahrlehrer-Kompass-/018b7d63-84f4-5712-a986-965872121e15/scratchpad/bau/art/b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977640"/>
            <a:ext cx="4754880" cy="1005840"/>
          </a:xfrm>
          <a:prstGeom prst="rect">
            <a:avLst/>
          </a:prstGeom>
        </p:spPr>
      </p:pic>
      <p:pic>
        <p:nvPicPr>
          <p:cNvPr id="8" name="!!car" descr="/tmp/claude-0/-home-user-Fahrlehrer-Kompass-/018b7d63-84f4-5712-a986-965872121e15/scratchpad/bau/art/car_d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7200" y="4023360"/>
            <a:ext cx="457200" cy="914400"/>
          </a:xfrm>
          <a:prstGeom prst="rect">
            <a:avLst/>
          </a:prstGeom>
        </p:spPr>
      </p:pic>
      <p:pic>
        <p:nvPicPr>
          <p:cNvPr id="9" name="!!p25" descr="/tmp/claude-0/-home-user-Fahrlehrer-Kompass-/018b7d63-84f4-5712-a986-965872121e15/scratchpad/bau/art/ped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4553712"/>
            <a:ext cx="237744" cy="475488"/>
          </a:xfrm>
          <a:prstGeom prst="rect">
            <a:avLst/>
          </a:prstGeom>
        </p:spPr>
      </p:pic>
      <p:sp>
        <p:nvSpPr>
          <p:cNvPr id="10" name="!!l25"/>
          <p:cNvSpPr txBox="1"/>
          <p:nvPr/>
        </p:nvSpPr>
        <p:spPr>
          <a:xfrm>
            <a:off x="2011680" y="53949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A202B"/>
          </a:solidFill>
          <a:ln w="12700">
            <a:solidFill>
              <a:srgbClr val="3A44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dunkel: 25 m</a:t>
            </a:r>
            <a:endParaRPr lang="en-US" sz="1800" dirty="0"/>
          </a:p>
        </p:txBody>
      </p:sp>
      <p:pic>
        <p:nvPicPr>
          <p:cNvPr id="11" name="!!p40" descr="/tmp/claude-0/-home-user-Fahrlehrer-Kompass-/018b7d63-84f4-5712-a986-965872121e15/scratchpad/bau/art/ped_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4553712"/>
            <a:ext cx="237744" cy="475488"/>
          </a:xfrm>
          <a:prstGeom prst="rect">
            <a:avLst/>
          </a:prstGeom>
        </p:spPr>
      </p:pic>
      <p:sp>
        <p:nvSpPr>
          <p:cNvPr id="12" name="!!l40"/>
          <p:cNvSpPr txBox="1"/>
          <p:nvPr/>
        </p:nvSpPr>
        <p:spPr>
          <a:xfrm>
            <a:off x="3246120" y="59893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A202B"/>
          </a:solidFill>
          <a:ln w="12700">
            <a:solidFill>
              <a:srgbClr val="3A44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hell: 40 m</a:t>
            </a:r>
            <a:endParaRPr lang="en-US" sz="1800" dirty="0"/>
          </a:p>
        </p:txBody>
      </p:sp>
      <p:pic>
        <p:nvPicPr>
          <p:cNvPr id="13" name="!!p140" descr="/tmp/claude-0/-home-user-Fahrlehrer-Kompass-/018b7d63-84f4-5712-a986-965872121e15/scratchpad/bau/art/ped_ref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9688" y="4553712"/>
            <a:ext cx="237744" cy="475488"/>
          </a:xfrm>
          <a:prstGeom prst="rect">
            <a:avLst/>
          </a:prstGeom>
        </p:spPr>
      </p:pic>
      <p:sp>
        <p:nvSpPr>
          <p:cNvPr id="14" name="!!l140"/>
          <p:cNvSpPr txBox="1"/>
          <p:nvPr/>
        </p:nvSpPr>
        <p:spPr>
          <a:xfrm>
            <a:off x="8915400" y="539496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A2A14"/>
          </a:solidFill>
          <a:ln w="12700">
            <a:solidFill>
              <a:srgbClr val="F7F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Reflektoren: 140 m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!!k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SEHEN UND GESEHEN WERDEN</a:t>
            </a:r>
            <a:endParaRPr lang="en-US" sz="1300" dirty="0"/>
          </a:p>
        </p:txBody>
      </p:sp>
      <p:sp>
        <p:nvSpPr>
          <p:cNvPr id="6" name="!!t"/>
          <p:cNvSpPr txBox="1"/>
          <p:nvPr/>
        </p:nvSpPr>
        <p:spPr>
          <a:xfrm>
            <a:off x="685800" y="1188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Fernlicht: 100 m und mehr</a:t>
            </a:r>
            <a:endParaRPr lang="en-US" sz="4800" dirty="0"/>
          </a:p>
        </p:txBody>
      </p:sp>
      <p:pic>
        <p:nvPicPr>
          <p:cNvPr id="7" name="!!beam" descr="/tmp/claude-0/-home-user-Fahrlehrer-Kompass-/018b7d63-84f4-5712-a986-965872121e15/scratchpad/bau/art/b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675888"/>
            <a:ext cx="10515600" cy="1609344"/>
          </a:xfrm>
          <a:prstGeom prst="rect">
            <a:avLst/>
          </a:prstGeom>
        </p:spPr>
      </p:pic>
      <p:pic>
        <p:nvPicPr>
          <p:cNvPr id="8" name="!!car" descr="/tmp/claude-0/-home-user-Fahrlehrer-Kompass-/018b7d63-84f4-5712-a986-965872121e15/scratchpad/bau/art/car_d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7200" y="4023360"/>
            <a:ext cx="457200" cy="914400"/>
          </a:xfrm>
          <a:prstGeom prst="rect">
            <a:avLst/>
          </a:prstGeom>
        </p:spPr>
      </p:pic>
      <p:pic>
        <p:nvPicPr>
          <p:cNvPr id="9" name="!!p25" descr="/tmp/claude-0/-home-user-Fahrlehrer-Kompass-/018b7d63-84f4-5712-a986-965872121e15/scratchpad/bau/art/ped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4553712"/>
            <a:ext cx="237744" cy="475488"/>
          </a:xfrm>
          <a:prstGeom prst="rect">
            <a:avLst/>
          </a:prstGeom>
        </p:spPr>
      </p:pic>
      <p:pic>
        <p:nvPicPr>
          <p:cNvPr id="10" name="!!p40" descr="/tmp/claude-0/-home-user-Fahrlehrer-Kompass-/018b7d63-84f4-5712-a986-965872121e15/scratchpad/bau/art/ped_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4553712"/>
            <a:ext cx="237744" cy="475488"/>
          </a:xfrm>
          <a:prstGeom prst="rect">
            <a:avLst/>
          </a:prstGeom>
        </p:spPr>
      </p:pic>
      <p:pic>
        <p:nvPicPr>
          <p:cNvPr id="11" name="!!p140" descr="/tmp/claude-0/-home-user-Fahrlehrer-Kompass-/018b7d63-84f4-5712-a986-965872121e15/scratchpad/bau/art/ped_ref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9688" y="4553712"/>
            <a:ext cx="237744" cy="475488"/>
          </a:xfrm>
          <a:prstGeom prst="rect">
            <a:avLst/>
          </a:prstGeom>
        </p:spPr>
      </p:pic>
      <p:sp>
        <p:nvSpPr>
          <p:cNvPr id="12" name="e9_1"/>
          <p:cNvSpPr txBox="1"/>
          <p:nvPr/>
        </p:nvSpPr>
        <p:spPr>
          <a:xfrm>
            <a:off x="731520" y="5715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ABBLENDEN BEI:</a:t>
            </a:r>
            <a:endParaRPr lang="en-US" sz="1500" dirty="0"/>
          </a:p>
        </p:txBody>
      </p:sp>
      <p:sp>
        <p:nvSpPr>
          <p:cNvPr id="13" name="e9_2"/>
          <p:cNvSpPr txBox="1"/>
          <p:nvPr/>
        </p:nvSpPr>
        <p:spPr>
          <a:xfrm>
            <a:off x="2971800" y="5715000"/>
            <a:ext cx="2651760" cy="502920"/>
          </a:xfrm>
          <a:prstGeom prst="roundRect">
            <a:avLst>
              <a:gd name="adj" fmla="val 45455"/>
            </a:avLst>
          </a:prstGeom>
          <a:solidFill>
            <a:srgbClr val="1A202B"/>
          </a:solidFill>
          <a:ln w="12700">
            <a:solidFill>
              <a:srgbClr val="FF7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Gegenverkehr</a:t>
            </a:r>
            <a:endParaRPr lang="en-US" sz="1700" dirty="0"/>
          </a:p>
        </p:txBody>
      </p:sp>
      <p:sp>
        <p:nvSpPr>
          <p:cNvPr id="14" name="e9_3"/>
          <p:cNvSpPr txBox="1"/>
          <p:nvPr/>
        </p:nvSpPr>
        <p:spPr>
          <a:xfrm>
            <a:off x="5806440" y="5715000"/>
            <a:ext cx="2651760" cy="502920"/>
          </a:xfrm>
          <a:prstGeom prst="roundRect">
            <a:avLst>
              <a:gd name="adj" fmla="val 45455"/>
            </a:avLst>
          </a:prstGeom>
          <a:solidFill>
            <a:srgbClr val="1A202B"/>
          </a:solidFill>
          <a:ln w="12700">
            <a:solidFill>
              <a:srgbClr val="FF7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Vorausfahrenden</a:t>
            </a:r>
            <a:endParaRPr lang="en-US" sz="1700" dirty="0"/>
          </a:p>
        </p:txBody>
      </p:sp>
      <p:sp>
        <p:nvSpPr>
          <p:cNvPr id="15" name="e9_4"/>
          <p:cNvSpPr txBox="1"/>
          <p:nvPr/>
        </p:nvSpPr>
        <p:spPr>
          <a:xfrm>
            <a:off x="8641080" y="5715000"/>
            <a:ext cx="2651760" cy="502920"/>
          </a:xfrm>
          <a:prstGeom prst="roundRect">
            <a:avLst>
              <a:gd name="adj" fmla="val 45455"/>
            </a:avLst>
          </a:prstGeom>
          <a:solidFill>
            <a:srgbClr val="1A202B"/>
          </a:solidFill>
          <a:ln w="12700">
            <a:solidFill>
              <a:srgbClr val="FF7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beleuchteter Straße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10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BLENDUNG</a:t>
            </a:r>
            <a:endParaRPr lang="en-US" sz="1300" dirty="0"/>
          </a:p>
        </p:txBody>
      </p:sp>
      <p:sp>
        <p:nvSpPr>
          <p:cNvPr id="6" name="e10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Geblendet? Drei Schritte.</a:t>
            </a:r>
            <a:endParaRPr lang="en-US" sz="4400" dirty="0"/>
          </a:p>
        </p:txBody>
      </p:sp>
      <p:sp>
        <p:nvSpPr>
          <p:cNvPr id="7" name="e10_3"/>
          <p:cNvSpPr/>
          <p:nvPr/>
        </p:nvSpPr>
        <p:spPr>
          <a:xfrm>
            <a:off x="731520" y="251460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8" name="e10_4"/>
          <p:cNvSpPr txBox="1"/>
          <p:nvPr/>
        </p:nvSpPr>
        <p:spPr>
          <a:xfrm>
            <a:off x="96012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pic>
        <p:nvPicPr>
          <p:cNvPr id="9" name="e10_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788920"/>
            <a:ext cx="457200" cy="457200"/>
          </a:xfrm>
          <a:prstGeom prst="rect">
            <a:avLst/>
          </a:prstGeom>
        </p:spPr>
      </p:pic>
      <p:sp>
        <p:nvSpPr>
          <p:cNvPr id="10" name="e10_6"/>
          <p:cNvSpPr txBox="1"/>
          <p:nvPr/>
        </p:nvSpPr>
        <p:spPr>
          <a:xfrm>
            <a:off x="2468880" y="2651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Blick nach rechts</a:t>
            </a:r>
            <a:endParaRPr lang="en-US" sz="2600" dirty="0"/>
          </a:p>
        </p:txBody>
      </p:sp>
      <p:sp>
        <p:nvSpPr>
          <p:cNvPr id="11" name="e10_7"/>
          <p:cNvSpPr txBox="1"/>
          <p:nvPr/>
        </p:nvSpPr>
        <p:spPr>
          <a:xfrm>
            <a:off x="6035040" y="26517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den rechten Fahrbahnrand schauen, nicht ins Licht</a:t>
            </a:r>
            <a:endParaRPr lang="en-US" sz="1800" dirty="0"/>
          </a:p>
        </p:txBody>
      </p:sp>
      <p:sp>
        <p:nvSpPr>
          <p:cNvPr id="12" name="e10_8"/>
          <p:cNvSpPr/>
          <p:nvPr/>
        </p:nvSpPr>
        <p:spPr>
          <a:xfrm>
            <a:off x="731520" y="370332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13" name="e10_9"/>
          <p:cNvSpPr txBox="1"/>
          <p:nvPr/>
        </p:nvSpPr>
        <p:spPr>
          <a:xfrm>
            <a:off x="9601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pic>
        <p:nvPicPr>
          <p:cNvPr id="14" name="e10_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977640"/>
            <a:ext cx="457200" cy="457200"/>
          </a:xfrm>
          <a:prstGeom prst="rect">
            <a:avLst/>
          </a:prstGeom>
        </p:spPr>
      </p:pic>
      <p:sp>
        <p:nvSpPr>
          <p:cNvPr id="15" name="e10_11"/>
          <p:cNvSpPr txBox="1"/>
          <p:nvPr/>
        </p:nvSpPr>
        <p:spPr>
          <a:xfrm>
            <a:off x="24688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runter</a:t>
            </a:r>
            <a:endParaRPr lang="en-US" sz="2600" dirty="0"/>
          </a:p>
        </p:txBody>
      </p:sp>
      <p:sp>
        <p:nvSpPr>
          <p:cNvPr id="16" name="e10_12"/>
          <p:cNvSpPr txBox="1"/>
          <p:nvPr/>
        </p:nvSpPr>
        <p:spPr>
          <a:xfrm>
            <a:off x="6035040" y="38404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siehst gerade kaum etwas</a:t>
            </a:r>
            <a:endParaRPr lang="en-US" sz="1800" dirty="0"/>
          </a:p>
        </p:txBody>
      </p:sp>
      <p:sp>
        <p:nvSpPr>
          <p:cNvPr id="17" name="e10_13"/>
          <p:cNvSpPr/>
          <p:nvPr/>
        </p:nvSpPr>
        <p:spPr>
          <a:xfrm>
            <a:off x="731520" y="489204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18" name="e10_14"/>
          <p:cNvSpPr txBox="1"/>
          <p:nvPr/>
        </p:nvSpPr>
        <p:spPr>
          <a:xfrm>
            <a:off x="96012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pic>
        <p:nvPicPr>
          <p:cNvPr id="19" name="e10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5166360"/>
            <a:ext cx="457200" cy="457200"/>
          </a:xfrm>
          <a:prstGeom prst="rect">
            <a:avLst/>
          </a:prstGeom>
        </p:spPr>
      </p:pic>
      <p:sp>
        <p:nvSpPr>
          <p:cNvPr id="20" name="e10_16"/>
          <p:cNvSpPr txBox="1"/>
          <p:nvPr/>
        </p:nvSpPr>
        <p:spPr>
          <a:xfrm>
            <a:off x="2468880" y="5029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Notfalls anhalten</a:t>
            </a:r>
            <a:endParaRPr lang="en-US" sz="2600" dirty="0"/>
          </a:p>
        </p:txBody>
      </p:sp>
      <p:sp>
        <p:nvSpPr>
          <p:cNvPr id="21" name="e10_17"/>
          <p:cNvSpPr txBox="1"/>
          <p:nvPr/>
        </p:nvSpPr>
        <p:spPr>
          <a:xfrm>
            <a:off x="6035040" y="50292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zurückblenden!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11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FAHREN AUF SICHT · § 3 ABS. 1 STVO</a:t>
            </a:r>
            <a:endParaRPr lang="en-US" sz="1300" dirty="0"/>
          </a:p>
        </p:txBody>
      </p:sp>
      <p:sp>
        <p:nvSpPr>
          <p:cNvPr id="6" name="e11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Reicht dein Licht für deinen Anhalteweg?</a:t>
            </a:r>
            <a:endParaRPr lang="en-US" sz="4000" dirty="0"/>
          </a:p>
        </p:txBody>
      </p:sp>
      <p:sp>
        <p:nvSpPr>
          <p:cNvPr id="7" name="e11_3"/>
          <p:cNvSpPr/>
          <p:nvPr/>
        </p:nvSpPr>
        <p:spPr>
          <a:xfrm>
            <a:off x="2286000" y="2514600"/>
            <a:ext cx="3108960" cy="2788920"/>
          </a:xfrm>
          <a:prstGeom prst="rect">
            <a:avLst/>
          </a:prstGeom>
          <a:solidFill>
            <a:srgbClr val="FFE8B0">
              <a:alpha val="10000"/>
            </a:srgbClr>
          </a:solidFill>
          <a:ln/>
        </p:spPr>
      </p:sp>
      <p:sp>
        <p:nvSpPr>
          <p:cNvPr id="8" name="e11_4"/>
          <p:cNvSpPr/>
          <p:nvPr/>
        </p:nvSpPr>
        <p:spPr>
          <a:xfrm>
            <a:off x="5394960" y="2514600"/>
            <a:ext cx="621792" cy="2788920"/>
          </a:xfrm>
          <a:prstGeom prst="rect">
            <a:avLst/>
          </a:prstGeom>
          <a:solidFill>
            <a:srgbClr val="FFE8B0">
              <a:alpha val="6000"/>
            </a:srgbClr>
          </a:solidFill>
          <a:ln/>
        </p:spPr>
      </p:sp>
      <p:sp>
        <p:nvSpPr>
          <p:cNvPr id="9" name="e11_5"/>
          <p:cNvSpPr/>
          <p:nvPr/>
        </p:nvSpPr>
        <p:spPr>
          <a:xfrm>
            <a:off x="5705856" y="2377440"/>
            <a:ext cx="914" cy="3063240"/>
          </a:xfrm>
          <a:prstGeom prst="line">
            <a:avLst/>
          </a:prstGeom>
          <a:noFill/>
          <a:ln w="25400">
            <a:solidFill>
              <a:srgbClr val="FFE8B0"/>
            </a:solidFill>
            <a:prstDash val="dash"/>
          </a:ln>
        </p:spPr>
      </p:sp>
      <p:sp>
        <p:nvSpPr>
          <p:cNvPr id="10" name="e11_6"/>
          <p:cNvSpPr txBox="1"/>
          <p:nvPr/>
        </p:nvSpPr>
        <p:spPr>
          <a:xfrm>
            <a:off x="3968496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Abblendlicht ≈ 50–60 m</a:t>
            </a:r>
            <a:endParaRPr lang="en-US" sz="1800" dirty="0"/>
          </a:p>
        </p:txBody>
      </p:sp>
      <p:sp>
        <p:nvSpPr>
          <p:cNvPr id="11" name="e11_7"/>
          <p:cNvSpPr txBox="1"/>
          <p:nvPr/>
        </p:nvSpPr>
        <p:spPr>
          <a:xfrm>
            <a:off x="73152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km/h</a:t>
            </a:r>
            <a:endParaRPr lang="en-US" sz="2000" dirty="0"/>
          </a:p>
        </p:txBody>
      </p:sp>
      <p:sp>
        <p:nvSpPr>
          <p:cNvPr id="12" name="e11_8"/>
          <p:cNvSpPr/>
          <p:nvPr/>
        </p:nvSpPr>
        <p:spPr>
          <a:xfrm>
            <a:off x="2286000" y="2816352"/>
            <a:ext cx="932688" cy="402336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3" name="e11_9"/>
          <p:cNvSpPr/>
          <p:nvPr/>
        </p:nvSpPr>
        <p:spPr>
          <a:xfrm>
            <a:off x="3218688" y="2816352"/>
            <a:ext cx="1554480" cy="402336"/>
          </a:xfrm>
          <a:prstGeom prst="rect">
            <a:avLst/>
          </a:prstGeom>
          <a:solidFill>
            <a:srgbClr val="3FD17A"/>
          </a:solidFill>
          <a:ln/>
        </p:spPr>
      </p:sp>
      <p:sp>
        <p:nvSpPr>
          <p:cNvPr id="14" name="e11_10"/>
          <p:cNvSpPr txBox="1"/>
          <p:nvPr/>
        </p:nvSpPr>
        <p:spPr>
          <a:xfrm>
            <a:off x="4882896" y="2743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F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</a:t>
            </a:r>
            <a:endParaRPr lang="en-US" sz="2000" dirty="0"/>
          </a:p>
        </p:txBody>
      </p:sp>
      <p:sp>
        <p:nvSpPr>
          <p:cNvPr id="15" name="e11_11"/>
          <p:cNvSpPr txBox="1"/>
          <p:nvPr/>
        </p:nvSpPr>
        <p:spPr>
          <a:xfrm>
            <a:off x="731520" y="3611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km/h</a:t>
            </a:r>
            <a:endParaRPr lang="en-US" sz="2000" dirty="0"/>
          </a:p>
        </p:txBody>
      </p:sp>
      <p:sp>
        <p:nvSpPr>
          <p:cNvPr id="16" name="e11_12"/>
          <p:cNvSpPr/>
          <p:nvPr/>
        </p:nvSpPr>
        <p:spPr>
          <a:xfrm>
            <a:off x="2286000" y="3685032"/>
            <a:ext cx="1492301" cy="402336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7" name="e11_13"/>
          <p:cNvSpPr/>
          <p:nvPr/>
        </p:nvSpPr>
        <p:spPr>
          <a:xfrm>
            <a:off x="3778301" y="3685032"/>
            <a:ext cx="3979469" cy="402336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18" name="e11_14"/>
          <p:cNvSpPr txBox="1"/>
          <p:nvPr/>
        </p:nvSpPr>
        <p:spPr>
          <a:xfrm>
            <a:off x="7867498" y="3611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m</a:t>
            </a:r>
            <a:endParaRPr lang="en-US" sz="2000" dirty="0"/>
          </a:p>
        </p:txBody>
      </p:sp>
      <p:sp>
        <p:nvSpPr>
          <p:cNvPr id="19" name="e11_15"/>
          <p:cNvSpPr txBox="1"/>
          <p:nvPr/>
        </p:nvSpPr>
        <p:spPr>
          <a:xfrm>
            <a:off x="731520" y="44805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km/h</a:t>
            </a:r>
            <a:endParaRPr lang="en-US" sz="2000" dirty="0"/>
          </a:p>
        </p:txBody>
      </p:sp>
      <p:sp>
        <p:nvSpPr>
          <p:cNvPr id="20" name="e11_16"/>
          <p:cNvSpPr/>
          <p:nvPr/>
        </p:nvSpPr>
        <p:spPr>
          <a:xfrm>
            <a:off x="2286000" y="4553712"/>
            <a:ext cx="1865376" cy="402336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21" name="e11_17"/>
          <p:cNvSpPr/>
          <p:nvPr/>
        </p:nvSpPr>
        <p:spPr>
          <a:xfrm>
            <a:off x="4151376" y="4553712"/>
            <a:ext cx="6217920" cy="402336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22" name="e11_18"/>
          <p:cNvSpPr txBox="1"/>
          <p:nvPr/>
        </p:nvSpPr>
        <p:spPr>
          <a:xfrm>
            <a:off x="10479024" y="4480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m</a:t>
            </a:r>
            <a:endParaRPr lang="en-US" sz="2000" dirty="0"/>
          </a:p>
        </p:txBody>
      </p:sp>
      <p:sp>
        <p:nvSpPr>
          <p:cNvPr id="23" name="e11_19"/>
          <p:cNvSpPr/>
          <p:nvPr/>
        </p:nvSpPr>
        <p:spPr>
          <a:xfrm>
            <a:off x="3840480" y="2468880"/>
            <a:ext cx="914" cy="2971800"/>
          </a:xfrm>
          <a:prstGeom prst="line">
            <a:avLst/>
          </a:prstGeom>
          <a:noFill/>
          <a:ln w="31750">
            <a:solidFill>
              <a:srgbClr val="FF4D4D"/>
            </a:solidFill>
            <a:prstDash val="sysDash"/>
          </a:ln>
        </p:spPr>
      </p:sp>
      <p:sp>
        <p:nvSpPr>
          <p:cNvPr id="24" name="e11_20"/>
          <p:cNvSpPr txBox="1"/>
          <p:nvPr/>
        </p:nvSpPr>
        <p:spPr>
          <a:xfrm>
            <a:off x="118872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dunkel gekleidet: 25 m</a:t>
            </a:r>
            <a:endParaRPr lang="en-US" sz="1800" dirty="0"/>
          </a:p>
        </p:txBody>
      </p:sp>
      <p:sp>
        <p:nvSpPr>
          <p:cNvPr id="25" name="e11_21"/>
          <p:cNvSpPr/>
          <p:nvPr/>
        </p:nvSpPr>
        <p:spPr>
          <a:xfrm>
            <a:off x="2286000" y="5596128"/>
            <a:ext cx="274320" cy="18288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26" name="e11_22"/>
          <p:cNvSpPr txBox="1"/>
          <p:nvPr/>
        </p:nvSpPr>
        <p:spPr>
          <a:xfrm>
            <a:off x="2651760" y="5513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Reaktionsweg</a:t>
            </a:r>
            <a:endParaRPr lang="en-US" sz="1600" dirty="0"/>
          </a:p>
        </p:txBody>
      </p:sp>
      <p:sp>
        <p:nvSpPr>
          <p:cNvPr id="27" name="e11_23"/>
          <p:cNvSpPr/>
          <p:nvPr/>
        </p:nvSpPr>
        <p:spPr>
          <a:xfrm>
            <a:off x="4389120" y="5596128"/>
            <a:ext cx="274320" cy="182880"/>
          </a:xfrm>
          <a:prstGeom prst="rect">
            <a:avLst/>
          </a:prstGeom>
          <a:solidFill>
            <a:srgbClr val="3FD17A"/>
          </a:solidFill>
          <a:ln/>
        </p:spPr>
      </p:sp>
      <p:sp>
        <p:nvSpPr>
          <p:cNvPr id="28" name="e11_24"/>
          <p:cNvSpPr/>
          <p:nvPr/>
        </p:nvSpPr>
        <p:spPr>
          <a:xfrm>
            <a:off x="4663440" y="5596128"/>
            <a:ext cx="274320" cy="18288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29" name="e11_25"/>
          <p:cNvSpPr txBox="1"/>
          <p:nvPr/>
        </p:nvSpPr>
        <p:spPr>
          <a:xfrm>
            <a:off x="5029200" y="5513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Bremsweg (normal): passt / zu lang</a:t>
            </a:r>
            <a:endParaRPr lang="en-US" sz="1600" dirty="0"/>
          </a:p>
        </p:txBody>
      </p:sp>
      <p:sp>
        <p:nvSpPr>
          <p:cNvPr id="30" name="e11_26"/>
          <p:cNvSpPr txBox="1"/>
          <p:nvPr/>
        </p:nvSpPr>
        <p:spPr>
          <a:xfrm>
            <a:off x="731520" y="5989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Nachts gilt: </a:t>
            </a:r>
            <a:pPr algn="l" indent="0" marL="0">
              <a:buNone/>
            </a:pPr>
            <a:r>
              <a:rPr lang="en-US" sz="2400" i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langsam, dass du im Licht anhalten kannst.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8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8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8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e12_1" descr="/tmp/claude-0/-home-user-Fahrlehrer-Kompass-/018b7d63-84f4-5712-a986-965872121e15/scratchpad/bau/art/fo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e12_2" descr="/tmp/claude-0/-home-user-Fahrlehrer-Kompass-/018b7d63-84f4-5712-a986-965872121e15/scratchpad/bau/art/fo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e12_3"/>
          <p:cNvSpPr/>
          <p:nvPr/>
        </p:nvSpPr>
        <p:spPr>
          <a:xfrm>
            <a:off x="6382512" y="3310128"/>
            <a:ext cx="530352" cy="274320"/>
          </a:xfrm>
          <a:prstGeom prst="roundRect">
            <a:avLst>
              <a:gd name="adj" fmla="val 26667"/>
            </a:avLst>
          </a:prstGeom>
          <a:solidFill>
            <a:srgbClr val="0E1116"/>
          </a:solidFill>
          <a:ln/>
        </p:spPr>
      </p:sp>
      <p:pic>
        <p:nvPicPr>
          <p:cNvPr id="7" name="e12_4" descr="/tmp/claude-0/-home-user-Fahrlehrer-Kompass-/018b7d63-84f4-5712-a986-965872121e15/scratchpad/bau/art/glow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3291840"/>
            <a:ext cx="274320" cy="274320"/>
          </a:xfrm>
          <a:prstGeom prst="rect">
            <a:avLst/>
          </a:prstGeom>
        </p:spPr>
      </p:pic>
      <p:pic>
        <p:nvPicPr>
          <p:cNvPr id="8" name="e12_5" descr="/tmp/claude-0/-home-user-Fahrlehrer-Kompass-/018b7d63-84f4-5712-a986-965872121e15/scratchpad/bau/art/glow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3291840"/>
            <a:ext cx="274320" cy="274320"/>
          </a:xfrm>
          <a:prstGeom prst="rect">
            <a:avLst/>
          </a:prstGeom>
        </p:spPr>
      </p:pic>
      <p:sp>
        <p:nvSpPr>
          <p:cNvPr id="9" name="e12_6"/>
          <p:cNvSpPr/>
          <p:nvPr/>
        </p:nvSpPr>
        <p:spPr>
          <a:xfrm>
            <a:off x="548640" y="502920"/>
            <a:ext cx="6583680" cy="1234440"/>
          </a:xfrm>
          <a:prstGeom prst="roundRect">
            <a:avLst>
              <a:gd name="adj" fmla="val 8889"/>
            </a:avLst>
          </a:prstGeom>
          <a:solidFill>
            <a:srgbClr val="07080B">
              <a:alpha val="75000"/>
            </a:srgbClr>
          </a:solidFill>
          <a:ln/>
        </p:spPr>
      </p:sp>
      <p:sp>
        <p:nvSpPr>
          <p:cNvPr id="10" name="e12_7"/>
          <p:cNvSpPr txBox="1"/>
          <p:nvPr/>
        </p:nvSpPr>
        <p:spPr>
          <a:xfrm>
            <a:off x="8229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NEBEL</a:t>
            </a:r>
            <a:endParaRPr lang="en-US" sz="1300" dirty="0"/>
          </a:p>
        </p:txBody>
      </p:sp>
      <p:sp>
        <p:nvSpPr>
          <p:cNvPr id="11" name="e12_8"/>
          <p:cNvSpPr txBox="1"/>
          <p:nvPr/>
        </p:nvSpPr>
        <p:spPr>
          <a:xfrm>
            <a:off x="777240" y="10058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viel siehst du noch?</a:t>
            </a:r>
            <a:endParaRPr lang="en-US" sz="4000" dirty="0"/>
          </a:p>
        </p:txBody>
      </p:sp>
      <p:sp>
        <p:nvSpPr>
          <p:cNvPr id="12" name="e12_9"/>
          <p:cNvSpPr/>
          <p:nvPr/>
        </p:nvSpPr>
        <p:spPr>
          <a:xfrm>
            <a:off x="548640" y="5440680"/>
            <a:ext cx="3474720" cy="960120"/>
          </a:xfrm>
          <a:prstGeom prst="roundRect">
            <a:avLst>
              <a:gd name="adj" fmla="val 11429"/>
            </a:avLst>
          </a:prstGeom>
          <a:solidFill>
            <a:srgbClr val="0B0D11">
              <a:alpha val="92000"/>
            </a:srgbClr>
          </a:solidFill>
          <a:ln w="19050">
            <a:solidFill>
              <a:srgbClr val="CDD3DC"/>
            </a:solidFill>
            <a:prstDash val="solid"/>
          </a:ln>
        </p:spPr>
      </p:sp>
      <p:sp>
        <p:nvSpPr>
          <p:cNvPr id="13" name="e12_10"/>
          <p:cNvSpPr txBox="1"/>
          <p:nvPr/>
        </p:nvSpPr>
        <p:spPr>
          <a:xfrm>
            <a:off x="731520" y="5504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Nacht</a:t>
            </a:r>
            <a:endParaRPr lang="en-US" sz="1700" dirty="0"/>
          </a:p>
        </p:txBody>
      </p:sp>
      <p:sp>
        <p:nvSpPr>
          <p:cNvPr id="14" name="e12_11"/>
          <p:cNvSpPr txBox="1"/>
          <p:nvPr/>
        </p:nvSpPr>
        <p:spPr>
          <a:xfrm>
            <a:off x="731520" y="58338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Abblendlicht, Fernlicht wenn frei</a:t>
            </a:r>
            <a:endParaRPr lang="en-US" sz="1600" dirty="0"/>
          </a:p>
        </p:txBody>
      </p:sp>
      <p:sp>
        <p:nvSpPr>
          <p:cNvPr id="15" name="e12_12"/>
          <p:cNvSpPr/>
          <p:nvPr/>
        </p:nvSpPr>
        <p:spPr>
          <a:xfrm>
            <a:off x="4361688" y="5440680"/>
            <a:ext cx="3474720" cy="960120"/>
          </a:xfrm>
          <a:prstGeom prst="roundRect">
            <a:avLst>
              <a:gd name="adj" fmla="val 11429"/>
            </a:avLst>
          </a:prstGeom>
          <a:solidFill>
            <a:srgbClr val="0B0D11">
              <a:alpha val="92000"/>
            </a:srgbClr>
          </a:solidFill>
          <a:ln w="19050">
            <a:solidFill>
              <a:srgbClr val="FFB547"/>
            </a:solidFill>
            <a:prstDash val="solid"/>
          </a:ln>
        </p:spPr>
      </p:sp>
      <p:sp>
        <p:nvSpPr>
          <p:cNvPr id="16" name="e12_13"/>
          <p:cNvSpPr txBox="1"/>
          <p:nvPr/>
        </p:nvSpPr>
        <p:spPr>
          <a:xfrm>
            <a:off x="4544568" y="5504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Starke Sichtbehinderung</a:t>
            </a:r>
            <a:endParaRPr lang="en-US" sz="1700" dirty="0"/>
          </a:p>
        </p:txBody>
      </p:sp>
      <p:sp>
        <p:nvSpPr>
          <p:cNvPr id="17" name="e12_14"/>
          <p:cNvSpPr txBox="1"/>
          <p:nvPr/>
        </p:nvSpPr>
        <p:spPr>
          <a:xfrm>
            <a:off x="4544568" y="58338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Abblendlicht, kein Fernlicht! Nebelscheinwerfer erlaubt</a:t>
            </a:r>
            <a:endParaRPr lang="en-US" sz="1600" dirty="0"/>
          </a:p>
        </p:txBody>
      </p:sp>
      <p:sp>
        <p:nvSpPr>
          <p:cNvPr id="18" name="e12_15"/>
          <p:cNvSpPr/>
          <p:nvPr/>
        </p:nvSpPr>
        <p:spPr>
          <a:xfrm>
            <a:off x="8165592" y="5440680"/>
            <a:ext cx="3474720" cy="960120"/>
          </a:xfrm>
          <a:prstGeom prst="roundRect">
            <a:avLst>
              <a:gd name="adj" fmla="val 11429"/>
            </a:avLst>
          </a:prstGeom>
          <a:solidFill>
            <a:srgbClr val="0B0D11">
              <a:alpha val="92000"/>
            </a:srgbClr>
          </a:solidFill>
          <a:ln w="19050">
            <a:solidFill>
              <a:srgbClr val="FF4D4D"/>
            </a:solidFill>
            <a:prstDash val="solid"/>
          </a:ln>
        </p:spPr>
      </p:sp>
      <p:sp>
        <p:nvSpPr>
          <p:cNvPr id="19" name="e12_16"/>
          <p:cNvSpPr txBox="1"/>
          <p:nvPr/>
        </p:nvSpPr>
        <p:spPr>
          <a:xfrm>
            <a:off x="8348472" y="5504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Nebel, Sicht unter 50 m</a:t>
            </a:r>
            <a:endParaRPr lang="en-US" sz="1700" dirty="0"/>
          </a:p>
        </p:txBody>
      </p:sp>
      <p:sp>
        <p:nvSpPr>
          <p:cNvPr id="20" name="e12_17"/>
          <p:cNvSpPr txBox="1"/>
          <p:nvPr/>
        </p:nvSpPr>
        <p:spPr>
          <a:xfrm>
            <a:off x="8348472" y="58338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50 km/h + Nebelschlussleuchte</a:t>
            </a:r>
            <a:endParaRPr lang="en-US" sz="1600" dirty="0"/>
          </a:p>
        </p:txBody>
      </p:sp>
      <p:sp>
        <p:nvSpPr>
          <p:cNvPr id="21" name="e12_18"/>
          <p:cNvSpPr txBox="1"/>
          <p:nvPr/>
        </p:nvSpPr>
        <p:spPr>
          <a:xfrm>
            <a:off x="7799832" y="685800"/>
            <a:ext cx="3840480" cy="548640"/>
          </a:xfrm>
          <a:prstGeom prst="roundRect">
            <a:avLst>
              <a:gd name="adj" fmla="val 41667"/>
            </a:avLst>
          </a:prstGeom>
          <a:solidFill>
            <a:srgbClr val="07080B">
              <a:alpha val="85000"/>
            </a:srgbClr>
          </a:solidFill>
          <a:ln w="12700">
            <a:solidFill>
              <a:srgbClr val="FF7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Trick: Leitpfosten alle 50 m (gerade Strecke)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6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e13_1"/>
          <p:cNvSpPr txBox="1"/>
          <p:nvPr/>
        </p:nvSpPr>
        <p:spPr>
          <a:xfrm>
            <a:off x="731520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 DIR EINE ZAHL</a:t>
            </a:r>
            <a:endParaRPr lang="en-US" sz="1300" dirty="0"/>
          </a:p>
        </p:txBody>
      </p:sp>
      <p:sp>
        <p:nvSpPr>
          <p:cNvPr id="5" name="e13_2"/>
          <p:cNvSpPr/>
          <p:nvPr/>
        </p:nvSpPr>
        <p:spPr>
          <a:xfrm>
            <a:off x="1051560" y="1737360"/>
            <a:ext cx="2834640" cy="2834640"/>
          </a:xfrm>
          <a:prstGeom prst="ellipse">
            <a:avLst/>
          </a:prstGeom>
          <a:solidFill>
            <a:srgbClr val="12161E"/>
          </a:solidFill>
          <a:ln w="50800">
            <a:solidFill>
              <a:srgbClr val="FF7A1A"/>
            </a:solidFill>
            <a:prstDash val="solid"/>
          </a:ln>
        </p:spPr>
      </p:sp>
      <p:sp>
        <p:nvSpPr>
          <p:cNvPr id="6" name="e13_3"/>
          <p:cNvSpPr txBox="1"/>
          <p:nvPr/>
        </p:nvSpPr>
        <p:spPr>
          <a:xfrm>
            <a:off x="114300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 unter</a:t>
            </a:r>
            <a:endParaRPr lang="en-US" sz="1700" dirty="0"/>
          </a:p>
        </p:txBody>
      </p:sp>
      <p:sp>
        <p:nvSpPr>
          <p:cNvPr id="7" name="e13_4"/>
          <p:cNvSpPr txBox="1"/>
          <p:nvPr/>
        </p:nvSpPr>
        <p:spPr>
          <a:xfrm>
            <a:off x="1051560" y="26060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pPr algn="ctr" indent="0" marL="0">
              <a:buNone/>
            </a:pPr>
            <a:r>
              <a:rPr lang="en-US" sz="26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endParaRPr lang="en-US" sz="2000" dirty="0"/>
          </a:p>
        </p:txBody>
      </p:sp>
      <p:sp>
        <p:nvSpPr>
          <p:cNvPr id="8" name="e13_5"/>
          <p:cNvSpPr/>
          <p:nvPr/>
        </p:nvSpPr>
        <p:spPr>
          <a:xfrm>
            <a:off x="4617720" y="1737360"/>
            <a:ext cx="2834640" cy="2834640"/>
          </a:xfrm>
          <a:prstGeom prst="ellipse">
            <a:avLst/>
          </a:prstGeom>
          <a:solidFill>
            <a:srgbClr val="12161E"/>
          </a:solidFill>
          <a:ln w="50800">
            <a:solidFill>
              <a:srgbClr val="FF7A1A"/>
            </a:solidFill>
            <a:prstDash val="solid"/>
          </a:ln>
        </p:spPr>
      </p:sp>
      <p:sp>
        <p:nvSpPr>
          <p:cNvPr id="9" name="e13_6"/>
          <p:cNvSpPr txBox="1"/>
          <p:nvPr/>
        </p:nvSpPr>
        <p:spPr>
          <a:xfrm>
            <a:off x="470916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höchstens</a:t>
            </a:r>
            <a:endParaRPr lang="en-US" sz="1700" dirty="0"/>
          </a:p>
        </p:txBody>
      </p:sp>
      <p:sp>
        <p:nvSpPr>
          <p:cNvPr id="10" name="e13_7"/>
          <p:cNvSpPr txBox="1"/>
          <p:nvPr/>
        </p:nvSpPr>
        <p:spPr>
          <a:xfrm>
            <a:off x="4617720" y="26060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pPr algn="ctr" indent="0" marL="0">
              <a:buNone/>
            </a:pPr>
            <a:r>
              <a:rPr lang="en-US" sz="26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km/h</a:t>
            </a:r>
            <a:endParaRPr lang="en-US" sz="2000" dirty="0"/>
          </a:p>
        </p:txBody>
      </p:sp>
      <p:sp>
        <p:nvSpPr>
          <p:cNvPr id="11" name="e13_8"/>
          <p:cNvSpPr/>
          <p:nvPr/>
        </p:nvSpPr>
        <p:spPr>
          <a:xfrm>
            <a:off x="8183880" y="1737360"/>
            <a:ext cx="2834640" cy="2834640"/>
          </a:xfrm>
          <a:prstGeom prst="ellipse">
            <a:avLst/>
          </a:prstGeom>
          <a:solidFill>
            <a:srgbClr val="12161E"/>
          </a:solidFill>
          <a:ln w="50800">
            <a:solidFill>
              <a:srgbClr val="FF4D4D"/>
            </a:solidFill>
            <a:prstDash val="solid"/>
          </a:ln>
        </p:spPr>
      </p:sp>
      <p:sp>
        <p:nvSpPr>
          <p:cNvPr id="12" name="e13_9"/>
          <p:cNvSpPr txBox="1"/>
          <p:nvPr/>
        </p:nvSpPr>
        <p:spPr>
          <a:xfrm>
            <a:off x="827532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Nebelschlussleuchte</a:t>
            </a:r>
            <a:endParaRPr lang="en-US" sz="1700" dirty="0"/>
          </a:p>
        </p:txBody>
      </p:sp>
      <p:sp>
        <p:nvSpPr>
          <p:cNvPr id="13" name="e13_10"/>
          <p:cNvSpPr txBox="1"/>
          <p:nvPr/>
        </p:nvSpPr>
        <p:spPr>
          <a:xfrm>
            <a:off x="8183880" y="26060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DARF AN</a:t>
            </a:r>
            <a:pPr algn="ctr" indent="0" marL="0">
              <a:buNone/>
            </a:pPr>
            <a:endParaRPr lang="en-US" sz="2000" dirty="0"/>
          </a:p>
        </p:txBody>
      </p:sp>
      <p:sp>
        <p:nvSpPr>
          <p:cNvPr id="14" name="e13_11"/>
          <p:cNvSpPr txBox="1"/>
          <p:nvPr/>
        </p:nvSpPr>
        <p:spPr>
          <a:xfrm>
            <a:off x="731520" y="5120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Höchstens heißt: oft langsamer. Nebelschlussleuchte nur bei Nebel.</a:t>
            </a:r>
            <a:endParaRPr lang="en-US" sz="28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80" fill="hold" ac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80" fill="hold" ac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28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380" fill="hold" ac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380" fill="hold" ac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28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380" fill="hold" ac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380" fill="hold" ac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28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pic>
        <p:nvPicPr>
          <p:cNvPr id="5" name="e14_1" descr="/tmp/claude-0/-home-user-Fahrlehrer-Kompass-/018b7d63-84f4-5712-a986-965872121e15/scratchpad/bau/art/vz_142_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3291840" cy="2855671"/>
          </a:xfrm>
          <a:prstGeom prst="rect">
            <a:avLst/>
          </a:prstGeom>
        </p:spPr>
      </p:pic>
      <p:sp>
        <p:nvSpPr>
          <p:cNvPr id="6" name="e14_2"/>
          <p:cNvSpPr txBox="1"/>
          <p:nvPr/>
        </p:nvSpPr>
        <p:spPr>
          <a:xfrm>
            <a:off x="47548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ZEICHEN 142-10 · WILDWECHSEL</a:t>
            </a:r>
            <a:endParaRPr lang="en-US" sz="1300" dirty="0"/>
          </a:p>
        </p:txBody>
      </p:sp>
      <p:sp>
        <p:nvSpPr>
          <p:cNvPr id="7" name="e14_3"/>
          <p:cNvSpPr txBox="1"/>
          <p:nvPr/>
        </p:nvSpPr>
        <p:spPr>
          <a:xfrm>
            <a:off x="4709160" y="1463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 im Licht. Was tust du?</a:t>
            </a:r>
            <a:endParaRPr lang="en-US" sz="4000" dirty="0"/>
          </a:p>
        </p:txBody>
      </p:sp>
      <p:sp>
        <p:nvSpPr>
          <p:cNvPr id="8" name="e14_4"/>
          <p:cNvSpPr txBox="1"/>
          <p:nvPr/>
        </p:nvSpPr>
        <p:spPr>
          <a:xfrm>
            <a:off x="4754880" y="2606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e14_5"/>
          <p:cNvSpPr txBox="1"/>
          <p:nvPr/>
        </p:nvSpPr>
        <p:spPr>
          <a:xfrm>
            <a:off x="534924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Abblenden</a:t>
            </a:r>
            <a:endParaRPr lang="en-US" sz="3200" dirty="0"/>
          </a:p>
        </p:txBody>
      </p:sp>
      <p:sp>
        <p:nvSpPr>
          <p:cNvPr id="10" name="e14_6"/>
          <p:cNvSpPr txBox="1"/>
          <p:nvPr/>
        </p:nvSpPr>
        <p:spPr>
          <a:xfrm>
            <a:off x="4754880" y="3383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e14_7"/>
          <p:cNvSpPr txBox="1"/>
          <p:nvPr/>
        </p:nvSpPr>
        <p:spPr>
          <a:xfrm>
            <a:off x="5349240" y="3383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Bremsen</a:t>
            </a:r>
            <a:endParaRPr lang="en-US" sz="3200" dirty="0"/>
          </a:p>
        </p:txBody>
      </p:sp>
      <p:sp>
        <p:nvSpPr>
          <p:cNvPr id="12" name="e14_8"/>
          <p:cNvSpPr txBox="1"/>
          <p:nvPr/>
        </p:nvSpPr>
        <p:spPr>
          <a:xfrm>
            <a:off x="4754880" y="4160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e14_9"/>
          <p:cNvSpPr txBox="1"/>
          <p:nvPr/>
        </p:nvSpPr>
        <p:spPr>
          <a:xfrm>
            <a:off x="534924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Hupen</a:t>
            </a:r>
            <a:endParaRPr lang="en-US" sz="3200" dirty="0"/>
          </a:p>
        </p:txBody>
      </p:sp>
      <p:sp>
        <p:nvSpPr>
          <p:cNvPr id="14" name="e14_10"/>
          <p:cNvSpPr txBox="1"/>
          <p:nvPr/>
        </p:nvSpPr>
        <p:spPr>
          <a:xfrm rot="-180000">
            <a:off x="914400" y="4754880"/>
            <a:ext cx="4754880" cy="868680"/>
          </a:xfrm>
          <a:prstGeom prst="roundRect">
            <a:avLst>
              <a:gd name="adj" fmla="val 21053"/>
            </a:avLst>
          </a:prstGeom>
          <a:solidFill>
            <a:srgbClr val="FF4D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200" kern="0" dirty="0">
                <a:solidFill>
                  <a:srgbClr val="FFFFFF"/>
                </a:solidFill>
                <a:effectLst>
                  <a:glow rad="203200">
                    <a:srgbClr val="FF4D4D">
                      <a:alpha val="450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NICHT AUSWEICHEN!</a:t>
            </a:r>
            <a:endParaRPr lang="en-US" sz="3400" dirty="0"/>
          </a:p>
        </p:txBody>
      </p:sp>
      <p:sp>
        <p:nvSpPr>
          <p:cNvPr id="15" name="e14_11"/>
          <p:cNvSpPr txBox="1"/>
          <p:nvPr/>
        </p:nvSpPr>
        <p:spPr>
          <a:xfrm>
            <a:off x="6126480" y="47548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kommt selten allein.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Nachzüglern rechnen.</a:t>
            </a:r>
            <a:endParaRPr lang="en-US" sz="2000" dirty="0"/>
          </a:p>
        </p:txBody>
      </p:sp>
      <p:sp>
        <p:nvSpPr>
          <p:cNvPr id="16" name="e14_12"/>
          <p:cNvSpPr txBox="1"/>
          <p:nvPr/>
        </p:nvSpPr>
        <p:spPr>
          <a:xfrm>
            <a:off x="91440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Gekracht? </a:t>
            </a:r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Warnblinker, absichern, Polizei 110. Tier nicht anfassen.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420" fill="hold" ac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420" fill="hold" ac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15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LICHT &amp; SICHT</a:t>
            </a:r>
            <a:endParaRPr lang="en-US" sz="1300" dirty="0"/>
          </a:p>
        </p:txBody>
      </p:sp>
      <p:sp>
        <p:nvSpPr>
          <p:cNvPr id="6" name="e15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Fragen, drei Antworten</a:t>
            </a:r>
            <a:endParaRPr lang="en-US" sz="4000" dirty="0"/>
          </a:p>
        </p:txBody>
      </p:sp>
      <p:sp>
        <p:nvSpPr>
          <p:cNvPr id="7" name="e15_3"/>
          <p:cNvSpPr/>
          <p:nvPr/>
        </p:nvSpPr>
        <p:spPr>
          <a:xfrm>
            <a:off x="731520" y="2350008"/>
            <a:ext cx="658368" cy="658368"/>
          </a:xfrm>
          <a:prstGeom prst="ellipse">
            <a:avLst/>
          </a:prstGeom>
          <a:solidFill>
            <a:srgbClr val="1A202B"/>
          </a:solidFill>
          <a:ln w="25400">
            <a:solidFill>
              <a:srgbClr val="FF7A1A"/>
            </a:solidFill>
            <a:prstDash val="solid"/>
          </a:ln>
        </p:spPr>
      </p:sp>
      <p:sp>
        <p:nvSpPr>
          <p:cNvPr id="8" name="e15_4"/>
          <p:cNvSpPr txBox="1"/>
          <p:nvPr/>
        </p:nvSpPr>
        <p:spPr>
          <a:xfrm>
            <a:off x="731520" y="2350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e15_5"/>
          <p:cNvSpPr txBox="1"/>
          <p:nvPr/>
        </p:nvSpPr>
        <p:spPr>
          <a:xfrm>
            <a:off x="1645920" y="2240280"/>
            <a:ext cx="5074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Darfst du mit Standlicht fahren?</a:t>
            </a:r>
            <a:endParaRPr lang="en-US" sz="2000" dirty="0"/>
          </a:p>
        </p:txBody>
      </p:sp>
      <p:sp>
        <p:nvSpPr>
          <p:cNvPr id="10" name="e15_6"/>
          <p:cNvSpPr/>
          <p:nvPr/>
        </p:nvSpPr>
        <p:spPr>
          <a:xfrm>
            <a:off x="6903720" y="2267712"/>
            <a:ext cx="4572000" cy="822960"/>
          </a:xfrm>
          <a:prstGeom prst="roundRect">
            <a:avLst>
              <a:gd name="adj" fmla="val 15556"/>
            </a:avLst>
          </a:prstGeom>
          <a:solidFill>
            <a:srgbClr val="FF7A1A"/>
          </a:solidFill>
          <a:ln/>
        </p:spPr>
      </p:sp>
      <p:sp>
        <p:nvSpPr>
          <p:cNvPr id="11" name="e15_7"/>
          <p:cNvSpPr txBox="1"/>
          <p:nvPr/>
        </p:nvSpPr>
        <p:spPr>
          <a:xfrm>
            <a:off x="7132320" y="22677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Nein. Nur zum Halten oder Parken.</a:t>
            </a:r>
            <a:endParaRPr lang="en-US" sz="1800" dirty="0"/>
          </a:p>
        </p:txBody>
      </p:sp>
      <p:sp>
        <p:nvSpPr>
          <p:cNvPr id="12" name="e15_8"/>
          <p:cNvSpPr/>
          <p:nvPr/>
        </p:nvSpPr>
        <p:spPr>
          <a:xfrm>
            <a:off x="731520" y="3721608"/>
            <a:ext cx="658368" cy="658368"/>
          </a:xfrm>
          <a:prstGeom prst="ellipse">
            <a:avLst/>
          </a:prstGeom>
          <a:solidFill>
            <a:srgbClr val="1A202B"/>
          </a:solidFill>
          <a:ln w="25400">
            <a:solidFill>
              <a:srgbClr val="FF7A1A"/>
            </a:solidFill>
            <a:prstDash val="solid"/>
          </a:ln>
        </p:spPr>
      </p:sp>
      <p:sp>
        <p:nvSpPr>
          <p:cNvPr id="13" name="e15_9"/>
          <p:cNvSpPr txBox="1"/>
          <p:nvPr/>
        </p:nvSpPr>
        <p:spPr>
          <a:xfrm>
            <a:off x="731520" y="3721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e15_10"/>
          <p:cNvSpPr txBox="1"/>
          <p:nvPr/>
        </p:nvSpPr>
        <p:spPr>
          <a:xfrm>
            <a:off x="1645920" y="3611880"/>
            <a:ext cx="5074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darf die Nebelschlussleuchte an?</a:t>
            </a:r>
            <a:endParaRPr lang="en-US" sz="2000" dirty="0"/>
          </a:p>
        </p:txBody>
      </p:sp>
      <p:sp>
        <p:nvSpPr>
          <p:cNvPr id="15" name="e15_11"/>
          <p:cNvSpPr/>
          <p:nvPr/>
        </p:nvSpPr>
        <p:spPr>
          <a:xfrm>
            <a:off x="6903720" y="3639312"/>
            <a:ext cx="4572000" cy="822960"/>
          </a:xfrm>
          <a:prstGeom prst="roundRect">
            <a:avLst>
              <a:gd name="adj" fmla="val 15556"/>
            </a:avLst>
          </a:prstGeom>
          <a:solidFill>
            <a:srgbClr val="FF7A1A"/>
          </a:solidFill>
          <a:ln/>
        </p:spPr>
      </p:sp>
      <p:sp>
        <p:nvSpPr>
          <p:cNvPr id="16" name="e15_12"/>
          <p:cNvSpPr txBox="1"/>
          <p:nvPr/>
        </p:nvSpPr>
        <p:spPr>
          <a:xfrm>
            <a:off x="7132320" y="36393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bei Nebel und Sicht unter 50 m.</a:t>
            </a:r>
            <a:endParaRPr lang="en-US" sz="1800" dirty="0"/>
          </a:p>
        </p:txBody>
      </p:sp>
      <p:sp>
        <p:nvSpPr>
          <p:cNvPr id="17" name="e15_13"/>
          <p:cNvSpPr/>
          <p:nvPr/>
        </p:nvSpPr>
        <p:spPr>
          <a:xfrm>
            <a:off x="731520" y="5093208"/>
            <a:ext cx="658368" cy="658368"/>
          </a:xfrm>
          <a:prstGeom prst="ellipse">
            <a:avLst/>
          </a:prstGeom>
          <a:solidFill>
            <a:srgbClr val="1A202B"/>
          </a:solidFill>
          <a:ln w="25400">
            <a:solidFill>
              <a:srgbClr val="FF7A1A"/>
            </a:solidFill>
            <a:prstDash val="solid"/>
          </a:ln>
        </p:spPr>
      </p:sp>
      <p:sp>
        <p:nvSpPr>
          <p:cNvPr id="18" name="e15_14"/>
          <p:cNvSpPr txBox="1"/>
          <p:nvPr/>
        </p:nvSpPr>
        <p:spPr>
          <a:xfrm>
            <a:off x="731520" y="5093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e15_15"/>
          <p:cNvSpPr txBox="1"/>
          <p:nvPr/>
        </p:nvSpPr>
        <p:spPr>
          <a:xfrm>
            <a:off x="1645920" y="4983480"/>
            <a:ext cx="5074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wirst geblendet. Wohin schaust du?</a:t>
            </a:r>
            <a:endParaRPr lang="en-US" sz="2000" dirty="0"/>
          </a:p>
        </p:txBody>
      </p:sp>
      <p:sp>
        <p:nvSpPr>
          <p:cNvPr id="20" name="e15_16"/>
          <p:cNvSpPr/>
          <p:nvPr/>
        </p:nvSpPr>
        <p:spPr>
          <a:xfrm>
            <a:off x="6903720" y="5010912"/>
            <a:ext cx="4572000" cy="822960"/>
          </a:xfrm>
          <a:prstGeom prst="roundRect">
            <a:avLst>
              <a:gd name="adj" fmla="val 15556"/>
            </a:avLst>
          </a:prstGeom>
          <a:solidFill>
            <a:srgbClr val="FF7A1A"/>
          </a:solidFill>
          <a:ln/>
        </p:spPr>
      </p:sp>
      <p:sp>
        <p:nvSpPr>
          <p:cNvPr id="21" name="e15_17"/>
          <p:cNvSpPr txBox="1"/>
          <p:nvPr/>
        </p:nvSpPr>
        <p:spPr>
          <a:xfrm>
            <a:off x="7132320" y="50109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rechten Fahrbahnrand.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6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6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6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6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e16_1" descr="/tmp/claude-0/-home-user-Fahrlehrer-Kompass-/018b7d63-84f4-5712-a986-965872121e15/scratchpad/bau/art/glow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0"/>
            <a:ext cx="3474720" cy="3474720"/>
          </a:xfrm>
          <a:prstGeom prst="rect">
            <a:avLst/>
          </a:prstGeom>
        </p:spPr>
      </p:pic>
      <p:pic>
        <p:nvPicPr>
          <p:cNvPr id="5" name="e16_2" descr="/tmp/claude-0/-home-user-Fahrlehrer-Kompass-/018b7d63-84f4-5712-a986-965872121e15/scratchpad/bau/art/glow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463040"/>
            <a:ext cx="2560320" cy="2560320"/>
          </a:xfrm>
          <a:prstGeom prst="rect">
            <a:avLst/>
          </a:prstGeom>
        </p:spPr>
      </p:pic>
      <p:sp>
        <p:nvSpPr>
          <p:cNvPr id="6" name="e16_3"/>
          <p:cNvSpPr txBox="1"/>
          <p:nvPr/>
        </p:nvSpPr>
        <p:spPr>
          <a:xfrm>
            <a:off x="73152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4A8BFF"/>
                </a:solidFill>
                <a:effectLst>
                  <a:glow rad="228600">
                    <a:srgbClr val="4A8BFF">
                      <a:alpha val="30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e16_4"/>
          <p:cNvSpPr txBox="1"/>
          <p:nvPr/>
        </p:nvSpPr>
        <p:spPr>
          <a:xfrm>
            <a:off x="731520" y="3611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Blaulicht</a:t>
            </a:r>
            <a:endParaRPr lang="en-US" sz="6600" dirty="0"/>
          </a:p>
        </p:txBody>
      </p:sp>
      <p:sp>
        <p:nvSpPr>
          <p:cNvPr id="8" name="e16_5"/>
          <p:cNvSpPr txBox="1"/>
          <p:nvPr/>
        </p:nvSpPr>
        <p:spPr>
          <a:xfrm>
            <a:off x="777240" y="4846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Platz machen, ohne Panik</a:t>
            </a:r>
            <a:endParaRPr lang="en-US" sz="24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5" presetClass="emph" presetSubtype="0" fill="hold" nodeType="withEffect" repeatCount="indefinite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9" dur="7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35" presetClass="emph" presetSubtype="0" fill="hold" nodeType="withEffect" repeatCount="indefinite">
                                  <p:stCondLst>
                                    <p:cond delay="35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21" dur="7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17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4A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38 STVO</a:t>
            </a:r>
            <a:endParaRPr lang="en-US" sz="1300" dirty="0"/>
          </a:p>
        </p:txBody>
      </p:sp>
      <p:sp>
        <p:nvSpPr>
          <p:cNvPr id="6" name="e17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Welches Licht will was von dir?</a:t>
            </a:r>
            <a:endParaRPr lang="en-US" sz="4000" dirty="0"/>
          </a:p>
        </p:txBody>
      </p:sp>
      <p:sp>
        <p:nvSpPr>
          <p:cNvPr id="7" name="e17_3"/>
          <p:cNvSpPr/>
          <p:nvPr/>
        </p:nvSpPr>
        <p:spPr>
          <a:xfrm>
            <a:off x="731520" y="2377440"/>
            <a:ext cx="3429000" cy="3749040"/>
          </a:xfrm>
          <a:prstGeom prst="roundRect">
            <a:avLst>
              <a:gd name="adj" fmla="val 3733"/>
            </a:avLst>
          </a:prstGeom>
          <a:solidFill>
            <a:srgbClr val="12161E"/>
          </a:solidFill>
          <a:ln w="19050">
            <a:solidFill>
              <a:srgbClr val="4A8BFF"/>
            </a:solidFill>
            <a:prstDash val="solid"/>
          </a:ln>
        </p:spPr>
      </p:sp>
      <p:pic>
        <p:nvPicPr>
          <p:cNvPr id="8" name="e17_4" descr="/tmp/claude-0/-home-user-Fahrlehrer-Kompass-/018b7d63-84f4-5712-a986-965872121e15/scratchpad/bau/art/glow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377440"/>
            <a:ext cx="1691640" cy="1691640"/>
          </a:xfrm>
          <a:prstGeom prst="rect">
            <a:avLst/>
          </a:prstGeom>
        </p:spPr>
      </p:pic>
      <p:pic>
        <p:nvPicPr>
          <p:cNvPr id="9" name="e17_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606040"/>
            <a:ext cx="502920" cy="502920"/>
          </a:xfrm>
          <a:prstGeom prst="rect">
            <a:avLst/>
          </a:prstGeom>
        </p:spPr>
      </p:pic>
      <p:sp>
        <p:nvSpPr>
          <p:cNvPr id="10" name="e17_6"/>
          <p:cNvSpPr txBox="1"/>
          <p:nvPr/>
        </p:nvSpPr>
        <p:spPr>
          <a:xfrm>
            <a:off x="960120" y="4114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Blaulicht + Horn</a:t>
            </a:r>
            <a:endParaRPr lang="en-US" sz="2400" dirty="0"/>
          </a:p>
        </p:txBody>
      </p:sp>
      <p:sp>
        <p:nvSpPr>
          <p:cNvPr id="11" name="e17_7"/>
          <p:cNvSpPr txBox="1"/>
          <p:nvPr/>
        </p:nvSpPr>
        <p:spPr>
          <a:xfrm>
            <a:off x="960120" y="4663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 freie Bahn schaffen</a:t>
            </a:r>
            <a:endParaRPr lang="en-US" sz="1700" dirty="0"/>
          </a:p>
        </p:txBody>
      </p:sp>
      <p:sp>
        <p:nvSpPr>
          <p:cNvPr id="12" name="e17_8"/>
          <p:cNvSpPr txBox="1"/>
          <p:nvPr/>
        </p:nvSpPr>
        <p:spPr>
          <a:xfrm>
            <a:off x="1371600" y="544068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4A8B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Wegerecht</a:t>
            </a:r>
            <a:endParaRPr lang="en-US" sz="1700" dirty="0"/>
          </a:p>
        </p:txBody>
      </p:sp>
      <p:sp>
        <p:nvSpPr>
          <p:cNvPr id="13" name="e17_9"/>
          <p:cNvSpPr/>
          <p:nvPr/>
        </p:nvSpPr>
        <p:spPr>
          <a:xfrm>
            <a:off x="4361688" y="2377440"/>
            <a:ext cx="3429000" cy="3749040"/>
          </a:xfrm>
          <a:prstGeom prst="roundRect">
            <a:avLst>
              <a:gd name="adj" fmla="val 3733"/>
            </a:avLst>
          </a:prstGeom>
          <a:solidFill>
            <a:srgbClr val="12161E"/>
          </a:solidFill>
          <a:ln w="19050">
            <a:solidFill>
              <a:srgbClr val="4A8BFF"/>
            </a:solidFill>
            <a:prstDash val="solid"/>
          </a:ln>
        </p:spPr>
      </p:sp>
      <p:pic>
        <p:nvPicPr>
          <p:cNvPr id="14" name="e17_10" descr="/tmp/claude-0/-home-user-Fahrlehrer-Kompass-/018b7d63-84f4-5712-a986-965872121e15/scratchpad/bau/art/glow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2377440"/>
            <a:ext cx="1691640" cy="1691640"/>
          </a:xfrm>
          <a:prstGeom prst="rect">
            <a:avLst/>
          </a:prstGeom>
        </p:spPr>
      </p:pic>
      <p:sp>
        <p:nvSpPr>
          <p:cNvPr id="15" name="e17_11"/>
          <p:cNvSpPr txBox="1"/>
          <p:nvPr/>
        </p:nvSpPr>
        <p:spPr>
          <a:xfrm>
            <a:off x="4590288" y="4114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Blaulicht allein</a:t>
            </a:r>
            <a:endParaRPr lang="en-US" sz="2400" dirty="0"/>
          </a:p>
        </p:txBody>
      </p:sp>
      <p:sp>
        <p:nvSpPr>
          <p:cNvPr id="16" name="e17_12"/>
          <p:cNvSpPr txBox="1"/>
          <p:nvPr/>
        </p:nvSpPr>
        <p:spPr>
          <a:xfrm>
            <a:off x="4590288" y="4663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Warnung, z. B. Unfallstelle</a:t>
            </a:r>
            <a:endParaRPr lang="en-US" sz="1700" dirty="0"/>
          </a:p>
        </p:txBody>
      </p:sp>
      <p:sp>
        <p:nvSpPr>
          <p:cNvPr id="17" name="e17_13"/>
          <p:cNvSpPr txBox="1"/>
          <p:nvPr/>
        </p:nvSpPr>
        <p:spPr>
          <a:xfrm>
            <a:off x="5001768" y="544068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4A8B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Aufpassen</a:t>
            </a:r>
            <a:endParaRPr lang="en-US" sz="1700" dirty="0"/>
          </a:p>
        </p:txBody>
      </p:sp>
      <p:sp>
        <p:nvSpPr>
          <p:cNvPr id="18" name="e17_14"/>
          <p:cNvSpPr/>
          <p:nvPr/>
        </p:nvSpPr>
        <p:spPr>
          <a:xfrm>
            <a:off x="7991856" y="2377440"/>
            <a:ext cx="3429000" cy="3749040"/>
          </a:xfrm>
          <a:prstGeom prst="roundRect">
            <a:avLst>
              <a:gd name="adj" fmla="val 3733"/>
            </a:avLst>
          </a:prstGeom>
          <a:solidFill>
            <a:srgbClr val="12161E"/>
          </a:solidFill>
          <a:ln w="19050">
            <a:solidFill>
              <a:srgbClr val="FFB547"/>
            </a:solidFill>
            <a:prstDash val="solid"/>
          </a:ln>
        </p:spPr>
      </p:sp>
      <p:pic>
        <p:nvPicPr>
          <p:cNvPr id="19" name="e17_15" descr="/tmp/claude-0/-home-user-Fahrlehrer-Kompass-/018b7d63-84f4-5712-a986-965872121e15/scratchpad/bau/art/glow_yell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36" y="2377440"/>
            <a:ext cx="1691640" cy="1691640"/>
          </a:xfrm>
          <a:prstGeom prst="rect">
            <a:avLst/>
          </a:prstGeom>
        </p:spPr>
      </p:pic>
      <p:sp>
        <p:nvSpPr>
          <p:cNvPr id="20" name="e17_16"/>
          <p:cNvSpPr txBox="1"/>
          <p:nvPr/>
        </p:nvSpPr>
        <p:spPr>
          <a:xfrm>
            <a:off x="8220456" y="4114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Gelbes Blinklicht</a:t>
            </a:r>
            <a:endParaRPr lang="en-US" sz="2400" dirty="0"/>
          </a:p>
        </p:txBody>
      </p:sp>
      <p:sp>
        <p:nvSpPr>
          <p:cNvPr id="21" name="e17_17"/>
          <p:cNvSpPr txBox="1"/>
          <p:nvPr/>
        </p:nvSpPr>
        <p:spPr>
          <a:xfrm>
            <a:off x="8220456" y="4663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Warnt vor Gefahren</a:t>
            </a:r>
            <a:endParaRPr lang="en-US" sz="1700" dirty="0"/>
          </a:p>
        </p:txBody>
      </p:sp>
      <p:sp>
        <p:nvSpPr>
          <p:cNvPr id="22" name="e17_18"/>
          <p:cNvSpPr txBox="1"/>
          <p:nvPr/>
        </p:nvSpPr>
        <p:spPr>
          <a:xfrm>
            <a:off x="8631936" y="544068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Vorrecht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6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18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4A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 VERWECHSELT</a:t>
            </a:r>
            <a:endParaRPr lang="en-US" sz="1300" dirty="0"/>
          </a:p>
        </p:txBody>
      </p:sp>
      <p:sp>
        <p:nvSpPr>
          <p:cNvPr id="6" name="e18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Sonderrecht oder Wegerecht?</a:t>
            </a:r>
            <a:endParaRPr lang="en-US" sz="4000" dirty="0"/>
          </a:p>
        </p:txBody>
      </p:sp>
      <p:sp>
        <p:nvSpPr>
          <p:cNvPr id="7" name="e18_3"/>
          <p:cNvSpPr/>
          <p:nvPr/>
        </p:nvSpPr>
        <p:spPr>
          <a:xfrm>
            <a:off x="731520" y="2377440"/>
            <a:ext cx="5212080" cy="2468880"/>
          </a:xfrm>
          <a:prstGeom prst="roundRect">
            <a:avLst>
              <a:gd name="adj" fmla="val 5185"/>
            </a:avLst>
          </a:prstGeom>
          <a:solidFill>
            <a:srgbClr val="12161E"/>
          </a:solidFill>
          <a:ln w="19050">
            <a:solidFill>
              <a:srgbClr val="FFB547"/>
            </a:solidFill>
            <a:prstDash val="solid"/>
          </a:ln>
        </p:spPr>
      </p:sp>
      <p:sp>
        <p:nvSpPr>
          <p:cNvPr id="8" name="e18_4"/>
          <p:cNvSpPr txBox="1"/>
          <p:nvPr/>
        </p:nvSpPr>
        <p:spPr>
          <a:xfrm>
            <a:off x="1051560" y="2560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Sonderrecht</a:t>
            </a:r>
            <a:endParaRPr lang="en-US" sz="3000" dirty="0"/>
          </a:p>
        </p:txBody>
      </p:sp>
      <p:sp>
        <p:nvSpPr>
          <p:cNvPr id="9" name="e18_5"/>
          <p:cNvSpPr txBox="1"/>
          <p:nvPr/>
        </p:nvSpPr>
        <p:spPr>
          <a:xfrm>
            <a:off x="4114800" y="26151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35 StVO</a:t>
            </a:r>
            <a:endParaRPr lang="en-US" sz="1700" dirty="0"/>
          </a:p>
        </p:txBody>
      </p:sp>
      <p:sp>
        <p:nvSpPr>
          <p:cNvPr id="10" name="e18_6"/>
          <p:cNvSpPr txBox="1"/>
          <p:nvPr/>
        </p:nvSpPr>
        <p:spPr>
          <a:xfrm>
            <a:off x="105156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Einsatzfahrzeug darf Regeln brechen.</a:t>
            </a:r>
            <a:endParaRPr lang="en-US" sz="2100" dirty="0"/>
          </a:p>
        </p:txBody>
      </p:sp>
      <p:sp>
        <p:nvSpPr>
          <p:cNvPr id="11" name="e18_7"/>
          <p:cNvSpPr txBox="1"/>
          <p:nvPr/>
        </p:nvSpPr>
        <p:spPr>
          <a:xfrm>
            <a:off x="1051560" y="3749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bei Rot fahren, schneller fahren. Nur mit Rücksicht auf andere.</a:t>
            </a:r>
            <a:endParaRPr lang="en-US" sz="1700" dirty="0"/>
          </a:p>
        </p:txBody>
      </p:sp>
      <p:sp>
        <p:nvSpPr>
          <p:cNvPr id="12" name="e18_8"/>
          <p:cNvSpPr/>
          <p:nvPr/>
        </p:nvSpPr>
        <p:spPr>
          <a:xfrm>
            <a:off x="6217920" y="2377440"/>
            <a:ext cx="5212080" cy="2468880"/>
          </a:xfrm>
          <a:prstGeom prst="roundRect">
            <a:avLst>
              <a:gd name="adj" fmla="val 5185"/>
            </a:avLst>
          </a:prstGeom>
          <a:solidFill>
            <a:srgbClr val="12161E"/>
          </a:solidFill>
          <a:ln w="19050">
            <a:solidFill>
              <a:srgbClr val="4A8BFF"/>
            </a:solidFill>
            <a:prstDash val="solid"/>
          </a:ln>
        </p:spPr>
      </p:sp>
      <p:sp>
        <p:nvSpPr>
          <p:cNvPr id="13" name="e18_9"/>
          <p:cNvSpPr txBox="1"/>
          <p:nvPr/>
        </p:nvSpPr>
        <p:spPr>
          <a:xfrm>
            <a:off x="6537960" y="2560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Wegerecht</a:t>
            </a:r>
            <a:endParaRPr lang="en-US" sz="3000" dirty="0"/>
          </a:p>
        </p:txBody>
      </p:sp>
      <p:sp>
        <p:nvSpPr>
          <p:cNvPr id="14" name="e18_10"/>
          <p:cNvSpPr txBox="1"/>
          <p:nvPr/>
        </p:nvSpPr>
        <p:spPr>
          <a:xfrm>
            <a:off x="9601200" y="26151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38 StVO</a:t>
            </a:r>
            <a:endParaRPr lang="en-US" sz="1700" dirty="0"/>
          </a:p>
        </p:txBody>
      </p:sp>
      <p:sp>
        <p:nvSpPr>
          <p:cNvPr id="15" name="e18_11"/>
          <p:cNvSpPr txBox="1"/>
          <p:nvPr/>
        </p:nvSpPr>
        <p:spPr>
          <a:xfrm>
            <a:off x="653796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musst Platz machen.</a:t>
            </a:r>
            <a:endParaRPr lang="en-US" sz="2100" dirty="0"/>
          </a:p>
        </p:txBody>
      </p:sp>
      <p:sp>
        <p:nvSpPr>
          <p:cNvPr id="16" name="e18_12"/>
          <p:cNvSpPr txBox="1"/>
          <p:nvPr/>
        </p:nvSpPr>
        <p:spPr>
          <a:xfrm>
            <a:off x="6537960" y="3749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bei Blaulicht UND Einsatzhorn.</a:t>
            </a:r>
            <a:endParaRPr lang="en-US" sz="1700" dirty="0"/>
          </a:p>
        </p:txBody>
      </p:sp>
      <p:sp>
        <p:nvSpPr>
          <p:cNvPr id="17" name="e18_13"/>
          <p:cNvSpPr/>
          <p:nvPr/>
        </p:nvSpPr>
        <p:spPr>
          <a:xfrm>
            <a:off x="731520" y="5120640"/>
            <a:ext cx="10698480" cy="1097280"/>
          </a:xfrm>
          <a:prstGeom prst="roundRect">
            <a:avLst>
              <a:gd name="adj" fmla="val 11667"/>
            </a:avLst>
          </a:prstGeom>
          <a:solidFill>
            <a:srgbClr val="0F1830"/>
          </a:solidFill>
          <a:ln w="12700">
            <a:solidFill>
              <a:srgbClr val="2A3F6B"/>
            </a:solidFill>
            <a:prstDash val="solid"/>
          </a:ln>
        </p:spPr>
      </p:sp>
      <p:sp>
        <p:nvSpPr>
          <p:cNvPr id="18" name="e18_14"/>
          <p:cNvSpPr txBox="1"/>
          <p:nvPr/>
        </p:nvSpPr>
        <p:spPr>
          <a:xfrm>
            <a:off x="1005840" y="5212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Blaulicht, kein Horn?</a:t>
            </a:r>
            <a:endParaRPr lang="en-US" sz="2000" dirty="0"/>
          </a:p>
        </p:txBody>
      </p:sp>
      <p:sp>
        <p:nvSpPr>
          <p:cNvPr id="19" name="e18_15"/>
          <p:cNvSpPr txBox="1"/>
          <p:nvPr/>
        </p:nvSpPr>
        <p:spPr>
          <a:xfrm>
            <a:off x="4160520" y="52120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Wegerecht. Aber aufmerksam bleiben und nicht behindern.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19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4A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BLAULICHT + HORN HINTER DIR</a:t>
            </a:r>
            <a:endParaRPr lang="en-US" sz="1300" dirty="0"/>
          </a:p>
        </p:txBody>
      </p:sp>
      <p:sp>
        <p:nvSpPr>
          <p:cNvPr id="6" name="e19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machst du Platz</a:t>
            </a:r>
            <a:endParaRPr lang="en-US" sz="4400" dirty="0"/>
          </a:p>
        </p:txBody>
      </p:sp>
      <p:sp>
        <p:nvSpPr>
          <p:cNvPr id="7" name="e19_3"/>
          <p:cNvSpPr/>
          <p:nvPr/>
        </p:nvSpPr>
        <p:spPr>
          <a:xfrm>
            <a:off x="731520" y="2377440"/>
            <a:ext cx="5257800" cy="1691640"/>
          </a:xfrm>
          <a:prstGeom prst="roundRect">
            <a:avLst>
              <a:gd name="adj" fmla="val 7568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8" name="e19_4"/>
          <p:cNvSpPr/>
          <p:nvPr/>
        </p:nvSpPr>
        <p:spPr>
          <a:xfrm>
            <a:off x="1005840" y="2651760"/>
            <a:ext cx="822960" cy="82296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9" name="e19_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834640"/>
            <a:ext cx="457200" cy="457200"/>
          </a:xfrm>
          <a:prstGeom prst="rect">
            <a:avLst/>
          </a:prstGeom>
        </p:spPr>
      </p:pic>
      <p:sp>
        <p:nvSpPr>
          <p:cNvPr id="10" name="e19_6"/>
          <p:cNvSpPr txBox="1"/>
          <p:nvPr/>
        </p:nvSpPr>
        <p:spPr>
          <a:xfrm>
            <a:off x="2057400" y="2606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Ruhe und Spiegel</a:t>
            </a:r>
            <a:endParaRPr lang="en-US" sz="2600" dirty="0"/>
          </a:p>
        </p:txBody>
      </p:sp>
      <p:sp>
        <p:nvSpPr>
          <p:cNvPr id="11" name="e19_7"/>
          <p:cNvSpPr txBox="1"/>
          <p:nvPr/>
        </p:nvSpPr>
        <p:spPr>
          <a:xfrm>
            <a:off x="2057400" y="3154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Woher kommt es? Nicht abrupt bremsen</a:t>
            </a:r>
            <a:endParaRPr lang="en-US" sz="1700" dirty="0"/>
          </a:p>
        </p:txBody>
      </p:sp>
      <p:sp>
        <p:nvSpPr>
          <p:cNvPr id="12" name="e19_8"/>
          <p:cNvSpPr/>
          <p:nvPr/>
        </p:nvSpPr>
        <p:spPr>
          <a:xfrm>
            <a:off x="6172200" y="2377440"/>
            <a:ext cx="5257800" cy="1691640"/>
          </a:xfrm>
          <a:prstGeom prst="roundRect">
            <a:avLst>
              <a:gd name="adj" fmla="val 7568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13" name="e19_9"/>
          <p:cNvSpPr/>
          <p:nvPr/>
        </p:nvSpPr>
        <p:spPr>
          <a:xfrm>
            <a:off x="6446520" y="2651760"/>
            <a:ext cx="822960" cy="82296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14" name="e19_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834640"/>
            <a:ext cx="457200" cy="457200"/>
          </a:xfrm>
          <a:prstGeom prst="rect">
            <a:avLst/>
          </a:prstGeom>
        </p:spPr>
      </p:pic>
      <p:sp>
        <p:nvSpPr>
          <p:cNvPr id="15" name="e19_11"/>
          <p:cNvSpPr txBox="1"/>
          <p:nvPr/>
        </p:nvSpPr>
        <p:spPr>
          <a:xfrm>
            <a:off x="7498080" y="2606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Rechts ran</a:t>
            </a:r>
            <a:endParaRPr lang="en-US" sz="2600" dirty="0"/>
          </a:p>
        </p:txBody>
      </p:sp>
      <p:sp>
        <p:nvSpPr>
          <p:cNvPr id="16" name="e19_12"/>
          <p:cNvSpPr txBox="1"/>
          <p:nvPr/>
        </p:nvSpPr>
        <p:spPr>
          <a:xfrm>
            <a:off x="7498080" y="3154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Langsamer, Blinker, notfalls anhalten</a:t>
            </a:r>
            <a:endParaRPr lang="en-US" sz="1700" dirty="0"/>
          </a:p>
        </p:txBody>
      </p:sp>
      <p:sp>
        <p:nvSpPr>
          <p:cNvPr id="17" name="e19_13"/>
          <p:cNvSpPr/>
          <p:nvPr/>
        </p:nvSpPr>
        <p:spPr>
          <a:xfrm>
            <a:off x="731520" y="4297680"/>
            <a:ext cx="5257800" cy="1691640"/>
          </a:xfrm>
          <a:prstGeom prst="roundRect">
            <a:avLst>
              <a:gd name="adj" fmla="val 7568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18" name="e19_14"/>
          <p:cNvSpPr/>
          <p:nvPr/>
        </p:nvSpPr>
        <p:spPr>
          <a:xfrm>
            <a:off x="1005840" y="4572000"/>
            <a:ext cx="822960" cy="82296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19" name="e19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754880"/>
            <a:ext cx="457200" cy="457200"/>
          </a:xfrm>
          <a:prstGeom prst="rect">
            <a:avLst/>
          </a:prstGeom>
        </p:spPr>
      </p:pic>
      <p:sp>
        <p:nvSpPr>
          <p:cNvPr id="20" name="e19_16"/>
          <p:cNvSpPr txBox="1"/>
          <p:nvPr/>
        </p:nvSpPr>
        <p:spPr>
          <a:xfrm>
            <a:off x="2057400" y="4526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 Ampel?</a:t>
            </a:r>
            <a:endParaRPr lang="en-US" sz="2600" dirty="0"/>
          </a:p>
        </p:txBody>
      </p:sp>
      <p:sp>
        <p:nvSpPr>
          <p:cNvPr id="21" name="e19_17"/>
          <p:cNvSpPr txBox="1"/>
          <p:nvPr/>
        </p:nvSpPr>
        <p:spPr>
          <a:xfrm>
            <a:off x="2057400" y="5074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wenn nötig vorsichtig vorrollen, niemanden gefährden</a:t>
            </a:r>
            <a:endParaRPr lang="en-US" sz="1700" dirty="0"/>
          </a:p>
        </p:txBody>
      </p:sp>
      <p:sp>
        <p:nvSpPr>
          <p:cNvPr id="22" name="e19_18"/>
          <p:cNvSpPr/>
          <p:nvPr/>
        </p:nvSpPr>
        <p:spPr>
          <a:xfrm>
            <a:off x="6172200" y="4297680"/>
            <a:ext cx="5257800" cy="1691640"/>
          </a:xfrm>
          <a:prstGeom prst="roundRect">
            <a:avLst>
              <a:gd name="adj" fmla="val 7568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23" name="e19_19"/>
          <p:cNvSpPr/>
          <p:nvPr/>
        </p:nvSpPr>
        <p:spPr>
          <a:xfrm>
            <a:off x="6446520" y="4572000"/>
            <a:ext cx="822960" cy="82296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24" name="e19_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754880"/>
            <a:ext cx="457200" cy="457200"/>
          </a:xfrm>
          <a:prstGeom prst="rect">
            <a:avLst/>
          </a:prstGeom>
        </p:spPr>
      </p:pic>
      <p:sp>
        <p:nvSpPr>
          <p:cNvPr id="25" name="e19_21"/>
          <p:cNvSpPr txBox="1"/>
          <p:nvPr/>
        </p:nvSpPr>
        <p:spPr>
          <a:xfrm>
            <a:off x="7498080" y="4526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Nicht hinterher</a:t>
            </a:r>
            <a:endParaRPr lang="en-US" sz="2600" dirty="0"/>
          </a:p>
        </p:txBody>
      </p:sp>
      <p:sp>
        <p:nvSpPr>
          <p:cNvPr id="26" name="e19_22"/>
          <p:cNvSpPr txBox="1"/>
          <p:nvPr/>
        </p:nvSpPr>
        <p:spPr>
          <a:xfrm>
            <a:off x="7498080" y="5074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 kommt noch ein zweites Fahrzeug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6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6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k"/>
          <p:cNvSpPr txBox="1"/>
          <p:nvPr/>
        </p:nvSpPr>
        <p:spPr>
          <a:xfrm>
            <a:off x="731520" y="822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4A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STAU · § 11 ABS. 2 STVO</a:t>
            </a:r>
            <a:endParaRPr lang="en-US" sz="1300" dirty="0"/>
          </a:p>
        </p:txBody>
      </p:sp>
      <p:sp>
        <p:nvSpPr>
          <p:cNvPr id="5" name="!!t"/>
          <p:cNvSpPr txBox="1"/>
          <p:nvPr/>
        </p:nvSpPr>
        <p:spPr>
          <a:xfrm>
            <a:off x="685800" y="11887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bildest du die Rettungsgasse?</a:t>
            </a:r>
            <a:endParaRPr lang="en-US" sz="4000" dirty="0"/>
          </a:p>
        </p:txBody>
      </p:sp>
      <p:pic>
        <p:nvPicPr>
          <p:cNvPr id="6" name="!!rc0" descr="/tmp/claude-0/-home-user-Fahrlehrer-Kompass-/018b7d63-84f4-5712-a986-965872121e15/scratchpad/bau/art/car_gra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499" y="320040"/>
            <a:ext cx="790042" cy="1580083"/>
          </a:xfrm>
          <a:prstGeom prst="rect">
            <a:avLst/>
          </a:prstGeom>
        </p:spPr>
      </p:pic>
      <p:pic>
        <p:nvPicPr>
          <p:cNvPr id="7" name="!!rc1" descr="/tmp/claude-0/-home-user-Fahrlehrer-Kompass-/018b7d63-84f4-5712-a986-965872121e15/scratchpad/bau/art/car_bla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779" y="320040"/>
            <a:ext cx="790042" cy="1580083"/>
          </a:xfrm>
          <a:prstGeom prst="rect">
            <a:avLst/>
          </a:prstGeom>
        </p:spPr>
      </p:pic>
      <p:pic>
        <p:nvPicPr>
          <p:cNvPr id="8" name="!!rc2" descr="/tmp/claude-0/-home-user-Fahrlehrer-Kompass-/018b7d63-84f4-5712-a986-965872121e15/scratchpad/bau/art/car_wei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59" y="320040"/>
            <a:ext cx="790042" cy="1580083"/>
          </a:xfrm>
          <a:prstGeom prst="rect">
            <a:avLst/>
          </a:prstGeom>
        </p:spPr>
      </p:pic>
      <p:pic>
        <p:nvPicPr>
          <p:cNvPr id="9" name="!!rc3" descr="/tmp/claude-0/-home-user-Fahrlehrer-Kompass-/018b7d63-84f4-5712-a986-965872121e15/scratchpad/bau/art/car_r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499" y="2011680"/>
            <a:ext cx="790042" cy="1580083"/>
          </a:xfrm>
          <a:prstGeom prst="rect">
            <a:avLst/>
          </a:prstGeom>
        </p:spPr>
      </p:pic>
      <p:pic>
        <p:nvPicPr>
          <p:cNvPr id="10" name="!!rc4" descr="/tmp/claude-0/-home-user-Fahrlehrer-Kompass-/018b7d63-84f4-5712-a986-965872121e15/scratchpad/bau/art/car_gru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1779" y="2011680"/>
            <a:ext cx="790042" cy="1580083"/>
          </a:xfrm>
          <a:prstGeom prst="rect">
            <a:avLst/>
          </a:prstGeom>
        </p:spPr>
      </p:pic>
      <p:pic>
        <p:nvPicPr>
          <p:cNvPr id="11" name="!!rc5" descr="/tmp/claude-0/-home-user-Fahrlehrer-Kompass-/018b7d63-84f4-5712-a986-965872121e15/scratchpad/bau/art/car_bla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4499" y="3703320"/>
            <a:ext cx="790042" cy="1580083"/>
          </a:xfrm>
          <a:prstGeom prst="rect">
            <a:avLst/>
          </a:prstGeom>
        </p:spPr>
      </p:pic>
      <p:pic>
        <p:nvPicPr>
          <p:cNvPr id="12" name="!!rc6" descr="/tmp/claude-0/-home-user-Fahrlehrer-Kompass-/018b7d63-84f4-5712-a986-965872121e15/scratchpad/bau/art/car_grau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1779" y="3703320"/>
            <a:ext cx="790042" cy="1580083"/>
          </a:xfrm>
          <a:prstGeom prst="rect">
            <a:avLst/>
          </a:prstGeom>
        </p:spPr>
      </p:pic>
      <p:pic>
        <p:nvPicPr>
          <p:cNvPr id="13" name="!!rtruck" descr="/tmp/claude-0/-home-user-Fahrlehrer-Kompass-/018b7d63-84f4-5712-a986-965872121e15/scratchpad/bau/art/tru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4701" y="1965960"/>
            <a:ext cx="1038758" cy="3803904"/>
          </a:xfrm>
          <a:prstGeom prst="rect">
            <a:avLst/>
          </a:prstGeom>
        </p:spPr>
      </p:pic>
      <p:sp>
        <p:nvSpPr>
          <p:cNvPr id="14" name="e20_1"/>
          <p:cNvSpPr/>
          <p:nvPr/>
        </p:nvSpPr>
        <p:spPr>
          <a:xfrm>
            <a:off x="731520" y="3291840"/>
            <a:ext cx="5120640" cy="1463040"/>
          </a:xfrm>
          <a:prstGeom prst="roundRect">
            <a:avLst>
              <a:gd name="adj" fmla="val 8750"/>
            </a:avLst>
          </a:prstGeom>
          <a:solidFill>
            <a:srgbClr val="12161E"/>
          </a:solidFill>
          <a:ln w="19050">
            <a:solidFill>
              <a:srgbClr val="4A8BFF"/>
            </a:solidFill>
            <a:prstDash val="solid"/>
          </a:ln>
        </p:spPr>
      </p:sp>
      <p:sp>
        <p:nvSpPr>
          <p:cNvPr id="15" name="e20_2"/>
          <p:cNvSpPr txBox="1"/>
          <p:nvPr/>
        </p:nvSpPr>
        <p:spPr>
          <a:xfrm>
            <a:off x="1005840" y="32918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4A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Sofort</a:t>
            </a:r>
            <a:pPr algn="l" indent="0" marL="0">
              <a:spcAft>
                <a:spcPts val="600"/>
              </a:spcAft>
              <a:buNone/>
            </a:pP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Sobald es nur noch Schritttempo ist oder steht. Nicht erst beim Martinshorn.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k"/>
          <p:cNvSpPr txBox="1"/>
          <p:nvPr/>
        </p:nvSpPr>
        <p:spPr>
          <a:xfrm>
            <a:off x="731520" y="822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4A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STAU · § 11 ABS. 2 STVO</a:t>
            </a:r>
            <a:endParaRPr lang="en-US" sz="1300" dirty="0"/>
          </a:p>
        </p:txBody>
      </p:sp>
      <p:sp>
        <p:nvSpPr>
          <p:cNvPr id="5" name="!!t"/>
          <p:cNvSpPr txBox="1"/>
          <p:nvPr/>
        </p:nvSpPr>
        <p:spPr>
          <a:xfrm>
            <a:off x="685800" y="11887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Rettungsgasse</a:t>
            </a:r>
            <a:endParaRPr lang="en-US" sz="4400" dirty="0"/>
          </a:p>
        </p:txBody>
      </p:sp>
      <p:pic>
        <p:nvPicPr>
          <p:cNvPr id="6" name="!!rc0" descr="/tmp/claude-0/-home-user-Fahrlehrer-Kompass-/018b7d63-84f4-5712-a986-965872121e15/scratchpad/bau/art/car_gra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15" y="320040"/>
            <a:ext cx="790042" cy="1580083"/>
          </a:xfrm>
          <a:prstGeom prst="rect">
            <a:avLst/>
          </a:prstGeom>
        </p:spPr>
      </p:pic>
      <p:pic>
        <p:nvPicPr>
          <p:cNvPr id="7" name="!!rc1" descr="/tmp/claude-0/-home-user-Fahrlehrer-Kompass-/018b7d63-84f4-5712-a986-965872121e15/scratchpad/bau/art/car_bla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963" y="320040"/>
            <a:ext cx="790042" cy="1580083"/>
          </a:xfrm>
          <a:prstGeom prst="rect">
            <a:avLst/>
          </a:prstGeom>
        </p:spPr>
      </p:pic>
      <p:pic>
        <p:nvPicPr>
          <p:cNvPr id="8" name="!!rc2" descr="/tmp/claude-0/-home-user-Fahrlehrer-Kompass-/018b7d63-84f4-5712-a986-965872121e15/scratchpad/bau/art/car_wei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8243" y="320040"/>
            <a:ext cx="790042" cy="1580083"/>
          </a:xfrm>
          <a:prstGeom prst="rect">
            <a:avLst/>
          </a:prstGeom>
        </p:spPr>
      </p:pic>
      <p:pic>
        <p:nvPicPr>
          <p:cNvPr id="9" name="!!rc3" descr="/tmp/claude-0/-home-user-Fahrlehrer-Kompass-/018b7d63-84f4-5712-a986-965872121e15/scratchpad/bau/art/car_r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315" y="2011680"/>
            <a:ext cx="790042" cy="1580083"/>
          </a:xfrm>
          <a:prstGeom prst="rect">
            <a:avLst/>
          </a:prstGeom>
        </p:spPr>
      </p:pic>
      <p:pic>
        <p:nvPicPr>
          <p:cNvPr id="10" name="!!rc4" descr="/tmp/claude-0/-home-user-Fahrlehrer-Kompass-/018b7d63-84f4-5712-a986-965872121e15/scratchpad/bau/art/car_gru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963" y="2011680"/>
            <a:ext cx="790042" cy="1580083"/>
          </a:xfrm>
          <a:prstGeom prst="rect">
            <a:avLst/>
          </a:prstGeom>
        </p:spPr>
      </p:pic>
      <p:pic>
        <p:nvPicPr>
          <p:cNvPr id="11" name="!!rc5" descr="/tmp/claude-0/-home-user-Fahrlehrer-Kompass-/018b7d63-84f4-5712-a986-965872121e15/scratchpad/bau/art/car_bla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5315" y="3703320"/>
            <a:ext cx="790042" cy="1580083"/>
          </a:xfrm>
          <a:prstGeom prst="rect">
            <a:avLst/>
          </a:prstGeom>
        </p:spPr>
      </p:pic>
      <p:pic>
        <p:nvPicPr>
          <p:cNvPr id="12" name="!!rc6" descr="/tmp/claude-0/-home-user-Fahrlehrer-Kompass-/018b7d63-84f4-5712-a986-965872121e15/scratchpad/bau/art/car_grau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0963" y="3703320"/>
            <a:ext cx="790042" cy="1580083"/>
          </a:xfrm>
          <a:prstGeom prst="rect">
            <a:avLst/>
          </a:prstGeom>
        </p:spPr>
      </p:pic>
      <p:pic>
        <p:nvPicPr>
          <p:cNvPr id="13" name="!!rtruck" descr="/tmp/claude-0/-home-user-Fahrlehrer-Kompass-/018b7d63-84f4-5712-a986-965872121e15/scratchpad/bau/art/tru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3885" y="1965960"/>
            <a:ext cx="1038758" cy="3803904"/>
          </a:xfrm>
          <a:prstGeom prst="rect">
            <a:avLst/>
          </a:prstGeom>
        </p:spPr>
      </p:pic>
      <p:pic>
        <p:nvPicPr>
          <p:cNvPr id="14" name="e21_1" descr="/tmp/claude-0/-home-user-Fahrlehrer-Kompass-/018b7d63-84f4-5712-a986-965872121e15/scratchpad/bau/art/rt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5357" y="4709160"/>
            <a:ext cx="965606" cy="2103120"/>
          </a:xfrm>
          <a:prstGeom prst="rect">
            <a:avLst/>
          </a:prstGeom>
        </p:spPr>
      </p:pic>
      <p:pic>
        <p:nvPicPr>
          <p:cNvPr id="15" name="e21_2" descr="/tmp/claude-0/-home-user-Fahrlehrer-Kompass-/018b7d63-84f4-5712-a986-965872121e15/scratchpad/bau/art/glow_blu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3917" y="4754880"/>
            <a:ext cx="548640" cy="548640"/>
          </a:xfrm>
          <a:prstGeom prst="rect">
            <a:avLst/>
          </a:prstGeom>
        </p:spPr>
      </p:pic>
      <p:pic>
        <p:nvPicPr>
          <p:cNvPr id="16" name="e21_3" descr="/tmp/claude-0/-home-user-Fahrlehrer-Kompass-/018b7d63-84f4-5712-a986-965872121e15/scratchpad/bau/art/glow_blu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67421" y="4754880"/>
            <a:ext cx="548640" cy="548640"/>
          </a:xfrm>
          <a:prstGeom prst="rect">
            <a:avLst/>
          </a:prstGeom>
        </p:spPr>
      </p:pic>
      <p:sp>
        <p:nvSpPr>
          <p:cNvPr id="17" name="e21_4"/>
          <p:cNvSpPr/>
          <p:nvPr/>
        </p:nvSpPr>
        <p:spPr>
          <a:xfrm>
            <a:off x="731520" y="2377440"/>
            <a:ext cx="5120640" cy="1234440"/>
          </a:xfrm>
          <a:prstGeom prst="roundRect">
            <a:avLst>
              <a:gd name="adj" fmla="val 10370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18" name="e21_5"/>
          <p:cNvSpPr txBox="1"/>
          <p:nvPr/>
        </p:nvSpPr>
        <p:spPr>
          <a:xfrm>
            <a:off x="1005840" y="2468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Ganz links  </a:t>
            </a:r>
            <a:pPr algn="l" indent="0" marL="0">
              <a:buNone/>
            </a:pPr>
            <a:r>
              <a:rPr lang="en-US" sz="24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nach links</a:t>
            </a:r>
            <a:endParaRPr lang="en-US" sz="2400" dirty="0"/>
          </a:p>
        </p:txBody>
      </p:sp>
      <p:sp>
        <p:nvSpPr>
          <p:cNvPr id="19" name="e21_6"/>
          <p:cNvSpPr txBox="1"/>
          <p:nvPr/>
        </p:nvSpPr>
        <p:spPr>
          <a:xfrm>
            <a:off x="1005840" y="2971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anderen  </a:t>
            </a:r>
            <a:pPr algn="l" indent="0" marL="0">
              <a:buNone/>
            </a:pPr>
            <a:r>
              <a:rPr lang="en-US" sz="24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nach rechts</a:t>
            </a:r>
            <a:endParaRPr lang="en-US" sz="2400" dirty="0"/>
          </a:p>
        </p:txBody>
      </p:sp>
      <p:sp>
        <p:nvSpPr>
          <p:cNvPr id="20" name="e21_7"/>
          <p:cNvSpPr txBox="1"/>
          <p:nvPr/>
        </p:nvSpPr>
        <p:spPr>
          <a:xfrm>
            <a:off x="73152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nachrücken. Nicht hinterherfahren.</a:t>
            </a:r>
            <a:endParaRPr lang="en-US" sz="1900" dirty="0"/>
          </a:p>
        </p:txBody>
      </p:sp>
      <p:sp>
        <p:nvSpPr>
          <p:cNvPr id="21" name="e21_8"/>
          <p:cNvSpPr txBox="1"/>
          <p:nvPr/>
        </p:nvSpPr>
        <p:spPr>
          <a:xfrm>
            <a:off x="731520" y="4800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2 SPUREN</a:t>
            </a:r>
            <a:endParaRPr lang="en-US" sz="1300" dirty="0"/>
          </a:p>
        </p:txBody>
      </p:sp>
      <p:sp>
        <p:nvSpPr>
          <p:cNvPr id="22" name="e21_9"/>
          <p:cNvSpPr txBox="1"/>
          <p:nvPr/>
        </p:nvSpPr>
        <p:spPr>
          <a:xfrm>
            <a:off x="731520" y="5120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Gasse in der Mitte</a:t>
            </a:r>
            <a:endParaRPr lang="en-US" sz="2400" dirty="0"/>
          </a:p>
        </p:txBody>
      </p:sp>
      <p:sp>
        <p:nvSpPr>
          <p:cNvPr id="23" name="e21_10"/>
          <p:cNvSpPr/>
          <p:nvPr/>
        </p:nvSpPr>
        <p:spPr>
          <a:xfrm>
            <a:off x="3291840" y="4572000"/>
            <a:ext cx="2011680" cy="1828800"/>
          </a:xfrm>
          <a:prstGeom prst="rect">
            <a:avLst/>
          </a:prstGeom>
          <a:solidFill>
            <a:srgbClr val="161C25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4" name="e21_11"/>
          <p:cNvSpPr/>
          <p:nvPr/>
        </p:nvSpPr>
        <p:spPr>
          <a:xfrm>
            <a:off x="4297680" y="4572000"/>
            <a:ext cx="914" cy="1828800"/>
          </a:xfrm>
          <a:prstGeom prst="line">
            <a:avLst/>
          </a:prstGeom>
          <a:noFill/>
          <a:ln w="15875">
            <a:solidFill>
              <a:srgbClr val="D9DEE5"/>
            </a:solidFill>
            <a:prstDash val="dash"/>
          </a:ln>
        </p:spPr>
      </p:sp>
      <p:sp>
        <p:nvSpPr>
          <p:cNvPr id="25" name="e21_12"/>
          <p:cNvSpPr/>
          <p:nvPr/>
        </p:nvSpPr>
        <p:spPr>
          <a:xfrm>
            <a:off x="3401568" y="4754880"/>
            <a:ext cx="384048" cy="658368"/>
          </a:xfrm>
          <a:prstGeom prst="roundRect">
            <a:avLst>
              <a:gd name="adj" fmla="val 19048"/>
            </a:avLst>
          </a:prstGeom>
          <a:solidFill>
            <a:srgbClr val="8A9BB0"/>
          </a:solidFill>
          <a:ln/>
        </p:spPr>
      </p:sp>
      <p:sp>
        <p:nvSpPr>
          <p:cNvPr id="26" name="e21_13"/>
          <p:cNvSpPr/>
          <p:nvPr/>
        </p:nvSpPr>
        <p:spPr>
          <a:xfrm>
            <a:off x="4809744" y="4754880"/>
            <a:ext cx="384048" cy="658368"/>
          </a:xfrm>
          <a:prstGeom prst="roundRect">
            <a:avLst>
              <a:gd name="adj" fmla="val 19048"/>
            </a:avLst>
          </a:prstGeom>
          <a:solidFill>
            <a:srgbClr val="4F78A8"/>
          </a:solidFill>
          <a:ln/>
        </p:spPr>
      </p:sp>
      <p:sp>
        <p:nvSpPr>
          <p:cNvPr id="27" name="e21_14"/>
          <p:cNvSpPr/>
          <p:nvPr/>
        </p:nvSpPr>
        <p:spPr>
          <a:xfrm>
            <a:off x="3401568" y="5577840"/>
            <a:ext cx="384048" cy="658368"/>
          </a:xfrm>
          <a:prstGeom prst="roundRect">
            <a:avLst>
              <a:gd name="adj" fmla="val 19048"/>
            </a:avLst>
          </a:prstGeom>
          <a:solidFill>
            <a:srgbClr val="8A9BB0"/>
          </a:solidFill>
          <a:ln/>
        </p:spPr>
      </p:sp>
      <p:sp>
        <p:nvSpPr>
          <p:cNvPr id="28" name="e21_15"/>
          <p:cNvSpPr/>
          <p:nvPr/>
        </p:nvSpPr>
        <p:spPr>
          <a:xfrm>
            <a:off x="4809744" y="5577840"/>
            <a:ext cx="384048" cy="658368"/>
          </a:xfrm>
          <a:prstGeom prst="roundRect">
            <a:avLst>
              <a:gd name="adj" fmla="val 19048"/>
            </a:avLst>
          </a:prstGeom>
          <a:solidFill>
            <a:srgbClr val="4F78A8"/>
          </a:solidFill>
          <a:ln/>
        </p:spPr>
      </p:sp>
      <p:sp>
        <p:nvSpPr>
          <p:cNvPr id="29" name="e21_16"/>
          <p:cNvSpPr/>
          <p:nvPr/>
        </p:nvSpPr>
        <p:spPr>
          <a:xfrm flipV="1">
            <a:off x="4297680" y="4709160"/>
            <a:ext cx="914" cy="1600200"/>
          </a:xfrm>
          <a:prstGeom prst="line">
            <a:avLst/>
          </a:prstGeom>
          <a:noFill/>
          <a:ln w="38100">
            <a:solidFill>
              <a:srgbClr val="4A8BFF"/>
            </a:solidFill>
            <a:prstDash val="solid"/>
            <a:tailEnd type="triangle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afterEffect" repeatCount="indefinite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6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fill="hold" nodeType="withEffect" repeatCount="indefinite">
                                  <p:stCondLst>
                                    <p:cond delay="30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8" dur="6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fill="hold" nodeType="clickEffect" accel="40000" decel="40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05 E" pathEditMode="relative" rAng="0" ptsTypes="">
                                      <p:cBhvr>
                                        <p:cTn id="28" dur="2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fill="hold" nodeType="withEffect" accel="40000" decel="40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05 E" pathEditMode="relative" rAng="0" ptsTypes="">
                                      <p:cBhvr>
                                        <p:cTn id="30" dur="2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 accel="40000" decel="40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05 E" pathEditMode="relative" rAng="0" ptsTypes="">
                                      <p:cBhvr>
                                        <p:cTn id="32" dur="2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22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ES KOSTET</a:t>
            </a:r>
            <a:endParaRPr lang="en-US" sz="1300" dirty="0"/>
          </a:p>
        </p:txBody>
      </p:sp>
      <p:sp>
        <p:nvSpPr>
          <p:cNvPr id="6" name="e22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Platz gemacht? Das wird teuer.</a:t>
            </a:r>
            <a:endParaRPr lang="en-US" sz="4000" dirty="0"/>
          </a:p>
        </p:txBody>
      </p:sp>
      <p:sp>
        <p:nvSpPr>
          <p:cNvPr id="7" name="e22_3"/>
          <p:cNvSpPr txBox="1"/>
          <p:nvPr/>
        </p:nvSpPr>
        <p:spPr>
          <a:xfrm>
            <a:off x="731520" y="2286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8" name="e22_4"/>
          <p:cNvSpPr txBox="1"/>
          <p:nvPr/>
        </p:nvSpPr>
        <p:spPr>
          <a:xfrm>
            <a:off x="658368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BUSSGELD</a:t>
            </a:r>
            <a:endParaRPr lang="en-US" sz="1300" dirty="0"/>
          </a:p>
        </p:txBody>
      </p:sp>
      <p:sp>
        <p:nvSpPr>
          <p:cNvPr id="9" name="e22_5"/>
          <p:cNvSpPr txBox="1"/>
          <p:nvPr/>
        </p:nvSpPr>
        <p:spPr>
          <a:xfrm>
            <a:off x="822960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PUNKTE</a:t>
            </a:r>
            <a:endParaRPr lang="en-US" sz="1300" dirty="0"/>
          </a:p>
        </p:txBody>
      </p:sp>
      <p:sp>
        <p:nvSpPr>
          <p:cNvPr id="10" name="e22_6"/>
          <p:cNvSpPr txBox="1"/>
          <p:nvPr/>
        </p:nvSpPr>
        <p:spPr>
          <a:xfrm>
            <a:off x="969264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FAHRVERBOT</a:t>
            </a:r>
            <a:endParaRPr lang="en-US" sz="1300" dirty="0"/>
          </a:p>
        </p:txBody>
      </p:sp>
      <p:sp>
        <p:nvSpPr>
          <p:cNvPr id="11" name="e22_7"/>
          <p:cNvSpPr/>
          <p:nvPr/>
        </p:nvSpPr>
        <p:spPr>
          <a:xfrm>
            <a:off x="731520" y="269748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12" name="e22_8"/>
          <p:cNvSpPr txBox="1"/>
          <p:nvPr/>
        </p:nvSpPr>
        <p:spPr>
          <a:xfrm>
            <a:off x="1005840" y="26974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Rettungsgasse gebildet</a:t>
            </a:r>
            <a:endParaRPr lang="en-US" sz="2000" dirty="0"/>
          </a:p>
        </p:txBody>
      </p:sp>
      <p:sp>
        <p:nvSpPr>
          <p:cNvPr id="13" name="e22_9"/>
          <p:cNvSpPr txBox="1"/>
          <p:nvPr/>
        </p:nvSpPr>
        <p:spPr>
          <a:xfrm>
            <a:off x="6583680" y="2697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200 €</a:t>
            </a:r>
            <a:endParaRPr lang="en-US" sz="2200" dirty="0"/>
          </a:p>
        </p:txBody>
      </p:sp>
      <p:sp>
        <p:nvSpPr>
          <p:cNvPr id="14" name="e22_10"/>
          <p:cNvSpPr txBox="1"/>
          <p:nvPr/>
        </p:nvSpPr>
        <p:spPr>
          <a:xfrm>
            <a:off x="8229600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e22_11"/>
          <p:cNvSpPr txBox="1"/>
          <p:nvPr/>
        </p:nvSpPr>
        <p:spPr>
          <a:xfrm>
            <a:off x="9692640" y="2697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2200" dirty="0"/>
          </a:p>
        </p:txBody>
      </p:sp>
      <p:sp>
        <p:nvSpPr>
          <p:cNvPr id="16" name="e22_12"/>
          <p:cNvSpPr/>
          <p:nvPr/>
        </p:nvSpPr>
        <p:spPr>
          <a:xfrm>
            <a:off x="731520" y="356616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17" name="e22_13"/>
          <p:cNvSpPr txBox="1"/>
          <p:nvPr/>
        </p:nvSpPr>
        <p:spPr>
          <a:xfrm>
            <a:off x="1005840" y="35661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und Einsatzfahrzeug behindert</a:t>
            </a:r>
            <a:endParaRPr lang="en-US" sz="2000" dirty="0"/>
          </a:p>
        </p:txBody>
      </p:sp>
      <p:sp>
        <p:nvSpPr>
          <p:cNvPr id="18" name="e22_14"/>
          <p:cNvSpPr txBox="1"/>
          <p:nvPr/>
        </p:nvSpPr>
        <p:spPr>
          <a:xfrm>
            <a:off x="6583680" y="3566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240 €</a:t>
            </a:r>
            <a:endParaRPr lang="en-US" sz="2200" dirty="0"/>
          </a:p>
        </p:txBody>
      </p:sp>
      <p:sp>
        <p:nvSpPr>
          <p:cNvPr id="19" name="e22_15"/>
          <p:cNvSpPr txBox="1"/>
          <p:nvPr/>
        </p:nvSpPr>
        <p:spPr>
          <a:xfrm>
            <a:off x="8229600" y="3566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e22_16"/>
          <p:cNvSpPr txBox="1"/>
          <p:nvPr/>
        </p:nvSpPr>
        <p:spPr>
          <a:xfrm>
            <a:off x="9692640" y="3566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Monat</a:t>
            </a:r>
            <a:endParaRPr lang="en-US" sz="2200" dirty="0"/>
          </a:p>
        </p:txBody>
      </p:sp>
      <p:sp>
        <p:nvSpPr>
          <p:cNvPr id="21" name="e22_17"/>
          <p:cNvSpPr/>
          <p:nvPr/>
        </p:nvSpPr>
        <p:spPr>
          <a:xfrm>
            <a:off x="731520" y="443484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22" name="e22_18"/>
          <p:cNvSpPr txBox="1"/>
          <p:nvPr/>
        </p:nvSpPr>
        <p:spPr>
          <a:xfrm>
            <a:off x="1005840" y="44348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Rettungsgasse selbst befahren</a:t>
            </a:r>
            <a:endParaRPr lang="en-US" sz="2000" dirty="0"/>
          </a:p>
        </p:txBody>
      </p:sp>
      <p:sp>
        <p:nvSpPr>
          <p:cNvPr id="23" name="e22_19"/>
          <p:cNvSpPr txBox="1"/>
          <p:nvPr/>
        </p:nvSpPr>
        <p:spPr>
          <a:xfrm>
            <a:off x="6583680" y="4434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240 €</a:t>
            </a:r>
            <a:endParaRPr lang="en-US" sz="2200" dirty="0"/>
          </a:p>
        </p:txBody>
      </p:sp>
      <p:sp>
        <p:nvSpPr>
          <p:cNvPr id="24" name="e22_20"/>
          <p:cNvSpPr txBox="1"/>
          <p:nvPr/>
        </p:nvSpPr>
        <p:spPr>
          <a:xfrm>
            <a:off x="8229600" y="4434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e22_21"/>
          <p:cNvSpPr txBox="1"/>
          <p:nvPr/>
        </p:nvSpPr>
        <p:spPr>
          <a:xfrm>
            <a:off x="9692640" y="4434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Monat</a:t>
            </a:r>
            <a:endParaRPr lang="en-US" sz="2200" dirty="0"/>
          </a:p>
        </p:txBody>
      </p:sp>
      <p:sp>
        <p:nvSpPr>
          <p:cNvPr id="26" name="e22_22"/>
          <p:cNvSpPr/>
          <p:nvPr/>
        </p:nvSpPr>
        <p:spPr>
          <a:xfrm>
            <a:off x="731520" y="530352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27" name="e22_23"/>
          <p:cNvSpPr txBox="1"/>
          <p:nvPr/>
        </p:nvSpPr>
        <p:spPr>
          <a:xfrm>
            <a:off x="1005840" y="53035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Blaulicht + Horn keinen Platz gemacht</a:t>
            </a:r>
            <a:endParaRPr lang="en-US" sz="2000" dirty="0"/>
          </a:p>
        </p:txBody>
      </p:sp>
      <p:sp>
        <p:nvSpPr>
          <p:cNvPr id="28" name="e22_24"/>
          <p:cNvSpPr txBox="1"/>
          <p:nvPr/>
        </p:nvSpPr>
        <p:spPr>
          <a:xfrm>
            <a:off x="6583680" y="5303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240 €</a:t>
            </a:r>
            <a:endParaRPr lang="en-US" sz="2200" dirty="0"/>
          </a:p>
        </p:txBody>
      </p:sp>
      <p:sp>
        <p:nvSpPr>
          <p:cNvPr id="29" name="e22_25"/>
          <p:cNvSpPr txBox="1"/>
          <p:nvPr/>
        </p:nvSpPr>
        <p:spPr>
          <a:xfrm>
            <a:off x="8229600" y="53035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30" name="e22_26"/>
          <p:cNvSpPr txBox="1"/>
          <p:nvPr/>
        </p:nvSpPr>
        <p:spPr>
          <a:xfrm>
            <a:off x="9692640" y="5303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Monat</a:t>
            </a:r>
            <a:endParaRPr lang="en-US" sz="2200" dirty="0"/>
          </a:p>
        </p:txBody>
      </p:sp>
      <p:sp>
        <p:nvSpPr>
          <p:cNvPr id="31" name="e22_27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Regelsätze Bußgeldkatalog (BKatV), Stand 2026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80" fill="hold" ac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380" fill="hold" ac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28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80" fill="hold" ac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80" fill="hold" ac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28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80" fill="hold" ac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380" fill="hold" ac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28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80" fill="hold" ac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80" fill="hold" ac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28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80" fill="hold" ac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80" fill="hold" ac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28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80" fill="hold" ac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380" fill="hold" ac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228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80" fill="hold" ac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380" fill="hold" ac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228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380" fill="hold" ac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380" fill="hold" ac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228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380" fill="hold" ac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380" fill="hold" ac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228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6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380" fill="hold" accel="6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380" fill="hold" accel="6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228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380" fill="hold" accel="6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380" fill="hold" accel="6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228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80" fill="hold" accel="6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380" fill="hold" accel="6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228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23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4A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BLAULICHT</a:t>
            </a:r>
            <a:endParaRPr lang="en-US" sz="1300" dirty="0"/>
          </a:p>
        </p:txBody>
      </p:sp>
      <p:sp>
        <p:nvSpPr>
          <p:cNvPr id="6" name="e23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Fragen, drei Antworten</a:t>
            </a:r>
            <a:endParaRPr lang="en-US" sz="4000" dirty="0"/>
          </a:p>
        </p:txBody>
      </p:sp>
      <p:sp>
        <p:nvSpPr>
          <p:cNvPr id="7" name="e23_3"/>
          <p:cNvSpPr/>
          <p:nvPr/>
        </p:nvSpPr>
        <p:spPr>
          <a:xfrm>
            <a:off x="731520" y="2350008"/>
            <a:ext cx="658368" cy="658368"/>
          </a:xfrm>
          <a:prstGeom prst="ellipse">
            <a:avLst/>
          </a:prstGeom>
          <a:solidFill>
            <a:srgbClr val="1A202B"/>
          </a:solidFill>
          <a:ln w="25400">
            <a:solidFill>
              <a:srgbClr val="4A8BFF"/>
            </a:solidFill>
            <a:prstDash val="solid"/>
          </a:ln>
        </p:spPr>
      </p:sp>
      <p:sp>
        <p:nvSpPr>
          <p:cNvPr id="8" name="e23_4"/>
          <p:cNvSpPr txBox="1"/>
          <p:nvPr/>
        </p:nvSpPr>
        <p:spPr>
          <a:xfrm>
            <a:off x="731520" y="2350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e23_5"/>
          <p:cNvSpPr txBox="1"/>
          <p:nvPr/>
        </p:nvSpPr>
        <p:spPr>
          <a:xfrm>
            <a:off x="1645920" y="2240280"/>
            <a:ext cx="5074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Gelbes Blinklicht: Musst du Platz machen?</a:t>
            </a:r>
            <a:endParaRPr lang="en-US" sz="2000" dirty="0"/>
          </a:p>
        </p:txBody>
      </p:sp>
      <p:sp>
        <p:nvSpPr>
          <p:cNvPr id="10" name="e23_6"/>
          <p:cNvSpPr/>
          <p:nvPr/>
        </p:nvSpPr>
        <p:spPr>
          <a:xfrm>
            <a:off x="6903720" y="2267712"/>
            <a:ext cx="4572000" cy="822960"/>
          </a:xfrm>
          <a:prstGeom prst="roundRect">
            <a:avLst>
              <a:gd name="adj" fmla="val 15556"/>
            </a:avLst>
          </a:prstGeom>
          <a:solidFill>
            <a:srgbClr val="4A8BFF"/>
          </a:solidFill>
          <a:ln/>
        </p:spPr>
      </p:sp>
      <p:sp>
        <p:nvSpPr>
          <p:cNvPr id="11" name="e23_7"/>
          <p:cNvSpPr txBox="1"/>
          <p:nvPr/>
        </p:nvSpPr>
        <p:spPr>
          <a:xfrm>
            <a:off x="7132320" y="22677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Nein. Es warnt nur vor einer Gefahr.</a:t>
            </a:r>
            <a:endParaRPr lang="en-US" sz="1800" dirty="0"/>
          </a:p>
        </p:txBody>
      </p:sp>
      <p:sp>
        <p:nvSpPr>
          <p:cNvPr id="12" name="e23_8"/>
          <p:cNvSpPr/>
          <p:nvPr/>
        </p:nvSpPr>
        <p:spPr>
          <a:xfrm>
            <a:off x="731520" y="3721608"/>
            <a:ext cx="658368" cy="658368"/>
          </a:xfrm>
          <a:prstGeom prst="ellipse">
            <a:avLst/>
          </a:prstGeom>
          <a:solidFill>
            <a:srgbClr val="1A202B"/>
          </a:solidFill>
          <a:ln w="25400">
            <a:solidFill>
              <a:srgbClr val="4A8BFF"/>
            </a:solidFill>
            <a:prstDash val="solid"/>
          </a:ln>
        </p:spPr>
      </p:sp>
      <p:sp>
        <p:nvSpPr>
          <p:cNvPr id="13" name="e23_9"/>
          <p:cNvSpPr txBox="1"/>
          <p:nvPr/>
        </p:nvSpPr>
        <p:spPr>
          <a:xfrm>
            <a:off x="731520" y="3721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e23_10"/>
          <p:cNvSpPr txBox="1"/>
          <p:nvPr/>
        </p:nvSpPr>
        <p:spPr>
          <a:xfrm>
            <a:off x="1645920" y="3611880"/>
            <a:ext cx="5074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Stau, 3 Spuren, du bist ganz links. Wohin?</a:t>
            </a:r>
            <a:endParaRPr lang="en-US" sz="2000" dirty="0"/>
          </a:p>
        </p:txBody>
      </p:sp>
      <p:sp>
        <p:nvSpPr>
          <p:cNvPr id="15" name="e23_11"/>
          <p:cNvSpPr/>
          <p:nvPr/>
        </p:nvSpPr>
        <p:spPr>
          <a:xfrm>
            <a:off x="6903720" y="3639312"/>
            <a:ext cx="4572000" cy="822960"/>
          </a:xfrm>
          <a:prstGeom prst="roundRect">
            <a:avLst>
              <a:gd name="adj" fmla="val 15556"/>
            </a:avLst>
          </a:prstGeom>
          <a:solidFill>
            <a:srgbClr val="4A8BFF"/>
          </a:solidFill>
          <a:ln/>
        </p:spPr>
      </p:sp>
      <p:sp>
        <p:nvSpPr>
          <p:cNvPr id="16" name="e23_12"/>
          <p:cNvSpPr txBox="1"/>
          <p:nvPr/>
        </p:nvSpPr>
        <p:spPr>
          <a:xfrm>
            <a:off x="7132320" y="36393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links. Alle anderen nach rechts.</a:t>
            </a:r>
            <a:endParaRPr lang="en-US" sz="1800" dirty="0"/>
          </a:p>
        </p:txBody>
      </p:sp>
      <p:sp>
        <p:nvSpPr>
          <p:cNvPr id="17" name="e23_13"/>
          <p:cNvSpPr/>
          <p:nvPr/>
        </p:nvSpPr>
        <p:spPr>
          <a:xfrm>
            <a:off x="731520" y="5093208"/>
            <a:ext cx="658368" cy="658368"/>
          </a:xfrm>
          <a:prstGeom prst="ellipse">
            <a:avLst/>
          </a:prstGeom>
          <a:solidFill>
            <a:srgbClr val="1A202B"/>
          </a:solidFill>
          <a:ln w="25400">
            <a:solidFill>
              <a:srgbClr val="4A8BFF"/>
            </a:solidFill>
            <a:prstDash val="solid"/>
          </a:ln>
        </p:spPr>
      </p:sp>
      <p:sp>
        <p:nvSpPr>
          <p:cNvPr id="18" name="e23_14"/>
          <p:cNvSpPr txBox="1"/>
          <p:nvPr/>
        </p:nvSpPr>
        <p:spPr>
          <a:xfrm>
            <a:off x="731520" y="5093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e23_15"/>
          <p:cNvSpPr txBox="1"/>
          <p:nvPr/>
        </p:nvSpPr>
        <p:spPr>
          <a:xfrm>
            <a:off x="1645920" y="4983480"/>
            <a:ext cx="5074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 an der Ampel, hinter dir Blau + Horn?</a:t>
            </a:r>
            <a:endParaRPr lang="en-US" sz="2000" dirty="0"/>
          </a:p>
        </p:txBody>
      </p:sp>
      <p:sp>
        <p:nvSpPr>
          <p:cNvPr id="20" name="e23_16"/>
          <p:cNvSpPr/>
          <p:nvPr/>
        </p:nvSpPr>
        <p:spPr>
          <a:xfrm>
            <a:off x="6903720" y="5010912"/>
            <a:ext cx="4572000" cy="822960"/>
          </a:xfrm>
          <a:prstGeom prst="roundRect">
            <a:avLst>
              <a:gd name="adj" fmla="val 15556"/>
            </a:avLst>
          </a:prstGeom>
          <a:solidFill>
            <a:srgbClr val="4A8BFF"/>
          </a:solidFill>
          <a:ln/>
        </p:spPr>
      </p:sp>
      <p:sp>
        <p:nvSpPr>
          <p:cNvPr id="21" name="e23_17"/>
          <p:cNvSpPr txBox="1"/>
          <p:nvPr/>
        </p:nvSpPr>
        <p:spPr>
          <a:xfrm>
            <a:off x="7132320" y="50109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Ruhig bleiben. Nur vorrollen, wenn niemand gefährdet wird.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6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6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6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6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e24_1"/>
          <p:cNvSpPr txBox="1"/>
          <p:nvPr/>
        </p:nvSpPr>
        <p:spPr>
          <a:xfrm>
            <a:off x="73152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FFB547"/>
                </a:solidFill>
                <a:effectLst>
                  <a:glow rad="228600">
                    <a:srgbClr val="FFB547">
                      <a:alpha val="30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0" dirty="0"/>
          </a:p>
        </p:txBody>
      </p:sp>
      <p:sp>
        <p:nvSpPr>
          <p:cNvPr id="5" name="e24_2"/>
          <p:cNvSpPr txBox="1"/>
          <p:nvPr/>
        </p:nvSpPr>
        <p:spPr>
          <a:xfrm>
            <a:off x="731520" y="3611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Tunnel</a:t>
            </a:r>
            <a:endParaRPr lang="en-US" sz="6600" dirty="0"/>
          </a:p>
        </p:txBody>
      </p:sp>
      <p:sp>
        <p:nvSpPr>
          <p:cNvPr id="6" name="e24_3"/>
          <p:cNvSpPr txBox="1"/>
          <p:nvPr/>
        </p:nvSpPr>
        <p:spPr>
          <a:xfrm>
            <a:off x="777240" y="4846320"/>
            <a:ext cx="100584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381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 an, Abstand, im Notfall raus</a:t>
            </a:r>
            <a:endParaRPr lang="en-US" sz="24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9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9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25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UND IM TUNNEL</a:t>
            </a:r>
            <a:endParaRPr lang="en-US" sz="1300" dirty="0"/>
          </a:p>
        </p:txBody>
      </p:sp>
      <p:sp>
        <p:nvSpPr>
          <p:cNvPr id="6" name="e25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Fünf Regeln, bevor es dunkel wird</a:t>
            </a:r>
            <a:endParaRPr lang="en-US" sz="4000" dirty="0"/>
          </a:p>
        </p:txBody>
      </p:sp>
      <p:sp>
        <p:nvSpPr>
          <p:cNvPr id="7" name="e25_3"/>
          <p:cNvSpPr/>
          <p:nvPr/>
        </p:nvSpPr>
        <p:spPr>
          <a:xfrm>
            <a:off x="731520" y="2468880"/>
            <a:ext cx="2011680" cy="3291840"/>
          </a:xfrm>
          <a:prstGeom prst="roundRect">
            <a:avLst>
              <a:gd name="adj" fmla="val 6364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8" name="e25_4"/>
          <p:cNvSpPr/>
          <p:nvPr/>
        </p:nvSpPr>
        <p:spPr>
          <a:xfrm>
            <a:off x="1280160" y="2743200"/>
            <a:ext cx="914400" cy="914400"/>
          </a:xfrm>
          <a:prstGeom prst="ellipse">
            <a:avLst/>
          </a:prstGeom>
          <a:solidFill>
            <a:srgbClr val="2A2114"/>
          </a:solidFill>
          <a:ln/>
        </p:spPr>
      </p:sp>
      <p:pic>
        <p:nvPicPr>
          <p:cNvPr id="9" name="e25_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2944368"/>
            <a:ext cx="512064" cy="512064"/>
          </a:xfrm>
          <a:prstGeom prst="rect">
            <a:avLst/>
          </a:prstGeom>
        </p:spPr>
      </p:pic>
      <p:sp>
        <p:nvSpPr>
          <p:cNvPr id="10" name="e25_6"/>
          <p:cNvSpPr txBox="1"/>
          <p:nvPr/>
        </p:nvSpPr>
        <p:spPr>
          <a:xfrm>
            <a:off x="804672" y="3886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Abblendlicht an</a:t>
            </a:r>
            <a:endParaRPr lang="en-US" sz="1800" dirty="0"/>
          </a:p>
        </p:txBody>
      </p:sp>
      <p:sp>
        <p:nvSpPr>
          <p:cNvPr id="11" name="e25_7"/>
          <p:cNvSpPr txBox="1"/>
          <p:nvPr/>
        </p:nvSpPr>
        <p:spPr>
          <a:xfrm>
            <a:off x="822960" y="4663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wenn es hell ist</a:t>
            </a:r>
            <a:endParaRPr lang="en-US" sz="1700" dirty="0"/>
          </a:p>
        </p:txBody>
      </p:sp>
      <p:sp>
        <p:nvSpPr>
          <p:cNvPr id="12" name="e25_8"/>
          <p:cNvSpPr/>
          <p:nvPr/>
        </p:nvSpPr>
        <p:spPr>
          <a:xfrm>
            <a:off x="2903220" y="2468880"/>
            <a:ext cx="2011680" cy="3291840"/>
          </a:xfrm>
          <a:prstGeom prst="roundRect">
            <a:avLst>
              <a:gd name="adj" fmla="val 6364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13" name="e25_9"/>
          <p:cNvSpPr/>
          <p:nvPr/>
        </p:nvSpPr>
        <p:spPr>
          <a:xfrm>
            <a:off x="3451860" y="2743200"/>
            <a:ext cx="914400" cy="914400"/>
          </a:xfrm>
          <a:prstGeom prst="ellipse">
            <a:avLst/>
          </a:prstGeom>
          <a:solidFill>
            <a:srgbClr val="2A2114"/>
          </a:solidFill>
          <a:ln/>
        </p:spPr>
      </p:sp>
      <p:pic>
        <p:nvPicPr>
          <p:cNvPr id="14" name="e25_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028" y="2944368"/>
            <a:ext cx="512064" cy="512064"/>
          </a:xfrm>
          <a:prstGeom prst="rect">
            <a:avLst/>
          </a:prstGeom>
        </p:spPr>
      </p:pic>
      <p:sp>
        <p:nvSpPr>
          <p:cNvPr id="15" name="e25_11"/>
          <p:cNvSpPr txBox="1"/>
          <p:nvPr/>
        </p:nvSpPr>
        <p:spPr>
          <a:xfrm>
            <a:off x="2976372" y="3886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Sonnenbrille ab</a:t>
            </a:r>
            <a:endParaRPr lang="en-US" sz="1800" dirty="0"/>
          </a:p>
        </p:txBody>
      </p:sp>
      <p:sp>
        <p:nvSpPr>
          <p:cNvPr id="16" name="e25_12"/>
          <p:cNvSpPr txBox="1"/>
          <p:nvPr/>
        </p:nvSpPr>
        <p:spPr>
          <a:xfrm>
            <a:off x="2994660" y="4663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Augen brauchen Zeit</a:t>
            </a:r>
            <a:endParaRPr lang="en-US" sz="1700" dirty="0"/>
          </a:p>
        </p:txBody>
      </p:sp>
      <p:sp>
        <p:nvSpPr>
          <p:cNvPr id="17" name="e25_13"/>
          <p:cNvSpPr/>
          <p:nvPr/>
        </p:nvSpPr>
        <p:spPr>
          <a:xfrm>
            <a:off x="5074920" y="2468880"/>
            <a:ext cx="2011680" cy="3291840"/>
          </a:xfrm>
          <a:prstGeom prst="roundRect">
            <a:avLst>
              <a:gd name="adj" fmla="val 6364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18" name="e25_14"/>
          <p:cNvSpPr/>
          <p:nvPr/>
        </p:nvSpPr>
        <p:spPr>
          <a:xfrm>
            <a:off x="5623560" y="2743200"/>
            <a:ext cx="914400" cy="914400"/>
          </a:xfrm>
          <a:prstGeom prst="ellipse">
            <a:avLst/>
          </a:prstGeom>
          <a:solidFill>
            <a:srgbClr val="2A2114"/>
          </a:solidFill>
          <a:ln/>
        </p:spPr>
      </p:sp>
      <p:pic>
        <p:nvPicPr>
          <p:cNvPr id="19" name="e25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2944368"/>
            <a:ext cx="512064" cy="512064"/>
          </a:xfrm>
          <a:prstGeom prst="rect">
            <a:avLst/>
          </a:prstGeom>
        </p:spPr>
      </p:pic>
      <p:sp>
        <p:nvSpPr>
          <p:cNvPr id="20" name="e25_16"/>
          <p:cNvSpPr txBox="1"/>
          <p:nvPr/>
        </p:nvSpPr>
        <p:spPr>
          <a:xfrm>
            <a:off x="5148072" y="3886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 an</a:t>
            </a:r>
            <a:endParaRPr lang="en-US" sz="1800" dirty="0"/>
          </a:p>
        </p:txBody>
      </p:sp>
      <p:sp>
        <p:nvSpPr>
          <p:cNvPr id="21" name="e25_17"/>
          <p:cNvSpPr txBox="1"/>
          <p:nvPr/>
        </p:nvSpPr>
        <p:spPr>
          <a:xfrm>
            <a:off x="5166360" y="4663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Durchsagen hören</a:t>
            </a:r>
            <a:endParaRPr lang="en-US" sz="1700" dirty="0"/>
          </a:p>
        </p:txBody>
      </p:sp>
      <p:sp>
        <p:nvSpPr>
          <p:cNvPr id="22" name="e25_18"/>
          <p:cNvSpPr/>
          <p:nvPr/>
        </p:nvSpPr>
        <p:spPr>
          <a:xfrm>
            <a:off x="7246620" y="2468880"/>
            <a:ext cx="2011680" cy="3291840"/>
          </a:xfrm>
          <a:prstGeom prst="roundRect">
            <a:avLst>
              <a:gd name="adj" fmla="val 6364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23" name="e25_19"/>
          <p:cNvSpPr/>
          <p:nvPr/>
        </p:nvSpPr>
        <p:spPr>
          <a:xfrm>
            <a:off x="7795260" y="2743200"/>
            <a:ext cx="914400" cy="914400"/>
          </a:xfrm>
          <a:prstGeom prst="ellipse">
            <a:avLst/>
          </a:prstGeom>
          <a:solidFill>
            <a:srgbClr val="2A2114"/>
          </a:solidFill>
          <a:ln/>
        </p:spPr>
      </p:sp>
      <p:pic>
        <p:nvPicPr>
          <p:cNvPr id="24" name="e25_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6428" y="2944368"/>
            <a:ext cx="512064" cy="512064"/>
          </a:xfrm>
          <a:prstGeom prst="rect">
            <a:avLst/>
          </a:prstGeom>
        </p:spPr>
      </p:pic>
      <p:sp>
        <p:nvSpPr>
          <p:cNvPr id="25" name="e25_21"/>
          <p:cNvSpPr txBox="1"/>
          <p:nvPr/>
        </p:nvSpPr>
        <p:spPr>
          <a:xfrm>
            <a:off x="7319772" y="3886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Abstand halten</a:t>
            </a:r>
            <a:endParaRPr lang="en-US" sz="1800" dirty="0"/>
          </a:p>
        </p:txBody>
      </p:sp>
      <p:sp>
        <p:nvSpPr>
          <p:cNvPr id="26" name="e25_22"/>
          <p:cNvSpPr txBox="1"/>
          <p:nvPr/>
        </p:nvSpPr>
        <p:spPr>
          <a:xfrm>
            <a:off x="7338060" y="4663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halber Tacho, 80 km/h = 40 m</a:t>
            </a:r>
            <a:endParaRPr lang="en-US" sz="1700" dirty="0"/>
          </a:p>
        </p:txBody>
      </p:sp>
      <p:sp>
        <p:nvSpPr>
          <p:cNvPr id="27" name="e25_23"/>
          <p:cNvSpPr/>
          <p:nvPr/>
        </p:nvSpPr>
        <p:spPr>
          <a:xfrm>
            <a:off x="9418320" y="2468880"/>
            <a:ext cx="2011680" cy="3291840"/>
          </a:xfrm>
          <a:prstGeom prst="roundRect">
            <a:avLst>
              <a:gd name="adj" fmla="val 6364"/>
            </a:avLst>
          </a:prstGeom>
          <a:solidFill>
            <a:srgbClr val="12161E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28" name="e25_24"/>
          <p:cNvSpPr/>
          <p:nvPr/>
        </p:nvSpPr>
        <p:spPr>
          <a:xfrm>
            <a:off x="9966960" y="2743200"/>
            <a:ext cx="914400" cy="914400"/>
          </a:xfrm>
          <a:prstGeom prst="ellipse">
            <a:avLst/>
          </a:prstGeom>
          <a:solidFill>
            <a:srgbClr val="2A2114"/>
          </a:solidFill>
          <a:ln/>
        </p:spPr>
      </p:sp>
      <p:pic>
        <p:nvPicPr>
          <p:cNvPr id="29" name="e25_2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8128" y="2944368"/>
            <a:ext cx="512064" cy="512064"/>
          </a:xfrm>
          <a:prstGeom prst="rect">
            <a:avLst/>
          </a:prstGeom>
        </p:spPr>
      </p:pic>
      <p:sp>
        <p:nvSpPr>
          <p:cNvPr id="30" name="e25_26"/>
          <p:cNvSpPr txBox="1"/>
          <p:nvPr/>
        </p:nvSpPr>
        <p:spPr>
          <a:xfrm>
            <a:off x="9491472" y="3886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Nicht wenden</a:t>
            </a:r>
            <a:endParaRPr lang="en-US" sz="1800" dirty="0"/>
          </a:p>
        </p:txBody>
      </p:sp>
      <p:sp>
        <p:nvSpPr>
          <p:cNvPr id="31" name="e25_27"/>
          <p:cNvSpPr txBox="1"/>
          <p:nvPr/>
        </p:nvSpPr>
        <p:spPr>
          <a:xfrm>
            <a:off x="9509760" y="4663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rückwärts, nur im Notfall halten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6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6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6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e26_1" descr="/tmp/claude-0/-home-user-Fahrlehrer-Kompass-/018b7d63-84f4-5712-a986-965872121e15/scratchpad/bau/art/smo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e26_2"/>
          <p:cNvSpPr/>
          <p:nvPr/>
        </p:nvSpPr>
        <p:spPr>
          <a:xfrm>
            <a:off x="548640" y="502920"/>
            <a:ext cx="6400800" cy="1234440"/>
          </a:xfrm>
          <a:prstGeom prst="roundRect">
            <a:avLst>
              <a:gd name="adj" fmla="val 8889"/>
            </a:avLst>
          </a:prstGeom>
          <a:solidFill>
            <a:srgbClr val="07080B">
              <a:alpha val="80000"/>
            </a:srgbClr>
          </a:solidFill>
          <a:ln/>
        </p:spPr>
      </p:sp>
      <p:sp>
        <p:nvSpPr>
          <p:cNvPr id="6" name="e26_3"/>
          <p:cNvSpPr txBox="1"/>
          <p:nvPr/>
        </p:nvSpPr>
        <p:spPr>
          <a:xfrm>
            <a:off x="8229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· ES BRENNT</a:t>
            </a:r>
            <a:endParaRPr lang="en-US" sz="1300" dirty="0"/>
          </a:p>
        </p:txBody>
      </p:sp>
      <p:sp>
        <p:nvSpPr>
          <p:cNvPr id="7" name="e26_4"/>
          <p:cNvSpPr txBox="1"/>
          <p:nvPr/>
        </p:nvSpPr>
        <p:spPr>
          <a:xfrm>
            <a:off x="777240" y="10058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Vorne raucht es. Was tust du?</a:t>
            </a:r>
            <a:endParaRPr lang="en-US" sz="3400" dirty="0"/>
          </a:p>
        </p:txBody>
      </p:sp>
      <p:sp>
        <p:nvSpPr>
          <p:cNvPr id="8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9" name="e26_5"/>
          <p:cNvSpPr/>
          <p:nvPr/>
        </p:nvSpPr>
        <p:spPr>
          <a:xfrm>
            <a:off x="548640" y="4160520"/>
            <a:ext cx="3566160" cy="1143000"/>
          </a:xfrm>
          <a:prstGeom prst="roundRect">
            <a:avLst>
              <a:gd name="adj" fmla="val 11200"/>
            </a:avLst>
          </a:prstGeom>
          <a:solidFill>
            <a:srgbClr val="0B0D11">
              <a:alpha val="90000"/>
            </a:srgbClr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10" name="e26_6"/>
          <p:cNvSpPr txBox="1"/>
          <p:nvPr/>
        </p:nvSpPr>
        <p:spPr>
          <a:xfrm>
            <a:off x="731520" y="43891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11" name="e26_7"/>
          <p:cNvSpPr txBox="1"/>
          <p:nvPr/>
        </p:nvSpPr>
        <p:spPr>
          <a:xfrm>
            <a:off x="1325880" y="420624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Wenden und zurückfahren</a:t>
            </a:r>
            <a:endParaRPr lang="en-US" sz="2000" dirty="0"/>
          </a:p>
        </p:txBody>
      </p:sp>
      <p:sp>
        <p:nvSpPr>
          <p:cNvPr id="12" name="e26_8"/>
          <p:cNvSpPr/>
          <p:nvPr/>
        </p:nvSpPr>
        <p:spPr>
          <a:xfrm>
            <a:off x="4315968" y="4160520"/>
            <a:ext cx="3566160" cy="1143000"/>
          </a:xfrm>
          <a:prstGeom prst="roundRect">
            <a:avLst>
              <a:gd name="adj" fmla="val 11200"/>
            </a:avLst>
          </a:prstGeom>
          <a:solidFill>
            <a:srgbClr val="0B0D11">
              <a:alpha val="90000"/>
            </a:srgbClr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13" name="e26_9"/>
          <p:cNvSpPr txBox="1"/>
          <p:nvPr/>
        </p:nvSpPr>
        <p:spPr>
          <a:xfrm>
            <a:off x="4498848" y="43891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600" dirty="0"/>
          </a:p>
        </p:txBody>
      </p:sp>
      <p:sp>
        <p:nvSpPr>
          <p:cNvPr id="14" name="e26_10"/>
          <p:cNvSpPr txBox="1"/>
          <p:nvPr/>
        </p:nvSpPr>
        <p:spPr>
          <a:xfrm>
            <a:off x="5093208" y="420624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Auto warten</a:t>
            </a:r>
            <a:endParaRPr lang="en-US" sz="2000" dirty="0"/>
          </a:p>
        </p:txBody>
      </p:sp>
      <p:sp>
        <p:nvSpPr>
          <p:cNvPr id="15" name="e26_11"/>
          <p:cNvSpPr/>
          <p:nvPr/>
        </p:nvSpPr>
        <p:spPr>
          <a:xfrm>
            <a:off x="8083296" y="4160520"/>
            <a:ext cx="3566160" cy="1143000"/>
          </a:xfrm>
          <a:prstGeom prst="roundRect">
            <a:avLst>
              <a:gd name="adj" fmla="val 11200"/>
            </a:avLst>
          </a:prstGeom>
          <a:solidFill>
            <a:srgbClr val="0B0D11">
              <a:alpha val="90000"/>
            </a:srgbClr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16" name="e26_12"/>
          <p:cNvSpPr txBox="1"/>
          <p:nvPr/>
        </p:nvSpPr>
        <p:spPr>
          <a:xfrm>
            <a:off x="8266176" y="43891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17" name="e26_13"/>
          <p:cNvSpPr txBox="1"/>
          <p:nvPr/>
        </p:nvSpPr>
        <p:spPr>
          <a:xfrm>
            <a:off x="8860536" y="420624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Anhalten und zu Fuß raus</a:t>
            </a:r>
            <a:endParaRPr lang="en-US" sz="2000" dirty="0"/>
          </a:p>
        </p:txBody>
      </p:sp>
      <p:pic>
        <p:nvPicPr>
          <p:cNvPr id="18" name="e26_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794760"/>
            <a:ext cx="731520" cy="731520"/>
          </a:xfrm>
          <a:prstGeom prst="rect">
            <a:avLst/>
          </a:prstGeom>
        </p:spPr>
      </p:pic>
      <p:pic>
        <p:nvPicPr>
          <p:cNvPr id="19" name="e26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3794760"/>
            <a:ext cx="731520" cy="731520"/>
          </a:xfrm>
          <a:prstGeom prst="rect">
            <a:avLst/>
          </a:prstGeom>
        </p:spPr>
      </p:pic>
      <p:pic>
        <p:nvPicPr>
          <p:cNvPr id="20" name="e26_1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3656" y="3794760"/>
            <a:ext cx="731520" cy="731520"/>
          </a:xfrm>
          <a:prstGeom prst="rect">
            <a:avLst/>
          </a:prstGeom>
        </p:spPr>
      </p:pic>
      <p:sp>
        <p:nvSpPr>
          <p:cNvPr id="21" name="e26_17"/>
          <p:cNvSpPr/>
          <p:nvPr/>
        </p:nvSpPr>
        <p:spPr>
          <a:xfrm>
            <a:off x="8037576" y="4114800"/>
            <a:ext cx="3657600" cy="1234440"/>
          </a:xfrm>
          <a:prstGeom prst="roundRect">
            <a:avLst>
              <a:gd name="adj" fmla="val 10370"/>
            </a:avLst>
          </a:prstGeom>
          <a:ln w="38100">
            <a:solidFill>
              <a:srgbClr val="3FD17A"/>
            </a:solidFill>
            <a:prstDash val="solid"/>
          </a:ln>
        </p:spPr>
      </p:sp>
      <p:sp>
        <p:nvSpPr>
          <p:cNvPr id="22" name="e26_18"/>
          <p:cNvSpPr/>
          <p:nvPr/>
        </p:nvSpPr>
        <p:spPr>
          <a:xfrm>
            <a:off x="548640" y="5532120"/>
            <a:ext cx="11100816" cy="868680"/>
          </a:xfrm>
          <a:prstGeom prst="roundRect">
            <a:avLst>
              <a:gd name="adj" fmla="val 14737"/>
            </a:avLst>
          </a:prstGeom>
          <a:solidFill>
            <a:srgbClr val="0B1A12">
              <a:alpha val="95000"/>
            </a:srgbClr>
          </a:solidFill>
          <a:ln w="19050">
            <a:solidFill>
              <a:srgbClr val="3FD17A"/>
            </a:solidFill>
            <a:prstDash val="solid"/>
          </a:ln>
        </p:spPr>
      </p:sp>
      <p:sp>
        <p:nvSpPr>
          <p:cNvPr id="23" name="e26_19"/>
          <p:cNvSpPr txBox="1"/>
          <p:nvPr/>
        </p:nvSpPr>
        <p:spPr>
          <a:xfrm>
            <a:off x="777240" y="55321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Warnblinker · rechts ran · Motor aus · Schlüssel stecken · Tür offen · zum grünen Notausgang</a:t>
            </a:r>
            <a:endParaRPr lang="en-US" sz="20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6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6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80" fill="hold" ac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380" fill="hold" ac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28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380" fill="hold" ac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380" fill="hold" ac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28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380" fill="hold" ac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380" fill="hold" ac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28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00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6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27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NOTFALL IM TUNNEL</a:t>
            </a:r>
            <a:endParaRPr lang="en-US" sz="1300" dirty="0"/>
          </a:p>
        </p:txBody>
      </p:sp>
      <p:sp>
        <p:nvSpPr>
          <p:cNvPr id="6" name="e27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Stau und Panne</a:t>
            </a:r>
            <a:endParaRPr lang="en-US" sz="4400" dirty="0"/>
          </a:p>
        </p:txBody>
      </p:sp>
      <p:sp>
        <p:nvSpPr>
          <p:cNvPr id="7" name="e27_3"/>
          <p:cNvSpPr/>
          <p:nvPr/>
        </p:nvSpPr>
        <p:spPr>
          <a:xfrm>
            <a:off x="731520" y="2377440"/>
            <a:ext cx="5257800" cy="2651760"/>
          </a:xfrm>
          <a:prstGeom prst="roundRect">
            <a:avLst>
              <a:gd name="adj" fmla="val 4828"/>
            </a:avLst>
          </a:prstGeom>
          <a:solidFill>
            <a:srgbClr val="12161E"/>
          </a:solidFill>
          <a:ln w="19050">
            <a:solidFill>
              <a:srgbClr val="FFB547"/>
            </a:solidFill>
            <a:prstDash val="solid"/>
          </a:ln>
        </p:spPr>
      </p:sp>
      <p:pic>
        <p:nvPicPr>
          <p:cNvPr id="8" name="e27_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06040"/>
            <a:ext cx="548640" cy="548640"/>
          </a:xfrm>
          <a:prstGeom prst="rect">
            <a:avLst/>
          </a:prstGeom>
        </p:spPr>
      </p:pic>
      <p:sp>
        <p:nvSpPr>
          <p:cNvPr id="9" name="e27_5"/>
          <p:cNvSpPr txBox="1"/>
          <p:nvPr/>
        </p:nvSpPr>
        <p:spPr>
          <a:xfrm>
            <a:off x="1691640" y="257860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Stau</a:t>
            </a:r>
            <a:endParaRPr lang="en-US" sz="3200" dirty="0"/>
          </a:p>
        </p:txBody>
      </p:sp>
      <p:sp>
        <p:nvSpPr>
          <p:cNvPr id="10" name="e27_6"/>
          <p:cNvSpPr txBox="1"/>
          <p:nvPr/>
        </p:nvSpPr>
        <p:spPr>
          <a:xfrm>
            <a:off x="1097280" y="3429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Warnblinker an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Mind. 5 m Abstand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Langer Stillstand: Motor aus</a:t>
            </a:r>
            <a:endParaRPr lang="en-US" sz="2400" dirty="0"/>
          </a:p>
        </p:txBody>
      </p:sp>
      <p:sp>
        <p:nvSpPr>
          <p:cNvPr id="11" name="e27_7"/>
          <p:cNvSpPr/>
          <p:nvPr/>
        </p:nvSpPr>
        <p:spPr>
          <a:xfrm>
            <a:off x="6172200" y="2377440"/>
            <a:ext cx="5257800" cy="2651760"/>
          </a:xfrm>
          <a:prstGeom prst="roundRect">
            <a:avLst>
              <a:gd name="adj" fmla="val 4828"/>
            </a:avLst>
          </a:prstGeom>
          <a:solidFill>
            <a:srgbClr val="12161E"/>
          </a:solidFill>
          <a:ln w="19050">
            <a:solidFill>
              <a:srgbClr val="FF7A1A"/>
            </a:solidFill>
            <a:prstDash val="solid"/>
          </a:ln>
        </p:spPr>
      </p:sp>
      <p:pic>
        <p:nvPicPr>
          <p:cNvPr id="12" name="e27_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606040"/>
            <a:ext cx="548640" cy="548640"/>
          </a:xfrm>
          <a:prstGeom prst="rect">
            <a:avLst/>
          </a:prstGeom>
        </p:spPr>
      </p:pic>
      <p:sp>
        <p:nvSpPr>
          <p:cNvPr id="13" name="e27_9"/>
          <p:cNvSpPr txBox="1"/>
          <p:nvPr/>
        </p:nvSpPr>
        <p:spPr>
          <a:xfrm>
            <a:off x="7132320" y="257860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Panne</a:t>
            </a:r>
            <a:endParaRPr lang="en-US" sz="3200" dirty="0"/>
          </a:p>
        </p:txBody>
      </p:sp>
      <p:sp>
        <p:nvSpPr>
          <p:cNvPr id="14" name="e27_10"/>
          <p:cNvSpPr txBox="1"/>
          <p:nvPr/>
        </p:nvSpPr>
        <p:spPr>
          <a:xfrm>
            <a:off x="6537960" y="3429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Warnblinker, Warnweste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in die Pannenbucht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Notrufstation nutzen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e28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1005840"/>
            <a:ext cx="1097280" cy="1097280"/>
          </a:xfrm>
          <a:prstGeom prst="rect">
            <a:avLst/>
          </a:prstGeom>
        </p:spPr>
      </p:pic>
      <p:sp>
        <p:nvSpPr>
          <p:cNvPr id="5" name="e28_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Notrufstation statt Handy.</a:t>
            </a:r>
            <a:endParaRPr lang="en-US" sz="5800" dirty="0"/>
          </a:p>
        </p:txBody>
      </p:sp>
      <p:sp>
        <p:nvSpPr>
          <p:cNvPr id="6" name="e28_3"/>
          <p:cNvSpPr txBox="1"/>
          <p:nvPr/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Tunnelzentrale sieht sofort, </a:t>
            </a:r>
            <a:pPr algn="ctr" indent="0" marL="0">
              <a:buNone/>
            </a:pPr>
            <a:r>
              <a:rPr lang="en-US" sz="3600" i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du bist.</a:t>
            </a:r>
            <a:endParaRPr lang="en-US" sz="36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9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9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29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TUNNEL</a:t>
            </a:r>
            <a:endParaRPr lang="en-US" sz="1300" dirty="0"/>
          </a:p>
        </p:txBody>
      </p:sp>
      <p:sp>
        <p:nvSpPr>
          <p:cNvPr id="6" name="e29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Fragen, drei Antworten</a:t>
            </a:r>
            <a:endParaRPr lang="en-US" sz="4000" dirty="0"/>
          </a:p>
        </p:txBody>
      </p:sp>
      <p:sp>
        <p:nvSpPr>
          <p:cNvPr id="7" name="e29_3"/>
          <p:cNvSpPr/>
          <p:nvPr/>
        </p:nvSpPr>
        <p:spPr>
          <a:xfrm>
            <a:off x="731520" y="2350008"/>
            <a:ext cx="658368" cy="658368"/>
          </a:xfrm>
          <a:prstGeom prst="ellipse">
            <a:avLst/>
          </a:prstGeom>
          <a:solidFill>
            <a:srgbClr val="1A202B"/>
          </a:solidFill>
          <a:ln w="25400">
            <a:solidFill>
              <a:srgbClr val="FFB547"/>
            </a:solidFill>
            <a:prstDash val="solid"/>
          </a:ln>
        </p:spPr>
      </p:sp>
      <p:sp>
        <p:nvSpPr>
          <p:cNvPr id="8" name="e29_4"/>
          <p:cNvSpPr txBox="1"/>
          <p:nvPr/>
        </p:nvSpPr>
        <p:spPr>
          <a:xfrm>
            <a:off x="731520" y="2350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e29_5"/>
          <p:cNvSpPr txBox="1"/>
          <p:nvPr/>
        </p:nvSpPr>
        <p:spPr>
          <a:xfrm>
            <a:off x="1645920" y="2240280"/>
            <a:ext cx="5074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hell beleuchtet: Welches Licht?</a:t>
            </a:r>
            <a:endParaRPr lang="en-US" sz="2000" dirty="0"/>
          </a:p>
        </p:txBody>
      </p:sp>
      <p:sp>
        <p:nvSpPr>
          <p:cNvPr id="10" name="e29_6"/>
          <p:cNvSpPr/>
          <p:nvPr/>
        </p:nvSpPr>
        <p:spPr>
          <a:xfrm>
            <a:off x="6903720" y="2267712"/>
            <a:ext cx="4572000" cy="822960"/>
          </a:xfrm>
          <a:prstGeom prst="roundRect">
            <a:avLst>
              <a:gd name="adj" fmla="val 15556"/>
            </a:avLst>
          </a:prstGeom>
          <a:solidFill>
            <a:srgbClr val="FFB547"/>
          </a:solidFill>
          <a:ln/>
        </p:spPr>
      </p:sp>
      <p:sp>
        <p:nvSpPr>
          <p:cNvPr id="11" name="e29_7"/>
          <p:cNvSpPr txBox="1"/>
          <p:nvPr/>
        </p:nvSpPr>
        <p:spPr>
          <a:xfrm>
            <a:off x="7132320" y="22677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Trotzdem Abblendlicht an.</a:t>
            </a:r>
            <a:endParaRPr lang="en-US" sz="1800" dirty="0"/>
          </a:p>
        </p:txBody>
      </p:sp>
      <p:sp>
        <p:nvSpPr>
          <p:cNvPr id="12" name="e29_8"/>
          <p:cNvSpPr/>
          <p:nvPr/>
        </p:nvSpPr>
        <p:spPr>
          <a:xfrm>
            <a:off x="731520" y="3721608"/>
            <a:ext cx="658368" cy="658368"/>
          </a:xfrm>
          <a:prstGeom prst="ellipse">
            <a:avLst/>
          </a:prstGeom>
          <a:solidFill>
            <a:srgbClr val="1A202B"/>
          </a:solidFill>
          <a:ln w="25400">
            <a:solidFill>
              <a:srgbClr val="FFB547"/>
            </a:solidFill>
            <a:prstDash val="solid"/>
          </a:ln>
        </p:spPr>
      </p:sp>
      <p:sp>
        <p:nvSpPr>
          <p:cNvPr id="13" name="e29_9"/>
          <p:cNvSpPr txBox="1"/>
          <p:nvPr/>
        </p:nvSpPr>
        <p:spPr>
          <a:xfrm>
            <a:off x="731520" y="3721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e29_10"/>
          <p:cNvSpPr txBox="1"/>
          <p:nvPr/>
        </p:nvSpPr>
        <p:spPr>
          <a:xfrm>
            <a:off x="1645920" y="3611880"/>
            <a:ext cx="5074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im Tunnel: Wohin mit dem Schlüssel?</a:t>
            </a:r>
            <a:endParaRPr lang="en-US" sz="2000" dirty="0"/>
          </a:p>
        </p:txBody>
      </p:sp>
      <p:sp>
        <p:nvSpPr>
          <p:cNvPr id="15" name="e29_11"/>
          <p:cNvSpPr/>
          <p:nvPr/>
        </p:nvSpPr>
        <p:spPr>
          <a:xfrm>
            <a:off x="6903720" y="3639312"/>
            <a:ext cx="4572000" cy="822960"/>
          </a:xfrm>
          <a:prstGeom prst="roundRect">
            <a:avLst>
              <a:gd name="adj" fmla="val 15556"/>
            </a:avLst>
          </a:prstGeom>
          <a:solidFill>
            <a:srgbClr val="FFB547"/>
          </a:solidFill>
          <a:ln/>
        </p:spPr>
      </p:sp>
      <p:sp>
        <p:nvSpPr>
          <p:cNvPr id="16" name="e29_12"/>
          <p:cNvSpPr txBox="1"/>
          <p:nvPr/>
        </p:nvSpPr>
        <p:spPr>
          <a:xfrm>
            <a:off x="7132320" y="36393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Stecken lassen, Tür nicht abschließen.</a:t>
            </a:r>
            <a:endParaRPr lang="en-US" sz="1800" dirty="0"/>
          </a:p>
        </p:txBody>
      </p:sp>
      <p:sp>
        <p:nvSpPr>
          <p:cNvPr id="17" name="e29_13"/>
          <p:cNvSpPr/>
          <p:nvPr/>
        </p:nvSpPr>
        <p:spPr>
          <a:xfrm>
            <a:off x="731520" y="5093208"/>
            <a:ext cx="658368" cy="658368"/>
          </a:xfrm>
          <a:prstGeom prst="ellipse">
            <a:avLst/>
          </a:prstGeom>
          <a:solidFill>
            <a:srgbClr val="1A202B"/>
          </a:solidFill>
          <a:ln w="25400">
            <a:solidFill>
              <a:srgbClr val="FFB547"/>
            </a:solidFill>
            <a:prstDash val="solid"/>
          </a:ln>
        </p:spPr>
      </p:sp>
      <p:sp>
        <p:nvSpPr>
          <p:cNvPr id="18" name="e29_14"/>
          <p:cNvSpPr txBox="1"/>
          <p:nvPr/>
        </p:nvSpPr>
        <p:spPr>
          <a:xfrm>
            <a:off x="731520" y="5093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e29_15"/>
          <p:cNvSpPr txBox="1"/>
          <p:nvPr/>
        </p:nvSpPr>
        <p:spPr>
          <a:xfrm>
            <a:off x="1645920" y="4983480"/>
            <a:ext cx="5074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Stau im Tunnel: Wie viel Abstand?</a:t>
            </a:r>
            <a:endParaRPr lang="en-US" sz="2000" dirty="0"/>
          </a:p>
        </p:txBody>
      </p:sp>
      <p:sp>
        <p:nvSpPr>
          <p:cNvPr id="20" name="e29_16"/>
          <p:cNvSpPr/>
          <p:nvPr/>
        </p:nvSpPr>
        <p:spPr>
          <a:xfrm>
            <a:off x="6903720" y="5010912"/>
            <a:ext cx="4572000" cy="822960"/>
          </a:xfrm>
          <a:prstGeom prst="roundRect">
            <a:avLst>
              <a:gd name="adj" fmla="val 15556"/>
            </a:avLst>
          </a:prstGeom>
          <a:solidFill>
            <a:srgbClr val="FFB547"/>
          </a:solidFill>
          <a:ln/>
        </p:spPr>
      </p:sp>
      <p:sp>
        <p:nvSpPr>
          <p:cNvPr id="21" name="e29_17"/>
          <p:cNvSpPr txBox="1"/>
          <p:nvPr/>
        </p:nvSpPr>
        <p:spPr>
          <a:xfrm>
            <a:off x="7132320" y="50109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5 Meter, Warnblinker an.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6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6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6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6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30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KOMMT NOCH</a:t>
            </a:r>
            <a:endParaRPr lang="en-US" sz="1300" dirty="0"/>
          </a:p>
        </p:txBody>
      </p:sp>
      <p:sp>
        <p:nvSpPr>
          <p:cNvPr id="6" name="e30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gehört auch zu Lektion 11</a:t>
            </a:r>
            <a:endParaRPr lang="en-US" sz="4400" dirty="0"/>
          </a:p>
        </p:txBody>
      </p:sp>
      <p:sp>
        <p:nvSpPr>
          <p:cNvPr id="7" name="e30_3"/>
          <p:cNvSpPr txBox="1"/>
          <p:nvPr/>
        </p:nvSpPr>
        <p:spPr>
          <a:xfrm>
            <a:off x="731520" y="2651760"/>
            <a:ext cx="3429000" cy="731520"/>
          </a:xfrm>
          <a:prstGeom prst="roundRect">
            <a:avLst>
              <a:gd name="adj" fmla="val 31250"/>
            </a:avLst>
          </a:prstGeom>
          <a:solidFill>
            <a:srgbClr val="12161E"/>
          </a:solidFill>
          <a:ln w="12700">
            <a:solidFill>
              <a:srgbClr val="2A33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dem Unfall</a:t>
            </a:r>
            <a:endParaRPr lang="en-US" sz="1900" dirty="0"/>
          </a:p>
        </p:txBody>
      </p:sp>
      <p:sp>
        <p:nvSpPr>
          <p:cNvPr id="8" name="e30_4"/>
          <p:cNvSpPr txBox="1"/>
          <p:nvPr/>
        </p:nvSpPr>
        <p:spPr>
          <a:xfrm>
            <a:off x="4361688" y="2651760"/>
            <a:ext cx="3429000" cy="731520"/>
          </a:xfrm>
          <a:prstGeom prst="roundRect">
            <a:avLst>
              <a:gd name="adj" fmla="val 31250"/>
            </a:avLst>
          </a:prstGeom>
          <a:solidFill>
            <a:srgbClr val="12161E"/>
          </a:solidFill>
          <a:ln w="12700">
            <a:solidFill>
              <a:srgbClr val="2A33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Bußgeld, Fahrverbot, Strafe</a:t>
            </a:r>
            <a:endParaRPr lang="en-US" sz="1900" dirty="0"/>
          </a:p>
        </p:txBody>
      </p:sp>
      <p:sp>
        <p:nvSpPr>
          <p:cNvPr id="9" name="e30_5"/>
          <p:cNvSpPr txBox="1"/>
          <p:nvPr/>
        </p:nvSpPr>
        <p:spPr>
          <a:xfrm>
            <a:off x="7991856" y="2651760"/>
            <a:ext cx="3429000" cy="731520"/>
          </a:xfrm>
          <a:prstGeom prst="roundRect">
            <a:avLst>
              <a:gd name="adj" fmla="val 31250"/>
            </a:avLst>
          </a:prstGeom>
          <a:solidFill>
            <a:srgbClr val="12161E"/>
          </a:solidFill>
          <a:ln w="12700">
            <a:solidFill>
              <a:srgbClr val="2A33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Punkte in Flensburg</a:t>
            </a:r>
            <a:endParaRPr lang="en-US" sz="1900" dirty="0"/>
          </a:p>
        </p:txBody>
      </p:sp>
      <p:sp>
        <p:nvSpPr>
          <p:cNvPr id="10" name="e30_6"/>
          <p:cNvSpPr txBox="1"/>
          <p:nvPr/>
        </p:nvSpPr>
        <p:spPr>
          <a:xfrm>
            <a:off x="731520" y="3657600"/>
            <a:ext cx="3429000" cy="731520"/>
          </a:xfrm>
          <a:prstGeom prst="roundRect">
            <a:avLst>
              <a:gd name="adj" fmla="val 31250"/>
            </a:avLst>
          </a:prstGeom>
          <a:solidFill>
            <a:srgbClr val="12161E"/>
          </a:solidFill>
          <a:ln w="12700">
            <a:solidFill>
              <a:srgbClr val="2A33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Entzug der Fahrerlaubnis</a:t>
            </a:r>
            <a:endParaRPr lang="en-US" sz="1900" dirty="0"/>
          </a:p>
        </p:txBody>
      </p:sp>
      <p:sp>
        <p:nvSpPr>
          <p:cNvPr id="11" name="e30_7"/>
          <p:cNvSpPr txBox="1"/>
          <p:nvPr/>
        </p:nvSpPr>
        <p:spPr>
          <a:xfrm>
            <a:off x="4361688" y="3657600"/>
            <a:ext cx="3429000" cy="731520"/>
          </a:xfrm>
          <a:prstGeom prst="roundRect">
            <a:avLst>
              <a:gd name="adj" fmla="val 31250"/>
            </a:avLst>
          </a:prstGeom>
          <a:solidFill>
            <a:srgbClr val="12161E"/>
          </a:solidFill>
          <a:ln w="12700">
            <a:solidFill>
              <a:srgbClr val="2A33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Versicherung und Regress</a:t>
            </a:r>
            <a:endParaRPr lang="en-US" sz="1900" dirty="0"/>
          </a:p>
        </p:txBody>
      </p:sp>
      <p:sp>
        <p:nvSpPr>
          <p:cNvPr id="12" name="e30_8"/>
          <p:cNvSpPr txBox="1"/>
          <p:nvPr/>
        </p:nvSpPr>
        <p:spPr>
          <a:xfrm>
            <a:off x="7991856" y="3657600"/>
            <a:ext cx="3429000" cy="731520"/>
          </a:xfrm>
          <a:prstGeom prst="roundRect">
            <a:avLst>
              <a:gd name="adj" fmla="val 31250"/>
            </a:avLst>
          </a:prstGeom>
          <a:solidFill>
            <a:srgbClr val="12161E"/>
          </a:solidFill>
          <a:ln w="12700">
            <a:solidFill>
              <a:srgbClr val="2A33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</a:t>
            </a:r>
            <a:endParaRPr lang="en-US" sz="1900" dirty="0"/>
          </a:p>
        </p:txBody>
      </p:sp>
      <p:sp>
        <p:nvSpPr>
          <p:cNvPr id="13" name="e30_9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Probezeit und Seminare: gleich in Lektion 12.</a:t>
            </a:r>
            <a:endParaRPr lang="en-US" sz="1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4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31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GRUPPENARBEIT</a:t>
            </a:r>
            <a:endParaRPr lang="en-US" sz="1300" dirty="0"/>
          </a:p>
        </p:txBody>
      </p:sp>
      <p:sp>
        <p:nvSpPr>
          <p:cNvPr id="6" name="e31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Ihr seid jetzt die Fahrlehrer</a:t>
            </a:r>
            <a:endParaRPr lang="en-US" sz="4400" dirty="0"/>
          </a:p>
        </p:txBody>
      </p:sp>
      <p:sp>
        <p:nvSpPr>
          <p:cNvPr id="7" name="e31_3"/>
          <p:cNvSpPr/>
          <p:nvPr/>
        </p:nvSpPr>
        <p:spPr>
          <a:xfrm>
            <a:off x="731520" y="237744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12161E"/>
          </a:solidFill>
          <a:ln w="19050">
            <a:solidFill>
              <a:srgbClr val="FF7A1A"/>
            </a:solidFill>
            <a:prstDash val="solid"/>
          </a:ln>
        </p:spPr>
      </p:sp>
      <p:pic>
        <p:nvPicPr>
          <p:cNvPr id="8" name="e31_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06040"/>
            <a:ext cx="548640" cy="548640"/>
          </a:xfrm>
          <a:prstGeom prst="rect">
            <a:avLst/>
          </a:prstGeom>
        </p:spPr>
      </p:pic>
      <p:sp>
        <p:nvSpPr>
          <p:cNvPr id="9" name="e31_5"/>
          <p:cNvSpPr txBox="1"/>
          <p:nvPr/>
        </p:nvSpPr>
        <p:spPr>
          <a:xfrm>
            <a:off x="1005840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Gruppe LICHT</a:t>
            </a:r>
            <a:endParaRPr lang="en-US" sz="2400" dirty="0"/>
          </a:p>
        </p:txBody>
      </p:sp>
      <p:sp>
        <p:nvSpPr>
          <p:cNvPr id="10" name="e31_6"/>
          <p:cNvSpPr txBox="1"/>
          <p:nvPr/>
        </p:nvSpPr>
        <p:spPr>
          <a:xfrm>
            <a:off x="1005840" y="3840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Welches Licht wann? Plus Nebel und Blendung.</a:t>
            </a:r>
            <a:endParaRPr lang="en-US" sz="1700" dirty="0"/>
          </a:p>
        </p:txBody>
      </p:sp>
      <p:sp>
        <p:nvSpPr>
          <p:cNvPr id="11" name="e31_7"/>
          <p:cNvSpPr/>
          <p:nvPr/>
        </p:nvSpPr>
        <p:spPr>
          <a:xfrm>
            <a:off x="4361688" y="237744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12161E"/>
          </a:solidFill>
          <a:ln w="19050">
            <a:solidFill>
              <a:srgbClr val="4A8BFF"/>
            </a:solidFill>
            <a:prstDash val="solid"/>
          </a:ln>
        </p:spPr>
      </p:sp>
      <p:pic>
        <p:nvPicPr>
          <p:cNvPr id="12" name="e31_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2606040"/>
            <a:ext cx="548640" cy="548640"/>
          </a:xfrm>
          <a:prstGeom prst="rect">
            <a:avLst/>
          </a:prstGeom>
        </p:spPr>
      </p:pic>
      <p:sp>
        <p:nvSpPr>
          <p:cNvPr id="13" name="e31_9"/>
          <p:cNvSpPr txBox="1"/>
          <p:nvPr/>
        </p:nvSpPr>
        <p:spPr>
          <a:xfrm>
            <a:off x="4636008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Gruppe BLAULICHT</a:t>
            </a:r>
            <a:endParaRPr lang="en-US" sz="2400" dirty="0"/>
          </a:p>
        </p:txBody>
      </p:sp>
      <p:sp>
        <p:nvSpPr>
          <p:cNvPr id="14" name="e31_10"/>
          <p:cNvSpPr txBox="1"/>
          <p:nvPr/>
        </p:nvSpPr>
        <p:spPr>
          <a:xfrm>
            <a:off x="4636008" y="3840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machst du Platz. Plus Rettungsgasse.</a:t>
            </a:r>
            <a:endParaRPr lang="en-US" sz="1700" dirty="0"/>
          </a:p>
        </p:txBody>
      </p:sp>
      <p:sp>
        <p:nvSpPr>
          <p:cNvPr id="15" name="e31_11"/>
          <p:cNvSpPr/>
          <p:nvPr/>
        </p:nvSpPr>
        <p:spPr>
          <a:xfrm>
            <a:off x="7991856" y="237744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12161E"/>
          </a:solidFill>
          <a:ln w="19050">
            <a:solidFill>
              <a:srgbClr val="FFB547"/>
            </a:solidFill>
            <a:prstDash val="solid"/>
          </a:ln>
        </p:spPr>
      </p:sp>
      <p:pic>
        <p:nvPicPr>
          <p:cNvPr id="16" name="e31_1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2606040"/>
            <a:ext cx="548640" cy="548640"/>
          </a:xfrm>
          <a:prstGeom prst="rect">
            <a:avLst/>
          </a:prstGeom>
        </p:spPr>
      </p:pic>
      <p:sp>
        <p:nvSpPr>
          <p:cNvPr id="17" name="e31_13"/>
          <p:cNvSpPr txBox="1"/>
          <p:nvPr/>
        </p:nvSpPr>
        <p:spPr>
          <a:xfrm>
            <a:off x="8266176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Gruppe TUNNEL</a:t>
            </a:r>
            <a:endParaRPr lang="en-US" sz="2400" dirty="0"/>
          </a:p>
        </p:txBody>
      </p:sp>
      <p:sp>
        <p:nvSpPr>
          <p:cNvPr id="18" name="e31_14"/>
          <p:cNvSpPr txBox="1"/>
          <p:nvPr/>
        </p:nvSpPr>
        <p:spPr>
          <a:xfrm>
            <a:off x="8266176" y="3840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Stau, Panne, Brand: Was tun?</a:t>
            </a:r>
            <a:endParaRPr lang="en-US" sz="1700" dirty="0"/>
          </a:p>
        </p:txBody>
      </p:sp>
      <p:sp>
        <p:nvSpPr>
          <p:cNvPr id="19" name="e31_15"/>
          <p:cNvSpPr txBox="1"/>
          <p:nvPr/>
        </p:nvSpPr>
        <p:spPr>
          <a:xfrm>
            <a:off x="731520" y="5074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7A1A"/>
                </a:solidFill>
                <a:effectLst>
                  <a:glow rad="152400">
                    <a:srgbClr val="FF7A1A">
                      <a:alpha val="40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6000" dirty="0"/>
          </a:p>
        </p:txBody>
      </p:sp>
      <p:sp>
        <p:nvSpPr>
          <p:cNvPr id="20" name="e31_16"/>
          <p:cNvSpPr txBox="1"/>
          <p:nvPr/>
        </p:nvSpPr>
        <p:spPr>
          <a:xfrm>
            <a:off x="3931920" y="5166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Plakat pro Gruppe. Danach 1 Minute Vortrag,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2 Personen vorne.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20" fill="hold" ac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20" fill="hold" ac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2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2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!!ft"/>
          <p:cNvSpPr txBox="1"/>
          <p:nvPr/>
        </p:nvSpPr>
        <p:spPr>
          <a:xfrm>
            <a:off x="9174175" y="292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FAHRLEHRER SERBAND</a:t>
            </a:r>
            <a:endParaRPr lang="en-US" sz="1000" dirty="0"/>
          </a:p>
        </p:txBody>
      </p:sp>
      <p:sp>
        <p:nvSpPr>
          <p:cNvPr id="5" name="e32_1"/>
          <p:cNvSpPr txBox="1"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MITNEHMEN</a:t>
            </a:r>
            <a:endParaRPr lang="en-US" sz="1300" dirty="0"/>
          </a:p>
        </p:txBody>
      </p:sp>
      <p:sp>
        <p:nvSpPr>
          <p:cNvPr id="6" name="e32_2"/>
          <p:cNvSpPr txBox="1"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Sätze für heute</a:t>
            </a:r>
            <a:endParaRPr lang="en-US" sz="4400" dirty="0"/>
          </a:p>
        </p:txBody>
      </p:sp>
      <p:sp>
        <p:nvSpPr>
          <p:cNvPr id="7" name="e32_3"/>
          <p:cNvSpPr/>
          <p:nvPr/>
        </p:nvSpPr>
        <p:spPr>
          <a:xfrm>
            <a:off x="731520" y="2423160"/>
            <a:ext cx="914400" cy="914400"/>
          </a:xfrm>
          <a:prstGeom prst="ellipse">
            <a:avLst/>
          </a:prstGeom>
          <a:solidFill>
            <a:srgbClr val="1A202B"/>
          </a:solidFill>
          <a:ln w="25400">
            <a:solidFill>
              <a:srgbClr val="FF7A1A"/>
            </a:solidFill>
            <a:prstDash val="solid"/>
          </a:ln>
        </p:spPr>
      </p:sp>
      <p:pic>
        <p:nvPicPr>
          <p:cNvPr id="8" name="e32_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51760"/>
            <a:ext cx="457200" cy="457200"/>
          </a:xfrm>
          <a:prstGeom prst="rect">
            <a:avLst/>
          </a:prstGeom>
        </p:spPr>
      </p:pic>
      <p:sp>
        <p:nvSpPr>
          <p:cNvPr id="9" name="e32_5"/>
          <p:cNvSpPr txBox="1"/>
          <p:nvPr/>
        </p:nvSpPr>
        <p:spPr>
          <a:xfrm>
            <a:off x="1920240" y="242316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Fahr nur so schnell, dass du im Licht anhalten kannst.</a:t>
            </a:r>
            <a:endParaRPr lang="en-US" sz="2800" dirty="0"/>
          </a:p>
        </p:txBody>
      </p:sp>
      <p:sp>
        <p:nvSpPr>
          <p:cNvPr id="10" name="e32_6"/>
          <p:cNvSpPr/>
          <p:nvPr/>
        </p:nvSpPr>
        <p:spPr>
          <a:xfrm>
            <a:off x="731520" y="3657600"/>
            <a:ext cx="914400" cy="914400"/>
          </a:xfrm>
          <a:prstGeom prst="ellipse">
            <a:avLst/>
          </a:prstGeom>
          <a:solidFill>
            <a:srgbClr val="1A202B"/>
          </a:solidFill>
          <a:ln w="25400">
            <a:solidFill>
              <a:srgbClr val="4A8BFF"/>
            </a:solidFill>
            <a:prstDash val="solid"/>
          </a:ln>
        </p:spPr>
      </p:sp>
      <p:pic>
        <p:nvPicPr>
          <p:cNvPr id="11" name="e32_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86200"/>
            <a:ext cx="457200" cy="457200"/>
          </a:xfrm>
          <a:prstGeom prst="rect">
            <a:avLst/>
          </a:prstGeom>
        </p:spPr>
      </p:pic>
      <p:sp>
        <p:nvSpPr>
          <p:cNvPr id="12" name="e32_8"/>
          <p:cNvSpPr txBox="1"/>
          <p:nvPr/>
        </p:nvSpPr>
        <p:spPr>
          <a:xfrm>
            <a:off x="1920240" y="36576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Blaulicht + Horn: ruhig Platz machen, Gasse im Stau.</a:t>
            </a:r>
            <a:endParaRPr lang="en-US" sz="2800" dirty="0"/>
          </a:p>
        </p:txBody>
      </p:sp>
      <p:sp>
        <p:nvSpPr>
          <p:cNvPr id="13" name="e32_9"/>
          <p:cNvSpPr/>
          <p:nvPr/>
        </p:nvSpPr>
        <p:spPr>
          <a:xfrm>
            <a:off x="731520" y="4892040"/>
            <a:ext cx="914400" cy="914400"/>
          </a:xfrm>
          <a:prstGeom prst="ellipse">
            <a:avLst/>
          </a:prstGeom>
          <a:solidFill>
            <a:srgbClr val="1A202B"/>
          </a:solidFill>
          <a:ln w="25400">
            <a:solidFill>
              <a:srgbClr val="FFB547"/>
            </a:solidFill>
            <a:prstDash val="solid"/>
          </a:ln>
        </p:spPr>
      </p:sp>
      <p:pic>
        <p:nvPicPr>
          <p:cNvPr id="14" name="e32_1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120640"/>
            <a:ext cx="457200" cy="457200"/>
          </a:xfrm>
          <a:prstGeom prst="rect">
            <a:avLst/>
          </a:prstGeom>
        </p:spPr>
      </p:pic>
      <p:sp>
        <p:nvSpPr>
          <p:cNvPr id="15" name="e32_11"/>
          <p:cNvSpPr txBox="1"/>
          <p:nvPr/>
        </p:nvSpPr>
        <p:spPr>
          <a:xfrm>
            <a:off x="1920240" y="48920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im Tunnel: Schlüssel stecken lassen, zu Fuß raus.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80B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g" descr="Hintergr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e33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822960"/>
            <a:ext cx="1097280" cy="1097280"/>
          </a:xfrm>
          <a:prstGeom prst="rect">
            <a:avLst/>
          </a:prstGeom>
        </p:spPr>
      </p:pic>
      <p:sp>
        <p:nvSpPr>
          <p:cNvPr id="5" name="e33_2"/>
          <p:cNvSpPr txBox="1"/>
          <p:nvPr/>
        </p:nvSpPr>
        <p:spPr>
          <a:xfrm>
            <a:off x="731520" y="19659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0" b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</a:t>
            </a:r>
            <a:endParaRPr lang="en-US" sz="11000" dirty="0"/>
          </a:p>
        </p:txBody>
      </p:sp>
      <p:sp>
        <p:nvSpPr>
          <p:cNvPr id="6" name="e33_3"/>
          <p:cNvSpPr txBox="1"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 geht es weiter mit Lektion 12: Lebenslanges Lernen</a:t>
            </a:r>
            <a:endParaRPr lang="en-US" sz="2400" dirty="0"/>
          </a:p>
        </p:txBody>
      </p:sp>
      <p:sp>
        <p:nvSpPr>
          <p:cNvPr id="7" name="e33_4"/>
          <p:cNvSpPr/>
          <p:nvPr/>
        </p:nvSpPr>
        <p:spPr>
          <a:xfrm>
            <a:off x="2194560" y="4480560"/>
            <a:ext cx="7799832" cy="1371600"/>
          </a:xfrm>
          <a:prstGeom prst="roundRect">
            <a:avLst>
              <a:gd name="adj" fmla="val 10667"/>
            </a:avLst>
          </a:prstGeom>
          <a:solidFill>
            <a:srgbClr val="07080B">
              <a:alpha val="70000"/>
            </a:srgbClr>
          </a:solidFill>
          <a:ln w="15875">
            <a:solidFill>
              <a:srgbClr val="FF7A1A"/>
            </a:solidFill>
            <a:prstDash val="solid"/>
          </a:ln>
        </p:spPr>
      </p:sp>
      <p:sp>
        <p:nvSpPr>
          <p:cNvPr id="8" name="e33_5"/>
          <p:cNvSpPr txBox="1"/>
          <p:nvPr/>
        </p:nvSpPr>
        <p:spPr>
          <a:xfrm>
            <a:off x="2194560" y="4617720"/>
            <a:ext cx="7799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 MAL DRÜBER NACH</a:t>
            </a:r>
            <a:endParaRPr lang="en-US" sz="1300" dirty="0"/>
          </a:p>
        </p:txBody>
      </p:sp>
      <p:sp>
        <p:nvSpPr>
          <p:cNvPr id="9" name="e33_6"/>
          <p:cNvSpPr txBox="1"/>
          <p:nvPr/>
        </p:nvSpPr>
        <p:spPr>
          <a:xfrm>
            <a:off x="2194560" y="4983480"/>
            <a:ext cx="7799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hört man auf, Auto fahren zu lernen?</a:t>
            </a:r>
            <a:endParaRPr lang="en-US" sz="32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11 – Besondere Situationen</dc:title>
  <dc:subject>PptxGenJS Presentation</dc:subject>
  <dc:creator>Fahrlehrer Serband · Fahrschule Boost</dc:creator>
  <cp:lastModifiedBy>Fahrlehrer Serband · Fahrschule Boost</cp:lastModifiedBy>
  <cp:revision>1</cp:revision>
  <dcterms:created xsi:type="dcterms:W3CDTF">2026-09-28T07:21:06Z</dcterms:created>
  <dcterms:modified xsi:type="dcterms:W3CDTF">2026-09-28T07:21:06Z</dcterms:modified>
</cp:coreProperties>
</file>